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337" r:id="rId3"/>
    <p:sldId id="435" r:id="rId4"/>
    <p:sldId id="419" r:id="rId5"/>
    <p:sldId id="418" r:id="rId6"/>
    <p:sldId id="421" r:id="rId7"/>
    <p:sldId id="420" r:id="rId8"/>
    <p:sldId id="412" r:id="rId9"/>
    <p:sldId id="417" r:id="rId10"/>
    <p:sldId id="415" r:id="rId11"/>
    <p:sldId id="424" r:id="rId12"/>
    <p:sldId id="426" r:id="rId13"/>
    <p:sldId id="427" r:id="rId14"/>
    <p:sldId id="425" r:id="rId15"/>
    <p:sldId id="428" r:id="rId16"/>
    <p:sldId id="413" r:id="rId17"/>
    <p:sldId id="423" r:id="rId18"/>
    <p:sldId id="429" r:id="rId19"/>
    <p:sldId id="430" r:id="rId20"/>
    <p:sldId id="431" r:id="rId21"/>
    <p:sldId id="433" r:id="rId22"/>
    <p:sldId id="432" r:id="rId23"/>
    <p:sldId id="416" r:id="rId24"/>
    <p:sldId id="422" r:id="rId25"/>
    <p:sldId id="436" r:id="rId26"/>
    <p:sldId id="377" r:id="rId27"/>
    <p:sldId id="439" r:id="rId28"/>
    <p:sldId id="438" r:id="rId29"/>
    <p:sldId id="442" r:id="rId30"/>
    <p:sldId id="441" r:id="rId31"/>
    <p:sldId id="443" r:id="rId32"/>
    <p:sldId id="444" r:id="rId33"/>
    <p:sldId id="440" r:id="rId34"/>
    <p:sldId id="437" r:id="rId35"/>
    <p:sldId id="447" r:id="rId36"/>
    <p:sldId id="446" r:id="rId37"/>
    <p:sldId id="449" r:id="rId38"/>
    <p:sldId id="450" r:id="rId39"/>
    <p:sldId id="445" r:id="rId40"/>
    <p:sldId id="452" r:id="rId41"/>
    <p:sldId id="453" r:id="rId42"/>
    <p:sldId id="454" r:id="rId43"/>
    <p:sldId id="456" r:id="rId44"/>
    <p:sldId id="448" r:id="rId45"/>
    <p:sldId id="451" r:id="rId46"/>
    <p:sldId id="457" r:id="rId47"/>
    <p:sldId id="461" r:id="rId48"/>
    <p:sldId id="459" r:id="rId49"/>
    <p:sldId id="460" r:id="rId50"/>
    <p:sldId id="458" r:id="rId51"/>
    <p:sldId id="463" r:id="rId52"/>
    <p:sldId id="462" r:id="rId53"/>
    <p:sldId id="465" r:id="rId54"/>
    <p:sldId id="464" r:id="rId55"/>
    <p:sldId id="455" r:id="rId56"/>
    <p:sldId id="434" r:id="rId5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94" d="100"/>
          <a:sy n="94" d="100"/>
        </p:scale>
        <p:origin x="1816" y="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A4CDE-6755-F74A-8469-26E991703197}" type="datetimeFigureOut">
              <a:rPr lang="es-MX" smtClean="0"/>
              <a:t>30/08/25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A1CE47-9AEA-8E40-8DC3-97779E80C823}" type="slidenum">
              <a:rPr lang="es-MX" smtClean="0"/>
              <a:t>‹Nº›</a:t>
            </a:fld>
            <a:endParaRPr lang="es-MX"/>
          </a:p>
        </p:txBody>
      </p:sp>
    </p:spTree>
    <p:extLst>
      <p:ext uri="{BB962C8B-B14F-4D97-AF65-F5344CB8AC3E}">
        <p14:creationId xmlns:p14="http://schemas.microsoft.com/office/powerpoint/2010/main" val="2356385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55A1CE47-9AEA-8E40-8DC3-97779E80C823}" type="slidenum">
              <a:rPr lang="es-MX" smtClean="0"/>
              <a:t>1</a:t>
            </a:fld>
            <a:endParaRPr lang="es-MX"/>
          </a:p>
        </p:txBody>
      </p:sp>
    </p:spTree>
    <p:extLst>
      <p:ext uri="{BB962C8B-B14F-4D97-AF65-F5344CB8AC3E}">
        <p14:creationId xmlns:p14="http://schemas.microsoft.com/office/powerpoint/2010/main" val="4066257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E3DC6-7ABF-B1D9-2D40-A8B4007CF3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84B5F8-09D0-9A73-9A3C-A79CEE3E8AC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087B31-3038-0511-A460-74CA76625C6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8B53120E-2F1E-3B5D-FBD8-69E4DBAF3F27}"/>
              </a:ext>
            </a:extLst>
          </p:cNvPr>
          <p:cNvSpPr>
            <a:spLocks noGrp="1"/>
          </p:cNvSpPr>
          <p:nvPr>
            <p:ph type="sldNum" sz="quarter" idx="5"/>
          </p:nvPr>
        </p:nvSpPr>
        <p:spPr/>
        <p:txBody>
          <a:bodyPr/>
          <a:lstStyle/>
          <a:p>
            <a:fld id="{55A1CE47-9AEA-8E40-8DC3-97779E80C823}" type="slidenum">
              <a:rPr lang="es-MX" smtClean="0"/>
              <a:t>21</a:t>
            </a:fld>
            <a:endParaRPr lang="es-MX"/>
          </a:p>
        </p:txBody>
      </p:sp>
    </p:spTree>
    <p:extLst>
      <p:ext uri="{BB962C8B-B14F-4D97-AF65-F5344CB8AC3E}">
        <p14:creationId xmlns:p14="http://schemas.microsoft.com/office/powerpoint/2010/main" val="3680804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F50BF-39C4-2C97-E9E4-961A050D69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E3E606-4D7B-DAE8-A41E-E50015AD767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2A5CFC-870F-7558-04E4-35D088BCE53A}"/>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B6B9EA10-4525-5604-D53F-841784B7CCBD}"/>
              </a:ext>
            </a:extLst>
          </p:cNvPr>
          <p:cNvSpPr>
            <a:spLocks noGrp="1"/>
          </p:cNvSpPr>
          <p:nvPr>
            <p:ph type="sldNum" sz="quarter" idx="5"/>
          </p:nvPr>
        </p:nvSpPr>
        <p:spPr/>
        <p:txBody>
          <a:bodyPr/>
          <a:lstStyle/>
          <a:p>
            <a:fld id="{55A1CE47-9AEA-8E40-8DC3-97779E80C823}" type="slidenum">
              <a:rPr lang="es-MX" smtClean="0"/>
              <a:t>22</a:t>
            </a:fld>
            <a:endParaRPr lang="es-MX"/>
          </a:p>
        </p:txBody>
      </p:sp>
    </p:spTree>
    <p:extLst>
      <p:ext uri="{BB962C8B-B14F-4D97-AF65-F5344CB8AC3E}">
        <p14:creationId xmlns:p14="http://schemas.microsoft.com/office/powerpoint/2010/main" val="239450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55A1CE47-9AEA-8E40-8DC3-97779E80C823}" type="slidenum">
              <a:rPr lang="es-MX" smtClean="0"/>
              <a:t>23</a:t>
            </a:fld>
            <a:endParaRPr lang="es-MX"/>
          </a:p>
        </p:txBody>
      </p:sp>
    </p:spTree>
    <p:extLst>
      <p:ext uri="{BB962C8B-B14F-4D97-AF65-F5344CB8AC3E}">
        <p14:creationId xmlns:p14="http://schemas.microsoft.com/office/powerpoint/2010/main" val="2372903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584816-6D25-6C12-C14B-289F7FE9B379}"/>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76E83CBD-28A8-C942-AF78-721BCF59F7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AC9CAD2C-C0A6-4EB6-67E2-58CAF3C298B7}"/>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F2AF0107-0793-974D-7425-BA167AE649C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FA970AE-838F-6051-7FDC-63366D73A5A9}"/>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038919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413CD3-A2DB-083B-ABD1-310FB6D8D709}"/>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BDE85F3-9048-E0A3-C2FA-F730D6FF5750}"/>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244629D-9B74-994C-E5D5-0D93478BD55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FEFC7AE2-65F6-064E-9DB2-1131623147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D72B8ED-674A-DCCA-2918-05B10DE17D5D}"/>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763211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04561E-22CB-CEA9-EB7E-9C395BF13A94}"/>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5E05E39F-0342-7DE5-4AF8-2AD595B73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25219128-18CF-584B-B0B7-221F03AAF312}"/>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CF23FFDC-7AF3-A57E-FDC7-77FDEEF0807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678DE0B-658E-CDF8-7C26-44F80B4B1553}"/>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87351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74E60C-2BFF-464F-0A8A-72EED26A912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18C577B8-D164-6069-8699-A61B822BA69B}"/>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0D925709-67D8-C4B6-78A8-A3914542C293}"/>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416DB079-C96D-52B0-6CF8-02EA06E4B1C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6" name="Marcador de pie de página 5">
            <a:extLst>
              <a:ext uri="{FF2B5EF4-FFF2-40B4-BE49-F238E27FC236}">
                <a16:creationId xmlns:a16="http://schemas.microsoft.com/office/drawing/2014/main" id="{30FFBF88-4307-854D-ADED-242EE4778C5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730990E-5620-ED63-FAAE-4362CDCC2A55}"/>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1145169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848B20-DA76-DA91-2184-DEE2474A4809}"/>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6E6C573A-2DAB-0725-5A73-32721DEBCC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9CD1F919-C9F2-486A-AE36-D0EF71149A0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4BB08E1E-CA38-9DAF-8DAA-CD3AB32401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1DFF8693-44AD-F35B-C112-C434C8161A3D}"/>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ABACBBF4-4EDB-F6E5-4215-4EF2BB019653}"/>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8" name="Marcador de pie de página 7">
            <a:extLst>
              <a:ext uri="{FF2B5EF4-FFF2-40B4-BE49-F238E27FC236}">
                <a16:creationId xmlns:a16="http://schemas.microsoft.com/office/drawing/2014/main" id="{1F7F687A-441A-A091-5443-663717C9772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FE5B0CB-8E21-B12B-DACA-958269BD250E}"/>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42829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ADC1B2-30D9-9FE0-9813-08CD4146D121}"/>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B6ED13D7-1670-60D9-CF67-0E34F225895B}"/>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4" name="Marcador de pie de página 3">
            <a:extLst>
              <a:ext uri="{FF2B5EF4-FFF2-40B4-BE49-F238E27FC236}">
                <a16:creationId xmlns:a16="http://schemas.microsoft.com/office/drawing/2014/main" id="{6E852A0D-6B75-67CD-3481-B61E229947A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CFBAD19-2676-0A59-4706-38B416D8EB5E}"/>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161515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3A64F26-9454-BBED-F945-7DE07AFFE4F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3" name="Marcador de pie de página 2">
            <a:extLst>
              <a:ext uri="{FF2B5EF4-FFF2-40B4-BE49-F238E27FC236}">
                <a16:creationId xmlns:a16="http://schemas.microsoft.com/office/drawing/2014/main" id="{FE5315C6-820D-DD66-BA57-3E6496EA712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FECD766-D6C3-0C99-82BA-13D5EDC90368}"/>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4151672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DF7BCB-E881-F24C-1C9E-5E8F0E92C02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00F8777F-817F-A3C5-8DB4-728F43A153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9191A7BF-CF5F-BFA2-F77E-C704BCF35D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08A3C320-6666-5DD2-6959-5CEDEEAC49E0}"/>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6" name="Marcador de pie de página 5">
            <a:extLst>
              <a:ext uri="{FF2B5EF4-FFF2-40B4-BE49-F238E27FC236}">
                <a16:creationId xmlns:a16="http://schemas.microsoft.com/office/drawing/2014/main" id="{EAEFE3E2-4586-54D3-10D5-CDCB49EB06D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99C1F13-7B9A-4424-4F0C-9B47D8188108}"/>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334936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A1C2DD-25DB-8179-AEF0-28F5EC226A9F}"/>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1F5B1197-1929-3114-57C8-549AE73D3D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A057A72-D5D5-2D24-2DF8-BA7FB849EA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3B86E3F-18BE-60C0-9306-15FFBEC4213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6" name="Marcador de pie de página 5">
            <a:extLst>
              <a:ext uri="{FF2B5EF4-FFF2-40B4-BE49-F238E27FC236}">
                <a16:creationId xmlns:a16="http://schemas.microsoft.com/office/drawing/2014/main" id="{357997E0-3AC6-07FB-A05D-C4502FBC72B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226BF2A-FD70-E031-1A8C-CAE3C9718004}"/>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952534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D801E6-D506-A38B-219F-EFF289CCA6B1}"/>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209DE57-6CEE-98BE-5CF1-7E5A3BA308A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115EACDA-892F-9FD4-8B6B-EF35E275C237}"/>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3F4BF0DA-23EB-60FA-4FC0-8ED3A163536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1B8346-F00D-6182-D81B-2EFC64D47D21}"/>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1877297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C9EF86F-AA80-DE0F-6830-94529DF5330C}"/>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C28C6697-25C6-3CF3-366D-0F2DC7848CC3}"/>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CFA5622A-5700-CBC4-C04E-18D50A13A41E}"/>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3652B39E-B80F-52B5-498C-0F31149248E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8F97D0F-2FAE-2CAE-EE0B-5E3858A65790}"/>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245310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33B8776-EC2E-F224-60F3-EC0C23AD77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1BA80B43-2E3A-E972-0F20-328BEB1C8D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8398519-AB97-8923-092E-43BE09924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730D9F59-2338-9418-CA42-EDD3288B8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4D7B869C-E006-7FE2-B5D2-1666559842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E9E8F2-97EA-8747-9075-0E28424E3AEA}" type="slidenum">
              <a:rPr lang="es-MX" smtClean="0"/>
              <a:t>‹Nº›</a:t>
            </a:fld>
            <a:endParaRPr lang="es-MX"/>
          </a:p>
        </p:txBody>
      </p:sp>
    </p:spTree>
    <p:extLst>
      <p:ext uri="{BB962C8B-B14F-4D97-AF65-F5344CB8AC3E}">
        <p14:creationId xmlns:p14="http://schemas.microsoft.com/office/powerpoint/2010/main" val="3241968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7A6676D-7840-9F62-69AC-C022B2135BD4}"/>
              </a:ext>
            </a:extLst>
          </p:cNvPr>
          <p:cNvPicPr>
            <a:picLocks noChangeAspect="1"/>
          </p:cNvPicPr>
          <p:nvPr/>
        </p:nvPicPr>
        <p:blipFill>
          <a:blip r:embed="rId3"/>
          <a:stretch>
            <a:fillRect/>
          </a:stretch>
        </p:blipFill>
        <p:spPr>
          <a:xfrm>
            <a:off x="1064173" y="622737"/>
            <a:ext cx="1153727" cy="1571953"/>
          </a:xfrm>
          <a:prstGeom prst="rect">
            <a:avLst/>
          </a:prstGeom>
        </p:spPr>
      </p:pic>
      <p:sp>
        <p:nvSpPr>
          <p:cNvPr id="6" name="Rectángulo 5">
            <a:extLst>
              <a:ext uri="{FF2B5EF4-FFF2-40B4-BE49-F238E27FC236}">
                <a16:creationId xmlns:a16="http://schemas.microsoft.com/office/drawing/2014/main" id="{11817BBA-DF9D-F047-4902-989C5C99B79C}"/>
              </a:ext>
            </a:extLst>
          </p:cNvPr>
          <p:cNvSpPr/>
          <p:nvPr/>
        </p:nvSpPr>
        <p:spPr>
          <a:xfrm>
            <a:off x="1001110" y="2461080"/>
            <a:ext cx="10326414" cy="1077218"/>
          </a:xfrm>
          <a:prstGeom prst="rect">
            <a:avLst/>
          </a:prstGeom>
          <a:noFill/>
        </p:spPr>
        <p:txBody>
          <a:bodyPr wrap="square" lIns="91440" tIns="45720" rIns="91440" bIns="45720">
            <a:spAutoFit/>
          </a:bodyPr>
          <a:lstStyle/>
          <a:p>
            <a:pPr algn="ctr"/>
            <a:r>
              <a:rPr lang="es-MX" sz="3200" b="1" dirty="0"/>
              <a:t>Modelos tradicionales  de desarrollo de software: Cascada, iterativo</a:t>
            </a:r>
            <a:endParaRPr lang="es-MX" sz="3200" b="1"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D14FDC92-A258-85F8-64E6-A003E731A437}"/>
              </a:ext>
            </a:extLst>
          </p:cNvPr>
          <p:cNvSpPr/>
          <p:nvPr/>
        </p:nvSpPr>
        <p:spPr>
          <a:xfrm>
            <a:off x="2293883" y="679069"/>
            <a:ext cx="9033641" cy="1077218"/>
          </a:xfrm>
          <a:prstGeom prst="rect">
            <a:avLst/>
          </a:prstGeom>
          <a:noFill/>
        </p:spPr>
        <p:txBody>
          <a:bodyPr wrap="squar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Universidad Autónoma de Baja California</a:t>
            </a:r>
          </a:p>
          <a:p>
            <a:pPr algn="ctr"/>
            <a:r>
              <a:rPr lang="es-MX" sz="3200" dirty="0">
                <a:ln w="0"/>
                <a:effectLst>
                  <a:outerShdw blurRad="38100" dist="19050" dir="2700000" algn="tl" rotWithShape="0">
                    <a:schemeClr val="dk1">
                      <a:alpha val="40000"/>
                    </a:schemeClr>
                  </a:outerShdw>
                </a:effectLst>
              </a:rPr>
              <a:t>Facultad de Ciencias Químicas e Ingeniería</a:t>
            </a:r>
            <a:endParaRPr lang="es-MX" sz="3200" b="0" cap="none" spc="0" dirty="0">
              <a:ln w="0"/>
              <a:solidFill>
                <a:schemeClr val="tx1"/>
              </a:solidFill>
              <a:effectLst>
                <a:outerShdw blurRad="38100" dist="19050" dir="2700000" algn="tl" rotWithShape="0">
                  <a:schemeClr val="dk1">
                    <a:alpha val="40000"/>
                  </a:schemeClr>
                </a:outerShdw>
              </a:effectLst>
            </a:endParaRPr>
          </a:p>
        </p:txBody>
      </p:sp>
      <p:sp>
        <p:nvSpPr>
          <p:cNvPr id="8" name="Rectángulo 7">
            <a:extLst>
              <a:ext uri="{FF2B5EF4-FFF2-40B4-BE49-F238E27FC236}">
                <a16:creationId xmlns:a16="http://schemas.microsoft.com/office/drawing/2014/main" id="{E1225BAA-68D7-B886-F1F5-F44663D0D8A7}"/>
              </a:ext>
            </a:extLst>
          </p:cNvPr>
          <p:cNvSpPr/>
          <p:nvPr/>
        </p:nvSpPr>
        <p:spPr>
          <a:xfrm>
            <a:off x="3310759" y="4024496"/>
            <a:ext cx="5486400" cy="954107"/>
          </a:xfrm>
          <a:prstGeom prst="rect">
            <a:avLst/>
          </a:prstGeom>
          <a:noFill/>
        </p:spPr>
        <p:txBody>
          <a:bodyPr wrap="square" lIns="91440" tIns="45720" rIns="91440" bIns="45720">
            <a:spAutoFit/>
          </a:bodyPr>
          <a:lstStyle/>
          <a:p>
            <a:pPr algn="ctr"/>
            <a:r>
              <a:rPr lang="es-MX" sz="2800" b="0" cap="none" spc="0" dirty="0">
                <a:ln w="0"/>
                <a:solidFill>
                  <a:schemeClr val="tx1"/>
                </a:solidFill>
                <a:effectLst>
                  <a:outerShdw blurRad="38100" dist="19050" dir="2700000" algn="tl" rotWithShape="0">
                    <a:schemeClr val="dk1">
                      <a:alpha val="40000"/>
                    </a:schemeClr>
                  </a:outerShdw>
                </a:effectLst>
              </a:rPr>
              <a:t>Dr. J. Reyes Juárez Ramírez</a:t>
            </a:r>
          </a:p>
          <a:p>
            <a:pPr algn="ctr"/>
            <a:r>
              <a:rPr lang="es-MX" sz="2800" dirty="0">
                <a:ln w="0"/>
                <a:effectLst>
                  <a:outerShdw blurRad="38100" dist="19050" dir="2700000" algn="tl" rotWithShape="0">
                    <a:schemeClr val="dk1">
                      <a:alpha val="40000"/>
                    </a:schemeClr>
                  </a:outerShdw>
                </a:effectLst>
              </a:rPr>
              <a:t>reyesjua@uabc.edu.mx</a:t>
            </a:r>
            <a:endParaRPr lang="es-MX" sz="2800" b="0" cap="none" spc="0" dirty="0">
              <a:ln w="0"/>
              <a:solidFill>
                <a:schemeClr val="tx1"/>
              </a:solidFill>
              <a:effectLst>
                <a:outerShdw blurRad="38100" dist="19050" dir="2700000" algn="tl" rotWithShape="0">
                  <a:schemeClr val="dk1">
                    <a:alpha val="40000"/>
                  </a:schemeClr>
                </a:outerShdw>
              </a:effectLst>
            </a:endParaRPr>
          </a:p>
        </p:txBody>
      </p:sp>
      <p:sp>
        <p:nvSpPr>
          <p:cNvPr id="9" name="Rectángulo 8">
            <a:extLst>
              <a:ext uri="{FF2B5EF4-FFF2-40B4-BE49-F238E27FC236}">
                <a16:creationId xmlns:a16="http://schemas.microsoft.com/office/drawing/2014/main" id="{4F9AB259-B9AB-1F6C-87DE-719ACDBED92C}"/>
              </a:ext>
            </a:extLst>
          </p:cNvPr>
          <p:cNvSpPr/>
          <p:nvPr/>
        </p:nvSpPr>
        <p:spPr>
          <a:xfrm>
            <a:off x="5662448" y="5520722"/>
            <a:ext cx="5486400" cy="523220"/>
          </a:xfrm>
          <a:prstGeom prst="rect">
            <a:avLst/>
          </a:prstGeom>
          <a:noFill/>
        </p:spPr>
        <p:txBody>
          <a:bodyPr wrap="square" lIns="91440" tIns="45720" rIns="91440" bIns="45720">
            <a:spAutoFit/>
          </a:bodyPr>
          <a:lstStyle/>
          <a:p>
            <a:pPr algn="ctr"/>
            <a:r>
              <a:rPr lang="es-MX" sz="2800" dirty="0">
                <a:ln w="0"/>
                <a:effectLst>
                  <a:outerShdw blurRad="38100" dist="19050" dir="2700000" algn="tl" rotWithShape="0">
                    <a:schemeClr val="dk1">
                      <a:alpha val="40000"/>
                    </a:schemeClr>
                  </a:outerShdw>
                </a:effectLst>
              </a:rPr>
              <a:t>Septiembre de 2025</a:t>
            </a:r>
            <a:endParaRPr lang="es-MX"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37050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651EE-C24D-F0B5-45C8-60C1093483E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E7EE6F6-85AD-375A-2FB5-6F36E228F252}"/>
              </a:ext>
            </a:extLst>
          </p:cNvPr>
          <p:cNvSpPr txBox="1"/>
          <p:nvPr/>
        </p:nvSpPr>
        <p:spPr>
          <a:xfrm>
            <a:off x="1198880" y="1644134"/>
            <a:ext cx="9032240" cy="1323439"/>
          </a:xfrm>
          <a:prstGeom prst="rect">
            <a:avLst/>
          </a:prstGeom>
          <a:noFill/>
        </p:spPr>
        <p:txBody>
          <a:bodyPr wrap="square">
            <a:spAutoFit/>
          </a:bodyPr>
          <a:lstStyle/>
          <a:p>
            <a:pPr algn="ctr"/>
            <a:r>
              <a:rPr lang="es-MX" sz="4000" b="1" dirty="0"/>
              <a:t>Modelos tradicionales  de desarrollo de software: Cascada, iterativo</a:t>
            </a:r>
            <a:endParaRPr lang="es-MX" sz="4000" b="1"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D60D6891-5CBB-CFF2-203D-15FB973AC577}"/>
              </a:ext>
            </a:extLst>
          </p:cNvPr>
          <p:cNvSpPr txBox="1"/>
          <p:nvPr/>
        </p:nvSpPr>
        <p:spPr>
          <a:xfrm>
            <a:off x="4498932" y="3290263"/>
            <a:ext cx="3931084" cy="1569660"/>
          </a:xfrm>
          <a:prstGeom prst="rect">
            <a:avLst/>
          </a:prstGeom>
          <a:noFill/>
        </p:spPr>
        <p:txBody>
          <a:bodyPr wrap="square">
            <a:spAutoFit/>
          </a:bodyPr>
          <a:lstStyle/>
          <a:p>
            <a:pPr marL="342900" indent="-342900">
              <a:buFont typeface="Arial" panose="020B0604020202020204" pitchFamily="34" charset="0"/>
              <a:buChar char="•"/>
            </a:pPr>
            <a:r>
              <a:rPr lang="es-MX" sz="2400" dirty="0">
                <a:latin typeface="Arial" panose="020B0604020202020204" pitchFamily="34" charset="0"/>
                <a:cs typeface="Arial" panose="020B0604020202020204" pitchFamily="34" charset="0"/>
              </a:rPr>
              <a:t>Modelo en cascada.</a:t>
            </a:r>
          </a:p>
          <a:p>
            <a:pPr marL="342900" indent="-342900">
              <a:buFont typeface="Arial" panose="020B0604020202020204" pitchFamily="34" charset="0"/>
              <a:buChar char="•"/>
            </a:pPr>
            <a:r>
              <a:rPr lang="es-MX" sz="2400" dirty="0">
                <a:latin typeface="Arial" panose="020B0604020202020204" pitchFamily="34" charset="0"/>
                <a:cs typeface="Arial" panose="020B0604020202020204" pitchFamily="34" charset="0"/>
              </a:rPr>
              <a:t>Modelo de Prototipo.</a:t>
            </a:r>
          </a:p>
          <a:p>
            <a:pPr marL="342900" indent="-342900">
              <a:buFont typeface="Arial" panose="020B0604020202020204" pitchFamily="34" charset="0"/>
              <a:buChar char="•"/>
            </a:pPr>
            <a:r>
              <a:rPr lang="es-MX" sz="2400" dirty="0">
                <a:latin typeface="Arial" panose="020B0604020202020204" pitchFamily="34" charset="0"/>
                <a:cs typeface="Arial" panose="020B0604020202020204" pitchFamily="34" charset="0"/>
              </a:rPr>
              <a:t>Modelo Incremental</a:t>
            </a:r>
          </a:p>
          <a:p>
            <a:pPr marL="342900" indent="-342900">
              <a:buFont typeface="Arial" panose="020B0604020202020204" pitchFamily="34" charset="0"/>
              <a:buChar char="•"/>
            </a:pPr>
            <a:r>
              <a:rPr lang="es-MX" sz="2400" dirty="0">
                <a:latin typeface="Arial" panose="020B0604020202020204" pitchFamily="34" charset="0"/>
                <a:cs typeface="Arial" panose="020B0604020202020204" pitchFamily="34" charset="0"/>
              </a:rPr>
              <a:t>Modelo Espiral</a:t>
            </a:r>
          </a:p>
        </p:txBody>
      </p:sp>
    </p:spTree>
    <p:extLst>
      <p:ext uri="{BB962C8B-B14F-4D97-AF65-F5344CB8AC3E}">
        <p14:creationId xmlns:p14="http://schemas.microsoft.com/office/powerpoint/2010/main" val="1441452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AC6C8-AA06-B72B-1967-4041C629E5A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219D23B-6A59-89DD-CD0F-BFD9A7395E39}"/>
              </a:ext>
            </a:extLst>
          </p:cNvPr>
          <p:cNvSpPr txBox="1"/>
          <p:nvPr/>
        </p:nvSpPr>
        <p:spPr>
          <a:xfrm>
            <a:off x="1830251" y="1252248"/>
            <a:ext cx="9032240" cy="923330"/>
          </a:xfrm>
          <a:prstGeom prst="rect">
            <a:avLst/>
          </a:prstGeom>
          <a:noFill/>
        </p:spPr>
        <p:txBody>
          <a:bodyPr wrap="square">
            <a:spAutoFit/>
          </a:bodyPr>
          <a:lstStyle/>
          <a:p>
            <a:pPr algn="ctr"/>
            <a:r>
              <a:rPr lang="es-MX" sz="5400" b="1" dirty="0"/>
              <a:t>Modelo de Cascada</a:t>
            </a:r>
            <a:endParaRPr lang="es-MX" sz="5400" b="1" dirty="0">
              <a:latin typeface="Arial" panose="020B0604020202020204" pitchFamily="34" charset="0"/>
              <a:cs typeface="Arial" panose="020B0604020202020204" pitchFamily="34" charset="0"/>
            </a:endParaRPr>
          </a:p>
        </p:txBody>
      </p:sp>
      <p:pic>
        <p:nvPicPr>
          <p:cNvPr id="37890" name="Picture 2" descr="Desarrollo en cascada - Wikipedia, la enciclopedia libre">
            <a:extLst>
              <a:ext uri="{FF2B5EF4-FFF2-40B4-BE49-F238E27FC236}">
                <a16:creationId xmlns:a16="http://schemas.microsoft.com/office/drawing/2014/main" id="{57240C7A-F864-BD72-91CA-3A534919E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3456" y="2350924"/>
            <a:ext cx="5348515" cy="3254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62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6F7C0-85E0-536B-3715-B91EF072647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36BFF16-FADA-D337-5701-A21B66243F2F}"/>
              </a:ext>
            </a:extLst>
          </p:cNvPr>
          <p:cNvSpPr txBox="1"/>
          <p:nvPr/>
        </p:nvSpPr>
        <p:spPr>
          <a:xfrm>
            <a:off x="974762" y="585341"/>
            <a:ext cx="10546678" cy="5293757"/>
          </a:xfrm>
          <a:prstGeom prst="rect">
            <a:avLst/>
          </a:prstGeom>
          <a:noFill/>
        </p:spPr>
        <p:txBody>
          <a:bodyPr wrap="square">
            <a:spAutoFit/>
          </a:bodyPr>
          <a:lstStyle/>
          <a:p>
            <a:r>
              <a:rPr lang="es-MX" sz="3200" b="1" dirty="0">
                <a:latin typeface="Arial" panose="020B0604020202020204" pitchFamily="34" charset="0"/>
                <a:cs typeface="Arial" panose="020B0604020202020204" pitchFamily="34" charset="0"/>
              </a:rPr>
              <a:t>Modelo en Cascada</a:t>
            </a:r>
          </a:p>
          <a:p>
            <a:endParaRPr lang="es-MX"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Winston Royce (1970), propone este modelo en su artículo “Administrando el desarrollo de grandes sistemas de software” </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Determinó que el desarrollo de programas de computadora, </a:t>
            </a:r>
            <a:r>
              <a:rPr lang="es-MX" sz="2000" b="1" dirty="0">
                <a:solidFill>
                  <a:schemeClr val="accent5">
                    <a:lumMod val="60000"/>
                    <a:lumOff val="40000"/>
                  </a:schemeClr>
                </a:solidFill>
                <a:latin typeface="Arial" panose="020B0604020202020204" pitchFamily="34" charset="0"/>
                <a:cs typeface="Arial" panose="020B0604020202020204" pitchFamily="34" charset="0"/>
              </a:rPr>
              <a:t>sin importar el tamaño o complejidad</a:t>
            </a:r>
            <a:r>
              <a:rPr lang="es-MX" sz="2000" dirty="0">
                <a:latin typeface="Arial" panose="020B0604020202020204" pitchFamily="34" charset="0"/>
                <a:cs typeface="Arial" panose="020B0604020202020204" pitchFamily="34" charset="0"/>
              </a:rPr>
              <a:t>, se podían separar en 2 etapas de desarrollo: </a:t>
            </a:r>
            <a:r>
              <a:rPr lang="es-MX" sz="2000" dirty="0">
                <a:highlight>
                  <a:srgbClr val="00FFFF"/>
                </a:highlight>
                <a:latin typeface="Arial" panose="020B0604020202020204" pitchFamily="34" charset="0"/>
                <a:cs typeface="Arial" panose="020B0604020202020204" pitchFamily="34" charset="0"/>
              </a:rPr>
              <a:t>Análisis y programación</a:t>
            </a:r>
            <a:r>
              <a:rPr lang="es-MX" sz="2000" dirty="0">
                <a:latin typeface="Arial" panose="020B0604020202020204" pitchFamily="34" charset="0"/>
                <a:cs typeface="Arial" panose="020B0604020202020204" pitchFamily="34" charset="0"/>
              </a:rPr>
              <a:t>. </a:t>
            </a:r>
          </a:p>
          <a:p>
            <a:endParaRPr lang="es-MX"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Para </a:t>
            </a:r>
            <a:r>
              <a:rPr lang="es-MX" sz="2000" b="1" dirty="0">
                <a:latin typeface="Arial" panose="020B0604020202020204" pitchFamily="34" charset="0"/>
                <a:cs typeface="Arial" panose="020B0604020202020204" pitchFamily="34" charset="0"/>
              </a:rPr>
              <a:t>pequeños proyectos</a:t>
            </a:r>
            <a:r>
              <a:rPr lang="es-MX" sz="2000" dirty="0">
                <a:latin typeface="Arial" panose="020B0604020202020204" pitchFamily="34" charset="0"/>
                <a:cs typeface="Arial" panose="020B0604020202020204" pitchFamily="34" charset="0"/>
              </a:rPr>
              <a:t> estos 2 pasos eran suficientes. </a:t>
            </a:r>
          </a:p>
          <a:p>
            <a:pPr marL="342900" indent="-342900">
              <a:buFont typeface="Arial" panose="020B0604020202020204" pitchFamily="34" charset="0"/>
              <a:buChar char="•"/>
            </a:pPr>
            <a:r>
              <a:rPr lang="es-MX" sz="2000" dirty="0">
                <a:latin typeface="Arial" panose="020B0604020202020204" pitchFamily="34" charset="0"/>
                <a:cs typeface="Arial" panose="020B0604020202020204" pitchFamily="34" charset="0"/>
              </a:rPr>
              <a:t>Para el desarrollo de </a:t>
            </a:r>
            <a:r>
              <a:rPr lang="es-MX" sz="2000" b="1" dirty="0">
                <a:latin typeface="Arial" panose="020B0604020202020204" pitchFamily="34" charset="0"/>
                <a:cs typeface="Arial" panose="020B0604020202020204" pitchFamily="34" charset="0"/>
              </a:rPr>
              <a:t>grandes sistemas</a:t>
            </a:r>
            <a:r>
              <a:rPr lang="es-MX" sz="2000" dirty="0">
                <a:latin typeface="Arial" panose="020B0604020202020204" pitchFamily="34" charset="0"/>
                <a:cs typeface="Arial" panose="020B0604020202020204" pitchFamily="34" charset="0"/>
              </a:rPr>
              <a:t> de software, Royce representó el modelo con los siguiente 7 pasos: </a:t>
            </a:r>
          </a:p>
          <a:p>
            <a:pPr lvl="3"/>
            <a:r>
              <a:rPr lang="es-MX" dirty="0">
                <a:solidFill>
                  <a:srgbClr val="0070C0"/>
                </a:solidFill>
                <a:latin typeface="Arial" panose="020B0604020202020204" pitchFamily="34" charset="0"/>
                <a:cs typeface="Arial" panose="020B0604020202020204" pitchFamily="34" charset="0"/>
              </a:rPr>
              <a:t> Requerimientos de sistema </a:t>
            </a:r>
          </a:p>
          <a:p>
            <a:pPr lvl="3"/>
            <a:r>
              <a:rPr lang="es-MX" dirty="0">
                <a:solidFill>
                  <a:srgbClr val="0070C0"/>
                </a:solidFill>
                <a:latin typeface="Arial" panose="020B0604020202020204" pitchFamily="34" charset="0"/>
                <a:cs typeface="Arial" panose="020B0604020202020204" pitchFamily="34" charset="0"/>
              </a:rPr>
              <a:t> Requerimientos de software </a:t>
            </a:r>
          </a:p>
          <a:p>
            <a:pPr lvl="3"/>
            <a:r>
              <a:rPr lang="es-MX" dirty="0">
                <a:solidFill>
                  <a:srgbClr val="0070C0"/>
                </a:solidFill>
                <a:latin typeface="Arial" panose="020B0604020202020204" pitchFamily="34" charset="0"/>
                <a:cs typeface="Arial" panose="020B0604020202020204" pitchFamily="34" charset="0"/>
              </a:rPr>
              <a:t> Análisis </a:t>
            </a:r>
          </a:p>
          <a:p>
            <a:pPr lvl="3"/>
            <a:r>
              <a:rPr lang="es-MX" dirty="0">
                <a:solidFill>
                  <a:srgbClr val="0070C0"/>
                </a:solidFill>
                <a:latin typeface="Arial" panose="020B0604020202020204" pitchFamily="34" charset="0"/>
                <a:cs typeface="Arial" panose="020B0604020202020204" pitchFamily="34" charset="0"/>
              </a:rPr>
              <a:t> Diseño del programa </a:t>
            </a:r>
          </a:p>
          <a:p>
            <a:pPr lvl="3"/>
            <a:r>
              <a:rPr lang="es-MX" dirty="0">
                <a:solidFill>
                  <a:srgbClr val="0070C0"/>
                </a:solidFill>
                <a:latin typeface="Arial" panose="020B0604020202020204" pitchFamily="34" charset="0"/>
                <a:cs typeface="Arial" panose="020B0604020202020204" pitchFamily="34" charset="0"/>
              </a:rPr>
              <a:t> Programación </a:t>
            </a:r>
          </a:p>
          <a:p>
            <a:pPr lvl="3"/>
            <a:r>
              <a:rPr lang="es-MX" dirty="0">
                <a:solidFill>
                  <a:srgbClr val="0070C0"/>
                </a:solidFill>
                <a:latin typeface="Arial" panose="020B0604020202020204" pitchFamily="34" charset="0"/>
                <a:cs typeface="Arial" panose="020B0604020202020204" pitchFamily="34" charset="0"/>
              </a:rPr>
              <a:t> Pruebas, y </a:t>
            </a:r>
          </a:p>
          <a:p>
            <a:pPr lvl="3"/>
            <a:r>
              <a:rPr lang="es-MX" dirty="0">
                <a:solidFill>
                  <a:srgbClr val="0070C0"/>
                </a:solidFill>
                <a:latin typeface="Arial" panose="020B0604020202020204" pitchFamily="34" charset="0"/>
                <a:cs typeface="Arial" panose="020B0604020202020204" pitchFamily="34" charset="0"/>
              </a:rPr>
              <a:t> Operación</a:t>
            </a:r>
          </a:p>
        </p:txBody>
      </p:sp>
    </p:spTree>
    <p:extLst>
      <p:ext uri="{BB962C8B-B14F-4D97-AF65-F5344CB8AC3E}">
        <p14:creationId xmlns:p14="http://schemas.microsoft.com/office/powerpoint/2010/main" val="146888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21CD9-C151-F126-3CC0-ECFB9411FD5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32C4CBC-3C5B-0C5E-1867-41CC13AE32DC}"/>
              </a:ext>
            </a:extLst>
          </p:cNvPr>
          <p:cNvSpPr txBox="1"/>
          <p:nvPr/>
        </p:nvSpPr>
        <p:spPr>
          <a:xfrm>
            <a:off x="1586753" y="721150"/>
            <a:ext cx="6099586" cy="369332"/>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Modelo en Cascada: Enfoque general</a:t>
            </a:r>
          </a:p>
        </p:txBody>
      </p:sp>
      <p:pic>
        <p:nvPicPr>
          <p:cNvPr id="4" name="Imagen 3">
            <a:extLst>
              <a:ext uri="{FF2B5EF4-FFF2-40B4-BE49-F238E27FC236}">
                <a16:creationId xmlns:a16="http://schemas.microsoft.com/office/drawing/2014/main" id="{30268988-C565-98F9-46A2-19E303E28871}"/>
              </a:ext>
            </a:extLst>
          </p:cNvPr>
          <p:cNvPicPr>
            <a:picLocks noChangeAspect="1"/>
          </p:cNvPicPr>
          <p:nvPr/>
        </p:nvPicPr>
        <p:blipFill>
          <a:blip r:embed="rId2"/>
          <a:stretch>
            <a:fillRect/>
          </a:stretch>
        </p:blipFill>
        <p:spPr>
          <a:xfrm>
            <a:off x="4771269" y="1327731"/>
            <a:ext cx="6509273" cy="4368064"/>
          </a:xfrm>
          <a:prstGeom prst="rect">
            <a:avLst/>
          </a:prstGeom>
          <a:ln w="19050">
            <a:solidFill>
              <a:schemeClr val="accent1"/>
            </a:solidFill>
          </a:ln>
        </p:spPr>
      </p:pic>
      <p:sp>
        <p:nvSpPr>
          <p:cNvPr id="6" name="CuadroTexto 5">
            <a:extLst>
              <a:ext uri="{FF2B5EF4-FFF2-40B4-BE49-F238E27FC236}">
                <a16:creationId xmlns:a16="http://schemas.microsoft.com/office/drawing/2014/main" id="{E3F59047-1896-0DC9-D3CC-F4C2A475264D}"/>
              </a:ext>
            </a:extLst>
          </p:cNvPr>
          <p:cNvSpPr txBox="1"/>
          <p:nvPr/>
        </p:nvSpPr>
        <p:spPr>
          <a:xfrm>
            <a:off x="653970" y="2129783"/>
            <a:ext cx="3848582" cy="3046988"/>
          </a:xfrm>
          <a:prstGeom prst="rect">
            <a:avLst/>
          </a:prstGeom>
          <a:noFill/>
        </p:spPr>
        <p:txBody>
          <a:bodyPr wrap="square">
            <a:spAutoFit/>
          </a:bodyPr>
          <a:lstStyle/>
          <a:p>
            <a:pPr marL="285750" indent="-285750">
              <a:buFont typeface="Arial" panose="020B0604020202020204" pitchFamily="34" charset="0"/>
              <a:buChar char="•"/>
            </a:pPr>
            <a:r>
              <a:rPr lang="es-MX" sz="1600" dirty="0">
                <a:latin typeface="Arial" panose="020B0604020202020204" pitchFamily="34" charset="0"/>
                <a:cs typeface="Arial" panose="020B0604020202020204" pitchFamily="34" charset="0"/>
              </a:rPr>
              <a:t>El modelo de la cascada, a veces llamado ciclo de vida clásico, propone una perspectiva sistemática y a la vez secuencial para el proceso del desarrollo de un software.</a:t>
            </a:r>
          </a:p>
          <a:p>
            <a:pPr marL="285750" indent="-285750">
              <a:buFont typeface="Arial" panose="020B0604020202020204" pitchFamily="34" charset="0"/>
              <a:buChar char="•"/>
            </a:pPr>
            <a:endParaRPr lang="es-MX"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sz="1600" dirty="0">
                <a:latin typeface="Arial" panose="020B0604020202020204" pitchFamily="34" charset="0"/>
                <a:cs typeface="Arial" panose="020B0604020202020204" pitchFamily="34" charset="0"/>
              </a:rPr>
              <a:t>“</a:t>
            </a:r>
            <a:r>
              <a:rPr lang="es-MX" sz="1600" dirty="0">
                <a:solidFill>
                  <a:srgbClr val="0070C0"/>
                </a:solidFill>
                <a:highlight>
                  <a:srgbClr val="00FFFF"/>
                </a:highlight>
                <a:latin typeface="Arial" panose="020B0604020202020204" pitchFamily="34" charset="0"/>
                <a:cs typeface="Arial" panose="020B0604020202020204" pitchFamily="34" charset="0"/>
              </a:rPr>
              <a:t>Comienza con la especificación de los requerimientos por parte del cliente y avanza a través de </a:t>
            </a:r>
            <a:r>
              <a:rPr lang="es-MX" sz="1600" u="sng" dirty="0">
                <a:solidFill>
                  <a:srgbClr val="0070C0"/>
                </a:solidFill>
                <a:highlight>
                  <a:srgbClr val="00FFFF"/>
                </a:highlight>
                <a:latin typeface="Arial" panose="020B0604020202020204" pitchFamily="34" charset="0"/>
                <a:cs typeface="Arial" panose="020B0604020202020204" pitchFamily="34" charset="0"/>
              </a:rPr>
              <a:t>planeación</a:t>
            </a:r>
            <a:r>
              <a:rPr lang="es-MX" sz="1600" dirty="0">
                <a:solidFill>
                  <a:srgbClr val="0070C0"/>
                </a:solidFill>
                <a:highlight>
                  <a:srgbClr val="00FFFF"/>
                </a:highlight>
                <a:latin typeface="Arial" panose="020B0604020202020204" pitchFamily="34" charset="0"/>
                <a:cs typeface="Arial" panose="020B0604020202020204" pitchFamily="34" charset="0"/>
              </a:rPr>
              <a:t>, </a:t>
            </a:r>
            <a:r>
              <a:rPr lang="es-MX" sz="1600" u="sng" dirty="0">
                <a:solidFill>
                  <a:srgbClr val="0070C0"/>
                </a:solidFill>
                <a:highlight>
                  <a:srgbClr val="00FFFF"/>
                </a:highlight>
                <a:latin typeface="Arial" panose="020B0604020202020204" pitchFamily="34" charset="0"/>
                <a:cs typeface="Arial" panose="020B0604020202020204" pitchFamily="34" charset="0"/>
              </a:rPr>
              <a:t>modelado</a:t>
            </a:r>
            <a:r>
              <a:rPr lang="es-MX" sz="1600" dirty="0">
                <a:solidFill>
                  <a:srgbClr val="0070C0"/>
                </a:solidFill>
                <a:highlight>
                  <a:srgbClr val="00FFFF"/>
                </a:highlight>
                <a:latin typeface="Arial" panose="020B0604020202020204" pitchFamily="34" charset="0"/>
                <a:cs typeface="Arial" panose="020B0604020202020204" pitchFamily="34" charset="0"/>
              </a:rPr>
              <a:t>, </a:t>
            </a:r>
            <a:r>
              <a:rPr lang="es-MX" sz="1600" u="sng" dirty="0">
                <a:solidFill>
                  <a:srgbClr val="0070C0"/>
                </a:solidFill>
                <a:highlight>
                  <a:srgbClr val="00FFFF"/>
                </a:highlight>
                <a:latin typeface="Arial" panose="020B0604020202020204" pitchFamily="34" charset="0"/>
                <a:cs typeface="Arial" panose="020B0604020202020204" pitchFamily="34" charset="0"/>
              </a:rPr>
              <a:t>construcción</a:t>
            </a:r>
            <a:r>
              <a:rPr lang="es-MX" sz="1600" dirty="0">
                <a:solidFill>
                  <a:srgbClr val="0070C0"/>
                </a:solidFill>
                <a:highlight>
                  <a:srgbClr val="00FFFF"/>
                </a:highlight>
                <a:latin typeface="Arial" panose="020B0604020202020204" pitchFamily="34" charset="0"/>
                <a:cs typeface="Arial" panose="020B0604020202020204" pitchFamily="34" charset="0"/>
              </a:rPr>
              <a:t> y </a:t>
            </a:r>
            <a:r>
              <a:rPr lang="es-MX" sz="1600" u="sng" dirty="0">
                <a:solidFill>
                  <a:srgbClr val="0070C0"/>
                </a:solidFill>
                <a:highlight>
                  <a:srgbClr val="00FFFF"/>
                </a:highlight>
                <a:latin typeface="Arial" panose="020B0604020202020204" pitchFamily="34" charset="0"/>
                <a:cs typeface="Arial" panose="020B0604020202020204" pitchFamily="34" charset="0"/>
              </a:rPr>
              <a:t>despliegue</a:t>
            </a:r>
            <a:r>
              <a:rPr lang="es-MX" sz="1600" dirty="0">
                <a:solidFill>
                  <a:srgbClr val="0070C0"/>
                </a:solidFill>
                <a:highlight>
                  <a:srgbClr val="00FFFF"/>
                </a:highlight>
                <a:latin typeface="Arial" panose="020B0604020202020204" pitchFamily="34" charset="0"/>
                <a:cs typeface="Arial" panose="020B0604020202020204" pitchFamily="34" charset="0"/>
              </a:rPr>
              <a:t>, para concluir con el apoyo del software terminado</a:t>
            </a:r>
            <a:r>
              <a:rPr lang="es-MX" sz="1600" dirty="0">
                <a:latin typeface="Arial" panose="020B0604020202020204" pitchFamily="34" charset="0"/>
                <a:cs typeface="Arial" panose="020B0604020202020204" pitchFamily="34" charset="0"/>
              </a:rPr>
              <a:t>”</a:t>
            </a:r>
          </a:p>
        </p:txBody>
      </p:sp>
      <p:sp>
        <p:nvSpPr>
          <p:cNvPr id="7" name="CuadroTexto 6">
            <a:extLst>
              <a:ext uri="{FF2B5EF4-FFF2-40B4-BE49-F238E27FC236}">
                <a16:creationId xmlns:a16="http://schemas.microsoft.com/office/drawing/2014/main" id="{AABF4331-1591-06C7-8A79-BE0ACDBBF39D}"/>
              </a:ext>
            </a:extLst>
          </p:cNvPr>
          <p:cNvSpPr txBox="1"/>
          <p:nvPr/>
        </p:nvSpPr>
        <p:spPr>
          <a:xfrm>
            <a:off x="881743" y="5933044"/>
            <a:ext cx="10627360" cy="523220"/>
          </a:xfrm>
          <a:prstGeom prst="rect">
            <a:avLst/>
          </a:prstGeom>
          <a:noFill/>
        </p:spPr>
        <p:txBody>
          <a:bodyPr wrap="square">
            <a:spAutoFit/>
          </a:bodyPr>
          <a:lstStyle/>
          <a:p>
            <a:pPr algn="r"/>
            <a:r>
              <a:rPr lang="es-MX" sz="1400" dirty="0">
                <a:solidFill>
                  <a:srgbClr val="0070C0"/>
                </a:solidFill>
                <a:latin typeface="Courier New" panose="02070309020205020404" pitchFamily="49" charset="0"/>
                <a:cs typeface="Courier New" panose="02070309020205020404" pitchFamily="49" charset="0"/>
              </a:rPr>
              <a:t>Lopez-Bermudez, Ricauter. (2019). Método ágil en el desarrollo de software aplicando la herramienta Genexus. </a:t>
            </a:r>
          </a:p>
        </p:txBody>
      </p:sp>
    </p:spTree>
    <p:extLst>
      <p:ext uri="{BB962C8B-B14F-4D97-AF65-F5344CB8AC3E}">
        <p14:creationId xmlns:p14="http://schemas.microsoft.com/office/powerpoint/2010/main" val="393204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D9AD3-DAC8-4097-07D9-13C911697BC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D49750C-6C97-5D2D-29B6-3A8868BB7114}"/>
              </a:ext>
            </a:extLst>
          </p:cNvPr>
          <p:cNvSpPr txBox="1"/>
          <p:nvPr/>
        </p:nvSpPr>
        <p:spPr>
          <a:xfrm>
            <a:off x="1115423" y="1172379"/>
            <a:ext cx="10261600" cy="4801314"/>
          </a:xfrm>
          <a:prstGeom prst="rect">
            <a:avLst/>
          </a:prstGeom>
          <a:noFill/>
        </p:spPr>
        <p:txBody>
          <a:bodyPr wrap="square">
            <a:spAutoFit/>
          </a:bodyPr>
          <a:lstStyle/>
          <a:p>
            <a:pPr marL="342900" indent="-342900" algn="just">
              <a:buAutoNum type="arabicPeriod"/>
            </a:pPr>
            <a:r>
              <a:rPr lang="es-MX" b="1" i="0" dirty="0">
                <a:effectLst/>
                <a:latin typeface="Arial" panose="020B0604020202020204" pitchFamily="34" charset="0"/>
                <a:cs typeface="Arial" panose="020B0604020202020204" pitchFamily="34" charset="0"/>
              </a:rPr>
              <a:t>Requisitos y planificación</a:t>
            </a:r>
          </a:p>
          <a:p>
            <a:pPr marL="342900" indent="-342900" algn="just">
              <a:buAutoNum type="arabicPeriod"/>
            </a:pPr>
            <a:endParaRPr lang="es-MX" b="0" i="0" dirty="0">
              <a:effectLst/>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MX" b="0" i="0" dirty="0">
                <a:effectLst/>
                <a:latin typeface="Arial" panose="020B0604020202020204" pitchFamily="34" charset="0"/>
                <a:cs typeface="Arial" panose="020B0604020202020204" pitchFamily="34" charset="0"/>
              </a:rPr>
              <a:t>La fase de requisitos y planificación de la gestión de proyectos en cascada identifica lo que debe hacer el proyecto. </a:t>
            </a:r>
          </a:p>
          <a:p>
            <a:pPr marL="285750" indent="-285750" algn="just">
              <a:buFont typeface="Arial" panose="020B0604020202020204" pitchFamily="34" charset="0"/>
              <a:buChar char="•"/>
            </a:pPr>
            <a:r>
              <a:rPr lang="es-MX" b="0" i="0" dirty="0">
                <a:effectLst/>
                <a:latin typeface="Arial" panose="020B0604020202020204" pitchFamily="34" charset="0"/>
                <a:cs typeface="Arial" panose="020B0604020202020204" pitchFamily="34" charset="0"/>
              </a:rPr>
              <a:t>El director del proyecto intenta comprender los requisitos del proyecto en función de lo que necesitan los patrocinadores del proyecto. </a:t>
            </a:r>
          </a:p>
          <a:p>
            <a:pPr marL="285750" indent="-285750" algn="just">
              <a:buFont typeface="Arial" panose="020B0604020202020204" pitchFamily="34" charset="0"/>
              <a:buChar char="•"/>
            </a:pPr>
            <a:r>
              <a:rPr lang="es-MX" b="0" i="0" dirty="0">
                <a:effectLst/>
                <a:latin typeface="Arial" panose="020B0604020202020204" pitchFamily="34" charset="0"/>
                <a:cs typeface="Arial" panose="020B0604020202020204" pitchFamily="34" charset="0"/>
              </a:rPr>
              <a:t>Esta fase implica identificar y describir los riesgos, supuestos, dependencias, métricas de calidad, costos y cronograma del proyecto.</a:t>
            </a:r>
          </a:p>
          <a:p>
            <a:pPr algn="just">
              <a:buNone/>
            </a:pPr>
            <a:endParaRPr lang="es-MX" b="0" i="0" dirty="0">
              <a:effectLst/>
              <a:latin typeface="Arial" panose="020B0604020202020204" pitchFamily="34" charset="0"/>
              <a:cs typeface="Arial" panose="020B0604020202020204" pitchFamily="34" charset="0"/>
            </a:endParaRPr>
          </a:p>
          <a:p>
            <a:pPr algn="just">
              <a:buNone/>
            </a:pPr>
            <a:r>
              <a:rPr lang="es-MX" b="1" i="0" dirty="0">
                <a:effectLst/>
                <a:latin typeface="Arial" panose="020B0604020202020204" pitchFamily="34" charset="0"/>
                <a:cs typeface="Arial" panose="020B0604020202020204" pitchFamily="34" charset="0"/>
              </a:rPr>
              <a:t>2. Diseño</a:t>
            </a:r>
          </a:p>
          <a:p>
            <a:pPr algn="just">
              <a:buNone/>
            </a:pPr>
            <a:endParaRPr lang="es-MX" b="0" i="0" dirty="0">
              <a:effectLst/>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MX" b="0" i="0" dirty="0">
                <a:effectLst/>
                <a:latin typeface="Arial" panose="020B0604020202020204" pitchFamily="34" charset="0"/>
                <a:cs typeface="Arial" panose="020B0604020202020204" pitchFamily="34" charset="0"/>
              </a:rPr>
              <a:t>La fase de diseño solidifica y documenta todas sus decisiones. En este caso, desarrollas soluciones que pueden resolver los requisitos del proyecto. </a:t>
            </a:r>
          </a:p>
          <a:p>
            <a:pPr marL="285750" indent="-285750" algn="just">
              <a:buFont typeface="Arial" panose="020B0604020202020204" pitchFamily="34" charset="0"/>
              <a:buChar char="•"/>
            </a:pPr>
            <a:r>
              <a:rPr lang="es-MX" b="0" i="0" dirty="0">
                <a:effectLst/>
                <a:latin typeface="Arial" panose="020B0604020202020204" pitchFamily="34" charset="0"/>
                <a:cs typeface="Arial" panose="020B0604020202020204" pitchFamily="34" charset="0"/>
              </a:rPr>
              <a:t>La mejor manera de hacerlo es anotar todas las acciones que tomará para cumplir con el alcance del proyecto para ejecutarlas.</a:t>
            </a:r>
          </a:p>
          <a:p>
            <a:pPr marL="285750" indent="-285750" algn="just">
              <a:buFont typeface="Arial" panose="020B0604020202020204" pitchFamily="34" charset="0"/>
              <a:buChar char="•"/>
            </a:pPr>
            <a:r>
              <a:rPr lang="es-MX" b="0" i="0" dirty="0">
                <a:effectLst/>
                <a:latin typeface="Arial" panose="020B0604020202020204" pitchFamily="34" charset="0"/>
                <a:cs typeface="Arial" panose="020B0604020202020204" pitchFamily="34" charset="0"/>
              </a:rPr>
              <a:t>El diseño cubre el cronograma, el presupuesto y los objetivos del proyecto, y puede pensar en el diseño como un plano o una hoja de ruta para el proyecto completo.</a:t>
            </a:r>
          </a:p>
        </p:txBody>
      </p:sp>
    </p:spTree>
    <p:extLst>
      <p:ext uri="{BB962C8B-B14F-4D97-AF65-F5344CB8AC3E}">
        <p14:creationId xmlns:p14="http://schemas.microsoft.com/office/powerpoint/2010/main" val="4189767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C2CF3-412D-AD7C-78B4-D646C85A20B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03266AA-159F-0B50-4764-FB7FC6E368EB}"/>
              </a:ext>
            </a:extLst>
          </p:cNvPr>
          <p:cNvSpPr txBox="1"/>
          <p:nvPr/>
        </p:nvSpPr>
        <p:spPr>
          <a:xfrm>
            <a:off x="1097280" y="889843"/>
            <a:ext cx="9997440" cy="4524315"/>
          </a:xfrm>
          <a:prstGeom prst="rect">
            <a:avLst/>
          </a:prstGeom>
          <a:noFill/>
        </p:spPr>
        <p:txBody>
          <a:bodyPr wrap="square">
            <a:spAutoFit/>
          </a:bodyPr>
          <a:lstStyle/>
          <a:p>
            <a:pPr algn="just">
              <a:buNone/>
            </a:pPr>
            <a:r>
              <a:rPr lang="es-MX" b="1" i="0" dirty="0">
                <a:effectLst/>
                <a:latin typeface="Arial" panose="020B0604020202020204" pitchFamily="34" charset="0"/>
                <a:cs typeface="Arial" panose="020B0604020202020204" pitchFamily="34" charset="0"/>
              </a:rPr>
              <a:t>3. Implementación</a:t>
            </a:r>
          </a:p>
          <a:p>
            <a:pPr algn="just">
              <a:buNone/>
            </a:pPr>
            <a:endParaRPr lang="es-MX" b="0" i="0" dirty="0">
              <a:effectLst/>
              <a:latin typeface="Arial" panose="020B0604020202020204" pitchFamily="34" charset="0"/>
              <a:cs typeface="Arial" panose="020B0604020202020204" pitchFamily="34" charset="0"/>
            </a:endParaRPr>
          </a:p>
          <a:p>
            <a:pPr algn="just">
              <a:buNone/>
            </a:pPr>
            <a:r>
              <a:rPr lang="es-MX" b="0" i="0" dirty="0">
                <a:effectLst/>
                <a:latin typeface="Arial" panose="020B0604020202020204" pitchFamily="34" charset="0"/>
                <a:cs typeface="Arial" panose="020B0604020202020204" pitchFamily="34" charset="0"/>
              </a:rPr>
              <a:t>La fase de implementación ejecuta el plan y el diseño del proyecto para producir el producto deseado. Si la empresa desarrolla software, pasará esta fase codificando las funcionalidades del software. O, si se está gestionando un proyecto en una empresa constructora, se construirá en esta fase.</a:t>
            </a:r>
          </a:p>
          <a:p>
            <a:pPr algn="just">
              <a:buNone/>
            </a:pPr>
            <a:endParaRPr lang="es-MX" b="0" i="0" dirty="0">
              <a:effectLst/>
              <a:latin typeface="Arial" panose="020B0604020202020204" pitchFamily="34" charset="0"/>
              <a:cs typeface="Arial" panose="020B0604020202020204" pitchFamily="34" charset="0"/>
            </a:endParaRPr>
          </a:p>
          <a:p>
            <a:pPr algn="just">
              <a:buNone/>
            </a:pPr>
            <a:r>
              <a:rPr lang="es-MX" b="0" i="0" dirty="0">
                <a:effectLst/>
                <a:latin typeface="Arial" panose="020B0604020202020204" pitchFamily="34" charset="0"/>
                <a:cs typeface="Arial" panose="020B0604020202020204" pitchFamily="34" charset="0"/>
              </a:rPr>
              <a:t>La implementación ocupa una parte importante de la gestión del proyecto en cascada . Todo lo que suceda durante esta fase debe documentarse cuidadosamente.</a:t>
            </a:r>
          </a:p>
          <a:p>
            <a:pPr algn="just">
              <a:buNone/>
            </a:pPr>
            <a:endParaRPr lang="es-MX" b="0" i="0" dirty="0">
              <a:effectLst/>
              <a:latin typeface="Arial" panose="020B0604020202020204" pitchFamily="34" charset="0"/>
              <a:cs typeface="Arial" panose="020B0604020202020204" pitchFamily="34" charset="0"/>
            </a:endParaRPr>
          </a:p>
          <a:p>
            <a:pPr algn="just">
              <a:buNone/>
            </a:pPr>
            <a:r>
              <a:rPr lang="es-MX" b="1" i="0" dirty="0">
                <a:effectLst/>
                <a:latin typeface="Arial" panose="020B0604020202020204" pitchFamily="34" charset="0"/>
                <a:cs typeface="Arial" panose="020B0604020202020204" pitchFamily="34" charset="0"/>
              </a:rPr>
              <a:t>4. Verificación/Pruebas</a:t>
            </a:r>
          </a:p>
          <a:p>
            <a:pPr algn="just">
              <a:buNone/>
            </a:pPr>
            <a:endParaRPr lang="es-MX" b="0" i="0" dirty="0">
              <a:effectLst/>
              <a:latin typeface="Arial" panose="020B0604020202020204" pitchFamily="34" charset="0"/>
              <a:cs typeface="Arial" panose="020B0604020202020204" pitchFamily="34" charset="0"/>
            </a:endParaRPr>
          </a:p>
          <a:p>
            <a:pPr algn="just">
              <a:buNone/>
            </a:pPr>
            <a:r>
              <a:rPr lang="es-MX" b="0" i="0" dirty="0">
                <a:effectLst/>
                <a:latin typeface="Arial" panose="020B0604020202020204" pitchFamily="34" charset="0"/>
                <a:cs typeface="Arial" panose="020B0604020202020204" pitchFamily="34" charset="0"/>
              </a:rPr>
              <a:t>Las pruebas verifican que el producto desarrollado en la fase de implementación cumple con todos los requisitos del proyecto. Si este no es el caso, el equipo del proyecto debe revisar el proyecto desde la fase uno para identificar qué salió mal. La fase de prueba utiliza varias métricas de calidad y satisfacción del cliente para medir el éxito del proyecto.</a:t>
            </a:r>
          </a:p>
        </p:txBody>
      </p:sp>
    </p:spTree>
    <p:extLst>
      <p:ext uri="{BB962C8B-B14F-4D97-AF65-F5344CB8AC3E}">
        <p14:creationId xmlns:p14="http://schemas.microsoft.com/office/powerpoint/2010/main" val="118432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98A6D-8B34-FF9D-2446-83726029DAC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11D10E3-9411-2FC5-A587-24F5822118FB}"/>
              </a:ext>
            </a:extLst>
          </p:cNvPr>
          <p:cNvSpPr txBox="1"/>
          <p:nvPr/>
        </p:nvSpPr>
        <p:spPr>
          <a:xfrm>
            <a:off x="1178560" y="1859338"/>
            <a:ext cx="9428480" cy="2031325"/>
          </a:xfrm>
          <a:prstGeom prst="rect">
            <a:avLst/>
          </a:prstGeom>
          <a:noFill/>
        </p:spPr>
        <p:txBody>
          <a:bodyPr wrap="square">
            <a:spAutoFit/>
          </a:bodyPr>
          <a:lstStyle/>
          <a:p>
            <a:pPr algn="just">
              <a:buNone/>
            </a:pPr>
            <a:r>
              <a:rPr lang="es-MX" b="0" i="0" dirty="0">
                <a:effectLst/>
                <a:latin typeface="Arial" panose="020B0604020202020204" pitchFamily="34" charset="0"/>
                <a:cs typeface="Arial" panose="020B0604020202020204" pitchFamily="34" charset="0"/>
              </a:rPr>
              <a:t>5. </a:t>
            </a:r>
            <a:r>
              <a:rPr lang="es-MX" b="1" i="0" dirty="0">
                <a:effectLst/>
                <a:latin typeface="Arial" panose="020B0604020202020204" pitchFamily="34" charset="0"/>
                <a:cs typeface="Arial" panose="020B0604020202020204" pitchFamily="34" charset="0"/>
              </a:rPr>
              <a:t>Mantenimiento</a:t>
            </a:r>
          </a:p>
          <a:p>
            <a:pPr algn="just">
              <a:buNone/>
            </a:pPr>
            <a:endParaRPr lang="es-MX" b="0" i="0" dirty="0">
              <a:effectLst/>
              <a:latin typeface="Arial" panose="020B0604020202020204" pitchFamily="34" charset="0"/>
              <a:cs typeface="Arial" panose="020B0604020202020204" pitchFamily="34" charset="0"/>
            </a:endParaRPr>
          </a:p>
          <a:p>
            <a:pPr algn="just">
              <a:buNone/>
            </a:pPr>
            <a:r>
              <a:rPr lang="es-MX" b="0" i="0" dirty="0">
                <a:effectLst/>
                <a:latin typeface="Arial" panose="020B0604020202020204" pitchFamily="34" charset="0"/>
                <a:cs typeface="Arial" panose="020B0604020202020204" pitchFamily="34" charset="0"/>
              </a:rPr>
              <a:t>La fase de mantenimiento se extiende más allá de las cinco etapas de la gestión del proyecto hasta la vida del proyecto. Esta fase implica realizar modificaciones menores para mejorar el producto desarrollado durante la implementación y realizar otras tareas de mantenimiento de rutina. También es una fase para identificar cualquier error que haya pasado por alto durante la fase de prueba</a:t>
            </a:r>
            <a:r>
              <a:rPr lang="es-MX" dirty="0">
                <a:latin typeface="Arial" panose="020B0604020202020204" pitchFamily="34" charset="0"/>
                <a:cs typeface="Arial" panose="020B0604020202020204" pitchFamily="34" charset="0"/>
              </a:rPr>
              <a:t>.</a:t>
            </a:r>
            <a:endParaRPr lang="es-MX"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1236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DC74A-5389-992F-CE9A-972C408341A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79D22AA-A003-4BE0-EF85-856F5465E9DF}"/>
              </a:ext>
            </a:extLst>
          </p:cNvPr>
          <p:cNvSpPr txBox="1"/>
          <p:nvPr/>
        </p:nvSpPr>
        <p:spPr>
          <a:xfrm>
            <a:off x="1264023" y="1264959"/>
            <a:ext cx="9751807" cy="2400657"/>
          </a:xfrm>
          <a:prstGeom prst="rect">
            <a:avLst/>
          </a:prstGeom>
          <a:noFill/>
        </p:spPr>
        <p:txBody>
          <a:bodyPr wrap="square">
            <a:spAutoFit/>
          </a:bodyPr>
          <a:lstStyle/>
          <a:p>
            <a:endParaRPr lang="es-MX" b="1" dirty="0">
              <a:latin typeface="Arial" panose="020B0604020202020204" pitchFamily="34" charset="0"/>
              <a:cs typeface="Arial" panose="020B0604020202020204" pitchFamily="34" charset="0"/>
            </a:endParaRPr>
          </a:p>
          <a:p>
            <a:pPr>
              <a:buNone/>
            </a:pPr>
            <a:r>
              <a:rPr lang="es-MX" sz="2400" b="1" dirty="0">
                <a:latin typeface="Arial" panose="020B0604020202020204" pitchFamily="34" charset="0"/>
                <a:cs typeface="Arial" panose="020B0604020202020204" pitchFamily="34" charset="0"/>
              </a:rPr>
              <a:t>Características del MODELO EN CASCADA:</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Secuencial, en fases rígidas (requerimientos → diseño → codificación → pruebas → mantenimiento).</a:t>
            </a:r>
          </a:p>
          <a:p>
            <a:pPr>
              <a:buFont typeface="Arial" panose="020B0604020202020204" pitchFamily="34" charset="0"/>
              <a:buChar char="•"/>
            </a:pPr>
            <a:r>
              <a:rPr lang="es-MX" dirty="0">
                <a:latin typeface="Arial" panose="020B0604020202020204" pitchFamily="34" charset="0"/>
                <a:cs typeface="Arial" panose="020B0604020202020204" pitchFamily="34" charset="0"/>
              </a:rPr>
              <a:t> </a:t>
            </a:r>
            <a:r>
              <a:rPr lang="es-MX" dirty="0">
                <a:highlight>
                  <a:srgbClr val="00FFFF"/>
                </a:highlight>
                <a:latin typeface="Arial" panose="020B0604020202020204" pitchFamily="34" charset="0"/>
                <a:cs typeface="Arial" panose="020B0604020202020204" pitchFamily="34" charset="0"/>
              </a:rPr>
              <a:t>Cada fase debe completarse antes de pasar a la siguiente.</a:t>
            </a:r>
          </a:p>
          <a:p>
            <a:pPr>
              <a:buFont typeface="Arial" panose="020B0604020202020204" pitchFamily="34" charset="0"/>
              <a:buChar char="•"/>
            </a:pPr>
            <a:r>
              <a:rPr lang="es-MX" dirty="0">
                <a:latin typeface="Arial" panose="020B0604020202020204" pitchFamily="34" charset="0"/>
                <a:cs typeface="Arial" panose="020B0604020202020204" pitchFamily="34" charset="0"/>
              </a:rPr>
              <a:t> </a:t>
            </a:r>
            <a:r>
              <a:rPr lang="es-MX" dirty="0">
                <a:highlight>
                  <a:srgbClr val="FFFF00"/>
                </a:highlight>
                <a:latin typeface="Arial" panose="020B0604020202020204" pitchFamily="34" charset="0"/>
                <a:cs typeface="Arial" panose="020B0604020202020204" pitchFamily="34" charset="0"/>
              </a:rPr>
              <a:t>Documentación extensa.</a:t>
            </a:r>
          </a:p>
          <a:p>
            <a:pPr>
              <a:buFont typeface="Arial" panose="020B0604020202020204" pitchFamily="34" charset="0"/>
              <a:buChar char="•"/>
            </a:pPr>
            <a:r>
              <a:rPr lang="es-MX" dirty="0">
                <a:latin typeface="Arial" panose="020B0604020202020204" pitchFamily="34" charset="0"/>
                <a:cs typeface="Arial" panose="020B0604020202020204" pitchFamily="34" charset="0"/>
              </a:rPr>
              <a:t> Poco margen de retroalimentación temprana.</a:t>
            </a:r>
          </a:p>
        </p:txBody>
      </p:sp>
    </p:spTree>
    <p:extLst>
      <p:ext uri="{BB962C8B-B14F-4D97-AF65-F5344CB8AC3E}">
        <p14:creationId xmlns:p14="http://schemas.microsoft.com/office/powerpoint/2010/main" val="176264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A7844-33D9-D8ED-92B2-F61638F41759}"/>
            </a:ext>
          </a:extLst>
        </p:cNvPr>
        <p:cNvGrpSpPr/>
        <p:nvPr/>
      </p:nvGrpSpPr>
      <p:grpSpPr>
        <a:xfrm>
          <a:off x="0" y="0"/>
          <a:ext cx="0" cy="0"/>
          <a:chOff x="0" y="0"/>
          <a:chExt cx="0" cy="0"/>
        </a:xfrm>
      </p:grpSpPr>
      <p:pic>
        <p:nvPicPr>
          <p:cNvPr id="27650" name="Picture 2" descr="Qué es la metodología waterfall y cuándo utilizarla [2025] • Asana">
            <a:extLst>
              <a:ext uri="{FF2B5EF4-FFF2-40B4-BE49-F238E27FC236}">
                <a16:creationId xmlns:a16="http://schemas.microsoft.com/office/drawing/2014/main" id="{A7C0B882-DFE5-ECBC-8D13-E1C2A46A8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1263" y="1374887"/>
            <a:ext cx="8109473" cy="4392631"/>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450E1E51-A5C7-7886-312B-F1DD84DE7D91}"/>
              </a:ext>
            </a:extLst>
          </p:cNvPr>
          <p:cNvSpPr txBox="1"/>
          <p:nvPr/>
        </p:nvSpPr>
        <p:spPr>
          <a:xfrm>
            <a:off x="1586753" y="721150"/>
            <a:ext cx="6099586" cy="369332"/>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Modelo en Cascada: fases</a:t>
            </a:r>
          </a:p>
        </p:txBody>
      </p:sp>
    </p:spTree>
    <p:extLst>
      <p:ext uri="{BB962C8B-B14F-4D97-AF65-F5344CB8AC3E}">
        <p14:creationId xmlns:p14="http://schemas.microsoft.com/office/powerpoint/2010/main" val="3218794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63D84-19AC-88BD-E731-4B86EE03501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914D5AD-F8A0-5835-5347-B5693937A004}"/>
              </a:ext>
            </a:extLst>
          </p:cNvPr>
          <p:cNvSpPr txBox="1"/>
          <p:nvPr/>
        </p:nvSpPr>
        <p:spPr>
          <a:xfrm>
            <a:off x="1188720" y="1397675"/>
            <a:ext cx="10190480" cy="2400657"/>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¿Documentación EXTENSA?</a:t>
            </a:r>
          </a:p>
          <a:p>
            <a:pPr>
              <a:buNone/>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Cuando se dice que el </a:t>
            </a:r>
            <a:r>
              <a:rPr lang="es-MX" b="1" dirty="0">
                <a:latin typeface="Arial" panose="020B0604020202020204" pitchFamily="34" charset="0"/>
                <a:cs typeface="Arial" panose="020B0604020202020204" pitchFamily="34" charset="0"/>
              </a:rPr>
              <a:t>modelo en cascada</a:t>
            </a:r>
            <a:r>
              <a:rPr lang="es-MX" dirty="0">
                <a:latin typeface="Arial" panose="020B0604020202020204" pitchFamily="34" charset="0"/>
                <a:cs typeface="Arial" panose="020B0604020202020204" pitchFamily="34" charset="0"/>
              </a:rPr>
              <a:t> se caracteriza por una </a:t>
            </a:r>
            <a:r>
              <a:rPr lang="es-MX" b="1" dirty="0">
                <a:latin typeface="Arial" panose="020B0604020202020204" pitchFamily="34" charset="0"/>
                <a:cs typeface="Arial" panose="020B0604020202020204" pitchFamily="34" charset="0"/>
              </a:rPr>
              <a:t>documentación extensa</a:t>
            </a:r>
            <a:r>
              <a:rPr lang="es-MX" dirty="0">
                <a:latin typeface="Arial" panose="020B0604020202020204" pitchFamily="34" charset="0"/>
                <a:cs typeface="Arial" panose="020B0604020202020204" pitchFamily="34" charset="0"/>
              </a:rPr>
              <a:t>, se refiere a que </a:t>
            </a:r>
            <a:r>
              <a:rPr lang="es-MX" b="1" dirty="0">
                <a:highlight>
                  <a:srgbClr val="00FFFF"/>
                </a:highlight>
                <a:latin typeface="Arial" panose="020B0604020202020204" pitchFamily="34" charset="0"/>
                <a:cs typeface="Arial" panose="020B0604020202020204" pitchFamily="34" charset="0"/>
              </a:rPr>
              <a:t>cada fase produce entregables documentales formales</a:t>
            </a:r>
            <a:r>
              <a:rPr lang="es-MX" dirty="0">
                <a:highlight>
                  <a:srgbClr val="00FFFF"/>
                </a:highlight>
                <a:latin typeface="Arial" panose="020B0604020202020204" pitchFamily="34" charset="0"/>
                <a:cs typeface="Arial" panose="020B0604020202020204" pitchFamily="34" charset="0"/>
              </a:rPr>
              <a:t>, que sirven como insumo obligatorio para la siguiente fase</a:t>
            </a:r>
            <a:r>
              <a:rPr lang="es-MX"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Esto asegura </a:t>
            </a:r>
            <a:r>
              <a:rPr lang="es-MX" b="1" dirty="0">
                <a:latin typeface="Arial" panose="020B0604020202020204" pitchFamily="34" charset="0"/>
                <a:cs typeface="Arial" panose="020B0604020202020204" pitchFamily="34" charset="0"/>
              </a:rPr>
              <a:t>trazabilidad, control y registro histórico</a:t>
            </a:r>
            <a:r>
              <a:rPr lang="es-MX" dirty="0">
                <a:latin typeface="Arial" panose="020B0604020202020204" pitchFamily="34" charset="0"/>
                <a:cs typeface="Arial" panose="020B0604020202020204" pitchFamily="34" charset="0"/>
              </a:rPr>
              <a:t>, pero también vuelve el modelo rígido y costoso de mantener.</a:t>
            </a:r>
          </a:p>
        </p:txBody>
      </p:sp>
    </p:spTree>
    <p:extLst>
      <p:ext uri="{BB962C8B-B14F-4D97-AF65-F5344CB8AC3E}">
        <p14:creationId xmlns:p14="http://schemas.microsoft.com/office/powerpoint/2010/main" val="875825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BB44-09C9-E344-96CC-6CF45E5EB8B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952F86B-43EF-2AB4-39DD-97CB2757BC84}"/>
              </a:ext>
            </a:extLst>
          </p:cNvPr>
          <p:cNvSpPr txBox="1"/>
          <p:nvPr/>
        </p:nvSpPr>
        <p:spPr>
          <a:xfrm>
            <a:off x="1391920" y="825142"/>
            <a:ext cx="9672320" cy="4524315"/>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Tipos de documentos por fase en el modelo en cascada</a:t>
            </a:r>
          </a:p>
          <a:p>
            <a:pPr>
              <a:buNone/>
            </a:pPr>
            <a:endParaRPr lang="es-MX" b="1" dirty="0">
              <a:latin typeface="Arial" panose="020B0604020202020204" pitchFamily="34" charset="0"/>
              <a:cs typeface="Arial" panose="020B0604020202020204" pitchFamily="34" charset="0"/>
            </a:endParaRPr>
          </a:p>
          <a:p>
            <a:pPr marL="342900" indent="-342900">
              <a:buAutoNum type="arabicPeriod"/>
            </a:pPr>
            <a:r>
              <a:rPr lang="es-MX" b="1" dirty="0">
                <a:latin typeface="Arial" panose="020B0604020202020204" pitchFamily="34" charset="0"/>
                <a:cs typeface="Arial" panose="020B0604020202020204" pitchFamily="34" charset="0"/>
              </a:rPr>
              <a:t>Fase de Requerimientos</a:t>
            </a:r>
          </a:p>
          <a:p>
            <a:pPr marL="342900" indent="-342900">
              <a:buAutoNum type="arabicPeriod"/>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Especificación de requerimientos del software (SRS – </a:t>
            </a:r>
            <a:r>
              <a:rPr lang="es-MX" i="1" dirty="0">
                <a:latin typeface="Arial" panose="020B0604020202020204" pitchFamily="34" charset="0"/>
                <a:cs typeface="Arial" panose="020B0604020202020204" pitchFamily="34" charset="0"/>
              </a:rPr>
              <a:t>Software Requirements Specification</a:t>
            </a:r>
            <a:r>
              <a:rPr lang="es-MX" dirty="0">
                <a:latin typeface="Arial" panose="020B0604020202020204" pitchFamily="34" charset="0"/>
                <a:cs typeface="Arial" panose="020B0604020202020204" pitchFamily="34" charset="0"/>
              </a:rPr>
              <a:t>, IEEE 830 / ISO/IEC/IEEE 29148).</a:t>
            </a:r>
          </a:p>
          <a:p>
            <a:pPr>
              <a:buFont typeface="Arial" panose="020B0604020202020204" pitchFamily="34" charset="0"/>
              <a:buChar char="•"/>
            </a:pPr>
            <a:r>
              <a:rPr lang="es-MX" dirty="0">
                <a:latin typeface="Arial" panose="020B0604020202020204" pitchFamily="34" charset="0"/>
                <a:cs typeface="Arial" panose="020B0604020202020204" pitchFamily="34" charset="0"/>
              </a:rPr>
              <a:t> Documento de requerimientos del usuario.</a:t>
            </a:r>
          </a:p>
          <a:p>
            <a:pPr>
              <a:buFont typeface="Arial" panose="020B0604020202020204" pitchFamily="34" charset="0"/>
              <a:buChar char="•"/>
            </a:pPr>
            <a:r>
              <a:rPr lang="es-MX" dirty="0">
                <a:latin typeface="Arial" panose="020B0604020202020204" pitchFamily="34" charset="0"/>
                <a:cs typeface="Arial" panose="020B0604020202020204" pitchFamily="34" charset="0"/>
              </a:rPr>
              <a:t> Diagramas de casos de uso, historias de usuario (si se adaptan).</a:t>
            </a:r>
          </a:p>
          <a:p>
            <a:pPr>
              <a:buFont typeface="Arial" panose="020B0604020202020204" pitchFamily="34" charset="0"/>
              <a:buChar char="•"/>
            </a:pPr>
            <a:r>
              <a:rPr lang="es-MX" dirty="0">
                <a:latin typeface="Arial" panose="020B0604020202020204" pitchFamily="34" charset="0"/>
                <a:cs typeface="Arial" panose="020B0604020202020204" pitchFamily="34" charset="0"/>
              </a:rPr>
              <a:t> Matriz de trazabilidad de requerimientos.</a:t>
            </a: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2. Fase de Diseño</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Documento de diseño de software (SDD – </a:t>
            </a:r>
            <a:r>
              <a:rPr lang="es-MX" i="1" dirty="0">
                <a:latin typeface="Arial" panose="020B0604020202020204" pitchFamily="34" charset="0"/>
                <a:cs typeface="Arial" panose="020B0604020202020204" pitchFamily="34" charset="0"/>
              </a:rPr>
              <a:t>Software Design Document</a:t>
            </a:r>
            <a:r>
              <a:rPr lang="es-MX" dirty="0">
                <a:latin typeface="Arial" panose="020B0604020202020204" pitchFamily="34" charset="0"/>
                <a:cs typeface="Arial" panose="020B0604020202020204" pitchFamily="34" charset="0"/>
              </a:rPr>
              <a:t>).</a:t>
            </a:r>
          </a:p>
          <a:p>
            <a:pPr>
              <a:buFont typeface="Arial" panose="020B0604020202020204" pitchFamily="34" charset="0"/>
              <a:buChar char="•"/>
            </a:pPr>
            <a:r>
              <a:rPr lang="es-MX" dirty="0">
                <a:latin typeface="Arial" panose="020B0604020202020204" pitchFamily="34" charset="0"/>
                <a:cs typeface="Arial" panose="020B0604020202020204" pitchFamily="34" charset="0"/>
              </a:rPr>
              <a:t> Arquitectura del sistema (diagramas de componentes, despliegue, vistas 4+1).</a:t>
            </a:r>
          </a:p>
          <a:p>
            <a:pPr>
              <a:buFont typeface="Arial" panose="020B0604020202020204" pitchFamily="34" charset="0"/>
              <a:buChar char="•"/>
            </a:pPr>
            <a:r>
              <a:rPr lang="es-MX" dirty="0">
                <a:latin typeface="Arial" panose="020B0604020202020204" pitchFamily="34" charset="0"/>
                <a:cs typeface="Arial" panose="020B0604020202020204" pitchFamily="34" charset="0"/>
              </a:rPr>
              <a:t> Diseño detallado (diagramas de clases, secuencia, ER para BD).</a:t>
            </a:r>
          </a:p>
          <a:p>
            <a:pPr>
              <a:buFont typeface="Arial" panose="020B0604020202020204" pitchFamily="34" charset="0"/>
              <a:buChar char="•"/>
            </a:pPr>
            <a:r>
              <a:rPr lang="es-MX" dirty="0">
                <a:latin typeface="Arial" panose="020B0604020202020204" pitchFamily="34" charset="0"/>
                <a:cs typeface="Arial" panose="020B0604020202020204" pitchFamily="34" charset="0"/>
              </a:rPr>
              <a:t> Especificación de interfaces (API, contratos).</a:t>
            </a:r>
          </a:p>
        </p:txBody>
      </p:sp>
    </p:spTree>
    <p:extLst>
      <p:ext uri="{BB962C8B-B14F-4D97-AF65-F5344CB8AC3E}">
        <p14:creationId xmlns:p14="http://schemas.microsoft.com/office/powerpoint/2010/main" val="3378990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5EBE2-747F-C18F-FDBF-0940272FF17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CF56AC2-28E9-D471-91B5-73FC8446B26F}"/>
              </a:ext>
            </a:extLst>
          </p:cNvPr>
          <p:cNvSpPr txBox="1"/>
          <p:nvPr/>
        </p:nvSpPr>
        <p:spPr>
          <a:xfrm>
            <a:off x="1483360" y="889843"/>
            <a:ext cx="7863840" cy="5078313"/>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3. Fase de Codificación</a:t>
            </a:r>
          </a:p>
          <a:p>
            <a:pPr>
              <a:buFont typeface="Arial" panose="020B0604020202020204" pitchFamily="34" charset="0"/>
              <a:buChar char="•"/>
            </a:pPr>
            <a:r>
              <a:rPr lang="es-MX" dirty="0">
                <a:latin typeface="Arial" panose="020B0604020202020204" pitchFamily="34" charset="0"/>
                <a:cs typeface="Arial" panose="020B0604020202020204" pitchFamily="34" charset="0"/>
              </a:rPr>
              <a:t> Manual de codificación o guías de estilo.</a:t>
            </a:r>
          </a:p>
          <a:p>
            <a:pPr>
              <a:buFont typeface="Arial" panose="020B0604020202020204" pitchFamily="34" charset="0"/>
              <a:buChar char="•"/>
            </a:pPr>
            <a:r>
              <a:rPr lang="es-MX" dirty="0">
                <a:latin typeface="Arial" panose="020B0604020202020204" pitchFamily="34" charset="0"/>
                <a:cs typeface="Arial" panose="020B0604020202020204" pitchFamily="34" charset="0"/>
              </a:rPr>
              <a:t> Comentarios y documentación interna en el código.</a:t>
            </a:r>
          </a:p>
          <a:p>
            <a:pPr>
              <a:buFont typeface="Arial" panose="020B0604020202020204" pitchFamily="34" charset="0"/>
              <a:buChar char="•"/>
            </a:pPr>
            <a:r>
              <a:rPr lang="es-MX" dirty="0">
                <a:latin typeface="Arial" panose="020B0604020202020204" pitchFamily="34" charset="0"/>
                <a:cs typeface="Arial" panose="020B0604020202020204" pitchFamily="34" charset="0"/>
              </a:rPr>
              <a:t> Registro de control de versiones.</a:t>
            </a:r>
          </a:p>
          <a:p>
            <a:pPr>
              <a:buFont typeface="Arial" panose="020B0604020202020204" pitchFamily="34" charset="0"/>
              <a:buChar char="•"/>
            </a:pPr>
            <a:r>
              <a:rPr lang="es-MX" dirty="0">
                <a:latin typeface="Arial" panose="020B0604020202020204" pitchFamily="34" charset="0"/>
                <a:cs typeface="Arial" panose="020B0604020202020204" pitchFamily="34" charset="0"/>
              </a:rPr>
              <a:t> Documento de construcción o </a:t>
            </a:r>
            <a:r>
              <a:rPr lang="es-MX" i="1" dirty="0">
                <a:latin typeface="Arial" panose="020B0604020202020204" pitchFamily="34" charset="0"/>
                <a:cs typeface="Arial" panose="020B0604020202020204" pitchFamily="34" charset="0"/>
              </a:rPr>
              <a:t>build guide</a:t>
            </a:r>
            <a:r>
              <a:rPr lang="es-MX" dirty="0">
                <a:latin typeface="Arial" panose="020B0604020202020204" pitchFamily="34" charset="0"/>
                <a:cs typeface="Arial" panose="020B0604020202020204" pitchFamily="34" charset="0"/>
              </a:rPr>
              <a:t>.</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4. Fase de Pruebas</a:t>
            </a:r>
          </a:p>
          <a:p>
            <a:pPr>
              <a:buFont typeface="Arial" panose="020B0604020202020204" pitchFamily="34" charset="0"/>
              <a:buChar char="•"/>
            </a:pPr>
            <a:r>
              <a:rPr lang="es-MX" dirty="0">
                <a:latin typeface="Arial" panose="020B0604020202020204" pitchFamily="34" charset="0"/>
                <a:cs typeface="Arial" panose="020B0604020202020204" pitchFamily="34" charset="0"/>
              </a:rPr>
              <a:t> Plan de pruebas (IEEE 829 / ISO/IEC/IEEE 29119).</a:t>
            </a:r>
          </a:p>
          <a:p>
            <a:pPr>
              <a:buFont typeface="Arial" panose="020B0604020202020204" pitchFamily="34" charset="0"/>
              <a:buChar char="•"/>
            </a:pPr>
            <a:r>
              <a:rPr lang="es-MX" dirty="0">
                <a:latin typeface="Arial" panose="020B0604020202020204" pitchFamily="34" charset="0"/>
                <a:cs typeface="Arial" panose="020B0604020202020204" pitchFamily="34" charset="0"/>
              </a:rPr>
              <a:t> Casos de prueba y procedimientos de prueba.</a:t>
            </a:r>
          </a:p>
          <a:p>
            <a:pPr>
              <a:buFont typeface="Arial" panose="020B0604020202020204" pitchFamily="34" charset="0"/>
              <a:buChar char="•"/>
            </a:pPr>
            <a:r>
              <a:rPr lang="es-MX" dirty="0">
                <a:latin typeface="Arial" panose="020B0604020202020204" pitchFamily="34" charset="0"/>
                <a:cs typeface="Arial" panose="020B0604020202020204" pitchFamily="34" charset="0"/>
              </a:rPr>
              <a:t> Reportes de ejecución de pruebas.</a:t>
            </a:r>
          </a:p>
          <a:p>
            <a:pPr>
              <a:buFont typeface="Arial" panose="020B0604020202020204" pitchFamily="34" charset="0"/>
              <a:buChar char="•"/>
            </a:pPr>
            <a:r>
              <a:rPr lang="es-MX" dirty="0">
                <a:latin typeface="Arial" panose="020B0604020202020204" pitchFamily="34" charset="0"/>
                <a:cs typeface="Arial" panose="020B0604020202020204" pitchFamily="34" charset="0"/>
              </a:rPr>
              <a:t> Registro de defectos encontrados (defect log).</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5. Fase de Mantenimiento</a:t>
            </a:r>
          </a:p>
          <a:p>
            <a:pPr>
              <a:buFont typeface="Arial" panose="020B0604020202020204" pitchFamily="34" charset="0"/>
              <a:buChar char="•"/>
            </a:pPr>
            <a:r>
              <a:rPr lang="es-MX" dirty="0">
                <a:latin typeface="Arial" panose="020B0604020202020204" pitchFamily="34" charset="0"/>
                <a:cs typeface="Arial" panose="020B0604020202020204" pitchFamily="34" charset="0"/>
              </a:rPr>
              <a:t> Manual de usuario.</a:t>
            </a:r>
          </a:p>
          <a:p>
            <a:pPr>
              <a:buFont typeface="Arial" panose="020B0604020202020204" pitchFamily="34" charset="0"/>
              <a:buChar char="•"/>
            </a:pPr>
            <a:r>
              <a:rPr lang="es-MX" dirty="0">
                <a:latin typeface="Arial" panose="020B0604020202020204" pitchFamily="34" charset="0"/>
                <a:cs typeface="Arial" panose="020B0604020202020204" pitchFamily="34" charset="0"/>
              </a:rPr>
              <a:t> Manual de operación (para TI / DevOps).</a:t>
            </a:r>
          </a:p>
          <a:p>
            <a:pPr>
              <a:buFont typeface="Arial" panose="020B0604020202020204" pitchFamily="34" charset="0"/>
              <a:buChar char="•"/>
            </a:pPr>
            <a:r>
              <a:rPr lang="es-MX" dirty="0">
                <a:latin typeface="Arial" panose="020B0604020202020204" pitchFamily="34" charset="0"/>
                <a:cs typeface="Arial" panose="020B0604020202020204" pitchFamily="34" charset="0"/>
              </a:rPr>
              <a:t> Documento de mantenimiento y cambios (</a:t>
            </a:r>
            <a:r>
              <a:rPr lang="es-MX" i="1" dirty="0">
                <a:latin typeface="Arial" panose="020B0604020202020204" pitchFamily="34" charset="0"/>
                <a:cs typeface="Arial" panose="020B0604020202020204" pitchFamily="34" charset="0"/>
              </a:rPr>
              <a:t>Change Requests</a:t>
            </a:r>
            <a:r>
              <a:rPr lang="es-MX" dirty="0">
                <a:latin typeface="Arial" panose="020B0604020202020204" pitchFamily="34" charset="0"/>
                <a:cs typeface="Arial" panose="020B0604020202020204" pitchFamily="34" charset="0"/>
              </a:rPr>
              <a:t>).</a:t>
            </a:r>
          </a:p>
          <a:p>
            <a:pPr>
              <a:buFont typeface="Arial" panose="020B0604020202020204" pitchFamily="34" charset="0"/>
              <a:buChar char="•"/>
            </a:pPr>
            <a:r>
              <a:rPr lang="es-MX" dirty="0">
                <a:latin typeface="Arial" panose="020B0604020202020204" pitchFamily="34" charset="0"/>
                <a:cs typeface="Arial" panose="020B0604020202020204" pitchFamily="34" charset="0"/>
              </a:rPr>
              <a:t> Historial de versiones (</a:t>
            </a:r>
            <a:r>
              <a:rPr lang="es-MX" i="1" dirty="0">
                <a:latin typeface="Arial" panose="020B0604020202020204" pitchFamily="34" charset="0"/>
                <a:cs typeface="Arial" panose="020B0604020202020204" pitchFamily="34" charset="0"/>
              </a:rPr>
              <a:t>release notes</a:t>
            </a:r>
            <a:r>
              <a:rPr lang="es-MX" dirty="0">
                <a:latin typeface="Arial" panose="020B0604020202020204" pitchFamily="34" charset="0"/>
                <a:cs typeface="Arial" panose="020B0604020202020204" pitchFamily="34" charset="0"/>
              </a:rPr>
              <a:t>).</a:t>
            </a:r>
          </a:p>
          <a:p>
            <a:pPr>
              <a:buFont typeface="Arial" panose="020B0604020202020204" pitchFamily="34" charset="0"/>
              <a:buChar char="•"/>
            </a:pPr>
            <a:r>
              <a:rPr lang="es-MX" dirty="0">
                <a:latin typeface="Arial" panose="020B0604020202020204" pitchFamily="34" charset="0"/>
                <a:cs typeface="Arial" panose="020B0604020202020204" pitchFamily="34" charset="0"/>
              </a:rPr>
              <a:t> Plan de mantenimiento.</a:t>
            </a:r>
          </a:p>
        </p:txBody>
      </p:sp>
    </p:spTree>
    <p:extLst>
      <p:ext uri="{BB962C8B-B14F-4D97-AF65-F5344CB8AC3E}">
        <p14:creationId xmlns:p14="http://schemas.microsoft.com/office/powerpoint/2010/main" val="213216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8E238-3B32-5382-7C18-71AB6E6DBBC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F02693B-8CB0-DC5F-AA71-14702D739890}"/>
              </a:ext>
            </a:extLst>
          </p:cNvPr>
          <p:cNvSpPr txBox="1"/>
          <p:nvPr/>
        </p:nvSpPr>
        <p:spPr>
          <a:xfrm>
            <a:off x="1983037" y="2365950"/>
            <a:ext cx="8923663" cy="230832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s-MX" sz="2400" b="1" dirty="0">
                <a:latin typeface="Arial" panose="020B0604020202020204" pitchFamily="34" charset="0"/>
                <a:cs typeface="Arial" panose="020B0604020202020204" pitchFamily="34" charset="0"/>
              </a:rPr>
              <a:t>Resumen:</a:t>
            </a:r>
          </a:p>
          <a:p>
            <a:br>
              <a:rPr lang="es-MX" sz="2400" dirty="0">
                <a:latin typeface="Arial" panose="020B0604020202020204" pitchFamily="34" charset="0"/>
                <a:cs typeface="Arial" panose="020B0604020202020204" pitchFamily="34" charset="0"/>
              </a:rPr>
            </a:br>
            <a:r>
              <a:rPr lang="es-MX" sz="2400" dirty="0">
                <a:latin typeface="Arial" panose="020B0604020202020204" pitchFamily="34" charset="0"/>
                <a:cs typeface="Arial" panose="020B0604020202020204" pitchFamily="34" charset="0"/>
              </a:rPr>
              <a:t>El modelo en cascada </a:t>
            </a:r>
            <a:r>
              <a:rPr lang="es-MX" sz="2400" b="1" dirty="0">
                <a:latin typeface="Arial" panose="020B0604020202020204" pitchFamily="34" charset="0"/>
                <a:cs typeface="Arial" panose="020B0604020202020204" pitchFamily="34" charset="0"/>
              </a:rPr>
              <a:t>documenta cada paso</a:t>
            </a:r>
            <a:r>
              <a:rPr lang="es-MX" sz="2400" dirty="0">
                <a:latin typeface="Arial" panose="020B0604020202020204" pitchFamily="34" charset="0"/>
                <a:cs typeface="Arial" panose="020B0604020202020204" pitchFamily="34" charset="0"/>
              </a:rPr>
              <a:t>, lo que permite que equipos grandes, distribuidos o nuevos miembros puedan entender lo que se hizo, pero a cambio se sacrifica flexibilidad y rapidez.</a:t>
            </a:r>
          </a:p>
        </p:txBody>
      </p:sp>
    </p:spTree>
    <p:extLst>
      <p:ext uri="{BB962C8B-B14F-4D97-AF65-F5344CB8AC3E}">
        <p14:creationId xmlns:p14="http://schemas.microsoft.com/office/powerpoint/2010/main" val="2598575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569F82-E324-C808-356F-C1FCDC90EB64}"/>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8D33032-FCD7-E36E-3846-3F9D23F1EF3E}"/>
              </a:ext>
            </a:extLst>
          </p:cNvPr>
          <p:cNvGraphicFramePr>
            <a:graphicFrameLocks noGrp="1"/>
          </p:cNvGraphicFramePr>
          <p:nvPr>
            <p:extLst>
              <p:ext uri="{D42A27DB-BD31-4B8C-83A1-F6EECF244321}">
                <p14:modId xmlns:p14="http://schemas.microsoft.com/office/powerpoint/2010/main" val="2303462176"/>
              </p:ext>
            </p:extLst>
          </p:nvPr>
        </p:nvGraphicFramePr>
        <p:xfrm>
          <a:off x="881743" y="643466"/>
          <a:ext cx="10443597" cy="5571070"/>
        </p:xfrm>
        <a:graphic>
          <a:graphicData uri="http://schemas.openxmlformats.org/drawingml/2006/table">
            <a:tbl>
              <a:tblPr/>
              <a:tblGrid>
                <a:gridCol w="1567543">
                  <a:extLst>
                    <a:ext uri="{9D8B030D-6E8A-4147-A177-3AD203B41FA5}">
                      <a16:colId xmlns:a16="http://schemas.microsoft.com/office/drawing/2014/main" val="1178630370"/>
                    </a:ext>
                  </a:extLst>
                </a:gridCol>
                <a:gridCol w="5203902">
                  <a:extLst>
                    <a:ext uri="{9D8B030D-6E8A-4147-A177-3AD203B41FA5}">
                      <a16:colId xmlns:a16="http://schemas.microsoft.com/office/drawing/2014/main" val="3328739841"/>
                    </a:ext>
                  </a:extLst>
                </a:gridCol>
                <a:gridCol w="3672152">
                  <a:extLst>
                    <a:ext uri="{9D8B030D-6E8A-4147-A177-3AD203B41FA5}">
                      <a16:colId xmlns:a16="http://schemas.microsoft.com/office/drawing/2014/main" val="1413810872"/>
                    </a:ext>
                  </a:extLst>
                </a:gridCol>
              </a:tblGrid>
              <a:tr h="293918">
                <a:tc>
                  <a:txBody>
                    <a:bodyPr/>
                    <a:lstStyle/>
                    <a:p>
                      <a:pPr algn="l" fontAlgn="ctr">
                        <a:buNone/>
                      </a:pPr>
                      <a:r>
                        <a:rPr lang="es-MX" sz="1400" b="1" i="0" u="none" strike="noStrike">
                          <a:effectLst/>
                          <a:latin typeface="Arial" panose="020B0604020202020204" pitchFamily="34" charset="0"/>
                        </a:rPr>
                        <a:t>Fase</a:t>
                      </a:r>
                      <a:endParaRPr lang="es-MX" sz="1400" b="0" i="0" u="none" strike="noStrike">
                        <a:effectLst/>
                        <a:latin typeface="Arial" panose="020B0604020202020204" pitchFamily="34" charset="0"/>
                      </a:endParaRPr>
                    </a:p>
                  </a:txBody>
                  <a:tcPr marL="66799" marR="66799" marT="33400" marB="33400"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a:effectLst/>
                          <a:latin typeface="Arial" panose="020B0604020202020204" pitchFamily="34" charset="0"/>
                        </a:rPr>
                        <a:t>Documentos típicos</a:t>
                      </a:r>
                      <a:endParaRPr lang="es-MX" sz="1400" b="0" i="0" u="none" strike="noStrike">
                        <a:effectLst/>
                        <a:latin typeface="Arial" panose="020B0604020202020204" pitchFamily="34" charset="0"/>
                      </a:endParaRPr>
                    </a:p>
                  </a:txBody>
                  <a:tcPr marL="66799" marR="66799" marT="33400" marB="33400"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dirty="0">
                          <a:effectLst/>
                          <a:latin typeface="Arial" panose="020B0604020202020204" pitchFamily="34" charset="0"/>
                        </a:rPr>
                        <a:t>Propósito</a:t>
                      </a:r>
                      <a:endParaRPr lang="es-MX" sz="1400" b="0" i="0" u="none" strike="noStrike" dirty="0">
                        <a:effectLst/>
                        <a:latin typeface="Arial" panose="020B0604020202020204" pitchFamily="34" charset="0"/>
                      </a:endParaRPr>
                    </a:p>
                  </a:txBody>
                  <a:tcPr marL="66799" marR="66799" marT="33400" marB="33400"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2806288467"/>
                  </a:ext>
                </a:extLst>
              </a:tr>
              <a:tr h="1095510">
                <a:tc>
                  <a:txBody>
                    <a:bodyPr/>
                    <a:lstStyle/>
                    <a:p>
                      <a:pPr algn="l" fontAlgn="ctr">
                        <a:buNone/>
                      </a:pPr>
                      <a:r>
                        <a:rPr lang="es-MX" sz="1200" b="1" i="0" u="none" strike="noStrike">
                          <a:effectLst/>
                          <a:latin typeface="Arial" panose="020B0604020202020204" pitchFamily="34" charset="0"/>
                        </a:rPr>
                        <a:t>Requerimientos</a:t>
                      </a:r>
                      <a:endParaRPr lang="es-MX" sz="1200" b="0" i="0" u="none" strike="noStrike">
                        <a:effectLst/>
                        <a:latin typeface="Arial" panose="020B0604020202020204" pitchFamily="34" charset="0"/>
                      </a:endParaRPr>
                    </a:p>
                  </a:txBody>
                  <a:tcPr marL="66799" marR="66799" marT="33400" marB="33400" anchor="ctr">
                    <a:lnL>
                      <a:noFill/>
                    </a:lnL>
                    <a:lnR>
                      <a:noFill/>
                    </a:lnR>
                    <a:lnT>
                      <a:noFill/>
                    </a:lnT>
                    <a:lnB>
                      <a:noFill/>
                    </a:lnB>
                    <a:noFill/>
                  </a:tcPr>
                </a:tc>
                <a:tc>
                  <a:txBody>
                    <a:bodyPr/>
                    <a:lstStyle/>
                    <a:p>
                      <a:pPr marL="285750" indent="-285750" algn="l" fontAlgn="ctr">
                        <a:buFontTx/>
                        <a:buChar char="-"/>
                      </a:pPr>
                      <a:r>
                        <a:rPr lang="es-MX" sz="1200" b="0" i="0" u="none" strike="noStrike" dirty="0">
                          <a:effectLst/>
                          <a:latin typeface="Arial" panose="020B0604020202020204" pitchFamily="34" charset="0"/>
                        </a:rPr>
                        <a:t>Documento de Requerimientos del Usuario (URS)- Especificación de Requerimientos del Software (SRS, IEEE 830 / ISO/IEC/IEEE 29148)</a:t>
                      </a:r>
                    </a:p>
                    <a:p>
                      <a:pPr marL="285750" indent="-285750" algn="l" fontAlgn="ctr">
                        <a:buFontTx/>
                        <a:buChar char="-"/>
                      </a:pPr>
                      <a:r>
                        <a:rPr lang="es-MX" sz="1200" b="0" i="0" u="none" strike="noStrike" dirty="0">
                          <a:effectLst/>
                          <a:latin typeface="Arial" panose="020B0604020202020204" pitchFamily="34" charset="0"/>
                        </a:rPr>
                        <a:t>Casos de uso / Historias de usuario</a:t>
                      </a:r>
                    </a:p>
                    <a:p>
                      <a:pPr marL="285750" indent="-285750" algn="l" fontAlgn="ctr">
                        <a:buFontTx/>
                        <a:buChar char="-"/>
                      </a:pPr>
                      <a:r>
                        <a:rPr lang="es-MX" sz="1200" b="0" i="0" u="none" strike="noStrike" dirty="0">
                          <a:effectLst/>
                          <a:latin typeface="Arial" panose="020B0604020202020204" pitchFamily="34" charset="0"/>
                        </a:rPr>
                        <a:t>Matriz de trazabilidad de requerimientos</a:t>
                      </a:r>
                    </a:p>
                  </a:txBody>
                  <a:tcPr marL="66799" marR="66799" marT="33400" marB="33400" anchor="ctr">
                    <a:lnL>
                      <a:noFill/>
                    </a:lnL>
                    <a:lnR>
                      <a:noFill/>
                    </a:lnR>
                    <a:lnT>
                      <a:noFill/>
                    </a:lnT>
                    <a:lnB>
                      <a:noFill/>
                    </a:lnB>
                    <a:noFill/>
                  </a:tcPr>
                </a:tc>
                <a:tc>
                  <a:txBody>
                    <a:bodyPr/>
                    <a:lstStyle/>
                    <a:p>
                      <a:pPr algn="l" fontAlgn="ctr">
                        <a:buNone/>
                      </a:pPr>
                      <a:r>
                        <a:rPr lang="es-MX" sz="1200" b="0" i="0" u="none" strike="noStrike" dirty="0">
                          <a:effectLst/>
                          <a:latin typeface="Arial" panose="020B0604020202020204" pitchFamily="34" charset="0"/>
                        </a:rPr>
                        <a:t>Definir </a:t>
                      </a:r>
                      <a:r>
                        <a:rPr lang="es-MX" sz="1200" b="0" i="1" u="none" strike="noStrike" dirty="0">
                          <a:effectLst/>
                          <a:latin typeface="Arial" panose="020B0604020202020204" pitchFamily="34" charset="0"/>
                        </a:rPr>
                        <a:t>qué</a:t>
                      </a:r>
                      <a:r>
                        <a:rPr lang="es-MX" sz="1200" b="0" i="0" u="none" strike="noStrike" dirty="0">
                          <a:effectLst/>
                          <a:latin typeface="Arial" panose="020B0604020202020204" pitchFamily="34" charset="0"/>
                        </a:rPr>
                        <a:t> debe hacer el sistema, restricciones, alcance y criterios de aceptación. Asegurar trazabilidad y entendimiento común con el cliente.</a:t>
                      </a:r>
                    </a:p>
                  </a:txBody>
                  <a:tcPr marL="66799" marR="66799" marT="33400" marB="33400" anchor="ctr">
                    <a:lnL>
                      <a:noFill/>
                    </a:lnL>
                    <a:lnR>
                      <a:noFill/>
                    </a:lnR>
                    <a:lnT>
                      <a:noFill/>
                    </a:lnT>
                    <a:lnB>
                      <a:noFill/>
                    </a:lnB>
                    <a:noFill/>
                  </a:tcPr>
                </a:tc>
                <a:extLst>
                  <a:ext uri="{0D108BD9-81ED-4DB2-BD59-A6C34878D82A}">
                    <a16:rowId xmlns:a16="http://schemas.microsoft.com/office/drawing/2014/main" val="2267033095"/>
                  </a:ext>
                </a:extLst>
              </a:tr>
              <a:tr h="1295908">
                <a:tc>
                  <a:txBody>
                    <a:bodyPr/>
                    <a:lstStyle/>
                    <a:p>
                      <a:pPr algn="l" fontAlgn="ctr">
                        <a:buNone/>
                      </a:pPr>
                      <a:r>
                        <a:rPr lang="es-MX" sz="1200" b="1" i="0" u="none" strike="noStrike">
                          <a:effectLst/>
                          <a:latin typeface="Arial" panose="020B0604020202020204" pitchFamily="34" charset="0"/>
                        </a:rPr>
                        <a:t>Diseño</a:t>
                      </a:r>
                      <a:endParaRPr lang="es-MX" sz="1200" b="0" i="0" u="none" strike="noStrike">
                        <a:effectLst/>
                        <a:latin typeface="Arial" panose="020B0604020202020204" pitchFamily="34" charset="0"/>
                      </a:endParaRPr>
                    </a:p>
                  </a:txBody>
                  <a:tcPr marL="66799" marR="66799" marT="33400" marB="33400" anchor="ctr">
                    <a:lnL>
                      <a:noFill/>
                    </a:lnL>
                    <a:lnR>
                      <a:noFill/>
                    </a:lnR>
                    <a:lnT>
                      <a:noFill/>
                    </a:lnT>
                    <a:lnB>
                      <a:noFill/>
                    </a:lnB>
                    <a:solidFill>
                      <a:schemeClr val="accent6">
                        <a:lumMod val="20000"/>
                        <a:lumOff val="80000"/>
                      </a:schemeClr>
                    </a:solidFill>
                  </a:tcPr>
                </a:tc>
                <a:tc>
                  <a:txBody>
                    <a:bodyPr/>
                    <a:lstStyle/>
                    <a:p>
                      <a:pPr marL="285750" indent="-285750" algn="l" fontAlgn="ctr">
                        <a:buFontTx/>
                        <a:buChar char="-"/>
                      </a:pPr>
                      <a:r>
                        <a:rPr lang="es-MX" sz="1200" b="0" i="0" u="none" strike="noStrike" dirty="0">
                          <a:effectLst/>
                          <a:latin typeface="Arial" panose="020B0604020202020204" pitchFamily="34" charset="0"/>
                        </a:rPr>
                        <a:t>Documento de Diseño de Software (SDD)</a:t>
                      </a:r>
                    </a:p>
                    <a:p>
                      <a:pPr marL="285750" indent="-285750" algn="l" fontAlgn="ctr">
                        <a:buFontTx/>
                        <a:buChar char="-"/>
                      </a:pPr>
                      <a:r>
                        <a:rPr lang="es-MX" sz="1200" b="0" i="0" u="none" strike="noStrike" dirty="0">
                          <a:effectLst/>
                          <a:latin typeface="Arial" panose="020B0604020202020204" pitchFamily="34" charset="0"/>
                        </a:rPr>
                        <a:t> Arquitectura de software (diagramas de componentes, despliegue, vistas 4+1)</a:t>
                      </a:r>
                    </a:p>
                    <a:p>
                      <a:pPr marL="285750" indent="-285750" algn="l" fontAlgn="ctr">
                        <a:buFontTx/>
                        <a:buChar char="-"/>
                      </a:pPr>
                      <a:r>
                        <a:rPr lang="es-MX" sz="1200" b="0" i="0" u="none" strike="noStrike" dirty="0">
                          <a:effectLst/>
                          <a:latin typeface="Arial" panose="020B0604020202020204" pitchFamily="34" charset="0"/>
                        </a:rPr>
                        <a:t>Diseño detallado (diagramas de clases, secuencia, ER para BD)</a:t>
                      </a:r>
                    </a:p>
                    <a:p>
                      <a:pPr marL="285750" indent="-285750" algn="l" fontAlgn="ctr">
                        <a:buFontTx/>
                        <a:buChar char="-"/>
                      </a:pPr>
                      <a:r>
                        <a:rPr lang="es-MX" sz="1200" b="0" i="0" u="none" strike="noStrike" dirty="0">
                          <a:effectLst/>
                          <a:latin typeface="Arial" panose="020B0604020202020204" pitchFamily="34" charset="0"/>
                        </a:rPr>
                        <a:t>Especificación de interfaces (API, protocolos, contratos)</a:t>
                      </a:r>
                    </a:p>
                  </a:txBody>
                  <a:tcPr marL="66799" marR="66799" marT="33400" marB="33400"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Definir </a:t>
                      </a:r>
                      <a:r>
                        <a:rPr lang="es-MX" sz="1200" b="0" i="1" u="none" strike="noStrike" dirty="0">
                          <a:effectLst/>
                          <a:latin typeface="Arial" panose="020B0604020202020204" pitchFamily="34" charset="0"/>
                        </a:rPr>
                        <a:t>cómo</a:t>
                      </a:r>
                      <a:r>
                        <a:rPr lang="es-MX" sz="1200" b="0" i="0" u="none" strike="noStrike" dirty="0">
                          <a:effectLst/>
                          <a:latin typeface="Arial" panose="020B0604020202020204" pitchFamily="34" charset="0"/>
                        </a:rPr>
                        <a:t> se construirá el sistema: estructuras, componentes, interacciones y arquitectura. Facilitar la transición a la codificación.</a:t>
                      </a:r>
                    </a:p>
                  </a:txBody>
                  <a:tcPr marL="66799" marR="66799" marT="33400" marB="3340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58497971"/>
                  </a:ext>
                </a:extLst>
              </a:tr>
              <a:tr h="895112">
                <a:tc>
                  <a:txBody>
                    <a:bodyPr/>
                    <a:lstStyle/>
                    <a:p>
                      <a:pPr algn="l" fontAlgn="ctr">
                        <a:buNone/>
                      </a:pPr>
                      <a:r>
                        <a:rPr lang="es-MX" sz="1200" b="1" i="0" u="none" strike="noStrike">
                          <a:effectLst/>
                          <a:latin typeface="Arial" panose="020B0604020202020204" pitchFamily="34" charset="0"/>
                        </a:rPr>
                        <a:t>Codificación</a:t>
                      </a:r>
                      <a:endParaRPr lang="es-MX" sz="1200" b="0" i="0" u="none" strike="noStrike">
                        <a:effectLst/>
                        <a:latin typeface="Arial" panose="020B0604020202020204" pitchFamily="34" charset="0"/>
                      </a:endParaRPr>
                    </a:p>
                  </a:txBody>
                  <a:tcPr marL="66799" marR="66799" marT="33400" marB="33400" anchor="ctr">
                    <a:lnL>
                      <a:noFill/>
                    </a:lnL>
                    <a:lnR>
                      <a:noFill/>
                    </a:lnR>
                    <a:lnT>
                      <a:noFill/>
                    </a:lnT>
                    <a:lnB>
                      <a:noFill/>
                    </a:lnB>
                    <a:noFill/>
                  </a:tcPr>
                </a:tc>
                <a:tc>
                  <a:txBody>
                    <a:bodyPr/>
                    <a:lstStyle/>
                    <a:p>
                      <a:pPr marL="285750" indent="-285750" algn="l" fontAlgn="ctr">
                        <a:buFontTx/>
                        <a:buChar char="-"/>
                      </a:pPr>
                      <a:r>
                        <a:rPr lang="es-MX" sz="1200" b="0" i="0" u="none" strike="noStrike" dirty="0">
                          <a:effectLst/>
                          <a:latin typeface="Arial" panose="020B0604020202020204" pitchFamily="34" charset="0"/>
                        </a:rPr>
                        <a:t>Guías de estilo / Manual de codificación</a:t>
                      </a:r>
                    </a:p>
                    <a:p>
                      <a:pPr marL="285750" indent="-285750" algn="l" fontAlgn="ctr">
                        <a:buFontTx/>
                        <a:buChar char="-"/>
                      </a:pPr>
                      <a:r>
                        <a:rPr lang="es-MX" sz="1200" b="0" i="0" u="none" strike="noStrike" dirty="0">
                          <a:effectLst/>
                          <a:latin typeface="Arial" panose="020B0604020202020204" pitchFamily="34" charset="0"/>
                        </a:rPr>
                        <a:t>Comentarios y documentación en el código</a:t>
                      </a:r>
                    </a:p>
                    <a:p>
                      <a:pPr marL="285750" indent="-285750" algn="l" fontAlgn="ctr">
                        <a:buFontTx/>
                        <a:buChar char="-"/>
                      </a:pPr>
                      <a:r>
                        <a:rPr lang="es-MX" sz="1200" b="0" i="0" u="none" strike="noStrike" dirty="0">
                          <a:effectLst/>
                          <a:latin typeface="Arial" panose="020B0604020202020204" pitchFamily="34" charset="0"/>
                        </a:rPr>
                        <a:t>Documento de construcción (</a:t>
                      </a:r>
                      <a:r>
                        <a:rPr lang="es-MX" sz="1200" b="0" i="1" u="none" strike="noStrike" dirty="0">
                          <a:effectLst/>
                          <a:latin typeface="Arial" panose="020B0604020202020204" pitchFamily="34" charset="0"/>
                        </a:rPr>
                        <a:t>build guide</a:t>
                      </a:r>
                      <a:r>
                        <a:rPr lang="es-MX" sz="1200" b="0" i="0" u="none" strike="noStrike" dirty="0">
                          <a:effectLst/>
                          <a:latin typeface="Arial" panose="020B0604020202020204" pitchFamily="34" charset="0"/>
                        </a:rPr>
                        <a:t>)</a:t>
                      </a:r>
                    </a:p>
                    <a:p>
                      <a:pPr marL="285750" indent="-285750" algn="l" fontAlgn="ctr">
                        <a:buFontTx/>
                        <a:buChar char="-"/>
                      </a:pPr>
                      <a:r>
                        <a:rPr lang="es-MX" sz="1200" b="0" i="0" u="none" strike="noStrike" dirty="0">
                          <a:effectLst/>
                          <a:latin typeface="Arial" panose="020B0604020202020204" pitchFamily="34" charset="0"/>
                        </a:rPr>
                        <a:t>Registro de control de versiones</a:t>
                      </a:r>
                    </a:p>
                  </a:txBody>
                  <a:tcPr marL="66799" marR="66799" marT="33400" marB="33400"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Asegurar calidad y consistencia del código, facilitar la integración y permitir que cualquier desarrollador pueda compilar y desplegar el sistema.</a:t>
                      </a:r>
                    </a:p>
                  </a:txBody>
                  <a:tcPr marL="66799" marR="66799" marT="33400" marB="33400" anchor="ctr">
                    <a:lnL>
                      <a:noFill/>
                    </a:lnL>
                    <a:lnR>
                      <a:noFill/>
                    </a:lnR>
                    <a:lnT>
                      <a:noFill/>
                    </a:lnT>
                    <a:lnB>
                      <a:noFill/>
                    </a:lnB>
                    <a:noFill/>
                  </a:tcPr>
                </a:tc>
                <a:extLst>
                  <a:ext uri="{0D108BD9-81ED-4DB2-BD59-A6C34878D82A}">
                    <a16:rowId xmlns:a16="http://schemas.microsoft.com/office/drawing/2014/main" val="4126886982"/>
                  </a:ext>
                </a:extLst>
              </a:tr>
              <a:tr h="895112">
                <a:tc>
                  <a:txBody>
                    <a:bodyPr/>
                    <a:lstStyle/>
                    <a:p>
                      <a:pPr algn="l" fontAlgn="ctr">
                        <a:buNone/>
                      </a:pPr>
                      <a:r>
                        <a:rPr lang="es-MX" sz="1200" b="1" i="0" u="none" strike="noStrike">
                          <a:effectLst/>
                          <a:latin typeface="Arial" panose="020B0604020202020204" pitchFamily="34" charset="0"/>
                        </a:rPr>
                        <a:t>Pruebas</a:t>
                      </a:r>
                      <a:endParaRPr lang="es-MX" sz="1200" b="0" i="0" u="none" strike="noStrike">
                        <a:effectLst/>
                        <a:latin typeface="Arial" panose="020B0604020202020204" pitchFamily="34" charset="0"/>
                      </a:endParaRPr>
                    </a:p>
                  </a:txBody>
                  <a:tcPr marL="66799" marR="66799" marT="33400" marB="33400" anchor="ctr">
                    <a:lnL>
                      <a:noFill/>
                    </a:lnL>
                    <a:lnR>
                      <a:noFill/>
                    </a:lnR>
                    <a:lnT>
                      <a:noFill/>
                    </a:lnT>
                    <a:lnB>
                      <a:noFill/>
                    </a:lnB>
                    <a:solidFill>
                      <a:schemeClr val="accent6">
                        <a:lumMod val="20000"/>
                        <a:lumOff val="80000"/>
                      </a:schemeClr>
                    </a:solidFill>
                  </a:tcPr>
                </a:tc>
                <a:tc>
                  <a:txBody>
                    <a:bodyPr/>
                    <a:lstStyle/>
                    <a:p>
                      <a:pPr marL="285750" indent="-285750" algn="l" fontAlgn="ctr">
                        <a:buFontTx/>
                        <a:buChar char="-"/>
                      </a:pPr>
                      <a:r>
                        <a:rPr lang="es-MX" sz="1200" b="0" i="0" u="none" strike="noStrike" dirty="0">
                          <a:effectLst/>
                          <a:latin typeface="Arial" panose="020B0604020202020204" pitchFamily="34" charset="0"/>
                        </a:rPr>
                        <a:t>Plan de pruebas (IEEE 829 / ISO/IEC/IEEE 29119)</a:t>
                      </a:r>
                    </a:p>
                    <a:p>
                      <a:pPr marL="285750" indent="-285750" algn="l" fontAlgn="ctr">
                        <a:buFontTx/>
                        <a:buChar char="-"/>
                      </a:pPr>
                      <a:r>
                        <a:rPr lang="es-MX" sz="1200" b="0" i="0" u="none" strike="noStrike" dirty="0">
                          <a:effectLst/>
                          <a:latin typeface="Arial" panose="020B0604020202020204" pitchFamily="34" charset="0"/>
                        </a:rPr>
                        <a:t>Casos y procedimientos de prueba</a:t>
                      </a:r>
                    </a:p>
                    <a:p>
                      <a:pPr marL="285750" indent="-285750" algn="l" fontAlgn="ctr">
                        <a:buFontTx/>
                        <a:buChar char="-"/>
                      </a:pPr>
                      <a:r>
                        <a:rPr lang="es-MX" sz="1200" b="0" i="0" u="none" strike="noStrike" dirty="0">
                          <a:effectLst/>
                          <a:latin typeface="Arial" panose="020B0604020202020204" pitchFamily="34" charset="0"/>
                        </a:rPr>
                        <a:t>Reportes de resultados de pruebas-</a:t>
                      </a:r>
                    </a:p>
                    <a:p>
                      <a:pPr marL="285750" indent="-285750" algn="l" fontAlgn="ctr">
                        <a:buFontTx/>
                        <a:buChar char="-"/>
                      </a:pPr>
                      <a:r>
                        <a:rPr lang="es-MX" sz="1200" b="0" i="0" u="none" strike="noStrike" dirty="0">
                          <a:effectLst/>
                          <a:latin typeface="Arial" panose="020B0604020202020204" pitchFamily="34" charset="0"/>
                        </a:rPr>
                        <a:t>Registro de defectos (</a:t>
                      </a:r>
                      <a:r>
                        <a:rPr lang="es-MX" sz="1200" b="0" i="1" u="none" strike="noStrike" dirty="0">
                          <a:effectLst/>
                          <a:latin typeface="Arial" panose="020B0604020202020204" pitchFamily="34" charset="0"/>
                        </a:rPr>
                        <a:t>defect log</a:t>
                      </a:r>
                      <a:r>
                        <a:rPr lang="es-MX" sz="1200" b="0" i="0" u="none" strike="noStrike" dirty="0">
                          <a:effectLst/>
                          <a:latin typeface="Arial" panose="020B0604020202020204" pitchFamily="34" charset="0"/>
                        </a:rPr>
                        <a:t>)</a:t>
                      </a:r>
                    </a:p>
                  </a:txBody>
                  <a:tcPr marL="66799" marR="66799" marT="33400" marB="33400"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Verificar y validar que el software cumple los requerimientos, identificar defectos y dar evidencia de calidad.</a:t>
                      </a:r>
                    </a:p>
                  </a:txBody>
                  <a:tcPr marL="66799" marR="66799" marT="33400" marB="33400"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533303148"/>
                  </a:ext>
                </a:extLst>
              </a:tr>
              <a:tr h="1095510">
                <a:tc>
                  <a:txBody>
                    <a:bodyPr/>
                    <a:lstStyle/>
                    <a:p>
                      <a:pPr algn="l" fontAlgn="ctr">
                        <a:buNone/>
                      </a:pPr>
                      <a:r>
                        <a:rPr lang="es-MX" sz="1200" b="1" i="0" u="none" strike="noStrike">
                          <a:effectLst/>
                          <a:latin typeface="Arial" panose="020B0604020202020204" pitchFamily="34" charset="0"/>
                        </a:rPr>
                        <a:t>Mantenimiento</a:t>
                      </a:r>
                      <a:endParaRPr lang="es-MX" sz="1200" b="0" i="0" u="none" strike="noStrike">
                        <a:effectLst/>
                        <a:latin typeface="Arial" panose="020B0604020202020204" pitchFamily="34" charset="0"/>
                      </a:endParaRPr>
                    </a:p>
                  </a:txBody>
                  <a:tcPr marL="66799" marR="66799" marT="33400" marB="33400" anchor="ctr">
                    <a:lnL>
                      <a:noFill/>
                    </a:lnL>
                    <a:lnR>
                      <a:noFill/>
                    </a:lnR>
                    <a:lnT>
                      <a:noFill/>
                    </a:lnT>
                    <a:lnB>
                      <a:noFill/>
                    </a:lnB>
                    <a:noFill/>
                  </a:tcPr>
                </a:tc>
                <a:tc>
                  <a:txBody>
                    <a:bodyPr/>
                    <a:lstStyle/>
                    <a:p>
                      <a:pPr marL="171450" indent="-171450" algn="l" fontAlgn="ctr">
                        <a:buFontTx/>
                        <a:buChar char="-"/>
                      </a:pPr>
                      <a:r>
                        <a:rPr lang="es-MX" sz="1200" b="0" i="0" u="none" strike="noStrike" dirty="0">
                          <a:effectLst/>
                          <a:latin typeface="Arial" panose="020B0604020202020204" pitchFamily="34" charset="0"/>
                        </a:rPr>
                        <a:t>Manual de usuario- Manual de operación (para TI / soporte)</a:t>
                      </a:r>
                    </a:p>
                    <a:p>
                      <a:pPr marL="171450" indent="-171450" algn="l" fontAlgn="ctr">
                        <a:buFontTx/>
                        <a:buChar char="-"/>
                      </a:pPr>
                      <a:r>
                        <a:rPr lang="es-MX" sz="1200" b="0" i="0" u="none" strike="noStrike" dirty="0">
                          <a:effectLst/>
                          <a:latin typeface="Arial" panose="020B0604020202020204" pitchFamily="34" charset="0"/>
                        </a:rPr>
                        <a:t>Documento de mantenimiento / solicitudes de cambio (CRs)</a:t>
                      </a:r>
                    </a:p>
                    <a:p>
                      <a:pPr marL="171450" indent="-171450" algn="l" fontAlgn="ctr">
                        <a:buFontTx/>
                        <a:buChar char="-"/>
                      </a:pPr>
                      <a:r>
                        <a:rPr lang="es-MX" sz="1200" b="0" i="0" u="none" strike="noStrike" dirty="0">
                          <a:effectLst/>
                          <a:latin typeface="Arial" panose="020B0604020202020204" pitchFamily="34" charset="0"/>
                        </a:rPr>
                        <a:t>Historial de versiones (</a:t>
                      </a:r>
                      <a:r>
                        <a:rPr lang="es-MX" sz="1200" b="0" i="1" u="none" strike="noStrike" dirty="0">
                          <a:effectLst/>
                          <a:latin typeface="Arial" panose="020B0604020202020204" pitchFamily="34" charset="0"/>
                        </a:rPr>
                        <a:t>release notes</a:t>
                      </a:r>
                      <a:r>
                        <a:rPr lang="es-MX" sz="1200" b="0" i="0" u="none" strike="noStrike" dirty="0">
                          <a:effectLst/>
                          <a:latin typeface="Arial" panose="020B0604020202020204" pitchFamily="34" charset="0"/>
                        </a:rPr>
                        <a:t>)- Plan de mantenimiento</a:t>
                      </a:r>
                    </a:p>
                  </a:txBody>
                  <a:tcPr marL="66799" marR="66799" marT="33400" marB="33400" anchor="ctr">
                    <a:lnL>
                      <a:noFill/>
                    </a:lnL>
                    <a:lnR>
                      <a:noFill/>
                    </a:lnR>
                    <a:lnT>
                      <a:noFill/>
                    </a:lnT>
                    <a:lnB>
                      <a:noFill/>
                    </a:lnB>
                    <a:noFill/>
                  </a:tcPr>
                </a:tc>
                <a:tc>
                  <a:txBody>
                    <a:bodyPr/>
                    <a:lstStyle/>
                    <a:p>
                      <a:pPr algn="l" fontAlgn="ctr">
                        <a:buNone/>
                      </a:pPr>
                      <a:r>
                        <a:rPr lang="es-MX" sz="1200" b="0" i="0" u="none" strike="noStrike" dirty="0">
                          <a:effectLst/>
                          <a:latin typeface="Arial" panose="020B0604020202020204" pitchFamily="34" charset="0"/>
                        </a:rPr>
                        <a:t>Asegurar la operación correcta del sistema en producción, documentar cambios, actualizaciones y proporcionar soporte a usuarios y administradores.</a:t>
                      </a:r>
                    </a:p>
                  </a:txBody>
                  <a:tcPr marL="66799" marR="66799" marT="33400" marB="33400" anchor="ctr">
                    <a:lnL>
                      <a:noFill/>
                    </a:lnL>
                    <a:lnR>
                      <a:noFill/>
                    </a:lnR>
                    <a:lnT>
                      <a:noFill/>
                    </a:lnT>
                    <a:lnB>
                      <a:noFill/>
                    </a:lnB>
                    <a:noFill/>
                  </a:tcPr>
                </a:tc>
                <a:extLst>
                  <a:ext uri="{0D108BD9-81ED-4DB2-BD59-A6C34878D82A}">
                    <a16:rowId xmlns:a16="http://schemas.microsoft.com/office/drawing/2014/main" val="3273268973"/>
                  </a:ext>
                </a:extLst>
              </a:tr>
            </a:tbl>
          </a:graphicData>
        </a:graphic>
      </p:graphicFrame>
    </p:spTree>
    <p:extLst>
      <p:ext uri="{BB962C8B-B14F-4D97-AF65-F5344CB8AC3E}">
        <p14:creationId xmlns:p14="http://schemas.microsoft.com/office/powerpoint/2010/main" val="253396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685CB3-4176-D6F4-6076-BC15152626D3}"/>
            </a:ext>
          </a:extLst>
        </p:cNvPr>
        <p:cNvGrpSpPr/>
        <p:nvPr/>
      </p:nvGrpSpPr>
      <p:grpSpPr>
        <a:xfrm>
          <a:off x="0" y="0"/>
          <a:ext cx="0" cy="0"/>
          <a:chOff x="0" y="0"/>
          <a:chExt cx="0" cy="0"/>
        </a:xfrm>
      </p:grpSpPr>
      <p:sp>
        <p:nvSpPr>
          <p:cNvPr id="29703" name="Rectangle 2970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9698" name="Picture 2" descr="Qué es la metodología Waterfall y cuándo utilizarla - Grupo Emprende">
            <a:extLst>
              <a:ext uri="{FF2B5EF4-FFF2-40B4-BE49-F238E27FC236}">
                <a16:creationId xmlns:a16="http://schemas.microsoft.com/office/drawing/2014/main" id="{0899C60F-25D4-5F95-7473-69D6DDEE4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4789"/>
          <a:stretch>
            <a:fillRect/>
          </a:stretch>
        </p:blipFill>
        <p:spPr bwMode="auto">
          <a:xfrm>
            <a:off x="1300480" y="803444"/>
            <a:ext cx="9337040" cy="5251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871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968AB-D458-8A31-2668-AC2AFB47E77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403D767-FFC3-D937-B340-99AC9DA451F8}"/>
              </a:ext>
            </a:extLst>
          </p:cNvPr>
          <p:cNvSpPr txBox="1"/>
          <p:nvPr/>
        </p:nvSpPr>
        <p:spPr>
          <a:xfrm>
            <a:off x="1630497" y="2005324"/>
            <a:ext cx="9287219" cy="2554545"/>
          </a:xfrm>
          <a:prstGeom prst="rect">
            <a:avLst/>
          </a:prstGeom>
          <a:noFill/>
        </p:spPr>
        <p:txBody>
          <a:bodyPr wrap="square">
            <a:spAutoFit/>
          </a:bodyPr>
          <a:lstStyle/>
          <a:p>
            <a:pPr algn="ctr">
              <a:buNone/>
            </a:pPr>
            <a:r>
              <a:rPr lang="es-MX" sz="3200" b="1" dirty="0">
                <a:latin typeface="Arial" panose="020B0604020202020204" pitchFamily="34" charset="0"/>
                <a:cs typeface="Arial" panose="020B0604020202020204" pitchFamily="34" charset="0"/>
              </a:rPr>
              <a:t>Ejemplo aplicando el modelo en cascada</a:t>
            </a:r>
            <a:r>
              <a:rPr lang="es-MX" sz="3200" dirty="0">
                <a:latin typeface="Arial" panose="020B0604020202020204" pitchFamily="34" charset="0"/>
                <a:cs typeface="Arial" panose="020B0604020202020204" pitchFamily="34" charset="0"/>
              </a:rPr>
              <a:t> a un proyecto universitario: </a:t>
            </a:r>
            <a:r>
              <a:rPr lang="es-MX" sz="3200" b="1" dirty="0">
                <a:latin typeface="Arial" panose="020B0604020202020204" pitchFamily="34" charset="0"/>
                <a:cs typeface="Arial" panose="020B0604020202020204" pitchFamily="34" charset="0"/>
              </a:rPr>
              <a:t>“Sistema de inscripción de materias en línea”</a:t>
            </a:r>
            <a:endParaRPr lang="es-MX" sz="3200" dirty="0">
              <a:latin typeface="Arial" panose="020B0604020202020204" pitchFamily="34" charset="0"/>
              <a:cs typeface="Arial" panose="020B0604020202020204" pitchFamily="34" charset="0"/>
            </a:endParaRPr>
          </a:p>
          <a:p>
            <a:pPr algn="ctr">
              <a:buNone/>
            </a:pPr>
            <a:endParaRPr lang="es-MX" sz="3200" dirty="0">
              <a:latin typeface="Arial" panose="020B0604020202020204" pitchFamily="34" charset="0"/>
              <a:cs typeface="Arial" panose="020B0604020202020204" pitchFamily="34" charset="0"/>
            </a:endParaRPr>
          </a:p>
          <a:p>
            <a:pPr algn="ctr">
              <a:buNone/>
            </a:pPr>
            <a:r>
              <a:rPr lang="es-MX" sz="3200" b="1" dirty="0">
                <a:latin typeface="Arial" panose="020B0604020202020204" pitchFamily="34" charset="0"/>
                <a:cs typeface="Arial" panose="020B0604020202020204" pitchFamily="34" charset="0"/>
              </a:rPr>
              <a:t>Documentos por Fase</a:t>
            </a:r>
          </a:p>
        </p:txBody>
      </p:sp>
    </p:spTree>
    <p:extLst>
      <p:ext uri="{BB962C8B-B14F-4D97-AF65-F5344CB8AC3E}">
        <p14:creationId xmlns:p14="http://schemas.microsoft.com/office/powerpoint/2010/main" val="3560351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2A8635-50AE-8F7A-006E-8FC4F0D157AB}"/>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B84F99F6-0CC9-B87F-8526-D6F61909B020}"/>
              </a:ext>
            </a:extLst>
          </p:cNvPr>
          <p:cNvGraphicFramePr>
            <a:graphicFrameLocks noGrp="1"/>
          </p:cNvGraphicFramePr>
          <p:nvPr>
            <p:extLst>
              <p:ext uri="{D42A27DB-BD31-4B8C-83A1-F6EECF244321}">
                <p14:modId xmlns:p14="http://schemas.microsoft.com/office/powerpoint/2010/main" val="2425727122"/>
              </p:ext>
            </p:extLst>
          </p:nvPr>
        </p:nvGraphicFramePr>
        <p:xfrm>
          <a:off x="898282" y="1262724"/>
          <a:ext cx="10219165" cy="5111741"/>
        </p:xfrm>
        <a:graphic>
          <a:graphicData uri="http://schemas.openxmlformats.org/drawingml/2006/table">
            <a:tbl>
              <a:tblPr/>
              <a:tblGrid>
                <a:gridCol w="1317420">
                  <a:extLst>
                    <a:ext uri="{9D8B030D-6E8A-4147-A177-3AD203B41FA5}">
                      <a16:colId xmlns:a16="http://schemas.microsoft.com/office/drawing/2014/main" val="1232529161"/>
                    </a:ext>
                  </a:extLst>
                </a:gridCol>
                <a:gridCol w="3017310">
                  <a:extLst>
                    <a:ext uri="{9D8B030D-6E8A-4147-A177-3AD203B41FA5}">
                      <a16:colId xmlns:a16="http://schemas.microsoft.com/office/drawing/2014/main" val="4209187790"/>
                    </a:ext>
                  </a:extLst>
                </a:gridCol>
                <a:gridCol w="5884435">
                  <a:extLst>
                    <a:ext uri="{9D8B030D-6E8A-4147-A177-3AD203B41FA5}">
                      <a16:colId xmlns:a16="http://schemas.microsoft.com/office/drawing/2014/main" val="581017769"/>
                    </a:ext>
                  </a:extLst>
                </a:gridCol>
              </a:tblGrid>
              <a:tr h="274368">
                <a:tc>
                  <a:txBody>
                    <a:bodyPr/>
                    <a:lstStyle/>
                    <a:p>
                      <a:pPr>
                        <a:buNone/>
                      </a:pPr>
                      <a:r>
                        <a:rPr lang="es-MX" sz="1200" b="1">
                          <a:latin typeface="Arial" panose="020B0604020202020204" pitchFamily="34" charset="0"/>
                          <a:cs typeface="Arial" panose="020B0604020202020204" pitchFamily="34" charset="0"/>
                        </a:rPr>
                        <a:t>Fase</a:t>
                      </a:r>
                      <a:endParaRPr lang="es-MX" sz="120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solidFill>
                      <a:schemeClr val="tx2">
                        <a:lumMod val="25000"/>
                        <a:lumOff val="75000"/>
                      </a:schemeClr>
                    </a:solidFill>
                  </a:tcPr>
                </a:tc>
                <a:tc>
                  <a:txBody>
                    <a:bodyPr/>
                    <a:lstStyle/>
                    <a:p>
                      <a:pPr>
                        <a:buNone/>
                      </a:pPr>
                      <a:r>
                        <a:rPr lang="es-MX" sz="1200" b="1">
                          <a:latin typeface="Arial" panose="020B0604020202020204" pitchFamily="34" charset="0"/>
                          <a:cs typeface="Arial" panose="020B0604020202020204" pitchFamily="34" charset="0"/>
                        </a:rPr>
                        <a:t>Documentos generados</a:t>
                      </a:r>
                      <a:endParaRPr lang="es-MX" sz="120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solidFill>
                      <a:schemeClr val="tx2">
                        <a:lumMod val="25000"/>
                        <a:lumOff val="75000"/>
                      </a:schemeClr>
                    </a:solidFill>
                  </a:tcPr>
                </a:tc>
                <a:tc>
                  <a:txBody>
                    <a:bodyPr/>
                    <a:lstStyle/>
                    <a:p>
                      <a:pPr>
                        <a:buNone/>
                      </a:pPr>
                      <a:r>
                        <a:rPr lang="es-MX" sz="1200" b="1" dirty="0">
                          <a:latin typeface="Arial" panose="020B0604020202020204" pitchFamily="34" charset="0"/>
                          <a:cs typeface="Arial" panose="020B0604020202020204" pitchFamily="34" charset="0"/>
                        </a:rPr>
                        <a:t>Ejemplo aplicado al sistema de inscripción</a:t>
                      </a:r>
                      <a:endParaRPr lang="es-MX" sz="1200" dirty="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102845073"/>
                  </a:ext>
                </a:extLst>
              </a:tr>
              <a:tr h="848269">
                <a:tc>
                  <a:txBody>
                    <a:bodyPr/>
                    <a:lstStyle/>
                    <a:p>
                      <a:pPr>
                        <a:buNone/>
                      </a:pPr>
                      <a:r>
                        <a:rPr lang="es-MX" sz="1200" b="1">
                          <a:latin typeface="Arial" panose="020B0604020202020204" pitchFamily="34" charset="0"/>
                          <a:cs typeface="Arial" panose="020B0604020202020204" pitchFamily="34" charset="0"/>
                        </a:rPr>
                        <a:t>Requerimientos</a:t>
                      </a:r>
                      <a:endParaRPr lang="es-MX" sz="120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no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Documento de Requerimientos del Usuario (URS)- Especificación de Requerimientos del Software (SRS)</a:t>
                      </a:r>
                    </a:p>
                    <a:p>
                      <a:pPr marL="171450" indent="-171450">
                        <a:buFontTx/>
                        <a:buChar char="-"/>
                      </a:pPr>
                      <a:r>
                        <a:rPr lang="es-MX" sz="1200" dirty="0">
                          <a:latin typeface="Arial" panose="020B0604020202020204" pitchFamily="34" charset="0"/>
                          <a:cs typeface="Arial" panose="020B0604020202020204" pitchFamily="34" charset="0"/>
                        </a:rPr>
                        <a:t>Casos de uso / Historias de usuario</a:t>
                      </a:r>
                    </a:p>
                    <a:p>
                      <a:pPr marL="171450" indent="-171450">
                        <a:buFontTx/>
                        <a:buChar char="-"/>
                      </a:pPr>
                      <a:r>
                        <a:rPr lang="es-MX" sz="1200" dirty="0">
                          <a:latin typeface="Arial" panose="020B0604020202020204" pitchFamily="34" charset="0"/>
                          <a:cs typeface="Arial" panose="020B0604020202020204" pitchFamily="34" charset="0"/>
                        </a:rPr>
                        <a:t>Matriz de trazabilidad</a:t>
                      </a:r>
                    </a:p>
                  </a:txBody>
                  <a:tcPr marL="37157" marR="37157" marT="18578" marB="18578" anchor="ctr">
                    <a:lnL>
                      <a:noFill/>
                    </a:lnL>
                    <a:lnR>
                      <a:noFill/>
                    </a:lnR>
                    <a:lnT>
                      <a:noFill/>
                    </a:lnT>
                    <a:lnB>
                      <a:noFill/>
                    </a:lnB>
                    <a:no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URS: “Los estudiantes deben poder inscribirse en línea sin acudir físicamente a la ventanilla.”</a:t>
                      </a:r>
                    </a:p>
                    <a:p>
                      <a:pPr marL="171450" indent="-171450">
                        <a:buFontTx/>
                        <a:buChar char="-"/>
                      </a:pPr>
                      <a:r>
                        <a:rPr lang="es-MX" sz="1200" dirty="0">
                          <a:latin typeface="Arial" panose="020B0604020202020204" pitchFamily="34" charset="0"/>
                          <a:cs typeface="Arial" panose="020B0604020202020204" pitchFamily="34" charset="0"/>
                        </a:rPr>
                        <a:t>SRS: “El sistema debe validar que el estudiante no exceda el límite de créditos.”</a:t>
                      </a:r>
                    </a:p>
                    <a:p>
                      <a:pPr marL="171450" indent="-171450">
                        <a:buFontTx/>
                        <a:buChar char="-"/>
                      </a:pPr>
                      <a:r>
                        <a:rPr lang="es-MX" sz="1200" dirty="0">
                          <a:latin typeface="Arial" panose="020B0604020202020204" pitchFamily="34" charset="0"/>
                          <a:cs typeface="Arial" panose="020B0604020202020204" pitchFamily="34" charset="0"/>
                        </a:rPr>
                        <a:t>Caso de uso: “UC-01: Inscribir materia.”- Matriz: UC-01 ↔ RF-3 (Validación de créditos).</a:t>
                      </a:r>
                    </a:p>
                  </a:txBody>
                  <a:tcPr marL="37157" marR="37157" marT="18578" marB="18578" anchor="ctr">
                    <a:lnL>
                      <a:noFill/>
                    </a:lnL>
                    <a:lnR>
                      <a:noFill/>
                    </a:lnR>
                    <a:lnT>
                      <a:noFill/>
                    </a:lnT>
                    <a:lnB>
                      <a:noFill/>
                    </a:lnB>
                    <a:noFill/>
                  </a:tcPr>
                </a:tc>
                <a:extLst>
                  <a:ext uri="{0D108BD9-81ED-4DB2-BD59-A6C34878D82A}">
                    <a16:rowId xmlns:a16="http://schemas.microsoft.com/office/drawing/2014/main" val="2559011726"/>
                  </a:ext>
                </a:extLst>
              </a:tr>
              <a:tr h="848269">
                <a:tc>
                  <a:txBody>
                    <a:bodyPr/>
                    <a:lstStyle/>
                    <a:p>
                      <a:pPr>
                        <a:buNone/>
                      </a:pPr>
                      <a:r>
                        <a:rPr lang="es-MX" sz="1200" b="1">
                          <a:latin typeface="Arial" panose="020B0604020202020204" pitchFamily="34" charset="0"/>
                          <a:cs typeface="Arial" panose="020B0604020202020204" pitchFamily="34" charset="0"/>
                        </a:rPr>
                        <a:t>Diseño</a:t>
                      </a:r>
                      <a:endParaRPr lang="es-MX" sz="120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solidFill>
                      <a:schemeClr val="accent3">
                        <a:lumMod val="20000"/>
                        <a:lumOff val="80000"/>
                      </a:schemeClr>
                    </a:solid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Documento de Diseño de Software (SDD)- Arquitectura del sistema</a:t>
                      </a:r>
                    </a:p>
                    <a:p>
                      <a:pPr marL="171450" indent="-171450">
                        <a:buFontTx/>
                        <a:buChar char="-"/>
                      </a:pPr>
                      <a:r>
                        <a:rPr lang="es-MX" sz="1200" dirty="0">
                          <a:latin typeface="Arial" panose="020B0604020202020204" pitchFamily="34" charset="0"/>
                          <a:cs typeface="Arial" panose="020B0604020202020204" pitchFamily="34" charset="0"/>
                        </a:rPr>
                        <a:t>Diagramas UML (clases, secuencia, ER para BD)</a:t>
                      </a:r>
                    </a:p>
                    <a:p>
                      <a:pPr marL="171450" indent="-171450">
                        <a:buFontTx/>
                        <a:buChar char="-"/>
                      </a:pPr>
                      <a:r>
                        <a:rPr lang="es-MX" sz="1200" dirty="0">
                          <a:latin typeface="Arial" panose="020B0604020202020204" pitchFamily="34" charset="0"/>
                          <a:cs typeface="Arial" panose="020B0604020202020204" pitchFamily="34" charset="0"/>
                        </a:rPr>
                        <a:t>Especificación de interfaces</a:t>
                      </a:r>
                    </a:p>
                  </a:txBody>
                  <a:tcPr marL="37157" marR="37157" marT="18578" marB="18578" anchor="ctr">
                    <a:lnL>
                      <a:noFill/>
                    </a:lnL>
                    <a:lnR>
                      <a:noFill/>
                    </a:lnR>
                    <a:lnT>
                      <a:noFill/>
                    </a:lnT>
                    <a:lnB>
                      <a:noFill/>
                    </a:lnB>
                    <a:solidFill>
                      <a:schemeClr val="accent3">
                        <a:lumMod val="20000"/>
                        <a:lumOff val="80000"/>
                      </a:schemeClr>
                    </a:solid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Arquitectura: cliente web + servidor + BD.</a:t>
                      </a:r>
                    </a:p>
                    <a:p>
                      <a:pPr marL="171450" indent="-171450">
                        <a:buFontTx/>
                        <a:buChar char="-"/>
                      </a:pPr>
                      <a:r>
                        <a:rPr lang="es-MX" sz="1200" dirty="0">
                          <a:latin typeface="Arial" panose="020B0604020202020204" pitchFamily="34" charset="0"/>
                          <a:cs typeface="Arial" panose="020B0604020202020204" pitchFamily="34" charset="0"/>
                        </a:rPr>
                        <a:t>Diagrama ER: Tablas Estudiantes, Materias, Inscripciones.</a:t>
                      </a:r>
                    </a:p>
                    <a:p>
                      <a:pPr marL="171450" indent="-171450">
                        <a:buFontTx/>
                        <a:buChar char="-"/>
                      </a:pPr>
                      <a:r>
                        <a:rPr lang="es-MX" sz="1200" dirty="0">
                          <a:latin typeface="Arial" panose="020B0604020202020204" pitchFamily="34" charset="0"/>
                          <a:cs typeface="Arial" panose="020B0604020202020204" pitchFamily="34" charset="0"/>
                        </a:rPr>
                        <a:t>Diagrama de secuencia: “Flujo de inscripción de materia”.</a:t>
                      </a:r>
                    </a:p>
                    <a:p>
                      <a:pPr marL="171450" indent="-171450">
                        <a:buFontTx/>
                        <a:buChar char="-"/>
                      </a:pPr>
                      <a:r>
                        <a:rPr lang="es-MX" sz="1200" dirty="0">
                          <a:latin typeface="Arial" panose="020B0604020202020204" pitchFamily="34" charset="0"/>
                          <a:cs typeface="Arial" panose="020B0604020202020204" pitchFamily="34" charset="0"/>
                        </a:rPr>
                        <a:t>API: /api/inscripciones para registrar la inscripción.</a:t>
                      </a:r>
                    </a:p>
                  </a:txBody>
                  <a:tcPr marL="37157" marR="37157" marT="18578" marB="18578"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622788630"/>
                  </a:ext>
                </a:extLst>
              </a:tr>
              <a:tr h="848269">
                <a:tc>
                  <a:txBody>
                    <a:bodyPr/>
                    <a:lstStyle/>
                    <a:p>
                      <a:pPr>
                        <a:buNone/>
                      </a:pPr>
                      <a:r>
                        <a:rPr lang="es-MX" sz="1200" b="1">
                          <a:latin typeface="Arial" panose="020B0604020202020204" pitchFamily="34" charset="0"/>
                          <a:cs typeface="Arial" panose="020B0604020202020204" pitchFamily="34" charset="0"/>
                        </a:rPr>
                        <a:t>Codificación</a:t>
                      </a:r>
                      <a:endParaRPr lang="es-MX" sz="120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no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Guías de estilo- Comentarios/documentación en el código</a:t>
                      </a:r>
                    </a:p>
                    <a:p>
                      <a:pPr marL="171450" indent="-171450">
                        <a:buFontTx/>
                        <a:buChar char="-"/>
                      </a:pPr>
                      <a:r>
                        <a:rPr lang="es-MX" sz="1200" dirty="0">
                          <a:latin typeface="Arial" panose="020B0604020202020204" pitchFamily="34" charset="0"/>
                          <a:cs typeface="Arial" panose="020B0604020202020204" pitchFamily="34" charset="0"/>
                        </a:rPr>
                        <a:t>Documento de construcción (build guide)</a:t>
                      </a:r>
                    </a:p>
                    <a:p>
                      <a:pPr marL="171450" indent="-171450">
                        <a:buFontTx/>
                        <a:buChar char="-"/>
                      </a:pPr>
                      <a:r>
                        <a:rPr lang="es-MX" sz="1200" dirty="0">
                          <a:latin typeface="Arial" panose="020B0604020202020204" pitchFamily="34" charset="0"/>
                          <a:cs typeface="Arial" panose="020B0604020202020204" pitchFamily="34" charset="0"/>
                        </a:rPr>
                        <a:t>Registro de control de versiones</a:t>
                      </a:r>
                    </a:p>
                  </a:txBody>
                  <a:tcPr marL="37157" marR="37157" marT="18578" marB="18578" anchor="ctr">
                    <a:lnL>
                      <a:noFill/>
                    </a:lnL>
                    <a:lnR>
                      <a:noFill/>
                    </a:lnR>
                    <a:lnT>
                      <a:noFill/>
                    </a:lnT>
                    <a:lnB>
                      <a:noFill/>
                    </a:lnB>
                    <a:no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Guía: convenciones de nombres en Java y SQL.</a:t>
                      </a:r>
                    </a:p>
                    <a:p>
                      <a:pPr marL="171450" indent="-171450">
                        <a:buFontTx/>
                        <a:buChar char="-"/>
                      </a:pPr>
                      <a:r>
                        <a:rPr lang="es-MX" sz="1200" dirty="0">
                          <a:latin typeface="Arial" panose="020B0604020202020204" pitchFamily="34" charset="0"/>
                          <a:cs typeface="Arial" panose="020B0604020202020204" pitchFamily="34" charset="0"/>
                        </a:rPr>
                        <a:t>Comentarios en el código: explicación de validación de horarios.</a:t>
                      </a:r>
                    </a:p>
                    <a:p>
                      <a:pPr marL="171450" indent="-171450">
                        <a:buFontTx/>
                        <a:buChar char="-"/>
                      </a:pPr>
                      <a:r>
                        <a:rPr lang="es-MX" sz="1200" dirty="0">
                          <a:latin typeface="Arial" panose="020B0604020202020204" pitchFamily="34" charset="0"/>
                          <a:cs typeface="Arial" panose="020B0604020202020204" pitchFamily="34" charset="0"/>
                        </a:rPr>
                        <a:t>Build guide: instrucciones para compilar con Maven.</a:t>
                      </a:r>
                    </a:p>
                    <a:p>
                      <a:pPr marL="171450" indent="-171450">
                        <a:buFontTx/>
                        <a:buChar char="-"/>
                      </a:pPr>
                      <a:r>
                        <a:rPr lang="es-MX" sz="1200" dirty="0">
                          <a:latin typeface="Arial" panose="020B0604020202020204" pitchFamily="34" charset="0"/>
                          <a:cs typeface="Arial" panose="020B0604020202020204" pitchFamily="34" charset="0"/>
                        </a:rPr>
                        <a:t>Versionado en GitHub con ramas main y dev.</a:t>
                      </a:r>
                    </a:p>
                  </a:txBody>
                  <a:tcPr marL="37157" marR="37157" marT="18578" marB="18578" anchor="ctr">
                    <a:lnL>
                      <a:noFill/>
                    </a:lnL>
                    <a:lnR>
                      <a:noFill/>
                    </a:lnR>
                    <a:lnT>
                      <a:noFill/>
                    </a:lnT>
                    <a:lnB>
                      <a:noFill/>
                    </a:lnB>
                    <a:noFill/>
                  </a:tcPr>
                </a:tc>
                <a:extLst>
                  <a:ext uri="{0D108BD9-81ED-4DB2-BD59-A6C34878D82A}">
                    <a16:rowId xmlns:a16="http://schemas.microsoft.com/office/drawing/2014/main" val="4106842611"/>
                  </a:ext>
                </a:extLst>
              </a:tr>
              <a:tr h="848269">
                <a:tc>
                  <a:txBody>
                    <a:bodyPr/>
                    <a:lstStyle/>
                    <a:p>
                      <a:pPr>
                        <a:buNone/>
                      </a:pPr>
                      <a:r>
                        <a:rPr lang="es-MX" sz="1200" b="1">
                          <a:latin typeface="Arial" panose="020B0604020202020204" pitchFamily="34" charset="0"/>
                          <a:cs typeface="Arial" panose="020B0604020202020204" pitchFamily="34" charset="0"/>
                        </a:rPr>
                        <a:t>Pruebas</a:t>
                      </a:r>
                      <a:endParaRPr lang="es-MX" sz="120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solidFill>
                      <a:schemeClr val="accent3">
                        <a:lumMod val="20000"/>
                        <a:lumOff val="80000"/>
                      </a:schemeClr>
                    </a:solid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Plan de pruebas- Casos y procedimientos de prueba- Reportes de resultados</a:t>
                      </a:r>
                    </a:p>
                    <a:p>
                      <a:pPr marL="171450" indent="-171450">
                        <a:buFontTx/>
                        <a:buChar char="-"/>
                      </a:pPr>
                      <a:r>
                        <a:rPr lang="es-MX" sz="1200" dirty="0">
                          <a:latin typeface="Arial" panose="020B0604020202020204" pitchFamily="34" charset="0"/>
                          <a:cs typeface="Arial" panose="020B0604020202020204" pitchFamily="34" charset="0"/>
                        </a:rPr>
                        <a:t>Registro de defectos</a:t>
                      </a:r>
                    </a:p>
                  </a:txBody>
                  <a:tcPr marL="37157" marR="37157" marT="18578" marB="18578" anchor="ctr">
                    <a:lnL>
                      <a:noFill/>
                    </a:lnL>
                    <a:lnR>
                      <a:noFill/>
                    </a:lnR>
                    <a:lnT>
                      <a:noFill/>
                    </a:lnT>
                    <a:lnB>
                      <a:noFill/>
                    </a:lnB>
                    <a:solidFill>
                      <a:schemeClr val="accent3">
                        <a:lumMod val="20000"/>
                        <a:lumOff val="80000"/>
                      </a:schemeClr>
                    </a:solid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Plan: probar inscripciones válidas e inválidas.</a:t>
                      </a:r>
                    </a:p>
                    <a:p>
                      <a:pPr marL="171450" indent="-171450">
                        <a:buFontTx/>
                        <a:buChar char="-"/>
                      </a:pPr>
                      <a:r>
                        <a:rPr lang="es-MX" sz="1200" dirty="0">
                          <a:latin typeface="Arial" panose="020B0604020202020204" pitchFamily="34" charset="0"/>
                          <a:cs typeface="Arial" panose="020B0604020202020204" pitchFamily="34" charset="0"/>
                        </a:rPr>
                        <a:t>Caso de prueba: “CP-01: Estudiante intenta inscribir más de 5 materias”.</a:t>
                      </a:r>
                    </a:p>
                    <a:p>
                      <a:pPr marL="171450" indent="-171450">
                        <a:buFontTx/>
                        <a:buChar char="-"/>
                      </a:pPr>
                      <a:r>
                        <a:rPr lang="es-MX" sz="1200" dirty="0">
                          <a:latin typeface="Arial" panose="020B0604020202020204" pitchFamily="34" charset="0"/>
                          <a:cs typeface="Arial" panose="020B0604020202020204" pitchFamily="34" charset="0"/>
                        </a:rPr>
                        <a:t>Reporte: ejecución de pruebas con 2 fallos detectados.</a:t>
                      </a:r>
                    </a:p>
                    <a:p>
                      <a:pPr marL="171450" indent="-171450">
                        <a:buFontTx/>
                        <a:buChar char="-"/>
                      </a:pPr>
                      <a:r>
                        <a:rPr lang="es-MX" sz="1200" dirty="0">
                          <a:latin typeface="Arial" panose="020B0604020202020204" pitchFamily="34" charset="0"/>
                          <a:cs typeface="Arial" panose="020B0604020202020204" pitchFamily="34" charset="0"/>
                        </a:rPr>
                        <a:t>Defect log: “Bug-12: No se muestra mensaje de error cuando el horario está lleno.”</a:t>
                      </a:r>
                    </a:p>
                  </a:txBody>
                  <a:tcPr marL="37157" marR="37157" marT="18578" marB="18578"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507866306"/>
                  </a:ext>
                </a:extLst>
              </a:tr>
              <a:tr h="875801">
                <a:tc>
                  <a:txBody>
                    <a:bodyPr/>
                    <a:lstStyle/>
                    <a:p>
                      <a:pPr>
                        <a:buNone/>
                      </a:pPr>
                      <a:r>
                        <a:rPr lang="es-MX" sz="1200" b="1" dirty="0">
                          <a:latin typeface="Arial" panose="020B0604020202020204" pitchFamily="34" charset="0"/>
                          <a:cs typeface="Arial" panose="020B0604020202020204" pitchFamily="34" charset="0"/>
                        </a:rPr>
                        <a:t>Mantenimiento</a:t>
                      </a:r>
                      <a:endParaRPr lang="es-MX" sz="1200" dirty="0">
                        <a:latin typeface="Arial" panose="020B0604020202020204" pitchFamily="34" charset="0"/>
                        <a:cs typeface="Arial" panose="020B0604020202020204" pitchFamily="34" charset="0"/>
                      </a:endParaRPr>
                    </a:p>
                  </a:txBody>
                  <a:tcPr marL="37157" marR="37157" marT="18578" marB="18578" anchor="ctr">
                    <a:lnL>
                      <a:noFill/>
                    </a:lnL>
                    <a:lnR>
                      <a:noFill/>
                    </a:lnR>
                    <a:lnT>
                      <a:noFill/>
                    </a:lnT>
                    <a:lnB>
                      <a:noFill/>
                    </a:lnB>
                    <a:no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Manual de usuario</a:t>
                      </a:r>
                    </a:p>
                    <a:p>
                      <a:pPr marL="171450" indent="-171450">
                        <a:buFontTx/>
                        <a:buChar char="-"/>
                      </a:pPr>
                      <a:r>
                        <a:rPr lang="es-MX" sz="1200" dirty="0">
                          <a:latin typeface="Arial" panose="020B0604020202020204" pitchFamily="34" charset="0"/>
                          <a:cs typeface="Arial" panose="020B0604020202020204" pitchFamily="34" charset="0"/>
                        </a:rPr>
                        <a:t>Manual de operación</a:t>
                      </a:r>
                    </a:p>
                    <a:p>
                      <a:pPr marL="171450" indent="-171450">
                        <a:buFontTx/>
                        <a:buChar char="-"/>
                      </a:pPr>
                      <a:r>
                        <a:rPr lang="es-MX" sz="1200" dirty="0">
                          <a:latin typeface="Arial" panose="020B0604020202020204" pitchFamily="34" charset="0"/>
                          <a:cs typeface="Arial" panose="020B0604020202020204" pitchFamily="34" charset="0"/>
                        </a:rPr>
                        <a:t>Documentos de mantenimiento/cambios- Historial de versiones</a:t>
                      </a:r>
                    </a:p>
                    <a:p>
                      <a:pPr marL="171450" indent="-171450">
                        <a:buFontTx/>
                        <a:buChar char="-"/>
                      </a:pPr>
                      <a:r>
                        <a:rPr lang="es-MX" sz="1200" dirty="0">
                          <a:latin typeface="Arial" panose="020B0604020202020204" pitchFamily="34" charset="0"/>
                          <a:cs typeface="Arial" panose="020B0604020202020204" pitchFamily="34" charset="0"/>
                        </a:rPr>
                        <a:t>Plan de mantenimiento</a:t>
                      </a:r>
                    </a:p>
                  </a:txBody>
                  <a:tcPr marL="37157" marR="37157" marT="18578" marB="18578" anchor="ctr">
                    <a:lnL>
                      <a:noFill/>
                    </a:lnL>
                    <a:lnR>
                      <a:noFill/>
                    </a:lnR>
                    <a:lnT>
                      <a:noFill/>
                    </a:lnT>
                    <a:lnB>
                      <a:noFill/>
                    </a:lnB>
                    <a:noFill/>
                  </a:tcPr>
                </a:tc>
                <a:tc>
                  <a:txBody>
                    <a:bodyPr/>
                    <a:lstStyle/>
                    <a:p>
                      <a:pPr marL="171450" indent="-171450">
                        <a:buFontTx/>
                        <a:buChar char="-"/>
                      </a:pPr>
                      <a:r>
                        <a:rPr lang="es-MX" sz="1200" dirty="0">
                          <a:latin typeface="Arial" panose="020B0604020202020204" pitchFamily="34" charset="0"/>
                          <a:cs typeface="Arial" panose="020B0604020202020204" pitchFamily="34" charset="0"/>
                        </a:rPr>
                        <a:t>Manual de usuario: explica cómo inscribirse paso a paso.</a:t>
                      </a:r>
                    </a:p>
                    <a:p>
                      <a:pPr marL="171450" indent="-171450">
                        <a:buFontTx/>
                        <a:buChar char="-"/>
                      </a:pPr>
                      <a:r>
                        <a:rPr lang="es-MX" sz="1200" dirty="0">
                          <a:latin typeface="Arial" panose="020B0604020202020204" pitchFamily="34" charset="0"/>
                          <a:cs typeface="Arial" panose="020B0604020202020204" pitchFamily="34" charset="0"/>
                        </a:rPr>
                        <a:t>Manual de operación: guía para el área de TI para respaldar la BD.</a:t>
                      </a:r>
                    </a:p>
                    <a:p>
                      <a:pPr marL="171450" indent="-171450">
                        <a:buFontTx/>
                        <a:buChar char="-"/>
                      </a:pPr>
                      <a:r>
                        <a:rPr lang="es-MX" sz="1200" dirty="0">
                          <a:latin typeface="Arial" panose="020B0604020202020204" pitchFamily="34" charset="0"/>
                          <a:cs typeface="Arial" panose="020B0604020202020204" pitchFamily="34" charset="0"/>
                        </a:rPr>
                        <a:t>Solicitud de cambio: “Agregar funcionalidad para dar de baja materias.”</a:t>
                      </a:r>
                    </a:p>
                    <a:p>
                      <a:pPr marL="171450" indent="-171450">
                        <a:buFontTx/>
                        <a:buChar char="-"/>
                      </a:pPr>
                      <a:r>
                        <a:rPr lang="es-MX" sz="1200" dirty="0">
                          <a:latin typeface="Arial" panose="020B0604020202020204" pitchFamily="34" charset="0"/>
                          <a:cs typeface="Arial" panose="020B0604020202020204" pitchFamily="34" charset="0"/>
                        </a:rPr>
                        <a:t>Release notes: versión 1.1 incluye opción de reinscripción.</a:t>
                      </a:r>
                    </a:p>
                    <a:p>
                      <a:pPr marL="171450" indent="-171450">
                        <a:buFontTx/>
                        <a:buChar char="-"/>
                      </a:pPr>
                      <a:r>
                        <a:rPr lang="es-MX" sz="1200" dirty="0">
                          <a:latin typeface="Arial" panose="020B0604020202020204" pitchFamily="34" charset="0"/>
                          <a:cs typeface="Arial" panose="020B0604020202020204" pitchFamily="34" charset="0"/>
                        </a:rPr>
                        <a:t>Plan de mantenimiento: revisiones semestrales antes de la apertura de inscripciones.</a:t>
                      </a:r>
                    </a:p>
                  </a:txBody>
                  <a:tcPr marL="37157" marR="37157" marT="18578" marB="18578" anchor="ctr">
                    <a:lnL>
                      <a:noFill/>
                    </a:lnL>
                    <a:lnR>
                      <a:noFill/>
                    </a:lnR>
                    <a:lnT>
                      <a:noFill/>
                    </a:lnT>
                    <a:lnB>
                      <a:noFill/>
                    </a:lnB>
                    <a:noFill/>
                  </a:tcPr>
                </a:tc>
                <a:extLst>
                  <a:ext uri="{0D108BD9-81ED-4DB2-BD59-A6C34878D82A}">
                    <a16:rowId xmlns:a16="http://schemas.microsoft.com/office/drawing/2014/main" val="3379936265"/>
                  </a:ext>
                </a:extLst>
              </a:tr>
            </a:tbl>
          </a:graphicData>
        </a:graphic>
      </p:graphicFrame>
      <p:sp>
        <p:nvSpPr>
          <p:cNvPr id="4" name="CuadroTexto 3">
            <a:extLst>
              <a:ext uri="{FF2B5EF4-FFF2-40B4-BE49-F238E27FC236}">
                <a16:creationId xmlns:a16="http://schemas.microsoft.com/office/drawing/2014/main" id="{81FA518A-5173-DF42-B10C-4BABA33D8A76}"/>
              </a:ext>
            </a:extLst>
          </p:cNvPr>
          <p:cNvSpPr txBox="1"/>
          <p:nvPr/>
        </p:nvSpPr>
        <p:spPr>
          <a:xfrm>
            <a:off x="898282" y="700995"/>
            <a:ext cx="6097836" cy="369332"/>
          </a:xfrm>
          <a:prstGeom prst="rect">
            <a:avLst/>
          </a:prstGeom>
          <a:noFill/>
        </p:spPr>
        <p:txBody>
          <a:bodyPr wrap="square">
            <a:spAutoFit/>
          </a:bodyPr>
          <a:lstStyle/>
          <a:p>
            <a:pPr algn="ctr">
              <a:buNone/>
            </a:pPr>
            <a:r>
              <a:rPr lang="es-MX" sz="1800" b="1" dirty="0">
                <a:latin typeface="Arial" panose="020B0604020202020204" pitchFamily="34" charset="0"/>
                <a:cs typeface="Arial" panose="020B0604020202020204" pitchFamily="34" charset="0"/>
              </a:rPr>
              <a:t>Documentos por Fase</a:t>
            </a:r>
          </a:p>
        </p:txBody>
      </p:sp>
    </p:spTree>
    <p:extLst>
      <p:ext uri="{BB962C8B-B14F-4D97-AF65-F5344CB8AC3E}">
        <p14:creationId xmlns:p14="http://schemas.microsoft.com/office/powerpoint/2010/main" val="1479018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79C6-44B2-61EE-02C8-DF11F2AD360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B284383-F676-D3EE-0167-EE272E4C786F}"/>
              </a:ext>
            </a:extLst>
          </p:cNvPr>
          <p:cNvSpPr txBox="1"/>
          <p:nvPr/>
        </p:nvSpPr>
        <p:spPr>
          <a:xfrm>
            <a:off x="793216" y="674400"/>
            <a:ext cx="10807546" cy="5509200"/>
          </a:xfrm>
          <a:prstGeom prst="rect">
            <a:avLst/>
          </a:prstGeom>
          <a:noFill/>
        </p:spPr>
        <p:txBody>
          <a:bodyPr wrap="square">
            <a:spAutoFit/>
          </a:bodyPr>
          <a:lstStyle/>
          <a:p>
            <a:pPr algn="ctr">
              <a:buNone/>
            </a:pPr>
            <a:r>
              <a:rPr lang="es-MX" sz="3200" b="1" dirty="0">
                <a:latin typeface="Arial" panose="020B0604020202020204" pitchFamily="34" charset="0"/>
                <a:cs typeface="Arial" panose="020B0604020202020204" pitchFamily="34" charset="0"/>
              </a:rPr>
              <a:t>10 Razones para la documentación en el desarrollo de software</a:t>
            </a:r>
          </a:p>
          <a:p>
            <a:pPr>
              <a:buNone/>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Trazabilidad de requerimientos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Permite vincular cada requerimiento del cliente con su diseño, implementación y pruebas, asegurando que nada se pierda en el proceso.</a:t>
            </a:r>
          </a:p>
          <a:p>
            <a:pPr>
              <a:buFont typeface="+mj-lt"/>
              <a:buAutoNum type="arabicPeriod"/>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Comunicación clara entre actores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Documentos formales evitan ambigüedades y sirven como un lenguaje común entre clientes, desarrolladores, testers, gerentes y auditores.</a:t>
            </a:r>
          </a:p>
          <a:p>
            <a:pPr>
              <a:buFont typeface="+mj-lt"/>
              <a:buAutoNum type="arabicPeriod"/>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Base contractual y legal</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En proyectos grandes o gubernamentales, la documentación (como la SRS) funciona como contrato formal entre el proveedor y el cliente.</a:t>
            </a:r>
          </a:p>
          <a:p>
            <a:endParaRPr lang="es-MX" b="1"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4. Soporte al mantenimiento</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Cuando un sistema entra en operación, la documentación (manuales, historial de cambios) es esencial para corregir errores, actualizar funciones y entrenar nuevos equipos.</a:t>
            </a:r>
          </a:p>
        </p:txBody>
      </p:sp>
    </p:spTree>
    <p:extLst>
      <p:ext uri="{BB962C8B-B14F-4D97-AF65-F5344CB8AC3E}">
        <p14:creationId xmlns:p14="http://schemas.microsoft.com/office/powerpoint/2010/main" val="3289455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98239-59CD-80FE-B4F4-527B8F148B3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E9E9E66-DE2F-1D34-819D-D2BA096B8E5A}"/>
              </a:ext>
            </a:extLst>
          </p:cNvPr>
          <p:cNvSpPr txBox="1"/>
          <p:nvPr/>
        </p:nvSpPr>
        <p:spPr>
          <a:xfrm>
            <a:off x="716097" y="671691"/>
            <a:ext cx="10983816" cy="5755422"/>
          </a:xfrm>
          <a:prstGeom prst="rect">
            <a:avLst/>
          </a:prstGeom>
          <a:noFill/>
        </p:spPr>
        <p:txBody>
          <a:bodyPr wrap="square">
            <a:spAutoFit/>
          </a:bodyPr>
          <a:lstStyle/>
          <a:p>
            <a:r>
              <a:rPr lang="es-MX" sz="1600" b="1" dirty="0">
                <a:latin typeface="Arial" panose="020B0604020202020204" pitchFamily="34" charset="0"/>
                <a:cs typeface="Arial" panose="020B0604020202020204" pitchFamily="34" charset="0"/>
              </a:rPr>
              <a:t>5. Gestión del conocimiento</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Conserva el conocimiento técnico y de negocio más allá de las personas; evita la dependencia de memoria individual o del personal original del proyecto.</a:t>
            </a:r>
          </a:p>
          <a:p>
            <a:pPr>
              <a:buFont typeface="+mj-lt"/>
              <a:buAutoNum type="arabicPeriod"/>
            </a:pPr>
            <a:endParaRPr lang="es-MX" sz="1600" dirty="0">
              <a:latin typeface="Arial" panose="020B0604020202020204" pitchFamily="34" charset="0"/>
              <a:cs typeface="Arial" panose="020B0604020202020204" pitchFamily="34" charset="0"/>
            </a:endParaRPr>
          </a:p>
          <a:p>
            <a:r>
              <a:rPr lang="es-MX" sz="1600" b="1" dirty="0">
                <a:latin typeface="Arial" panose="020B0604020202020204" pitchFamily="34" charset="0"/>
                <a:cs typeface="Arial" panose="020B0604020202020204" pitchFamily="34" charset="0"/>
              </a:rPr>
              <a:t>6. Facilita la incorporación de nuevos integrantes</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Un nuevo desarrollador o tester puede entender el sistema más rápido gracias a especificaciones, diagramas y manuales.</a:t>
            </a:r>
          </a:p>
          <a:p>
            <a:endParaRPr lang="es-MX" sz="1600" dirty="0">
              <a:latin typeface="Arial" panose="020B0604020202020204" pitchFamily="34" charset="0"/>
              <a:cs typeface="Arial" panose="020B0604020202020204" pitchFamily="34" charset="0"/>
            </a:endParaRPr>
          </a:p>
          <a:p>
            <a:r>
              <a:rPr lang="es-MX" sz="1600" b="1" dirty="0">
                <a:latin typeface="Arial" panose="020B0604020202020204" pitchFamily="34" charset="0"/>
                <a:cs typeface="Arial" panose="020B0604020202020204" pitchFamily="34" charset="0"/>
              </a:rPr>
              <a:t>7. Evidencia de calidad y cumplimiento de normas</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Estándares como ISO/IEC/IEEE 29148, CMMI o ISO 9001 exigen documentación como evidencia de que se siguen procesos de calidad.</a:t>
            </a:r>
          </a:p>
          <a:p>
            <a:pPr>
              <a:buFont typeface="+mj-lt"/>
              <a:buAutoNum type="arabicPeriod"/>
            </a:pPr>
            <a:endParaRPr lang="es-MX" sz="1600" dirty="0">
              <a:latin typeface="Arial" panose="020B0604020202020204" pitchFamily="34" charset="0"/>
              <a:cs typeface="Arial" panose="020B0604020202020204" pitchFamily="34" charset="0"/>
            </a:endParaRPr>
          </a:p>
          <a:p>
            <a:r>
              <a:rPr lang="es-MX" sz="1600" b="1" dirty="0">
                <a:latin typeface="Arial" panose="020B0604020202020204" pitchFamily="34" charset="0"/>
                <a:cs typeface="Arial" panose="020B0604020202020204" pitchFamily="34" charset="0"/>
              </a:rPr>
              <a:t>8. Planificación y control del proyecto</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Documentos como planes de pruebas, planes de mantenimiento o cronogramas permiten coordinar tareas, tiempos y costos de forma controlada.</a:t>
            </a:r>
          </a:p>
          <a:p>
            <a:pPr>
              <a:buFont typeface="+mj-lt"/>
              <a:buAutoNum type="arabicPeriod"/>
            </a:pPr>
            <a:endParaRPr lang="es-MX" sz="1600" dirty="0">
              <a:latin typeface="Arial" panose="020B0604020202020204" pitchFamily="34" charset="0"/>
              <a:cs typeface="Arial" panose="020B0604020202020204" pitchFamily="34" charset="0"/>
            </a:endParaRPr>
          </a:p>
          <a:p>
            <a:r>
              <a:rPr lang="es-MX" sz="1600" b="1" dirty="0">
                <a:latin typeface="Arial" panose="020B0604020202020204" pitchFamily="34" charset="0"/>
                <a:cs typeface="Arial" panose="020B0604020202020204" pitchFamily="34" charset="0"/>
              </a:rPr>
              <a:t>9. Reducción de riesgos</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Al registrar decisiones, suposiciones y cambios, se minimiza el riesgo de errores, malentendidos o pérdida de información crítica.</a:t>
            </a:r>
          </a:p>
          <a:p>
            <a:pPr>
              <a:buFont typeface="+mj-lt"/>
              <a:buAutoNum type="arabicPeriod"/>
            </a:pPr>
            <a:endParaRPr lang="es-MX" sz="1600" dirty="0">
              <a:latin typeface="Arial" panose="020B0604020202020204" pitchFamily="34" charset="0"/>
              <a:cs typeface="Arial" panose="020B0604020202020204" pitchFamily="34" charset="0"/>
            </a:endParaRPr>
          </a:p>
          <a:p>
            <a:r>
              <a:rPr lang="es-MX" sz="1600" b="1" dirty="0">
                <a:latin typeface="Arial" panose="020B0604020202020204" pitchFamily="34" charset="0"/>
                <a:cs typeface="Arial" panose="020B0604020202020204" pitchFamily="34" charset="0"/>
              </a:rPr>
              <a:t>10. Soporte a auditorías e inspecciones</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En sectores críticos (banca, salud, aeroespacial), la documentación es indispensable para auditorías externas, certificaciones de seguridad y cumplimiento normativo.</a:t>
            </a:r>
          </a:p>
        </p:txBody>
      </p:sp>
    </p:spTree>
    <p:extLst>
      <p:ext uri="{BB962C8B-B14F-4D97-AF65-F5344CB8AC3E}">
        <p14:creationId xmlns:p14="http://schemas.microsoft.com/office/powerpoint/2010/main" val="442879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A3654-936B-2782-551E-24042F72EE4E}"/>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0BF85097-F88C-5025-204D-32D0247E863B}"/>
              </a:ext>
            </a:extLst>
          </p:cNvPr>
          <p:cNvGraphicFramePr>
            <a:graphicFrameLocks noGrp="1"/>
          </p:cNvGraphicFramePr>
          <p:nvPr>
            <p:extLst>
              <p:ext uri="{D42A27DB-BD31-4B8C-83A1-F6EECF244321}">
                <p14:modId xmlns:p14="http://schemas.microsoft.com/office/powerpoint/2010/main" val="2510793614"/>
              </p:ext>
            </p:extLst>
          </p:nvPr>
        </p:nvGraphicFramePr>
        <p:xfrm>
          <a:off x="774853" y="1342084"/>
          <a:ext cx="10642293" cy="4736393"/>
        </p:xfrm>
        <a:graphic>
          <a:graphicData uri="http://schemas.openxmlformats.org/drawingml/2006/table">
            <a:tbl>
              <a:tblPr/>
              <a:tblGrid>
                <a:gridCol w="2505506">
                  <a:extLst>
                    <a:ext uri="{9D8B030D-6E8A-4147-A177-3AD203B41FA5}">
                      <a16:colId xmlns:a16="http://schemas.microsoft.com/office/drawing/2014/main" val="1048482537"/>
                    </a:ext>
                  </a:extLst>
                </a:gridCol>
                <a:gridCol w="3230610">
                  <a:extLst>
                    <a:ext uri="{9D8B030D-6E8A-4147-A177-3AD203B41FA5}">
                      <a16:colId xmlns:a16="http://schemas.microsoft.com/office/drawing/2014/main" val="3042437112"/>
                    </a:ext>
                  </a:extLst>
                </a:gridCol>
                <a:gridCol w="4906177">
                  <a:extLst>
                    <a:ext uri="{9D8B030D-6E8A-4147-A177-3AD203B41FA5}">
                      <a16:colId xmlns:a16="http://schemas.microsoft.com/office/drawing/2014/main" val="1154313255"/>
                    </a:ext>
                  </a:extLst>
                </a:gridCol>
              </a:tblGrid>
              <a:tr h="203710">
                <a:tc>
                  <a:txBody>
                    <a:bodyPr/>
                    <a:lstStyle/>
                    <a:p>
                      <a:pPr>
                        <a:buNone/>
                      </a:pPr>
                      <a:r>
                        <a:rPr lang="es-MX" sz="1400" b="1">
                          <a:latin typeface="Arial" panose="020B0604020202020204" pitchFamily="34" charset="0"/>
                          <a:cs typeface="Arial" panose="020B0604020202020204" pitchFamily="34" charset="0"/>
                        </a:rPr>
                        <a:t>Razón</a:t>
                      </a:r>
                      <a:endParaRPr lang="es-MX" sz="14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tx2">
                        <a:lumMod val="25000"/>
                        <a:lumOff val="75000"/>
                      </a:schemeClr>
                    </a:solidFill>
                  </a:tcPr>
                </a:tc>
                <a:tc>
                  <a:txBody>
                    <a:bodyPr/>
                    <a:lstStyle/>
                    <a:p>
                      <a:pPr>
                        <a:buNone/>
                      </a:pPr>
                      <a:r>
                        <a:rPr lang="es-MX" sz="1400" b="1">
                          <a:latin typeface="Arial" panose="020B0604020202020204" pitchFamily="34" charset="0"/>
                          <a:cs typeface="Arial" panose="020B0604020202020204" pitchFamily="34" charset="0"/>
                        </a:rPr>
                        <a:t>Explicación</a:t>
                      </a:r>
                      <a:endParaRPr lang="es-MX" sz="14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tx2">
                        <a:lumMod val="25000"/>
                        <a:lumOff val="75000"/>
                      </a:schemeClr>
                    </a:solidFill>
                  </a:tcPr>
                </a:tc>
                <a:tc>
                  <a:txBody>
                    <a:bodyPr/>
                    <a:lstStyle/>
                    <a:p>
                      <a:pPr>
                        <a:buNone/>
                      </a:pPr>
                      <a:r>
                        <a:rPr lang="es-MX" sz="1400" b="1" dirty="0">
                          <a:latin typeface="Arial" panose="020B0604020202020204" pitchFamily="34" charset="0"/>
                          <a:cs typeface="Arial" panose="020B0604020202020204" pitchFamily="34" charset="0"/>
                        </a:rPr>
                        <a:t>Ejemplo aplicado al sistema de inscripción</a:t>
                      </a:r>
                      <a:endParaRPr lang="es-MX" sz="1400" dirty="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699320727"/>
                  </a:ext>
                </a:extLst>
              </a:tr>
              <a:tr h="467917">
                <a:tc>
                  <a:txBody>
                    <a:bodyPr/>
                    <a:lstStyle/>
                    <a:p>
                      <a:pPr>
                        <a:buNone/>
                      </a:pPr>
                      <a:r>
                        <a:rPr lang="es-MX" sz="1200" b="1">
                          <a:latin typeface="Arial" panose="020B0604020202020204" pitchFamily="34" charset="0"/>
                          <a:cs typeface="Arial" panose="020B0604020202020204" pitchFamily="34" charset="0"/>
                        </a:rPr>
                        <a:t>1. Trazabilidad de requerimientos</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noFill/>
                  </a:tcPr>
                </a:tc>
                <a:tc>
                  <a:txBody>
                    <a:bodyPr/>
                    <a:lstStyle/>
                    <a:p>
                      <a:pPr>
                        <a:buNone/>
                      </a:pPr>
                      <a:r>
                        <a:rPr lang="es-MX" sz="1200">
                          <a:latin typeface="Arial" panose="020B0604020202020204" pitchFamily="34" charset="0"/>
                          <a:cs typeface="Arial" panose="020B0604020202020204" pitchFamily="34" charset="0"/>
                        </a:rPr>
                        <a:t>Cada requerimiento debe estar vinculado con diseño, código y pruebas.</a:t>
                      </a:r>
                    </a:p>
                  </a:txBody>
                  <a:tcPr marL="28627" marR="28627" marT="14314" marB="14314" anchor="ctr">
                    <a:lnL>
                      <a:noFill/>
                    </a:lnL>
                    <a:lnR>
                      <a:noFill/>
                    </a:lnR>
                    <a:lnT>
                      <a:noFill/>
                    </a:lnT>
                    <a:lnB>
                      <a:noFill/>
                    </a:lnB>
                    <a:noFill/>
                  </a:tcPr>
                </a:tc>
                <a:tc>
                  <a:txBody>
                    <a:bodyPr/>
                    <a:lstStyle/>
                    <a:p>
                      <a:pPr>
                        <a:buNone/>
                      </a:pPr>
                      <a:r>
                        <a:rPr lang="es-MX" sz="1200" dirty="0">
                          <a:latin typeface="Arial" panose="020B0604020202020204" pitchFamily="34" charset="0"/>
                          <a:cs typeface="Arial" panose="020B0604020202020204" pitchFamily="34" charset="0"/>
                        </a:rPr>
                        <a:t>El requerimiento </a:t>
                      </a:r>
                      <a:r>
                        <a:rPr lang="es-MX" sz="1200" i="1" dirty="0">
                          <a:latin typeface="Arial" panose="020B0604020202020204" pitchFamily="34" charset="0"/>
                          <a:cs typeface="Arial" panose="020B0604020202020204" pitchFamily="34" charset="0"/>
                        </a:rPr>
                        <a:t>“validar que un estudiante no exceda 30 créditos”</a:t>
                      </a:r>
                      <a:r>
                        <a:rPr lang="es-MX" sz="1200" dirty="0">
                          <a:latin typeface="Arial" panose="020B0604020202020204" pitchFamily="34" charset="0"/>
                          <a:cs typeface="Arial" panose="020B0604020202020204" pitchFamily="34" charset="0"/>
                        </a:rPr>
                        <a:t> se traza al diseño del módulo de validación y al caso de prueba “CP-03”.</a:t>
                      </a:r>
                    </a:p>
                  </a:txBody>
                  <a:tcPr marL="28627" marR="28627" marT="14314" marB="14314" anchor="ctr">
                    <a:lnL>
                      <a:noFill/>
                    </a:lnL>
                    <a:lnR>
                      <a:noFill/>
                    </a:lnR>
                    <a:lnT>
                      <a:noFill/>
                    </a:lnT>
                    <a:lnB>
                      <a:noFill/>
                    </a:lnB>
                    <a:noFill/>
                  </a:tcPr>
                </a:tc>
                <a:extLst>
                  <a:ext uri="{0D108BD9-81ED-4DB2-BD59-A6C34878D82A}">
                    <a16:rowId xmlns:a16="http://schemas.microsoft.com/office/drawing/2014/main" val="1438533506"/>
                  </a:ext>
                </a:extLst>
              </a:tr>
              <a:tr h="467917">
                <a:tc>
                  <a:txBody>
                    <a:bodyPr/>
                    <a:lstStyle/>
                    <a:p>
                      <a:pPr>
                        <a:buNone/>
                      </a:pPr>
                      <a:r>
                        <a:rPr lang="es-MX" sz="1200" b="1">
                          <a:latin typeface="Arial" panose="020B0604020202020204" pitchFamily="34" charset="0"/>
                          <a:cs typeface="Arial" panose="020B0604020202020204" pitchFamily="34" charset="0"/>
                        </a:rPr>
                        <a:t>2. Comunicación clara entre actores</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a:latin typeface="Arial" panose="020B0604020202020204" pitchFamily="34" charset="0"/>
                          <a:cs typeface="Arial" panose="020B0604020202020204" pitchFamily="34" charset="0"/>
                        </a:rPr>
                        <a:t>Documentos reducen ambigüedad entre cliente, desarrolladores y testers.</a:t>
                      </a: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dirty="0">
                          <a:latin typeface="Arial" panose="020B0604020202020204" pitchFamily="34" charset="0"/>
                          <a:cs typeface="Arial" panose="020B0604020202020204" pitchFamily="34" charset="0"/>
                        </a:rPr>
                        <a:t>La universidad especifica en la SRS que </a:t>
                      </a:r>
                      <a:r>
                        <a:rPr lang="es-MX" sz="1200" i="1" dirty="0">
                          <a:latin typeface="Arial" panose="020B0604020202020204" pitchFamily="34" charset="0"/>
                          <a:cs typeface="Arial" panose="020B0604020202020204" pitchFamily="34" charset="0"/>
                        </a:rPr>
                        <a:t>“el sistema debe bloquear inscripciones fuera del periodo oficial”</a:t>
                      </a:r>
                      <a:r>
                        <a:rPr lang="es-MX" sz="1200" dirty="0">
                          <a:latin typeface="Arial" panose="020B0604020202020204" pitchFamily="34" charset="0"/>
                          <a:cs typeface="Arial" panose="020B0604020202020204" pitchFamily="34" charset="0"/>
                        </a:rPr>
                        <a:t>, evitando interpretaciones erróneas.</a:t>
                      </a:r>
                    </a:p>
                  </a:txBody>
                  <a:tcPr marL="28627" marR="28627" marT="14314" marB="1431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075756072"/>
                  </a:ext>
                </a:extLst>
              </a:tr>
              <a:tr h="379848">
                <a:tc>
                  <a:txBody>
                    <a:bodyPr/>
                    <a:lstStyle/>
                    <a:p>
                      <a:pPr>
                        <a:buNone/>
                      </a:pPr>
                      <a:r>
                        <a:rPr lang="es-MX" sz="1200" b="1">
                          <a:latin typeface="Arial" panose="020B0604020202020204" pitchFamily="34" charset="0"/>
                          <a:cs typeface="Arial" panose="020B0604020202020204" pitchFamily="34" charset="0"/>
                        </a:rPr>
                        <a:t>3. Base contractual y legal</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noFill/>
                  </a:tcPr>
                </a:tc>
                <a:tc>
                  <a:txBody>
                    <a:bodyPr/>
                    <a:lstStyle/>
                    <a:p>
                      <a:pPr>
                        <a:buNone/>
                      </a:pPr>
                      <a:r>
                        <a:rPr lang="es-MX" sz="1200">
                          <a:latin typeface="Arial" panose="020B0604020202020204" pitchFamily="34" charset="0"/>
                          <a:cs typeface="Arial" panose="020B0604020202020204" pitchFamily="34" charset="0"/>
                        </a:rPr>
                        <a:t>La documentación puede funcionar como contrato de cumplimiento.</a:t>
                      </a:r>
                    </a:p>
                  </a:txBody>
                  <a:tcPr marL="28627" marR="28627" marT="14314" marB="14314" anchor="ctr">
                    <a:lnL>
                      <a:noFill/>
                    </a:lnL>
                    <a:lnR>
                      <a:noFill/>
                    </a:lnR>
                    <a:lnT>
                      <a:noFill/>
                    </a:lnT>
                    <a:lnB>
                      <a:noFill/>
                    </a:lnB>
                    <a:noFill/>
                  </a:tcPr>
                </a:tc>
                <a:tc>
                  <a:txBody>
                    <a:bodyPr/>
                    <a:lstStyle/>
                    <a:p>
                      <a:pPr>
                        <a:buNone/>
                      </a:pPr>
                      <a:r>
                        <a:rPr lang="es-MX" sz="1200" dirty="0">
                          <a:latin typeface="Arial" panose="020B0604020202020204" pitchFamily="34" charset="0"/>
                          <a:cs typeface="Arial" panose="020B0604020202020204" pitchFamily="34" charset="0"/>
                        </a:rPr>
                        <a:t>El área académica firma el documento de requerimientos para validar que el sistema cumplirá lo solicitado.</a:t>
                      </a:r>
                    </a:p>
                  </a:txBody>
                  <a:tcPr marL="28627" marR="28627" marT="14314" marB="14314" anchor="ctr">
                    <a:lnL>
                      <a:noFill/>
                    </a:lnL>
                    <a:lnR>
                      <a:noFill/>
                    </a:lnR>
                    <a:lnT>
                      <a:noFill/>
                    </a:lnT>
                    <a:lnB>
                      <a:noFill/>
                    </a:lnB>
                    <a:noFill/>
                  </a:tcPr>
                </a:tc>
                <a:extLst>
                  <a:ext uri="{0D108BD9-81ED-4DB2-BD59-A6C34878D82A}">
                    <a16:rowId xmlns:a16="http://schemas.microsoft.com/office/drawing/2014/main" val="2282803991"/>
                  </a:ext>
                </a:extLst>
              </a:tr>
              <a:tr h="379848">
                <a:tc>
                  <a:txBody>
                    <a:bodyPr/>
                    <a:lstStyle/>
                    <a:p>
                      <a:pPr>
                        <a:buNone/>
                      </a:pPr>
                      <a:r>
                        <a:rPr lang="es-MX" sz="1200" b="1">
                          <a:latin typeface="Arial" panose="020B0604020202020204" pitchFamily="34" charset="0"/>
                          <a:cs typeface="Arial" panose="020B0604020202020204" pitchFamily="34" charset="0"/>
                        </a:rPr>
                        <a:t>4. Soporte al mantenimiento</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dirty="0">
                          <a:latin typeface="Arial" panose="020B0604020202020204" pitchFamily="34" charset="0"/>
                          <a:cs typeface="Arial" panose="020B0604020202020204" pitchFamily="34" charset="0"/>
                        </a:rPr>
                        <a:t>Manuales y guías permiten atender errores o mejoras en el futuro.</a:t>
                      </a: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dirty="0">
                          <a:latin typeface="Arial" panose="020B0604020202020204" pitchFamily="34" charset="0"/>
                          <a:cs typeface="Arial" panose="020B0604020202020204" pitchFamily="34" charset="0"/>
                        </a:rPr>
                        <a:t>Cuando un nuevo semestre inicia, el área de TI consulta la guía de operación para abrir inscripciones sin fallos.</a:t>
                      </a:r>
                    </a:p>
                  </a:txBody>
                  <a:tcPr marL="28627" marR="28627" marT="14314" marB="1431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137660823"/>
                  </a:ext>
                </a:extLst>
              </a:tr>
              <a:tr h="379848">
                <a:tc>
                  <a:txBody>
                    <a:bodyPr/>
                    <a:lstStyle/>
                    <a:p>
                      <a:pPr>
                        <a:buNone/>
                      </a:pPr>
                      <a:r>
                        <a:rPr lang="es-MX" sz="1200" b="1">
                          <a:latin typeface="Arial" panose="020B0604020202020204" pitchFamily="34" charset="0"/>
                          <a:cs typeface="Arial" panose="020B0604020202020204" pitchFamily="34" charset="0"/>
                        </a:rPr>
                        <a:t>5. Gestión del conocimiento</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noFill/>
                  </a:tcPr>
                </a:tc>
                <a:tc>
                  <a:txBody>
                    <a:bodyPr/>
                    <a:lstStyle/>
                    <a:p>
                      <a:pPr>
                        <a:buNone/>
                      </a:pPr>
                      <a:r>
                        <a:rPr lang="es-MX" sz="1200">
                          <a:latin typeface="Arial" panose="020B0604020202020204" pitchFamily="34" charset="0"/>
                          <a:cs typeface="Arial" panose="020B0604020202020204" pitchFamily="34" charset="0"/>
                        </a:rPr>
                        <a:t>Captura conocimiento más allá de las personas del equipo.</a:t>
                      </a:r>
                    </a:p>
                  </a:txBody>
                  <a:tcPr marL="28627" marR="28627" marT="14314" marB="14314" anchor="ctr">
                    <a:lnL>
                      <a:noFill/>
                    </a:lnL>
                    <a:lnR>
                      <a:noFill/>
                    </a:lnR>
                    <a:lnT>
                      <a:noFill/>
                    </a:lnT>
                    <a:lnB>
                      <a:noFill/>
                    </a:lnB>
                    <a:noFill/>
                  </a:tcPr>
                </a:tc>
                <a:tc>
                  <a:txBody>
                    <a:bodyPr/>
                    <a:lstStyle/>
                    <a:p>
                      <a:pPr>
                        <a:buNone/>
                      </a:pPr>
                      <a:r>
                        <a:rPr lang="es-MX" sz="1200" dirty="0">
                          <a:latin typeface="Arial" panose="020B0604020202020204" pitchFamily="34" charset="0"/>
                          <a:cs typeface="Arial" panose="020B0604020202020204" pitchFamily="34" charset="0"/>
                        </a:rPr>
                        <a:t>Aunque los desarrolladores originales se gradúen, otro equipo puede continuar gracias a los diagramas UML y el SRS.</a:t>
                      </a:r>
                    </a:p>
                  </a:txBody>
                  <a:tcPr marL="28627" marR="28627" marT="14314" marB="14314" anchor="ctr">
                    <a:lnL>
                      <a:noFill/>
                    </a:lnL>
                    <a:lnR>
                      <a:noFill/>
                    </a:lnR>
                    <a:lnT>
                      <a:noFill/>
                    </a:lnT>
                    <a:lnB>
                      <a:noFill/>
                    </a:lnB>
                    <a:noFill/>
                  </a:tcPr>
                </a:tc>
                <a:extLst>
                  <a:ext uri="{0D108BD9-81ED-4DB2-BD59-A6C34878D82A}">
                    <a16:rowId xmlns:a16="http://schemas.microsoft.com/office/drawing/2014/main" val="2864811764"/>
                  </a:ext>
                </a:extLst>
              </a:tr>
              <a:tr h="467917">
                <a:tc>
                  <a:txBody>
                    <a:bodyPr/>
                    <a:lstStyle/>
                    <a:p>
                      <a:pPr>
                        <a:buNone/>
                      </a:pPr>
                      <a:r>
                        <a:rPr lang="es-MX" sz="1200" b="1">
                          <a:latin typeface="Arial" panose="020B0604020202020204" pitchFamily="34" charset="0"/>
                          <a:cs typeface="Arial" panose="020B0604020202020204" pitchFamily="34" charset="0"/>
                        </a:rPr>
                        <a:t>6. Facilita incorporación de nuevos integrantes</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a:latin typeface="Arial" panose="020B0604020202020204" pitchFamily="34" charset="0"/>
                          <a:cs typeface="Arial" panose="020B0604020202020204" pitchFamily="34" charset="0"/>
                        </a:rPr>
                        <a:t>Nuevos miembros entienden el sistema rápidamente con documentación.</a:t>
                      </a: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dirty="0">
                          <a:latin typeface="Arial" panose="020B0604020202020204" pitchFamily="34" charset="0"/>
                          <a:cs typeface="Arial" panose="020B0604020202020204" pitchFamily="34" charset="0"/>
                        </a:rPr>
                        <a:t>Un becario que entra al proyecto revisa el documento de diseño para entender la arquitectura web sin depender de explicaciones orales.</a:t>
                      </a:r>
                    </a:p>
                  </a:txBody>
                  <a:tcPr marL="28627" marR="28627" marT="14314" marB="1431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85039154"/>
                  </a:ext>
                </a:extLst>
              </a:tr>
              <a:tr h="467917">
                <a:tc>
                  <a:txBody>
                    <a:bodyPr/>
                    <a:lstStyle/>
                    <a:p>
                      <a:pPr>
                        <a:buNone/>
                      </a:pPr>
                      <a:r>
                        <a:rPr lang="es-MX" sz="1200" b="1">
                          <a:latin typeface="Arial" panose="020B0604020202020204" pitchFamily="34" charset="0"/>
                          <a:cs typeface="Arial" panose="020B0604020202020204" pitchFamily="34" charset="0"/>
                        </a:rPr>
                        <a:t>7. Evidencia de calidad y normas</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noFill/>
                  </a:tcPr>
                </a:tc>
                <a:tc>
                  <a:txBody>
                    <a:bodyPr/>
                    <a:lstStyle/>
                    <a:p>
                      <a:pPr>
                        <a:buNone/>
                      </a:pPr>
                      <a:r>
                        <a:rPr lang="es-MX" sz="1200">
                          <a:latin typeface="Arial" panose="020B0604020202020204" pitchFamily="34" charset="0"/>
                          <a:cs typeface="Arial" panose="020B0604020202020204" pitchFamily="34" charset="0"/>
                        </a:rPr>
                        <a:t>Requerida en procesos con certificaciones o auditorías.</a:t>
                      </a:r>
                    </a:p>
                  </a:txBody>
                  <a:tcPr marL="28627" marR="28627" marT="14314" marB="14314" anchor="ctr">
                    <a:lnL>
                      <a:noFill/>
                    </a:lnL>
                    <a:lnR>
                      <a:noFill/>
                    </a:lnR>
                    <a:lnT>
                      <a:noFill/>
                    </a:lnT>
                    <a:lnB>
                      <a:noFill/>
                    </a:lnB>
                    <a:noFill/>
                  </a:tcPr>
                </a:tc>
                <a:tc>
                  <a:txBody>
                    <a:bodyPr/>
                    <a:lstStyle/>
                    <a:p>
                      <a:pPr>
                        <a:buNone/>
                      </a:pPr>
                      <a:r>
                        <a:rPr lang="es-MX" sz="1200" dirty="0">
                          <a:latin typeface="Arial" panose="020B0604020202020204" pitchFamily="34" charset="0"/>
                          <a:cs typeface="Arial" panose="020B0604020202020204" pitchFamily="34" charset="0"/>
                        </a:rPr>
                        <a:t>Si la universidad quiere certificar el sistema bajo ISO 9001, los planes de prueba y registros de defectos sirven como evidencia.</a:t>
                      </a:r>
                    </a:p>
                  </a:txBody>
                  <a:tcPr marL="28627" marR="28627" marT="14314" marB="14314" anchor="ctr">
                    <a:lnL>
                      <a:noFill/>
                    </a:lnL>
                    <a:lnR>
                      <a:noFill/>
                    </a:lnR>
                    <a:lnT>
                      <a:noFill/>
                    </a:lnT>
                    <a:lnB>
                      <a:noFill/>
                    </a:lnB>
                    <a:noFill/>
                  </a:tcPr>
                </a:tc>
                <a:extLst>
                  <a:ext uri="{0D108BD9-81ED-4DB2-BD59-A6C34878D82A}">
                    <a16:rowId xmlns:a16="http://schemas.microsoft.com/office/drawing/2014/main" val="2661514374"/>
                  </a:ext>
                </a:extLst>
              </a:tr>
              <a:tr h="379848">
                <a:tc>
                  <a:txBody>
                    <a:bodyPr/>
                    <a:lstStyle/>
                    <a:p>
                      <a:pPr>
                        <a:buNone/>
                      </a:pPr>
                      <a:r>
                        <a:rPr lang="es-MX" sz="1200" b="1">
                          <a:latin typeface="Arial" panose="020B0604020202020204" pitchFamily="34" charset="0"/>
                          <a:cs typeface="Arial" panose="020B0604020202020204" pitchFamily="34" charset="0"/>
                        </a:rPr>
                        <a:t>8. Planificación y control del proyecto</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a:latin typeface="Arial" panose="020B0604020202020204" pitchFamily="34" charset="0"/>
                          <a:cs typeface="Arial" panose="020B0604020202020204" pitchFamily="34" charset="0"/>
                        </a:rPr>
                        <a:t>Permite coordinar tareas, cronogramas y recursos.</a:t>
                      </a: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dirty="0">
                          <a:latin typeface="Arial" panose="020B0604020202020204" pitchFamily="34" charset="0"/>
                          <a:cs typeface="Arial" panose="020B0604020202020204" pitchFamily="34" charset="0"/>
                        </a:rPr>
                        <a:t>El plan de pruebas establece que las validaciones deben completarse dos semanas antes de abrir inscripciones.</a:t>
                      </a:r>
                    </a:p>
                  </a:txBody>
                  <a:tcPr marL="28627" marR="28627" marT="14314" marB="1431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287782268"/>
                  </a:ext>
                </a:extLst>
              </a:tr>
              <a:tr h="467917">
                <a:tc>
                  <a:txBody>
                    <a:bodyPr/>
                    <a:lstStyle/>
                    <a:p>
                      <a:pPr>
                        <a:buNone/>
                      </a:pPr>
                      <a:r>
                        <a:rPr lang="es-MX" sz="1200" b="1">
                          <a:latin typeface="Arial" panose="020B0604020202020204" pitchFamily="34" charset="0"/>
                          <a:cs typeface="Arial" panose="020B0604020202020204" pitchFamily="34" charset="0"/>
                        </a:rPr>
                        <a:t>9. Reducción de riesgos</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noFill/>
                  </a:tcPr>
                </a:tc>
                <a:tc>
                  <a:txBody>
                    <a:bodyPr/>
                    <a:lstStyle/>
                    <a:p>
                      <a:pPr>
                        <a:buNone/>
                      </a:pPr>
                      <a:r>
                        <a:rPr lang="es-MX" sz="1200">
                          <a:latin typeface="Arial" panose="020B0604020202020204" pitchFamily="34" charset="0"/>
                          <a:cs typeface="Arial" panose="020B0604020202020204" pitchFamily="34" charset="0"/>
                        </a:rPr>
                        <a:t>Evita pérdida de información y malentendidos en cambios.</a:t>
                      </a:r>
                    </a:p>
                  </a:txBody>
                  <a:tcPr marL="28627" marR="28627" marT="14314" marB="14314" anchor="ctr">
                    <a:lnL>
                      <a:noFill/>
                    </a:lnL>
                    <a:lnR>
                      <a:noFill/>
                    </a:lnR>
                    <a:lnT>
                      <a:noFill/>
                    </a:lnT>
                    <a:lnB>
                      <a:noFill/>
                    </a:lnB>
                    <a:noFill/>
                  </a:tcPr>
                </a:tc>
                <a:tc>
                  <a:txBody>
                    <a:bodyPr/>
                    <a:lstStyle/>
                    <a:p>
                      <a:pPr>
                        <a:buNone/>
                      </a:pPr>
                      <a:r>
                        <a:rPr lang="es-MX" sz="1200">
                          <a:latin typeface="Arial" panose="020B0604020202020204" pitchFamily="34" charset="0"/>
                          <a:cs typeface="Arial" panose="020B0604020202020204" pitchFamily="34" charset="0"/>
                        </a:rPr>
                        <a:t>Cuando se solicita una mejora (</a:t>
                      </a:r>
                      <a:r>
                        <a:rPr lang="es-MX" sz="1200" i="1">
                          <a:latin typeface="Arial" panose="020B0604020202020204" pitchFamily="34" charset="0"/>
                          <a:cs typeface="Arial" panose="020B0604020202020204" pitchFamily="34" charset="0"/>
                        </a:rPr>
                        <a:t>reinscripción automática</a:t>
                      </a:r>
                      <a:r>
                        <a:rPr lang="es-MX" sz="1200">
                          <a:latin typeface="Arial" panose="020B0604020202020204" pitchFamily="34" charset="0"/>
                          <a:cs typeface="Arial" panose="020B0604020202020204" pitchFamily="34" charset="0"/>
                        </a:rPr>
                        <a:t>), se registra como CR y se evalúa su impacto antes de modificar el código.</a:t>
                      </a:r>
                    </a:p>
                  </a:txBody>
                  <a:tcPr marL="28627" marR="28627" marT="14314" marB="14314" anchor="ctr">
                    <a:lnL>
                      <a:noFill/>
                    </a:lnL>
                    <a:lnR>
                      <a:noFill/>
                    </a:lnR>
                    <a:lnT>
                      <a:noFill/>
                    </a:lnT>
                    <a:lnB>
                      <a:noFill/>
                    </a:lnB>
                    <a:noFill/>
                  </a:tcPr>
                </a:tc>
                <a:extLst>
                  <a:ext uri="{0D108BD9-81ED-4DB2-BD59-A6C34878D82A}">
                    <a16:rowId xmlns:a16="http://schemas.microsoft.com/office/drawing/2014/main" val="2685745667"/>
                  </a:ext>
                </a:extLst>
              </a:tr>
              <a:tr h="467917">
                <a:tc>
                  <a:txBody>
                    <a:bodyPr/>
                    <a:lstStyle/>
                    <a:p>
                      <a:pPr>
                        <a:buNone/>
                      </a:pPr>
                      <a:r>
                        <a:rPr lang="es-MX" sz="1200" b="1">
                          <a:latin typeface="Arial" panose="020B0604020202020204" pitchFamily="34" charset="0"/>
                          <a:cs typeface="Arial" panose="020B0604020202020204" pitchFamily="34" charset="0"/>
                        </a:rPr>
                        <a:t>10. Soporte a auditorías e inspecciones</a:t>
                      </a:r>
                      <a:endParaRPr lang="es-MX" sz="1200">
                        <a:latin typeface="Arial" panose="020B0604020202020204" pitchFamily="34" charset="0"/>
                        <a:cs typeface="Arial" panose="020B0604020202020204" pitchFamily="34" charset="0"/>
                      </a:endParaRP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a:latin typeface="Arial" panose="020B0604020202020204" pitchFamily="34" charset="0"/>
                          <a:cs typeface="Arial" panose="020B0604020202020204" pitchFamily="34" charset="0"/>
                        </a:rPr>
                        <a:t>Facilita revisiones de cumplimiento académico o normativo.</a:t>
                      </a:r>
                    </a:p>
                  </a:txBody>
                  <a:tcPr marL="28627" marR="28627" marT="14314" marB="14314" anchor="ctr">
                    <a:lnL>
                      <a:noFill/>
                    </a:lnL>
                    <a:lnR>
                      <a:noFill/>
                    </a:lnR>
                    <a:lnT>
                      <a:noFill/>
                    </a:lnT>
                    <a:lnB>
                      <a:noFill/>
                    </a:lnB>
                    <a:solidFill>
                      <a:schemeClr val="accent6">
                        <a:lumMod val="20000"/>
                        <a:lumOff val="80000"/>
                      </a:schemeClr>
                    </a:solidFill>
                  </a:tcPr>
                </a:tc>
                <a:tc>
                  <a:txBody>
                    <a:bodyPr/>
                    <a:lstStyle/>
                    <a:p>
                      <a:pPr>
                        <a:buNone/>
                      </a:pPr>
                      <a:r>
                        <a:rPr lang="es-MX" sz="1200" dirty="0">
                          <a:latin typeface="Arial" panose="020B0604020202020204" pitchFamily="34" charset="0"/>
                          <a:cs typeface="Arial" panose="020B0604020202020204" pitchFamily="34" charset="0"/>
                        </a:rPr>
                        <a:t>En una auditoría interna, la universidad revisa el historial de versiones para comprobar que el sistema cumple con las políticas institucionales.</a:t>
                      </a:r>
                    </a:p>
                  </a:txBody>
                  <a:tcPr marL="28627" marR="28627" marT="14314" marB="1431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872359846"/>
                  </a:ext>
                </a:extLst>
              </a:tr>
            </a:tbl>
          </a:graphicData>
        </a:graphic>
      </p:graphicFrame>
      <p:sp>
        <p:nvSpPr>
          <p:cNvPr id="4" name="CuadroTexto 3">
            <a:extLst>
              <a:ext uri="{FF2B5EF4-FFF2-40B4-BE49-F238E27FC236}">
                <a16:creationId xmlns:a16="http://schemas.microsoft.com/office/drawing/2014/main" id="{02B01BE1-CCE4-D093-FBDC-C7D9F56A15CB}"/>
              </a:ext>
            </a:extLst>
          </p:cNvPr>
          <p:cNvSpPr txBox="1"/>
          <p:nvPr/>
        </p:nvSpPr>
        <p:spPr>
          <a:xfrm>
            <a:off x="1187068" y="482768"/>
            <a:ext cx="10138272" cy="646331"/>
          </a:xfrm>
          <a:prstGeom prst="rect">
            <a:avLst/>
          </a:prstGeom>
          <a:noFill/>
        </p:spPr>
        <p:txBody>
          <a:bodyPr wrap="square">
            <a:spAutoFit/>
          </a:bodyPr>
          <a:lstStyle/>
          <a:p>
            <a:pPr algn="ctr"/>
            <a:r>
              <a:rPr lang="es-MX" b="1" dirty="0">
                <a:solidFill>
                  <a:srgbClr val="0070C0"/>
                </a:solidFill>
              </a:rPr>
              <a:t>10 razones de la documentación</a:t>
            </a:r>
            <a:r>
              <a:rPr lang="es-MX" dirty="0">
                <a:solidFill>
                  <a:srgbClr val="0070C0"/>
                </a:solidFill>
              </a:rPr>
              <a:t> aplicadas al ejemplo del proyecto universitario </a:t>
            </a:r>
            <a:r>
              <a:rPr lang="es-MX" b="1" dirty="0">
                <a:solidFill>
                  <a:srgbClr val="0070C0"/>
                </a:solidFill>
              </a:rPr>
              <a:t>“Sistema de inscripción de materias en línea”</a:t>
            </a:r>
            <a:r>
              <a:rPr lang="es-MX" dirty="0">
                <a:solidFill>
                  <a:srgbClr val="0070C0"/>
                </a:solidFill>
              </a:rPr>
              <a:t>:</a:t>
            </a:r>
          </a:p>
        </p:txBody>
      </p:sp>
    </p:spTree>
    <p:extLst>
      <p:ext uri="{BB962C8B-B14F-4D97-AF65-F5344CB8AC3E}">
        <p14:creationId xmlns:p14="http://schemas.microsoft.com/office/powerpoint/2010/main" val="965562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DD43-4683-30AF-D645-FC1231079D2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4A6E209-C7BF-691F-DDEA-E33BF0DC1E17}"/>
              </a:ext>
            </a:extLst>
          </p:cNvPr>
          <p:cNvSpPr txBox="1"/>
          <p:nvPr/>
        </p:nvSpPr>
        <p:spPr>
          <a:xfrm>
            <a:off x="2002314" y="1333297"/>
            <a:ext cx="8584895" cy="3046988"/>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es-MX" sz="3200" b="1" dirty="0">
                <a:latin typeface="Arial" panose="020B0604020202020204" pitchFamily="34" charset="0"/>
                <a:cs typeface="Arial" panose="020B0604020202020204" pitchFamily="34" charset="0"/>
              </a:rPr>
              <a:t>Resumen:</a:t>
            </a:r>
          </a:p>
          <a:p>
            <a:pPr algn="ctr"/>
            <a:br>
              <a:rPr lang="es-MX" sz="3200" dirty="0">
                <a:latin typeface="Arial" panose="020B0604020202020204" pitchFamily="34" charset="0"/>
                <a:cs typeface="Arial" panose="020B0604020202020204" pitchFamily="34" charset="0"/>
              </a:rPr>
            </a:br>
            <a:r>
              <a:rPr lang="es-MX" sz="3200" dirty="0">
                <a:latin typeface="Arial" panose="020B0604020202020204" pitchFamily="34" charset="0"/>
                <a:cs typeface="Arial" panose="020B0604020202020204" pitchFamily="34" charset="0"/>
              </a:rPr>
              <a:t>La documentación no es un “trámite burocrático”, sino una </a:t>
            </a:r>
            <a:r>
              <a:rPr lang="es-MX" sz="3200" b="1" dirty="0">
                <a:latin typeface="Arial" panose="020B0604020202020204" pitchFamily="34" charset="0"/>
                <a:cs typeface="Arial" panose="020B0604020202020204" pitchFamily="34" charset="0"/>
              </a:rPr>
              <a:t>infraestructura de soporte para la calidad, comunicación y sostenibilidad</a:t>
            </a:r>
            <a:r>
              <a:rPr lang="es-MX" sz="3200" dirty="0">
                <a:latin typeface="Arial" panose="020B0604020202020204" pitchFamily="34" charset="0"/>
                <a:cs typeface="Arial" panose="020B0604020202020204" pitchFamily="34" charset="0"/>
              </a:rPr>
              <a:t> del software en el tiempo.</a:t>
            </a:r>
          </a:p>
        </p:txBody>
      </p:sp>
    </p:spTree>
    <p:extLst>
      <p:ext uri="{BB962C8B-B14F-4D97-AF65-F5344CB8AC3E}">
        <p14:creationId xmlns:p14="http://schemas.microsoft.com/office/powerpoint/2010/main" val="1992963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3877B-87E2-E6A4-25E6-3ED60195F73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A7894F8-6F5C-BED2-53CA-7A042EC20D78}"/>
              </a:ext>
            </a:extLst>
          </p:cNvPr>
          <p:cNvSpPr txBox="1"/>
          <p:nvPr/>
        </p:nvSpPr>
        <p:spPr>
          <a:xfrm>
            <a:off x="1592132" y="1508375"/>
            <a:ext cx="8971877" cy="2031325"/>
          </a:xfrm>
          <a:prstGeom prst="rect">
            <a:avLst/>
          </a:prstGeom>
          <a:noFill/>
        </p:spPr>
        <p:txBody>
          <a:bodyPr wrap="square">
            <a:spAutoFit/>
          </a:bodyPr>
          <a:lstStyle/>
          <a:p>
            <a:pPr>
              <a:buNone/>
            </a:pPr>
            <a:r>
              <a:rPr lang="es-MX" b="1" dirty="0"/>
              <a:t>Ventajas del modelo en CASCADA:</a:t>
            </a:r>
          </a:p>
          <a:p>
            <a:pPr>
              <a:buNone/>
            </a:pPr>
            <a:endParaRPr lang="es-MX" b="1" dirty="0"/>
          </a:p>
          <a:p>
            <a:pPr>
              <a:buNone/>
            </a:pPr>
            <a:r>
              <a:rPr lang="es-MX" dirty="0"/>
              <a:t>✅ Fácil de entender y aplicar.</a:t>
            </a:r>
            <a:br>
              <a:rPr lang="es-MX" dirty="0"/>
            </a:br>
            <a:r>
              <a:rPr lang="es-MX" dirty="0"/>
              <a:t>✅ Útil en proyectos con requerimientos bien definidos desde el inicio.</a:t>
            </a:r>
            <a:br>
              <a:rPr lang="es-MX" dirty="0"/>
            </a:br>
            <a:r>
              <a:rPr lang="es-MX" dirty="0"/>
              <a:t>✅ Buena trazabilidad y control documental.</a:t>
            </a:r>
            <a:br>
              <a:rPr lang="es-MX" dirty="0"/>
            </a:br>
            <a:r>
              <a:rPr lang="es-MX" dirty="0"/>
              <a:t>✅ Asegura disciplina en equipos inexpertos.</a:t>
            </a:r>
          </a:p>
          <a:p>
            <a:pPr>
              <a:buNone/>
            </a:pPr>
            <a:endParaRPr lang="es-MX" dirty="0"/>
          </a:p>
        </p:txBody>
      </p:sp>
    </p:spTree>
    <p:extLst>
      <p:ext uri="{BB962C8B-B14F-4D97-AF65-F5344CB8AC3E}">
        <p14:creationId xmlns:p14="http://schemas.microsoft.com/office/powerpoint/2010/main" val="2475813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5BC18-35E9-3622-CCE2-B47A1410F90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03FF324C-B897-18E7-93E8-BC73ECFF8724}"/>
              </a:ext>
            </a:extLst>
          </p:cNvPr>
          <p:cNvSpPr txBox="1"/>
          <p:nvPr/>
        </p:nvSpPr>
        <p:spPr>
          <a:xfrm>
            <a:off x="1592132" y="1508375"/>
            <a:ext cx="8971877" cy="2031325"/>
          </a:xfrm>
          <a:prstGeom prst="rect">
            <a:avLst/>
          </a:prstGeom>
          <a:noFill/>
        </p:spPr>
        <p:txBody>
          <a:bodyPr wrap="square">
            <a:spAutoFit/>
          </a:bodyPr>
          <a:lstStyle/>
          <a:p>
            <a:pPr>
              <a:buNone/>
            </a:pPr>
            <a:endParaRPr lang="es-MX" dirty="0"/>
          </a:p>
          <a:p>
            <a:pPr>
              <a:buNone/>
            </a:pPr>
            <a:r>
              <a:rPr lang="es-MX" b="1" dirty="0"/>
              <a:t>Desventajas del modelo en CASCADA:</a:t>
            </a:r>
          </a:p>
          <a:p>
            <a:pPr>
              <a:buNone/>
            </a:pPr>
            <a:endParaRPr lang="es-MX" b="1" dirty="0"/>
          </a:p>
          <a:p>
            <a:pPr>
              <a:buNone/>
            </a:pPr>
            <a:r>
              <a:rPr lang="es-MX" dirty="0"/>
              <a:t>❌ Poco flexible ante cambios.</a:t>
            </a:r>
            <a:br>
              <a:rPr lang="es-MX" dirty="0"/>
            </a:br>
            <a:r>
              <a:rPr lang="es-MX" dirty="0"/>
              <a:t>❌ Errores en fases tempranas se detectan tarde y son costosos.</a:t>
            </a:r>
            <a:br>
              <a:rPr lang="es-MX" dirty="0"/>
            </a:br>
            <a:r>
              <a:rPr lang="es-MX" dirty="0"/>
              <a:t>❌ No se adapta bien a proyectos con alta incertidumbre.</a:t>
            </a:r>
            <a:br>
              <a:rPr lang="es-MX" dirty="0"/>
            </a:br>
            <a:r>
              <a:rPr lang="es-MX" dirty="0"/>
              <a:t>❌ No involucra al usuario de forma continua.</a:t>
            </a:r>
          </a:p>
        </p:txBody>
      </p:sp>
    </p:spTree>
    <p:extLst>
      <p:ext uri="{BB962C8B-B14F-4D97-AF65-F5344CB8AC3E}">
        <p14:creationId xmlns:p14="http://schemas.microsoft.com/office/powerpoint/2010/main" val="2270460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AD80E-58E7-9C04-1894-66C1DB44C9B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FFF07E3-2C1A-CB6D-DCBE-97BB6415566B}"/>
              </a:ext>
            </a:extLst>
          </p:cNvPr>
          <p:cNvSpPr txBox="1"/>
          <p:nvPr/>
        </p:nvSpPr>
        <p:spPr>
          <a:xfrm>
            <a:off x="668716" y="2784486"/>
            <a:ext cx="5954506" cy="923330"/>
          </a:xfrm>
          <a:prstGeom prst="rect">
            <a:avLst/>
          </a:prstGeom>
          <a:noFill/>
        </p:spPr>
        <p:txBody>
          <a:bodyPr wrap="square">
            <a:spAutoFit/>
          </a:bodyPr>
          <a:lstStyle/>
          <a:p>
            <a:pPr algn="ctr"/>
            <a:r>
              <a:rPr lang="es-MX" sz="5400" b="1" dirty="0"/>
              <a:t>Modelo en Espiral</a:t>
            </a:r>
            <a:endParaRPr lang="es-MX" sz="5400" b="1" dirty="0">
              <a:latin typeface="Arial" panose="020B0604020202020204" pitchFamily="34" charset="0"/>
              <a:cs typeface="Arial" panose="020B0604020202020204" pitchFamily="34" charset="0"/>
            </a:endParaRPr>
          </a:p>
        </p:txBody>
      </p:sp>
      <p:pic>
        <p:nvPicPr>
          <p:cNvPr id="2" name="Picture 4" descr="Espiral - Mi sitio">
            <a:extLst>
              <a:ext uri="{FF2B5EF4-FFF2-40B4-BE49-F238E27FC236}">
                <a16:creationId xmlns:a16="http://schemas.microsoft.com/office/drawing/2014/main" id="{59AA1466-D145-6911-88DD-2D2E83D9E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0432" y="1061534"/>
            <a:ext cx="4112059" cy="4544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5298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C729-EE7A-9B02-A51E-9E1B33116816}"/>
            </a:ext>
          </a:extLst>
        </p:cNvPr>
        <p:cNvGrpSpPr/>
        <p:nvPr/>
      </p:nvGrpSpPr>
      <p:grpSpPr>
        <a:xfrm>
          <a:off x="0" y="0"/>
          <a:ext cx="0" cy="0"/>
          <a:chOff x="0" y="0"/>
          <a:chExt cx="0" cy="0"/>
        </a:xfrm>
      </p:grpSpPr>
      <p:sp>
        <p:nvSpPr>
          <p:cNvPr id="12" name="CuadroTexto 11">
            <a:extLst>
              <a:ext uri="{FF2B5EF4-FFF2-40B4-BE49-F238E27FC236}">
                <a16:creationId xmlns:a16="http://schemas.microsoft.com/office/drawing/2014/main" id="{F0C2038C-5250-62A5-FDB9-21F8DEFD2235}"/>
              </a:ext>
            </a:extLst>
          </p:cNvPr>
          <p:cNvSpPr txBox="1"/>
          <p:nvPr/>
        </p:nvSpPr>
        <p:spPr>
          <a:xfrm>
            <a:off x="1231392" y="1793551"/>
            <a:ext cx="10302240" cy="2246769"/>
          </a:xfrm>
          <a:prstGeom prst="rect">
            <a:avLst/>
          </a:prstGeom>
          <a:noFill/>
        </p:spPr>
        <p:txBody>
          <a:bodyPr wrap="square">
            <a:spAutoFit/>
          </a:bodyPr>
          <a:lstStyle/>
          <a:p>
            <a:pPr>
              <a:buNone/>
            </a:pPr>
            <a:r>
              <a:rPr lang="es-MX" sz="2000" b="1" dirty="0">
                <a:latin typeface="Arial" panose="020B0604020202020204" pitchFamily="34" charset="0"/>
                <a:cs typeface="Arial" panose="020B0604020202020204" pitchFamily="34" charset="0"/>
              </a:rPr>
              <a:t>2. Modelo Espiral</a:t>
            </a:r>
          </a:p>
          <a:p>
            <a:pPr>
              <a:buNone/>
            </a:pPr>
            <a:endParaRPr lang="es-MX" sz="2000" b="1" dirty="0">
              <a:latin typeface="Arial" panose="020B0604020202020204" pitchFamily="34" charset="0"/>
              <a:cs typeface="Arial" panose="020B0604020202020204" pitchFamily="34" charset="0"/>
            </a:endParaRPr>
          </a:p>
          <a:p>
            <a:pPr>
              <a:buNone/>
            </a:pPr>
            <a:r>
              <a:rPr lang="es-MX" sz="2000" b="1" dirty="0">
                <a:latin typeface="Arial" panose="020B0604020202020204" pitchFamily="34" charset="0"/>
                <a:cs typeface="Arial" panose="020B0604020202020204" pitchFamily="34" charset="0"/>
              </a:rPr>
              <a:t>Características:</a:t>
            </a:r>
          </a:p>
          <a:p>
            <a:pPr>
              <a:buNone/>
            </a:pPr>
            <a:endParaRPr lang="es-MX"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000" dirty="0">
                <a:latin typeface="Arial" panose="020B0604020202020204" pitchFamily="34" charset="0"/>
                <a:cs typeface="Arial" panose="020B0604020202020204" pitchFamily="34" charset="0"/>
              </a:rPr>
              <a:t> Basado en ciclos iterativos, con énfasis en </a:t>
            </a:r>
            <a:r>
              <a:rPr lang="es-MX" sz="2000" b="1" dirty="0">
                <a:latin typeface="Arial" panose="020B0604020202020204" pitchFamily="34" charset="0"/>
                <a:cs typeface="Arial" panose="020B0604020202020204" pitchFamily="34" charset="0"/>
              </a:rPr>
              <a:t>análisis de riesgos</a:t>
            </a:r>
            <a:r>
              <a:rPr lang="es-MX" sz="2000" dirty="0">
                <a:latin typeface="Arial" panose="020B0604020202020204" pitchFamily="34" charset="0"/>
                <a:cs typeface="Arial" panose="020B0604020202020204" pitchFamily="34" charset="0"/>
              </a:rPr>
              <a:t>.</a:t>
            </a:r>
          </a:p>
          <a:p>
            <a:pPr>
              <a:buFont typeface="Arial" panose="020B0604020202020204" pitchFamily="34" charset="0"/>
              <a:buChar char="•"/>
            </a:pPr>
            <a:r>
              <a:rPr lang="es-MX" sz="2000" dirty="0">
                <a:latin typeface="Arial" panose="020B0604020202020204" pitchFamily="34" charset="0"/>
                <a:cs typeface="Arial" panose="020B0604020202020204" pitchFamily="34" charset="0"/>
              </a:rPr>
              <a:t> Cada ciclo incluye: planificación → análisis de riesgos → desarrollo → evaluación.</a:t>
            </a:r>
          </a:p>
          <a:p>
            <a:pPr>
              <a:buFont typeface="Arial" panose="020B0604020202020204" pitchFamily="34" charset="0"/>
              <a:buChar char="•"/>
            </a:pPr>
            <a:r>
              <a:rPr lang="es-MX" sz="2000" dirty="0">
                <a:latin typeface="Arial" panose="020B0604020202020204" pitchFamily="34" charset="0"/>
                <a:cs typeface="Arial" panose="020B0604020202020204" pitchFamily="34" charset="0"/>
              </a:rPr>
              <a:t> Se centra en gestionar la incertidumbre y los riesgos del proyecto.</a:t>
            </a:r>
          </a:p>
        </p:txBody>
      </p:sp>
    </p:spTree>
    <p:extLst>
      <p:ext uri="{BB962C8B-B14F-4D97-AF65-F5344CB8AC3E}">
        <p14:creationId xmlns:p14="http://schemas.microsoft.com/office/powerpoint/2010/main" val="1016768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B50943-47CB-F472-6989-0169219E6FC9}"/>
            </a:ext>
          </a:extLst>
        </p:cNvPr>
        <p:cNvGrpSpPr/>
        <p:nvPr/>
      </p:nvGrpSpPr>
      <p:grpSpPr>
        <a:xfrm>
          <a:off x="0" y="0"/>
          <a:ext cx="0" cy="0"/>
          <a:chOff x="0" y="0"/>
          <a:chExt cx="0" cy="0"/>
        </a:xfrm>
      </p:grpSpPr>
      <p:pic>
        <p:nvPicPr>
          <p:cNvPr id="43010" name="Picture 2" descr="Modelo de desarrollo en espiral. | Download Scientific Diagram">
            <a:extLst>
              <a:ext uri="{FF2B5EF4-FFF2-40B4-BE49-F238E27FC236}">
                <a16:creationId xmlns:a16="http://schemas.microsoft.com/office/drawing/2014/main" id="{932DD3E5-F56E-A4B7-792C-755E81C57F7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53885" y="643466"/>
            <a:ext cx="768423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253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936F35-D6AC-17C0-5D58-E2BC952A3FC5}"/>
            </a:ext>
          </a:extLst>
        </p:cNvPr>
        <p:cNvGrpSpPr/>
        <p:nvPr/>
      </p:nvGrpSpPr>
      <p:grpSpPr>
        <a:xfrm>
          <a:off x="0" y="0"/>
          <a:ext cx="0" cy="0"/>
          <a:chOff x="0" y="0"/>
          <a:chExt cx="0" cy="0"/>
        </a:xfrm>
      </p:grpSpPr>
      <p:pic>
        <p:nvPicPr>
          <p:cNvPr id="41990" name="Picture 6" descr="IEDGE - Ciclo de vida en el Desarrollo de Software, segunda parte">
            <a:extLst>
              <a:ext uri="{FF2B5EF4-FFF2-40B4-BE49-F238E27FC236}">
                <a16:creationId xmlns:a16="http://schemas.microsoft.com/office/drawing/2014/main" id="{A19FDD18-146A-85EE-55B4-2A28F30B29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80105" y="643466"/>
            <a:ext cx="5431790"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492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E723F-099A-D723-E5FF-7709164EC59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E21C061-EFC0-552D-A18C-9DB3AC35CDFE}"/>
              </a:ext>
            </a:extLst>
          </p:cNvPr>
          <p:cNvSpPr txBox="1"/>
          <p:nvPr/>
        </p:nvSpPr>
        <p:spPr>
          <a:xfrm>
            <a:off x="1184189" y="936010"/>
            <a:ext cx="9823622" cy="4985980"/>
          </a:xfrm>
          <a:prstGeom prst="rect">
            <a:avLst/>
          </a:prstGeom>
          <a:noFill/>
        </p:spPr>
        <p:txBody>
          <a:bodyPr wrap="square">
            <a:spAutoFit/>
          </a:bodyPr>
          <a:lstStyle/>
          <a:p>
            <a:pPr algn="ctr">
              <a:buNone/>
            </a:pPr>
            <a:r>
              <a:rPr lang="es-MX" sz="2400" b="1" dirty="0">
                <a:latin typeface="Arial" panose="020B0604020202020204" pitchFamily="34" charset="0"/>
                <a:cs typeface="Arial" panose="020B0604020202020204" pitchFamily="34" charset="0"/>
              </a:rPr>
              <a:t>Ejemplo: Sistema de gestión de citas médicas en un hospital universitario</a:t>
            </a:r>
          </a:p>
          <a:p>
            <a:pPr>
              <a:buNone/>
            </a:pPr>
            <a:endParaRPr lang="es-MX" b="1" dirty="0">
              <a:latin typeface="Arial" panose="020B0604020202020204" pitchFamily="34" charset="0"/>
              <a:cs typeface="Arial" panose="020B0604020202020204" pitchFamily="34" charset="0"/>
            </a:endParaRPr>
          </a:p>
          <a:p>
            <a:pPr>
              <a:buNone/>
            </a:pPr>
            <a:endParaRPr lang="es-MX" b="1" dirty="0">
              <a:latin typeface="Arial" panose="020B0604020202020204" pitchFamily="34" charset="0"/>
              <a:cs typeface="Arial" panose="020B0604020202020204" pitchFamily="34" charset="0"/>
            </a:endParaRP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 Iteración 1 (Prototipo inicial – requisitos básicos)</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Validar la idea con un prototipo sencillo.</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Actividades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Identificar requerimientos generales: registrar pacientes, programar citas.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Construir prototipo rápido con interfaz mínima.</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Reunión con médicos y administrativos para evaluar facilidad de uso.</a:t>
            </a:r>
          </a:p>
          <a:p>
            <a:pPr marL="742950" lvl="1"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Riesgo evaluado</a:t>
            </a:r>
            <a:r>
              <a:rPr lang="es-MX" dirty="0">
                <a:latin typeface="Arial" panose="020B0604020202020204" pitchFamily="34" charset="0"/>
                <a:cs typeface="Arial" panose="020B0604020202020204" pitchFamily="34" charset="0"/>
              </a:rPr>
              <a:t>: Que los usuarios finales no acepten la interfaz o sea poco intuitiva.</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Resultado</a:t>
            </a:r>
            <a:r>
              <a:rPr lang="es-MX" dirty="0">
                <a:latin typeface="Arial" panose="020B0604020202020204" pitchFamily="34" charset="0"/>
                <a:cs typeface="Arial" panose="020B0604020202020204" pitchFamily="34" charset="0"/>
              </a:rPr>
              <a:t>: Ajustes a la UI según retroalimentación.</a:t>
            </a:r>
          </a:p>
        </p:txBody>
      </p:sp>
    </p:spTree>
    <p:extLst>
      <p:ext uri="{BB962C8B-B14F-4D97-AF65-F5344CB8AC3E}">
        <p14:creationId xmlns:p14="http://schemas.microsoft.com/office/powerpoint/2010/main" val="3166216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7FF45-3A87-29E3-A03C-347F0EF6C75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21BA318-06EC-9FC4-1580-E63E9B5B43DD}"/>
              </a:ext>
            </a:extLst>
          </p:cNvPr>
          <p:cNvSpPr txBox="1"/>
          <p:nvPr/>
        </p:nvSpPr>
        <p:spPr>
          <a:xfrm>
            <a:off x="1492079" y="1184348"/>
            <a:ext cx="9826710" cy="3693319"/>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Iteración 2 (Diseño detallado y funcionalidades clave)</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Añadir funciones críticas y asegurar que la base técnica es sólida.</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Actividades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Diseñar arquitectura cliente-servidor con base de datos.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Implementar registro de pacientes y programación de citas.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Definir reglas de negocio (ejemplo: no permitir dos citas a la misma hora con el mismo médico).</a:t>
            </a:r>
          </a:p>
          <a:p>
            <a:pPr marL="742950" lvl="1"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Riesgo evaluado</a:t>
            </a:r>
            <a:r>
              <a:rPr lang="es-MX" dirty="0">
                <a:latin typeface="Arial" panose="020B0604020202020204" pitchFamily="34" charset="0"/>
                <a:cs typeface="Arial" panose="020B0604020202020204" pitchFamily="34" charset="0"/>
              </a:rPr>
              <a:t>: Posible saturación del sistema con múltiples usuarios concurrentes.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Resultado</a:t>
            </a:r>
            <a:r>
              <a:rPr lang="es-MX" dirty="0">
                <a:latin typeface="Arial" panose="020B0604020202020204" pitchFamily="34" charset="0"/>
                <a:cs typeface="Arial" panose="020B0604020202020204" pitchFamily="34" charset="0"/>
              </a:rPr>
              <a:t>: Se realizan pruebas de carga en prototipo técnico.</a:t>
            </a:r>
          </a:p>
        </p:txBody>
      </p:sp>
    </p:spTree>
    <p:extLst>
      <p:ext uri="{BB962C8B-B14F-4D97-AF65-F5344CB8AC3E}">
        <p14:creationId xmlns:p14="http://schemas.microsoft.com/office/powerpoint/2010/main" val="1644796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C625D-989B-314C-AFAE-510E505AE69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49E25AF-A634-B636-EBD4-6686DCED685A}"/>
              </a:ext>
            </a:extLst>
          </p:cNvPr>
          <p:cNvSpPr txBox="1"/>
          <p:nvPr/>
        </p:nvSpPr>
        <p:spPr>
          <a:xfrm>
            <a:off x="1136821" y="1473704"/>
            <a:ext cx="9489989" cy="3416320"/>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Iteración 3 (Expansión de funcionalidades)</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Incluir nuevas funciones solicitadas por usuarios.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Actividades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Implementar notificaciones por correo o SMS.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Agregar módulo de reportes (número de pacientes atendidos por semana).</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Integración con sistemas existentes del hospital.</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Riesgo evaluado</a:t>
            </a:r>
            <a:r>
              <a:rPr lang="es-MX" dirty="0">
                <a:latin typeface="Arial" panose="020B0604020202020204" pitchFamily="34" charset="0"/>
                <a:cs typeface="Arial" panose="020B0604020202020204" pitchFamily="34" charset="0"/>
              </a:rPr>
              <a:t>: Integración fallida con el sistema de expedientes electrónicos.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Resultado</a:t>
            </a:r>
            <a:r>
              <a:rPr lang="es-MX" dirty="0">
                <a:latin typeface="Arial" panose="020B0604020202020204" pitchFamily="34" charset="0"/>
                <a:cs typeface="Arial" panose="020B0604020202020204" pitchFamily="34" charset="0"/>
              </a:rPr>
              <a:t>: Se desarrolla interfaz de integración y se realizan pruebas de compatibilidad.</a:t>
            </a:r>
          </a:p>
        </p:txBody>
      </p:sp>
    </p:spTree>
    <p:extLst>
      <p:ext uri="{BB962C8B-B14F-4D97-AF65-F5344CB8AC3E}">
        <p14:creationId xmlns:p14="http://schemas.microsoft.com/office/powerpoint/2010/main" val="2375030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6328-9B37-42C5-4025-274BDE926CD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605A521-81EA-6245-863F-261B3F8C76C9}"/>
              </a:ext>
            </a:extLst>
          </p:cNvPr>
          <p:cNvSpPr txBox="1"/>
          <p:nvPr/>
        </p:nvSpPr>
        <p:spPr>
          <a:xfrm>
            <a:off x="1260389" y="1612205"/>
            <a:ext cx="10515600" cy="3416320"/>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Iteración 4 (Entrega operativa y mantenimiento)</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Preparar el sistema para uso real.</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Actividades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Capacitación a usuarios finales (médicos, administrativos).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Manuales de usuario y operación.</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Pruebas finales en ambiente de producción.</a:t>
            </a:r>
          </a:p>
          <a:p>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Riesgo evaluado</a:t>
            </a:r>
            <a:r>
              <a:rPr lang="es-MX" dirty="0">
                <a:latin typeface="Arial" panose="020B0604020202020204" pitchFamily="34" charset="0"/>
                <a:cs typeface="Arial" panose="020B0604020202020204" pitchFamily="34" charset="0"/>
              </a:rPr>
              <a:t>: Resistencia al cambio por parte de los usuarios.</a:t>
            </a:r>
          </a:p>
          <a:p>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Resultado</a:t>
            </a:r>
            <a:r>
              <a:rPr lang="es-MX" dirty="0">
                <a:latin typeface="Arial" panose="020B0604020202020204" pitchFamily="34" charset="0"/>
                <a:cs typeface="Arial" panose="020B0604020202020204" pitchFamily="34" charset="0"/>
              </a:rPr>
              <a:t>: Se planifica un piloto con un área del hospital antes de desplegar a toda la institución.</a:t>
            </a:r>
          </a:p>
        </p:txBody>
      </p:sp>
    </p:spTree>
    <p:extLst>
      <p:ext uri="{BB962C8B-B14F-4D97-AF65-F5344CB8AC3E}">
        <p14:creationId xmlns:p14="http://schemas.microsoft.com/office/powerpoint/2010/main" val="207601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9295-FF08-BD1B-423F-54AD9005F64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3AEDB32-FDA5-72A8-8D3C-FC69155CB82E}"/>
              </a:ext>
            </a:extLst>
          </p:cNvPr>
          <p:cNvSpPr txBox="1"/>
          <p:nvPr/>
        </p:nvSpPr>
        <p:spPr>
          <a:xfrm>
            <a:off x="2060490" y="2334566"/>
            <a:ext cx="8850526" cy="123110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buNone/>
            </a:pPr>
            <a:r>
              <a:rPr lang="es-MX" sz="2000" b="1" dirty="0">
                <a:latin typeface="Arial" panose="020B0604020202020204" pitchFamily="34" charset="0"/>
                <a:cs typeface="Arial" panose="020B0604020202020204" pitchFamily="34" charset="0"/>
              </a:rPr>
              <a:t>Beneficio clave del modelo en espiral en este ejemplo</a:t>
            </a:r>
          </a:p>
          <a:p>
            <a:pPr>
              <a:buNone/>
            </a:pPr>
            <a:endParaRPr lang="es-MX"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El hospital pudo </a:t>
            </a:r>
            <a:r>
              <a:rPr lang="es-MX" b="1" dirty="0">
                <a:latin typeface="Arial" panose="020B0604020202020204" pitchFamily="34" charset="0"/>
                <a:cs typeface="Arial" panose="020B0604020202020204" pitchFamily="34" charset="0"/>
              </a:rPr>
              <a:t>reducir riesgos progresivamente</a:t>
            </a:r>
            <a:r>
              <a:rPr lang="es-MX" dirty="0">
                <a:latin typeface="Arial" panose="020B0604020202020204" pitchFamily="34" charset="0"/>
                <a:cs typeface="Arial" panose="020B0604020202020204" pitchFamily="34" charset="0"/>
              </a:rPr>
              <a:t>, ajustando requerimientos, arquitectura y usabilidad en cada iteración, sin comprometer la calidad final.</a:t>
            </a:r>
          </a:p>
        </p:txBody>
      </p:sp>
    </p:spTree>
    <p:extLst>
      <p:ext uri="{BB962C8B-B14F-4D97-AF65-F5344CB8AC3E}">
        <p14:creationId xmlns:p14="http://schemas.microsoft.com/office/powerpoint/2010/main" val="2454891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52CD3-D646-0636-F6E2-640201661AD9}"/>
            </a:ext>
          </a:extLst>
        </p:cNvPr>
        <p:cNvGrpSpPr/>
        <p:nvPr/>
      </p:nvGrpSpPr>
      <p:grpSpPr>
        <a:xfrm>
          <a:off x="0" y="0"/>
          <a:ext cx="0" cy="0"/>
          <a:chOff x="0" y="0"/>
          <a:chExt cx="0" cy="0"/>
        </a:xfrm>
      </p:grpSpPr>
      <p:sp>
        <p:nvSpPr>
          <p:cNvPr id="12" name="CuadroTexto 11">
            <a:extLst>
              <a:ext uri="{FF2B5EF4-FFF2-40B4-BE49-F238E27FC236}">
                <a16:creationId xmlns:a16="http://schemas.microsoft.com/office/drawing/2014/main" id="{BF9C90F2-CA93-B090-B208-29726C142E89}"/>
              </a:ext>
            </a:extLst>
          </p:cNvPr>
          <p:cNvSpPr txBox="1"/>
          <p:nvPr/>
        </p:nvSpPr>
        <p:spPr>
          <a:xfrm>
            <a:off x="1463040" y="1815096"/>
            <a:ext cx="7863840" cy="3693319"/>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Ventajas del modelo en Espiral:</a:t>
            </a:r>
          </a:p>
          <a:p>
            <a:pPr>
              <a:buNone/>
            </a:pPr>
            <a:endParaRPr lang="es-MX" b="1"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 Enfoque preventivo: identifica y reduce riesgos desde el inicio.</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Flexible ante cambios en requerimientos.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Involucra al cliente en cada ciclo.</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Permite construir versiones parciales y evaluarlas.</a:t>
            </a:r>
          </a:p>
          <a:p>
            <a:pPr>
              <a:buNone/>
            </a:pPr>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Desventajas del modelo en Espiral:</a:t>
            </a:r>
          </a:p>
          <a:p>
            <a:pPr>
              <a:buNone/>
            </a:pPr>
            <a:endParaRPr lang="es-MX" b="1"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 Complejo de gestionar.</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Costoso por la alta inversión en gestión de riesgos.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Difícil de aplicar en proyectos pequeños.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Requiere personal con experiencia en gestión de riesgos.</a:t>
            </a:r>
          </a:p>
        </p:txBody>
      </p:sp>
    </p:spTree>
    <p:extLst>
      <p:ext uri="{BB962C8B-B14F-4D97-AF65-F5344CB8AC3E}">
        <p14:creationId xmlns:p14="http://schemas.microsoft.com/office/powerpoint/2010/main" val="2027190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820708-57D9-3773-8ECE-2DD6C33FC0C7}"/>
            </a:ext>
          </a:extLst>
        </p:cNvPr>
        <p:cNvGrpSpPr/>
        <p:nvPr/>
      </p:nvGrpSpPr>
      <p:grpSpPr>
        <a:xfrm>
          <a:off x="0" y="0"/>
          <a:ext cx="0" cy="0"/>
          <a:chOff x="0" y="0"/>
          <a:chExt cx="0" cy="0"/>
        </a:xfrm>
      </p:grpSpPr>
      <p:sp useBgFill="1">
        <p:nvSpPr>
          <p:cNvPr id="51207" name="Rectangle 51206">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DAC83E11-DD9B-EA5F-EDDE-819CD54F2D74}"/>
              </a:ext>
            </a:extLst>
          </p:cNvPr>
          <p:cNvSpPr txBox="1"/>
          <p:nvPr/>
        </p:nvSpPr>
        <p:spPr>
          <a:xfrm>
            <a:off x="838200" y="751541"/>
            <a:ext cx="10515600" cy="106322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b="1" kern="1200" dirty="0" err="1">
                <a:solidFill>
                  <a:schemeClr val="tx1"/>
                </a:solidFill>
                <a:latin typeface="+mj-lt"/>
                <a:ea typeface="+mj-ea"/>
                <a:cs typeface="+mj-cs"/>
              </a:rPr>
              <a:t>Modelo</a:t>
            </a:r>
            <a:r>
              <a:rPr lang="en-US" sz="5200" b="1" kern="1200" dirty="0">
                <a:solidFill>
                  <a:schemeClr val="tx1"/>
                </a:solidFill>
                <a:latin typeface="+mj-lt"/>
                <a:ea typeface="+mj-ea"/>
                <a:cs typeface="+mj-cs"/>
              </a:rPr>
              <a:t> Incremental</a:t>
            </a:r>
          </a:p>
        </p:txBody>
      </p:sp>
      <p:pic>
        <p:nvPicPr>
          <p:cNvPr id="51202" name="Picture 2" descr="Modelo de proceso incremental Fuente:... | Download Scientific Diagram">
            <a:extLst>
              <a:ext uri="{FF2B5EF4-FFF2-40B4-BE49-F238E27FC236}">
                <a16:creationId xmlns:a16="http://schemas.microsoft.com/office/drawing/2014/main" id="{41D2803F-0685-D6E3-8B1C-7C4977A96F7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8200" y="2020631"/>
            <a:ext cx="10512547" cy="4099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622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A6454-45BD-95F4-434D-BBE27C33290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EF3A196-063B-E370-58FC-6E29705CA01B}"/>
              </a:ext>
            </a:extLst>
          </p:cNvPr>
          <p:cNvSpPr txBox="1"/>
          <p:nvPr/>
        </p:nvSpPr>
        <p:spPr>
          <a:xfrm>
            <a:off x="1602128" y="1985645"/>
            <a:ext cx="9180172" cy="2031325"/>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Características del modelo INCREMENTAL:</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El sistema se desarrolla en </a:t>
            </a:r>
            <a:r>
              <a:rPr lang="es-MX" b="1" dirty="0">
                <a:latin typeface="Arial" panose="020B0604020202020204" pitchFamily="34" charset="0"/>
                <a:cs typeface="Arial" panose="020B0604020202020204" pitchFamily="34" charset="0"/>
              </a:rPr>
              <a:t>partes o incrementos</a:t>
            </a:r>
            <a:r>
              <a:rPr lang="es-MX" dirty="0">
                <a:latin typeface="Arial" panose="020B0604020202020204" pitchFamily="34" charset="0"/>
                <a:cs typeface="Arial" panose="020B0604020202020204" pitchFamily="34" charset="0"/>
              </a:rPr>
              <a:t> (cada uno agrega funcionalidad).</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highlight>
                  <a:srgbClr val="00FFFF"/>
                </a:highlight>
                <a:latin typeface="Arial" panose="020B0604020202020204" pitchFamily="34" charset="0"/>
                <a:cs typeface="Arial" panose="020B0604020202020204" pitchFamily="34" charset="0"/>
              </a:rPr>
              <a:t> Cada incremento se construye, prueba y entrega al usuario.</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Integra características </a:t>
            </a:r>
            <a:r>
              <a:rPr lang="es-MX" b="1" dirty="0">
                <a:latin typeface="Arial" panose="020B0604020202020204" pitchFamily="34" charset="0"/>
                <a:cs typeface="Arial" panose="020B0604020202020204" pitchFamily="34" charset="0"/>
              </a:rPr>
              <a:t>de cascada</a:t>
            </a:r>
            <a:r>
              <a:rPr lang="es-MX" dirty="0">
                <a:latin typeface="Arial" panose="020B0604020202020204" pitchFamily="34" charset="0"/>
                <a:cs typeface="Arial" panose="020B0604020202020204" pitchFamily="34" charset="0"/>
              </a:rPr>
              <a:t> (en cada incremento) pero con entregas parciales.</a:t>
            </a:r>
          </a:p>
        </p:txBody>
      </p:sp>
    </p:spTree>
    <p:extLst>
      <p:ext uri="{BB962C8B-B14F-4D97-AF65-F5344CB8AC3E}">
        <p14:creationId xmlns:p14="http://schemas.microsoft.com/office/powerpoint/2010/main" val="3655124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9A950-4728-D12F-44DE-368928A1183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50DC080-0AD1-BD7D-C254-603808E9E1C2}"/>
              </a:ext>
            </a:extLst>
          </p:cNvPr>
          <p:cNvSpPr txBox="1"/>
          <p:nvPr/>
        </p:nvSpPr>
        <p:spPr>
          <a:xfrm>
            <a:off x="1936922" y="1924217"/>
            <a:ext cx="9060592" cy="1661993"/>
          </a:xfrm>
          <a:prstGeom prst="rect">
            <a:avLst/>
          </a:prstGeom>
          <a:noFill/>
        </p:spPr>
        <p:txBody>
          <a:bodyPr wrap="square">
            <a:spAutoFit/>
          </a:bodyPr>
          <a:lstStyle/>
          <a:p>
            <a:pPr algn="ctr"/>
            <a:r>
              <a:rPr lang="es-MX" sz="2400" b="1" dirty="0">
                <a:latin typeface="Arial" panose="020B0604020202020204" pitchFamily="34" charset="0"/>
                <a:cs typeface="Arial" panose="020B0604020202020204" pitchFamily="34" charset="0"/>
              </a:rPr>
              <a:t>Ejemplo</a:t>
            </a:r>
            <a:r>
              <a:rPr lang="es-MX" sz="2400" dirty="0">
                <a:latin typeface="Arial" panose="020B0604020202020204" pitchFamily="34" charset="0"/>
                <a:cs typeface="Arial" panose="020B0604020202020204" pitchFamily="34" charset="0"/>
              </a:rPr>
              <a:t> — </a:t>
            </a:r>
            <a:r>
              <a:rPr lang="es-MX" sz="2400" b="1" dirty="0">
                <a:latin typeface="Arial" panose="020B0604020202020204" pitchFamily="34" charset="0"/>
                <a:cs typeface="Arial" panose="020B0604020202020204" pitchFamily="34" charset="0"/>
              </a:rPr>
              <a:t>Sistema de gestión de citas médicas en un hospital universitario</a:t>
            </a:r>
          </a:p>
          <a:p>
            <a:endParaRPr lang="es-MX" b="1" dirty="0">
              <a:latin typeface="Arial" panose="020B0604020202020204" pitchFamily="34" charset="0"/>
              <a:cs typeface="Arial" panose="020B0604020202020204" pitchFamily="34" charset="0"/>
            </a:endParaRPr>
          </a:p>
          <a:p>
            <a:r>
              <a:rPr lang="es-MX" dirty="0">
                <a:latin typeface="Arial" panose="020B0604020202020204" pitchFamily="34" charset="0"/>
                <a:cs typeface="Arial" panose="020B0604020202020204" pitchFamily="34" charset="0"/>
              </a:rPr>
              <a:t> — pero ahora aplicado al </a:t>
            </a:r>
            <a:r>
              <a:rPr lang="es-MX" b="1" dirty="0">
                <a:latin typeface="Arial" panose="020B0604020202020204" pitchFamily="34" charset="0"/>
                <a:cs typeface="Arial" panose="020B0604020202020204" pitchFamily="34" charset="0"/>
              </a:rPr>
              <a:t>modelo incremental</a:t>
            </a:r>
            <a:r>
              <a:rPr lang="es-MX" dirty="0">
                <a:latin typeface="Arial" panose="020B0604020202020204" pitchFamily="34" charset="0"/>
                <a:cs typeface="Arial" panose="020B0604020202020204" pitchFamily="34" charset="0"/>
              </a:rPr>
              <a:t>, que consiste en construir el sistema </a:t>
            </a:r>
            <a:r>
              <a:rPr lang="es-MX" b="1" dirty="0">
                <a:latin typeface="Arial" panose="020B0604020202020204" pitchFamily="34" charset="0"/>
                <a:cs typeface="Arial" panose="020B0604020202020204" pitchFamily="34" charset="0"/>
              </a:rPr>
              <a:t>por módulos o incrementos funcionales</a:t>
            </a:r>
            <a:r>
              <a:rPr lang="es-MX" dirty="0">
                <a:latin typeface="Arial" panose="020B0604020202020204" pitchFamily="34" charset="0"/>
                <a:cs typeface="Arial" panose="020B0604020202020204" pitchFamily="34" charset="0"/>
              </a:rPr>
              <a:t>, cada uno entregable y utilizable.</a:t>
            </a:r>
          </a:p>
        </p:txBody>
      </p:sp>
    </p:spTree>
    <p:extLst>
      <p:ext uri="{BB962C8B-B14F-4D97-AF65-F5344CB8AC3E}">
        <p14:creationId xmlns:p14="http://schemas.microsoft.com/office/powerpoint/2010/main" val="34690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D546D-3E2A-1E5E-88F5-942775B8DA6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6B92A12-0359-724B-DEA3-4A573373EC81}"/>
              </a:ext>
            </a:extLst>
          </p:cNvPr>
          <p:cNvSpPr txBox="1"/>
          <p:nvPr/>
        </p:nvSpPr>
        <p:spPr>
          <a:xfrm>
            <a:off x="1706366" y="1397675"/>
            <a:ext cx="8652975" cy="2862322"/>
          </a:xfrm>
          <a:prstGeom prst="rect">
            <a:avLst/>
          </a:prstGeom>
          <a:noFill/>
        </p:spPr>
        <p:txBody>
          <a:bodyPr wrap="square">
            <a:spAutoFit/>
          </a:bodyPr>
          <a:lstStyle/>
          <a:p>
            <a:pPr>
              <a:buNone/>
            </a:pPr>
            <a:r>
              <a:rPr lang="es-MX" b="1" dirty="0"/>
              <a:t>🔹 Incremento 1: Núcleo básico</a:t>
            </a:r>
          </a:p>
          <a:p>
            <a:pPr>
              <a:buNone/>
            </a:pPr>
            <a:endParaRPr lang="es-MX" b="1" dirty="0"/>
          </a:p>
          <a:p>
            <a:pPr>
              <a:buFont typeface="Arial" panose="020B0604020202020204" pitchFamily="34" charset="0"/>
              <a:buChar char="•"/>
            </a:pPr>
            <a:r>
              <a:rPr lang="es-MX" b="1" dirty="0"/>
              <a:t> Objetivo</a:t>
            </a:r>
            <a:r>
              <a:rPr lang="es-MX" dirty="0"/>
              <a:t>: Tener un sistema mínimo pero funcional.</a:t>
            </a:r>
          </a:p>
          <a:p>
            <a:pPr>
              <a:buFont typeface="Arial" panose="020B0604020202020204" pitchFamily="34" charset="0"/>
              <a:buChar char="•"/>
            </a:pPr>
            <a:endParaRPr lang="es-MX" b="1" dirty="0"/>
          </a:p>
          <a:p>
            <a:pPr>
              <a:buFont typeface="Arial" panose="020B0604020202020204" pitchFamily="34" charset="0"/>
              <a:buChar char="•"/>
            </a:pPr>
            <a:r>
              <a:rPr lang="es-MX" b="1" dirty="0"/>
              <a:t> Funciones entregadas</a:t>
            </a:r>
            <a:r>
              <a:rPr lang="es-MX" dirty="0"/>
              <a:t>:</a:t>
            </a:r>
          </a:p>
          <a:p>
            <a:pPr marL="742950" lvl="1" indent="-285750">
              <a:buFont typeface="Arial" panose="020B0604020202020204" pitchFamily="34" charset="0"/>
              <a:buChar char="•"/>
            </a:pPr>
            <a:r>
              <a:rPr lang="es-MX" dirty="0"/>
              <a:t>Registro de pacientes (alta, edición, baja).</a:t>
            </a:r>
          </a:p>
          <a:p>
            <a:pPr marL="742950" lvl="1" indent="-285750">
              <a:buFont typeface="Arial" panose="020B0604020202020204" pitchFamily="34" charset="0"/>
              <a:buChar char="•"/>
            </a:pPr>
            <a:r>
              <a:rPr lang="es-MX" dirty="0"/>
              <a:t>Agenda básica de citas.</a:t>
            </a:r>
          </a:p>
          <a:p>
            <a:pPr>
              <a:buFont typeface="Arial" panose="020B0604020202020204" pitchFamily="34" charset="0"/>
              <a:buChar char="•"/>
            </a:pPr>
            <a:endParaRPr lang="es-MX" b="1" dirty="0"/>
          </a:p>
          <a:p>
            <a:pPr>
              <a:buFont typeface="Arial" panose="020B0604020202020204" pitchFamily="34" charset="0"/>
              <a:buChar char="•"/>
            </a:pPr>
            <a:r>
              <a:rPr lang="es-MX" b="1" dirty="0"/>
              <a:t> Entrega</a:t>
            </a:r>
            <a:r>
              <a:rPr lang="es-MX" dirty="0"/>
              <a:t>: El hospital ya puede usar el sistema para registrar pacientes y programar consultas de forma simple.</a:t>
            </a:r>
          </a:p>
        </p:txBody>
      </p:sp>
    </p:spTree>
    <p:extLst>
      <p:ext uri="{BB962C8B-B14F-4D97-AF65-F5344CB8AC3E}">
        <p14:creationId xmlns:p14="http://schemas.microsoft.com/office/powerpoint/2010/main" val="31776508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20B2-8BBE-919A-32F1-7678A15CD6B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B0FCAD0-E10E-A28A-A7DA-F10A1B3A9B49}"/>
              </a:ext>
            </a:extLst>
          </p:cNvPr>
          <p:cNvSpPr txBox="1"/>
          <p:nvPr/>
        </p:nvSpPr>
        <p:spPr>
          <a:xfrm>
            <a:off x="1851948" y="2046238"/>
            <a:ext cx="8958805" cy="2862322"/>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Incremento 2: Reglas de negocio</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Mejorar el control de la agenda.</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Funciones entregadas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Validación de horarios (no solapar citas para un mismo médico).</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Control de cupos por día.</a:t>
            </a:r>
          </a:p>
          <a:p>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Entrega</a:t>
            </a:r>
            <a:r>
              <a:rPr lang="es-MX" dirty="0">
                <a:latin typeface="Arial" panose="020B0604020202020204" pitchFamily="34" charset="0"/>
                <a:cs typeface="Arial" panose="020B0604020202020204" pitchFamily="34" charset="0"/>
              </a:rPr>
              <a:t>: Los usuarios administrativos ya no pueden cometer errores al asignar horarios.</a:t>
            </a:r>
          </a:p>
        </p:txBody>
      </p:sp>
    </p:spTree>
    <p:extLst>
      <p:ext uri="{BB962C8B-B14F-4D97-AF65-F5344CB8AC3E}">
        <p14:creationId xmlns:p14="http://schemas.microsoft.com/office/powerpoint/2010/main" val="1294649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103E7-0330-5AE5-E71E-518FE7FC740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142576D-C328-D719-4C5E-0B82A1CA70F4}"/>
              </a:ext>
            </a:extLst>
          </p:cNvPr>
          <p:cNvSpPr txBox="1"/>
          <p:nvPr/>
        </p:nvSpPr>
        <p:spPr>
          <a:xfrm>
            <a:off x="1863522" y="1997839"/>
            <a:ext cx="8958805" cy="2862322"/>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 Incremento 3: Notificaciones y recordatorios</a:t>
            </a:r>
          </a:p>
          <a:p>
            <a:endParaRPr lang="es-MX" b="1"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Objetivo</a:t>
            </a:r>
            <a:r>
              <a:rPr lang="es-MX" dirty="0">
                <a:latin typeface="Arial" panose="020B0604020202020204" pitchFamily="34" charset="0"/>
                <a:cs typeface="Arial" panose="020B0604020202020204" pitchFamily="34" charset="0"/>
              </a:rPr>
              <a:t>: Aumentar la eficiencia en la comunicación.</a:t>
            </a:r>
          </a:p>
          <a:p>
            <a:endParaRPr lang="es-MX" b="1"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Funciones entregadas</a:t>
            </a:r>
            <a:r>
              <a:rPr lang="es-MX" dirty="0">
                <a:latin typeface="Arial" panose="020B0604020202020204" pitchFamily="34" charset="0"/>
                <a:cs typeface="Arial" panose="020B0604020202020204" pitchFamily="34" charset="0"/>
              </a:rPr>
              <a:t>:</a:t>
            </a:r>
          </a:p>
          <a:p>
            <a:pPr lvl="1"/>
            <a:r>
              <a:rPr lang="es-MX" dirty="0">
                <a:latin typeface="Arial" panose="020B0604020202020204" pitchFamily="34" charset="0"/>
                <a:cs typeface="Arial" panose="020B0604020202020204" pitchFamily="34" charset="0"/>
              </a:rPr>
              <a:t>Envío de recordatorios por correo electrónico o SMS.</a:t>
            </a:r>
          </a:p>
          <a:p>
            <a:pPr lvl="1"/>
            <a:r>
              <a:rPr lang="es-MX" dirty="0">
                <a:latin typeface="Arial" panose="020B0604020202020204" pitchFamily="34" charset="0"/>
                <a:cs typeface="Arial" panose="020B0604020202020204" pitchFamily="34" charset="0"/>
              </a:rPr>
              <a:t>Alertas automáticas para confirmar o cancelar citas.</a:t>
            </a:r>
          </a:p>
          <a:p>
            <a:endParaRPr lang="es-MX" b="1"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Entrega</a:t>
            </a:r>
            <a:r>
              <a:rPr lang="es-MX" dirty="0">
                <a:latin typeface="Arial" panose="020B0604020202020204" pitchFamily="34" charset="0"/>
                <a:cs typeface="Arial" panose="020B0604020202020204" pitchFamily="34" charset="0"/>
              </a:rPr>
              <a:t>: Los pacientes reciben confirmaciones y se reducen ausencias.</a:t>
            </a:r>
          </a:p>
          <a:p>
            <a:pPr>
              <a:buNone/>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2425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A97B8-113D-3D1C-6386-FE1F1AEC6E8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4961D81-F085-E594-D699-631336DDB011}"/>
              </a:ext>
            </a:extLst>
          </p:cNvPr>
          <p:cNvSpPr txBox="1"/>
          <p:nvPr/>
        </p:nvSpPr>
        <p:spPr>
          <a:xfrm>
            <a:off x="1568369" y="1617975"/>
            <a:ext cx="9497028" cy="2585323"/>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Incremento 4: Reportes y estadísticas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Brindar información a la administración del hospital.</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Funciones entregadas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Reportes de pacientes atendidos por semana/mes.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Estadísticas por médico, área o tipo de consulta.</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Entrega</a:t>
            </a:r>
            <a:r>
              <a:rPr lang="es-MX" dirty="0">
                <a:latin typeface="Arial" panose="020B0604020202020204" pitchFamily="34" charset="0"/>
                <a:cs typeface="Arial" panose="020B0604020202020204" pitchFamily="34" charset="0"/>
              </a:rPr>
              <a:t>: Los directivos pueden tomar decisiones basadas en datos.</a:t>
            </a:r>
          </a:p>
        </p:txBody>
      </p:sp>
    </p:spTree>
    <p:extLst>
      <p:ext uri="{BB962C8B-B14F-4D97-AF65-F5344CB8AC3E}">
        <p14:creationId xmlns:p14="http://schemas.microsoft.com/office/powerpoint/2010/main" val="4033856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4CCD-1420-5390-D219-BF1FB4732C5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76A5C72-FE1B-88E7-E3A8-559B9D6F6019}"/>
              </a:ext>
            </a:extLst>
          </p:cNvPr>
          <p:cNvSpPr txBox="1"/>
          <p:nvPr/>
        </p:nvSpPr>
        <p:spPr>
          <a:xfrm>
            <a:off x="1313726" y="1571676"/>
            <a:ext cx="9346558" cy="2585323"/>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Incremento 5: Integración con otros sistemas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Objetivo</a:t>
            </a:r>
            <a:r>
              <a:rPr lang="es-MX" dirty="0">
                <a:latin typeface="Arial" panose="020B0604020202020204" pitchFamily="34" charset="0"/>
                <a:cs typeface="Arial" panose="020B0604020202020204" pitchFamily="34" charset="0"/>
              </a:rPr>
              <a:t>: Ampliar la interoperabilidad.</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Funciones entregadas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Integración con el sistema de expedientes electrónicos.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Exportación de datos a otros sistemas hospitalarios.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Entrega</a:t>
            </a:r>
            <a:r>
              <a:rPr lang="es-MX" dirty="0">
                <a:latin typeface="Arial" panose="020B0604020202020204" pitchFamily="34" charset="0"/>
                <a:cs typeface="Arial" panose="020B0604020202020204" pitchFamily="34" charset="0"/>
              </a:rPr>
              <a:t>: El sistema ya forma parte del ecosistema digital del hospital.</a:t>
            </a:r>
          </a:p>
        </p:txBody>
      </p:sp>
    </p:spTree>
    <p:extLst>
      <p:ext uri="{BB962C8B-B14F-4D97-AF65-F5344CB8AC3E}">
        <p14:creationId xmlns:p14="http://schemas.microsoft.com/office/powerpoint/2010/main" val="1433966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E61E-B955-8523-F788-57FC6A7B9C3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EEB0F70-B4FC-8AA7-94C8-67C09B1CDE31}"/>
              </a:ext>
            </a:extLst>
          </p:cNvPr>
          <p:cNvSpPr txBox="1"/>
          <p:nvPr/>
        </p:nvSpPr>
        <p:spPr>
          <a:xfrm>
            <a:off x="1406323" y="1525377"/>
            <a:ext cx="9473879" cy="2862322"/>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Beneficio clave del modelo incremental en este ejemplo</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Los usuarios </a:t>
            </a:r>
            <a:r>
              <a:rPr lang="es-MX" b="1" dirty="0">
                <a:latin typeface="Arial" panose="020B0604020202020204" pitchFamily="34" charset="0"/>
                <a:cs typeface="Arial" panose="020B0604020202020204" pitchFamily="34" charset="0"/>
              </a:rPr>
              <a:t>reciben valor desde el primer incremento</a:t>
            </a:r>
            <a:r>
              <a:rPr lang="es-MX" dirty="0">
                <a:latin typeface="Arial" panose="020B0604020202020204" pitchFamily="34" charset="0"/>
                <a:cs typeface="Arial" panose="020B0604020202020204" pitchFamily="34" charset="0"/>
              </a:rPr>
              <a:t> (pueden registrar pacientes y citas básicas).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El sistema crece de forma </a:t>
            </a:r>
            <a:r>
              <a:rPr lang="es-MX" b="1" dirty="0">
                <a:latin typeface="Arial" panose="020B0604020202020204" pitchFamily="34" charset="0"/>
                <a:cs typeface="Arial" panose="020B0604020202020204" pitchFamily="34" charset="0"/>
              </a:rPr>
              <a:t>modular y controlada</a:t>
            </a:r>
            <a:r>
              <a:rPr lang="es-MX" dirty="0">
                <a:latin typeface="Arial" panose="020B0604020202020204" pitchFamily="34" charset="0"/>
                <a:cs typeface="Arial" panose="020B0604020202020204" pitchFamily="34" charset="0"/>
              </a:rPr>
              <a:t>, sin esperar a que todo el software esté terminado.</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Permite </a:t>
            </a:r>
            <a:r>
              <a:rPr lang="es-MX" b="1" dirty="0">
                <a:latin typeface="Arial" panose="020B0604020202020204" pitchFamily="34" charset="0"/>
                <a:cs typeface="Arial" panose="020B0604020202020204" pitchFamily="34" charset="0"/>
              </a:rPr>
              <a:t>ajustar prioridades</a:t>
            </a:r>
            <a:r>
              <a:rPr lang="es-MX" dirty="0">
                <a:latin typeface="Arial" panose="020B0604020202020204" pitchFamily="34" charset="0"/>
                <a:cs typeface="Arial" panose="020B0604020202020204" pitchFamily="34" charset="0"/>
              </a:rPr>
              <a:t>: si los usuarios consideran que los reportes son más urgentes, ese incremento puede adelantarse.</a:t>
            </a:r>
          </a:p>
        </p:txBody>
      </p:sp>
    </p:spTree>
    <p:extLst>
      <p:ext uri="{BB962C8B-B14F-4D97-AF65-F5344CB8AC3E}">
        <p14:creationId xmlns:p14="http://schemas.microsoft.com/office/powerpoint/2010/main" val="3255050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20FAC-DDF5-89DA-1F62-E7D5DEC2355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1A5CBB7-B526-36D0-431C-5BC40797B4BF}"/>
              </a:ext>
            </a:extLst>
          </p:cNvPr>
          <p:cNvSpPr txBox="1"/>
          <p:nvPr/>
        </p:nvSpPr>
        <p:spPr>
          <a:xfrm>
            <a:off x="1259228" y="1443841"/>
            <a:ext cx="9954872" cy="3693319"/>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Ventajas del modelo INCREMENTAL:</a:t>
            </a:r>
          </a:p>
          <a:p>
            <a:pPr>
              <a:buNone/>
            </a:pPr>
            <a:endParaRPr lang="es-MX" b="1"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 Entregas rápidas de partes funcionales del software.</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Se obtiene retroalimentación temprana de usuarios.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Reduce riesgo al no esperar al final para validar.</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Mejor manejo de cambios, porque se aplican en incrementos posteriores.</a:t>
            </a:r>
          </a:p>
          <a:p>
            <a:pPr>
              <a:buNone/>
            </a:pPr>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Desventajas del modelo INCREMENTAL:</a:t>
            </a:r>
          </a:p>
          <a:p>
            <a:pPr>
              <a:buNone/>
            </a:pPr>
            <a:endParaRPr lang="es-MX" b="1"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 Requiere una buena planificación inicial de los incrementos.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Integración puede volverse compleja.</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Si los incrementos no se gestionan bien, el producto final puede carecer de coherencia.</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Puede generar presión por entregar funcionalidad incompleta.</a:t>
            </a:r>
          </a:p>
        </p:txBody>
      </p:sp>
    </p:spTree>
    <p:extLst>
      <p:ext uri="{BB962C8B-B14F-4D97-AF65-F5344CB8AC3E}">
        <p14:creationId xmlns:p14="http://schemas.microsoft.com/office/powerpoint/2010/main" val="1511351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02E5-FF14-3179-6D70-FAB7800A9B80}"/>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7CD8ED7-AA0F-8517-3161-36CABE02AD9F}"/>
              </a:ext>
            </a:extLst>
          </p:cNvPr>
          <p:cNvSpPr txBox="1"/>
          <p:nvPr/>
        </p:nvSpPr>
        <p:spPr>
          <a:xfrm>
            <a:off x="2336427" y="3528084"/>
            <a:ext cx="6098240" cy="1477328"/>
          </a:xfrm>
          <a:prstGeom prst="rect">
            <a:avLst/>
          </a:prstGeom>
          <a:noFill/>
        </p:spPr>
        <p:txBody>
          <a:bodyPr wrap="square">
            <a:spAutoFit/>
          </a:bodyPr>
          <a:lstStyle/>
          <a:p>
            <a:pPr>
              <a:buNone/>
            </a:pPr>
            <a:r>
              <a:rPr lang="es-MX" dirty="0">
                <a:latin typeface="Arial" panose="020B0604020202020204" pitchFamily="34" charset="0"/>
                <a:cs typeface="Arial" panose="020B0604020202020204" pitchFamily="34" charset="0"/>
              </a:rPr>
              <a:t>En la siguiente tabla, se ve que </a:t>
            </a:r>
            <a:r>
              <a:rPr lang="es-MX" b="1" dirty="0">
                <a:latin typeface="Arial" panose="020B0604020202020204" pitchFamily="34" charset="0"/>
                <a:cs typeface="Arial" panose="020B0604020202020204" pitchFamily="34" charset="0"/>
              </a:rPr>
              <a:t>ambos modelos son iterativos</a:t>
            </a:r>
            <a:r>
              <a:rPr lang="es-MX" dirty="0">
                <a:latin typeface="Arial" panose="020B0604020202020204" pitchFamily="34" charset="0"/>
                <a:cs typeface="Arial" panose="020B0604020202020204" pitchFamily="34" charset="0"/>
              </a:rPr>
              <a:t>, pero:</a:t>
            </a:r>
          </a:p>
          <a:p>
            <a:pPr>
              <a:buNone/>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El </a:t>
            </a:r>
            <a:r>
              <a:rPr lang="es-MX" b="1" dirty="0">
                <a:latin typeface="Arial" panose="020B0604020202020204" pitchFamily="34" charset="0"/>
                <a:cs typeface="Arial" panose="020B0604020202020204" pitchFamily="34" charset="0"/>
              </a:rPr>
              <a:t>espiral</a:t>
            </a:r>
            <a:r>
              <a:rPr lang="es-MX" dirty="0">
                <a:latin typeface="Arial" panose="020B0604020202020204" pitchFamily="34" charset="0"/>
                <a:cs typeface="Arial" panose="020B0604020202020204" pitchFamily="34" charset="0"/>
              </a:rPr>
              <a:t> prioriza el </a:t>
            </a:r>
            <a:r>
              <a:rPr lang="es-MX" b="1" dirty="0">
                <a:latin typeface="Arial" panose="020B0604020202020204" pitchFamily="34" charset="0"/>
                <a:cs typeface="Arial" panose="020B0604020202020204" pitchFamily="34" charset="0"/>
              </a:rPr>
              <a:t>análisis de riesgos</a:t>
            </a:r>
            <a:r>
              <a:rPr lang="es-MX" dirty="0">
                <a:latin typeface="Arial" panose="020B0604020202020204" pitchFamily="34" charset="0"/>
                <a:cs typeface="Arial" panose="020B0604020202020204" pitchFamily="34" charset="0"/>
              </a:rPr>
              <a:t>.</a:t>
            </a:r>
          </a:p>
          <a:p>
            <a:pPr>
              <a:buFont typeface="Arial" panose="020B0604020202020204" pitchFamily="34" charset="0"/>
              <a:buChar char="•"/>
            </a:pPr>
            <a:r>
              <a:rPr lang="es-MX" dirty="0">
                <a:latin typeface="Arial" panose="020B0604020202020204" pitchFamily="34" charset="0"/>
                <a:cs typeface="Arial" panose="020B0604020202020204" pitchFamily="34" charset="0"/>
              </a:rPr>
              <a:t> El </a:t>
            </a:r>
            <a:r>
              <a:rPr lang="es-MX" b="1" dirty="0">
                <a:latin typeface="Arial" panose="020B0604020202020204" pitchFamily="34" charset="0"/>
                <a:cs typeface="Arial" panose="020B0604020202020204" pitchFamily="34" charset="0"/>
              </a:rPr>
              <a:t>incremental</a:t>
            </a:r>
            <a:r>
              <a:rPr lang="es-MX" dirty="0">
                <a:latin typeface="Arial" panose="020B0604020202020204" pitchFamily="34" charset="0"/>
                <a:cs typeface="Arial" panose="020B0604020202020204" pitchFamily="34" charset="0"/>
              </a:rPr>
              <a:t> prioriza la </a:t>
            </a:r>
            <a:r>
              <a:rPr lang="es-MX" b="1" dirty="0">
                <a:latin typeface="Arial" panose="020B0604020202020204" pitchFamily="34" charset="0"/>
                <a:cs typeface="Arial" panose="020B0604020202020204" pitchFamily="34" charset="0"/>
              </a:rPr>
              <a:t>entrega funcional temprana</a:t>
            </a:r>
            <a:r>
              <a:rPr lang="es-MX" dirty="0">
                <a:latin typeface="Arial" panose="020B0604020202020204" pitchFamily="34" charset="0"/>
                <a:cs typeface="Arial" panose="020B0604020202020204" pitchFamily="34" charset="0"/>
              </a:rPr>
              <a:t>.</a:t>
            </a:r>
          </a:p>
        </p:txBody>
      </p:sp>
      <p:sp>
        <p:nvSpPr>
          <p:cNvPr id="5" name="Rectángulo 4">
            <a:extLst>
              <a:ext uri="{FF2B5EF4-FFF2-40B4-BE49-F238E27FC236}">
                <a16:creationId xmlns:a16="http://schemas.microsoft.com/office/drawing/2014/main" id="{F05FF4F6-645B-0EE7-F17A-4DC651265179}"/>
              </a:ext>
            </a:extLst>
          </p:cNvPr>
          <p:cNvSpPr/>
          <p:nvPr/>
        </p:nvSpPr>
        <p:spPr>
          <a:xfrm>
            <a:off x="1642063" y="1676417"/>
            <a:ext cx="9149941" cy="769441"/>
          </a:xfrm>
          <a:prstGeom prst="rect">
            <a:avLst/>
          </a:prstGeom>
          <a:noFill/>
        </p:spPr>
        <p:txBody>
          <a:bodyPr wrap="none" lIns="91440" tIns="45720" rIns="91440" bIns="45720">
            <a:spAutoFit/>
          </a:bodyPr>
          <a:lstStyle/>
          <a:p>
            <a:pPr algn="ctr"/>
            <a:r>
              <a:rPr lang="es-MX" sz="4400" b="0" cap="none" spc="0" dirty="0">
                <a:ln w="0"/>
                <a:solidFill>
                  <a:schemeClr val="tx1"/>
                </a:solidFill>
                <a:effectLst>
                  <a:outerShdw blurRad="38100" dist="19050" dir="2700000" algn="tl" rotWithShape="0">
                    <a:schemeClr val="dk1">
                      <a:alpha val="40000"/>
                    </a:schemeClr>
                  </a:outerShdw>
                </a:effectLst>
              </a:rPr>
              <a:t>Comparación: Espiral vs Incremental</a:t>
            </a:r>
          </a:p>
        </p:txBody>
      </p:sp>
    </p:spTree>
    <p:extLst>
      <p:ext uri="{BB962C8B-B14F-4D97-AF65-F5344CB8AC3E}">
        <p14:creationId xmlns:p14="http://schemas.microsoft.com/office/powerpoint/2010/main" val="39137998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00E8CB-5A8C-F5C0-E029-A109734B112D}"/>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ADFCD80-1D20-E76A-0735-49915BDFF900}"/>
              </a:ext>
            </a:extLst>
          </p:cNvPr>
          <p:cNvGraphicFramePr>
            <a:graphicFrameLocks noGrp="1"/>
          </p:cNvGraphicFramePr>
          <p:nvPr>
            <p:extLst>
              <p:ext uri="{D42A27DB-BD31-4B8C-83A1-F6EECF244321}">
                <p14:modId xmlns:p14="http://schemas.microsoft.com/office/powerpoint/2010/main" val="1877857746"/>
              </p:ext>
            </p:extLst>
          </p:nvPr>
        </p:nvGraphicFramePr>
        <p:xfrm>
          <a:off x="853141" y="857872"/>
          <a:ext cx="10485718" cy="5581628"/>
        </p:xfrm>
        <a:graphic>
          <a:graphicData uri="http://schemas.openxmlformats.org/drawingml/2006/table">
            <a:tbl>
              <a:tblPr/>
              <a:tblGrid>
                <a:gridCol w="2234026">
                  <a:extLst>
                    <a:ext uri="{9D8B030D-6E8A-4147-A177-3AD203B41FA5}">
                      <a16:colId xmlns:a16="http://schemas.microsoft.com/office/drawing/2014/main" val="4273756242"/>
                    </a:ext>
                  </a:extLst>
                </a:gridCol>
                <a:gridCol w="4473594">
                  <a:extLst>
                    <a:ext uri="{9D8B030D-6E8A-4147-A177-3AD203B41FA5}">
                      <a16:colId xmlns:a16="http://schemas.microsoft.com/office/drawing/2014/main" val="3933545408"/>
                    </a:ext>
                  </a:extLst>
                </a:gridCol>
                <a:gridCol w="3778098">
                  <a:extLst>
                    <a:ext uri="{9D8B030D-6E8A-4147-A177-3AD203B41FA5}">
                      <a16:colId xmlns:a16="http://schemas.microsoft.com/office/drawing/2014/main" val="3042236759"/>
                    </a:ext>
                  </a:extLst>
                </a:gridCol>
              </a:tblGrid>
              <a:tr h="262449">
                <a:tc>
                  <a:txBody>
                    <a:bodyPr/>
                    <a:lstStyle/>
                    <a:p>
                      <a:pPr algn="l" fontAlgn="ctr">
                        <a:buNone/>
                      </a:pPr>
                      <a:r>
                        <a:rPr lang="es-MX" sz="1400" b="1" i="0" u="none" strike="noStrike">
                          <a:effectLst/>
                          <a:latin typeface="Arial" panose="020B0604020202020204" pitchFamily="34" charset="0"/>
                        </a:rPr>
                        <a:t>Aspecto</a:t>
                      </a:r>
                      <a:endParaRPr lang="es-MX" sz="14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a:effectLst/>
                          <a:latin typeface="Arial" panose="020B0604020202020204" pitchFamily="34" charset="0"/>
                        </a:rPr>
                        <a:t>Modelo en Espiral</a:t>
                      </a:r>
                      <a:endParaRPr lang="es-MX" sz="14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dirty="0">
                          <a:effectLst/>
                          <a:latin typeface="Arial" panose="020B0604020202020204" pitchFamily="34" charset="0"/>
                        </a:rPr>
                        <a:t>Modelo Incremental</a:t>
                      </a:r>
                      <a:endParaRPr lang="es-MX" sz="1400" b="0" i="0" u="none" strike="noStrike" dirty="0">
                        <a:effectLst/>
                        <a:latin typeface="Arial" panose="020B0604020202020204" pitchFamily="34" charset="0"/>
                      </a:endParaRPr>
                    </a:p>
                  </a:txBody>
                  <a:tcPr marL="59647" marR="59647" marT="29824" marB="29824"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1200667648"/>
                  </a:ext>
                </a:extLst>
              </a:tr>
              <a:tr h="620333">
                <a:tc>
                  <a:txBody>
                    <a:bodyPr/>
                    <a:lstStyle/>
                    <a:p>
                      <a:pPr algn="l" fontAlgn="ctr">
                        <a:buNone/>
                      </a:pPr>
                      <a:r>
                        <a:rPr lang="es-MX" sz="1200" b="1" i="0" u="none" strike="noStrike">
                          <a:effectLst/>
                          <a:latin typeface="Arial" panose="020B0604020202020204" pitchFamily="34" charset="0"/>
                        </a:rPr>
                        <a:t>Enfoque principal</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Iteraciones que combinan desarrollo con </a:t>
                      </a:r>
                      <a:r>
                        <a:rPr lang="es-MX" sz="1200" b="1" i="0" u="none" strike="noStrike">
                          <a:effectLst/>
                          <a:latin typeface="Arial" panose="020B0604020202020204" pitchFamily="34" charset="0"/>
                        </a:rPr>
                        <a:t>análisis de riesgos</a:t>
                      </a:r>
                      <a:r>
                        <a:rPr lang="es-MX" sz="1200" b="0" i="0" u="none" strike="noStrike">
                          <a:effectLst/>
                          <a:latin typeface="Arial" panose="020B0604020202020204" pitchFamily="34" charset="0"/>
                        </a:rPr>
                        <a:t> en cada vuelta.</a:t>
                      </a:r>
                    </a:p>
                  </a:txBody>
                  <a:tcPr marL="59647" marR="59647" marT="29824" marB="2982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Desarrollo en </a:t>
                      </a:r>
                      <a:r>
                        <a:rPr lang="es-MX" sz="1200" b="1" i="0" u="none" strike="noStrike">
                          <a:effectLst/>
                          <a:latin typeface="Arial" panose="020B0604020202020204" pitchFamily="34" charset="0"/>
                        </a:rPr>
                        <a:t>bloques funcionales (módulos)</a:t>
                      </a:r>
                      <a:r>
                        <a:rPr lang="es-MX" sz="1200" b="0" i="0" u="none" strike="noStrike">
                          <a:effectLst/>
                          <a:latin typeface="Arial" panose="020B0604020202020204" pitchFamily="34" charset="0"/>
                        </a:rPr>
                        <a:t> que se entregan de forma progresiva.</a:t>
                      </a:r>
                    </a:p>
                  </a:txBody>
                  <a:tcPr marL="59647" marR="59647" marT="29824" marB="29824" anchor="ctr">
                    <a:lnL>
                      <a:noFill/>
                    </a:lnL>
                    <a:lnR>
                      <a:noFill/>
                    </a:lnR>
                    <a:lnT>
                      <a:noFill/>
                    </a:lnT>
                    <a:lnB>
                      <a:noFill/>
                    </a:lnB>
                    <a:noFill/>
                  </a:tcPr>
                </a:tc>
                <a:extLst>
                  <a:ext uri="{0D108BD9-81ED-4DB2-BD59-A6C34878D82A}">
                    <a16:rowId xmlns:a16="http://schemas.microsoft.com/office/drawing/2014/main" val="2172431108"/>
                  </a:ext>
                </a:extLst>
              </a:tr>
              <a:tr h="620333">
                <a:tc>
                  <a:txBody>
                    <a:bodyPr/>
                    <a:lstStyle/>
                    <a:p>
                      <a:pPr algn="l" fontAlgn="ctr">
                        <a:buNone/>
                      </a:pPr>
                      <a:r>
                        <a:rPr lang="es-MX" sz="1200" b="1" i="0" u="none" strike="noStrike">
                          <a:effectLst/>
                          <a:latin typeface="Arial" panose="020B0604020202020204" pitchFamily="34" charset="0"/>
                        </a:rPr>
                        <a:t>Gestión de riesgos</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Fundamental: cada ciclo inicia con la identificación y análisis de riesgos (ej. usabilidad, integración, aceptación).</a:t>
                      </a: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Menos formal: se controlan riesgos a través de entregas tempranas, pero no hay análisis exhaustivo en cada paso.</a:t>
                      </a:r>
                    </a:p>
                  </a:txBody>
                  <a:tcPr marL="59647" marR="59647" marT="29824" marB="2982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738815545"/>
                  </a:ext>
                </a:extLst>
              </a:tr>
              <a:tr h="620333">
                <a:tc>
                  <a:txBody>
                    <a:bodyPr/>
                    <a:lstStyle/>
                    <a:p>
                      <a:pPr algn="l" fontAlgn="ctr">
                        <a:buNone/>
                      </a:pPr>
                      <a:r>
                        <a:rPr lang="es-MX" sz="1200" b="1" i="0" u="none" strike="noStrike">
                          <a:effectLst/>
                          <a:latin typeface="Arial" panose="020B0604020202020204" pitchFamily="34" charset="0"/>
                        </a:rPr>
                        <a:t>Entregables por iteración</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Prototipos y versiones mejoradas del sistema, validadas con usuarios y ajustadas según riesgos.</a:t>
                      </a:r>
                    </a:p>
                  </a:txBody>
                  <a:tcPr marL="59647" marR="59647" marT="29824" marB="29824" anchor="ctr">
                    <a:lnL>
                      <a:noFill/>
                    </a:lnL>
                    <a:lnR>
                      <a:noFill/>
                    </a:lnR>
                    <a:lnT>
                      <a:noFill/>
                    </a:lnT>
                    <a:lnB>
                      <a:noFill/>
                    </a:lnB>
                    <a:noFill/>
                  </a:tcPr>
                </a:tc>
                <a:tc>
                  <a:txBody>
                    <a:bodyPr/>
                    <a:lstStyle/>
                    <a:p>
                      <a:pPr algn="l" fontAlgn="ctr">
                        <a:buNone/>
                      </a:pPr>
                      <a:r>
                        <a:rPr lang="es-MX" sz="1200" b="0" i="0" u="none" strike="noStrike" dirty="0">
                          <a:effectLst/>
                          <a:latin typeface="Arial" panose="020B0604020202020204" pitchFamily="34" charset="0"/>
                        </a:rPr>
                        <a:t>Funcionalidades completas y utilizables (ej. módulo de pacientes, módulo de notificaciones).</a:t>
                      </a:r>
                    </a:p>
                  </a:txBody>
                  <a:tcPr marL="59647" marR="59647" marT="29824" marB="29824" anchor="ctr">
                    <a:lnL>
                      <a:noFill/>
                    </a:lnL>
                    <a:lnR>
                      <a:noFill/>
                    </a:lnR>
                    <a:lnT>
                      <a:noFill/>
                    </a:lnT>
                    <a:lnB>
                      <a:noFill/>
                    </a:lnB>
                    <a:noFill/>
                  </a:tcPr>
                </a:tc>
                <a:extLst>
                  <a:ext uri="{0D108BD9-81ED-4DB2-BD59-A6C34878D82A}">
                    <a16:rowId xmlns:a16="http://schemas.microsoft.com/office/drawing/2014/main" val="3059301140"/>
                  </a:ext>
                </a:extLst>
              </a:tr>
              <a:tr h="441391">
                <a:tc>
                  <a:txBody>
                    <a:bodyPr/>
                    <a:lstStyle/>
                    <a:p>
                      <a:pPr algn="l" fontAlgn="ctr">
                        <a:buNone/>
                      </a:pPr>
                      <a:r>
                        <a:rPr lang="es-MX" sz="1200" b="1" i="0" u="none" strike="noStrike">
                          <a:effectLst/>
                          <a:latin typeface="Arial" panose="020B0604020202020204" pitchFamily="34" charset="0"/>
                        </a:rPr>
                        <a:t>Ejemplo Iteración / Incremento 1</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Prototipo de agenda básica para validar interfaz con médicos.</a:t>
                      </a: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Registro de pacientes + agenda básica de citas (ya usable).</a:t>
                      </a:r>
                    </a:p>
                  </a:txBody>
                  <a:tcPr marL="59647" marR="59647" marT="29824" marB="2982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968947354"/>
                  </a:ext>
                </a:extLst>
              </a:tr>
              <a:tr h="620333">
                <a:tc>
                  <a:txBody>
                    <a:bodyPr/>
                    <a:lstStyle/>
                    <a:p>
                      <a:pPr algn="l" fontAlgn="ctr">
                        <a:buNone/>
                      </a:pPr>
                      <a:r>
                        <a:rPr lang="es-MX" sz="1200" b="1" i="0" u="none" strike="noStrike">
                          <a:effectLst/>
                          <a:latin typeface="Arial" panose="020B0604020202020204" pitchFamily="34" charset="0"/>
                        </a:rPr>
                        <a:t>Ejemplo Iteración / Incremento 2</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Diseño técnico y pruebas de carga para asegurar que el sistema soporte múltiples usuarios.</a:t>
                      </a:r>
                    </a:p>
                  </a:txBody>
                  <a:tcPr marL="59647" marR="59647" marT="29824" marB="29824" anchor="ctr">
                    <a:lnL>
                      <a:noFill/>
                    </a:lnL>
                    <a:lnR>
                      <a:noFill/>
                    </a:lnR>
                    <a:lnT>
                      <a:noFill/>
                    </a:lnT>
                    <a:lnB>
                      <a:noFill/>
                    </a:lnB>
                    <a:noFill/>
                  </a:tcPr>
                </a:tc>
                <a:tc>
                  <a:txBody>
                    <a:bodyPr/>
                    <a:lstStyle/>
                    <a:p>
                      <a:pPr algn="l" fontAlgn="ctr">
                        <a:buNone/>
                      </a:pPr>
                      <a:r>
                        <a:rPr lang="es-MX" sz="1200" b="0" i="0" u="none" strike="noStrike" dirty="0">
                          <a:effectLst/>
                          <a:latin typeface="Arial" panose="020B0604020202020204" pitchFamily="34" charset="0"/>
                        </a:rPr>
                        <a:t>Reglas de negocio: validación de horarios y control de cupos.</a:t>
                      </a:r>
                    </a:p>
                  </a:txBody>
                  <a:tcPr marL="59647" marR="59647" marT="29824" marB="29824" anchor="ctr">
                    <a:lnL>
                      <a:noFill/>
                    </a:lnL>
                    <a:lnR>
                      <a:noFill/>
                    </a:lnR>
                    <a:lnT>
                      <a:noFill/>
                    </a:lnT>
                    <a:lnB>
                      <a:noFill/>
                    </a:lnB>
                    <a:noFill/>
                  </a:tcPr>
                </a:tc>
                <a:extLst>
                  <a:ext uri="{0D108BD9-81ED-4DB2-BD59-A6C34878D82A}">
                    <a16:rowId xmlns:a16="http://schemas.microsoft.com/office/drawing/2014/main" val="3762768996"/>
                  </a:ext>
                </a:extLst>
              </a:tr>
              <a:tr h="620333">
                <a:tc>
                  <a:txBody>
                    <a:bodyPr/>
                    <a:lstStyle/>
                    <a:p>
                      <a:pPr algn="l" fontAlgn="ctr">
                        <a:buNone/>
                      </a:pPr>
                      <a:r>
                        <a:rPr lang="es-MX" sz="1200" b="1" i="0" u="none" strike="noStrike">
                          <a:effectLst/>
                          <a:latin typeface="Arial" panose="020B0604020202020204" pitchFamily="34" charset="0"/>
                        </a:rPr>
                        <a:t>Ejemplo Iteración / Incremento 3</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Agregar integración con sistema de expedientes electrónicos y evaluar riesgos de compatibilidad.</a:t>
                      </a: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Notificaciones por correo/SMS para pacientes.</a:t>
                      </a:r>
                    </a:p>
                  </a:txBody>
                  <a:tcPr marL="59647" marR="59647" marT="29824" marB="2982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512839224"/>
                  </a:ext>
                </a:extLst>
              </a:tr>
              <a:tr h="441391">
                <a:tc>
                  <a:txBody>
                    <a:bodyPr/>
                    <a:lstStyle/>
                    <a:p>
                      <a:pPr algn="l" fontAlgn="ctr">
                        <a:buNone/>
                      </a:pPr>
                      <a:r>
                        <a:rPr lang="es-MX" sz="1200" b="1" i="0" u="none" strike="noStrike">
                          <a:effectLst/>
                          <a:latin typeface="Arial" panose="020B0604020202020204" pitchFamily="34" charset="0"/>
                        </a:rPr>
                        <a:t>Participación del usuario</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Muy intensa: retroalimentación constante para identificar riesgos y ajustar diseño.</a:t>
                      </a:r>
                    </a:p>
                  </a:txBody>
                  <a:tcPr marL="59647" marR="59647" marT="29824" marB="29824" anchor="ctr">
                    <a:lnL>
                      <a:noFill/>
                    </a:lnL>
                    <a:lnR>
                      <a:noFill/>
                    </a:lnR>
                    <a:lnT>
                      <a:noFill/>
                    </a:lnT>
                    <a:lnB>
                      <a:noFill/>
                    </a:lnB>
                    <a:noFill/>
                  </a:tcPr>
                </a:tc>
                <a:tc>
                  <a:txBody>
                    <a:bodyPr/>
                    <a:lstStyle/>
                    <a:p>
                      <a:pPr algn="l" fontAlgn="ctr">
                        <a:buNone/>
                      </a:pPr>
                      <a:r>
                        <a:rPr lang="es-MX" sz="1200" b="0" i="0" u="none" strike="noStrike" dirty="0">
                          <a:effectLst/>
                          <a:latin typeface="Arial" panose="020B0604020202020204" pitchFamily="34" charset="0"/>
                        </a:rPr>
                        <a:t>Intensa también, pero enfocada en probar y usar los módulos entregados.</a:t>
                      </a:r>
                    </a:p>
                  </a:txBody>
                  <a:tcPr marL="59647" marR="59647" marT="29824" marB="29824" anchor="ctr">
                    <a:lnL>
                      <a:noFill/>
                    </a:lnL>
                    <a:lnR>
                      <a:noFill/>
                    </a:lnR>
                    <a:lnT>
                      <a:noFill/>
                    </a:lnT>
                    <a:lnB>
                      <a:noFill/>
                    </a:lnB>
                    <a:noFill/>
                  </a:tcPr>
                </a:tc>
                <a:extLst>
                  <a:ext uri="{0D108BD9-81ED-4DB2-BD59-A6C34878D82A}">
                    <a16:rowId xmlns:a16="http://schemas.microsoft.com/office/drawing/2014/main" val="898378660"/>
                  </a:ext>
                </a:extLst>
              </a:tr>
              <a:tr h="441391">
                <a:tc>
                  <a:txBody>
                    <a:bodyPr/>
                    <a:lstStyle/>
                    <a:p>
                      <a:pPr algn="l" fontAlgn="ctr">
                        <a:buNone/>
                      </a:pPr>
                      <a:r>
                        <a:rPr lang="es-MX" sz="1200" b="1" i="0" u="none" strike="noStrike">
                          <a:effectLst/>
                          <a:latin typeface="Arial" panose="020B0604020202020204" pitchFamily="34" charset="0"/>
                        </a:rPr>
                        <a:t>Flexibilidad ante cambios</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Alta: los riesgos y requerimientos pueden redefinirse en cada ciclo.</a:t>
                      </a: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Media: cambios son más fáciles que en cascada, pero requieren replanificar entregas.</a:t>
                      </a:r>
                    </a:p>
                  </a:txBody>
                  <a:tcPr marL="59647" marR="59647" marT="29824" marB="2982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648334985"/>
                  </a:ext>
                </a:extLst>
              </a:tr>
              <a:tr h="441391">
                <a:tc>
                  <a:txBody>
                    <a:bodyPr/>
                    <a:lstStyle/>
                    <a:p>
                      <a:pPr algn="l" fontAlgn="ctr">
                        <a:buNone/>
                      </a:pPr>
                      <a:r>
                        <a:rPr lang="es-MX" sz="1200" b="1" i="0" u="none" strike="noStrike">
                          <a:effectLst/>
                          <a:latin typeface="Arial" panose="020B0604020202020204" pitchFamily="34" charset="0"/>
                        </a:rPr>
                        <a:t>Beneficio principal</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Reduce incertidumbre y evita fallos catastróficos al abordar riesgos temprano.</a:t>
                      </a:r>
                    </a:p>
                  </a:txBody>
                  <a:tcPr marL="59647" marR="59647" marT="29824" marB="29824" anchor="ctr">
                    <a:lnL>
                      <a:noFill/>
                    </a:lnL>
                    <a:lnR>
                      <a:noFill/>
                    </a:lnR>
                    <a:lnT>
                      <a:noFill/>
                    </a:lnT>
                    <a:lnB>
                      <a:noFill/>
                    </a:lnB>
                    <a:noFill/>
                  </a:tcPr>
                </a:tc>
                <a:tc>
                  <a:txBody>
                    <a:bodyPr/>
                    <a:lstStyle/>
                    <a:p>
                      <a:pPr algn="l" fontAlgn="ctr">
                        <a:buNone/>
                      </a:pPr>
                      <a:r>
                        <a:rPr lang="es-MX" sz="1200" b="0" i="0" u="none" strike="noStrike" dirty="0">
                          <a:effectLst/>
                          <a:latin typeface="Arial" panose="020B0604020202020204" pitchFamily="34" charset="0"/>
                        </a:rPr>
                        <a:t>Permite tener un sistema </a:t>
                      </a:r>
                      <a:r>
                        <a:rPr lang="es-MX" sz="1200" b="1" i="0" u="none" strike="noStrike" dirty="0">
                          <a:effectLst/>
                          <a:latin typeface="Arial" panose="020B0604020202020204" pitchFamily="34" charset="0"/>
                        </a:rPr>
                        <a:t>usable desde el inicio</a:t>
                      </a:r>
                      <a:r>
                        <a:rPr lang="es-MX" sz="1200" b="0" i="0" u="none" strike="noStrike" dirty="0">
                          <a:effectLst/>
                          <a:latin typeface="Arial" panose="020B0604020202020204" pitchFamily="34" charset="0"/>
                        </a:rPr>
                        <a:t>, aunque incompleto.</a:t>
                      </a:r>
                    </a:p>
                  </a:txBody>
                  <a:tcPr marL="59647" marR="59647" marT="29824" marB="29824" anchor="ctr">
                    <a:lnL>
                      <a:noFill/>
                    </a:lnL>
                    <a:lnR>
                      <a:noFill/>
                    </a:lnR>
                    <a:lnT>
                      <a:noFill/>
                    </a:lnT>
                    <a:lnB>
                      <a:noFill/>
                    </a:lnB>
                    <a:noFill/>
                  </a:tcPr>
                </a:tc>
                <a:extLst>
                  <a:ext uri="{0D108BD9-81ED-4DB2-BD59-A6C34878D82A}">
                    <a16:rowId xmlns:a16="http://schemas.microsoft.com/office/drawing/2014/main" val="2716908168"/>
                  </a:ext>
                </a:extLst>
              </a:tr>
              <a:tr h="441391">
                <a:tc>
                  <a:txBody>
                    <a:bodyPr/>
                    <a:lstStyle/>
                    <a:p>
                      <a:pPr algn="l" fontAlgn="ctr">
                        <a:buNone/>
                      </a:pPr>
                      <a:r>
                        <a:rPr lang="es-MX" sz="1200" b="1" i="0" u="none" strike="noStrike">
                          <a:effectLst/>
                          <a:latin typeface="Arial" panose="020B0604020202020204" pitchFamily="34" charset="0"/>
                        </a:rPr>
                        <a:t>Adecuado para…</a:t>
                      </a:r>
                      <a:endParaRPr lang="es-MX" sz="1200" b="0" i="0" u="none" strike="noStrike">
                        <a:effectLst/>
                        <a:latin typeface="Arial" panose="020B0604020202020204" pitchFamily="34" charset="0"/>
                      </a:endParaRP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Proyectos grandes, complejos o con alta incertidumbre técnica o de negocio.</a:t>
                      </a:r>
                    </a:p>
                  </a:txBody>
                  <a:tcPr marL="59647" marR="59647" marT="29824" marB="2982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Proyectos que necesitan entregas tempranas de valor y una construcción modular.</a:t>
                      </a:r>
                    </a:p>
                  </a:txBody>
                  <a:tcPr marL="59647" marR="59647" marT="29824" marB="2982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479043710"/>
                  </a:ext>
                </a:extLst>
              </a:tr>
            </a:tbl>
          </a:graphicData>
        </a:graphic>
      </p:graphicFrame>
    </p:spTree>
    <p:extLst>
      <p:ext uri="{BB962C8B-B14F-4D97-AF65-F5344CB8AC3E}">
        <p14:creationId xmlns:p14="http://schemas.microsoft.com/office/powerpoint/2010/main" val="2675513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CE0C4-517E-33C4-12B4-B0D8C636C49F}"/>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C609070-1E37-9BB2-C7E9-B378950C3BC5}"/>
              </a:ext>
            </a:extLst>
          </p:cNvPr>
          <p:cNvSpPr txBox="1"/>
          <p:nvPr/>
        </p:nvSpPr>
        <p:spPr>
          <a:xfrm>
            <a:off x="838200" y="751541"/>
            <a:ext cx="10515600" cy="106322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200" b="1" kern="1200" dirty="0" err="1">
                <a:solidFill>
                  <a:schemeClr val="tx1"/>
                </a:solidFill>
                <a:latin typeface="+mj-lt"/>
                <a:ea typeface="+mj-ea"/>
                <a:cs typeface="+mj-cs"/>
              </a:rPr>
              <a:t>Modelo</a:t>
            </a:r>
            <a:r>
              <a:rPr lang="en-US" sz="5200" b="1" kern="1200" dirty="0">
                <a:solidFill>
                  <a:schemeClr val="tx1"/>
                </a:solidFill>
                <a:latin typeface="+mj-lt"/>
                <a:ea typeface="+mj-ea"/>
                <a:cs typeface="+mj-cs"/>
              </a:rPr>
              <a:t> de </a:t>
            </a:r>
            <a:r>
              <a:rPr lang="en-US" sz="5200" b="1" kern="1200" dirty="0" err="1">
                <a:solidFill>
                  <a:schemeClr val="tx1"/>
                </a:solidFill>
                <a:latin typeface="+mj-lt"/>
                <a:ea typeface="+mj-ea"/>
                <a:cs typeface="+mj-cs"/>
              </a:rPr>
              <a:t>prototipos</a:t>
            </a:r>
            <a:r>
              <a:rPr lang="en-US" sz="5200" b="1" kern="1200" dirty="0">
                <a:solidFill>
                  <a:schemeClr val="tx1"/>
                </a:solidFill>
                <a:latin typeface="+mj-lt"/>
                <a:ea typeface="+mj-ea"/>
                <a:cs typeface="+mj-cs"/>
              </a:rPr>
              <a:t> o </a:t>
            </a:r>
            <a:r>
              <a:rPr lang="en-US" sz="5200" b="1" kern="1200" dirty="0" err="1">
                <a:solidFill>
                  <a:schemeClr val="tx1"/>
                </a:solidFill>
                <a:latin typeface="+mj-lt"/>
                <a:ea typeface="+mj-ea"/>
                <a:cs typeface="+mj-cs"/>
              </a:rPr>
              <a:t>evolutivo</a:t>
            </a:r>
            <a:endParaRPr lang="en-US" sz="5200" b="1" kern="1200" dirty="0">
              <a:solidFill>
                <a:schemeClr val="tx1"/>
              </a:solidFill>
              <a:latin typeface="+mj-lt"/>
              <a:ea typeface="+mj-ea"/>
              <a:cs typeface="+mj-cs"/>
            </a:endParaRPr>
          </a:p>
        </p:txBody>
      </p:sp>
      <p:pic>
        <p:nvPicPr>
          <p:cNvPr id="66562" name="Picture 2" descr="Modelo de prototipos en ingeniería de software">
            <a:extLst>
              <a:ext uri="{FF2B5EF4-FFF2-40B4-BE49-F238E27FC236}">
                <a16:creationId xmlns:a16="http://schemas.microsoft.com/office/drawing/2014/main" id="{93B32B56-EB0E-4538-04EA-1B8F3591F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8326" y="2088029"/>
            <a:ext cx="4862979" cy="3747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067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4ABFB-47E8-5AC1-2B53-B26805E84DD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7A4C260-F013-F476-A93E-7C2CBEA4DC63}"/>
              </a:ext>
            </a:extLst>
          </p:cNvPr>
          <p:cNvSpPr txBox="1"/>
          <p:nvPr/>
        </p:nvSpPr>
        <p:spPr>
          <a:xfrm>
            <a:off x="1559859" y="2421394"/>
            <a:ext cx="8740588" cy="1200329"/>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El </a:t>
            </a:r>
            <a:r>
              <a:rPr lang="es-MX" b="1" dirty="0">
                <a:latin typeface="Arial" panose="020B0604020202020204" pitchFamily="34" charset="0"/>
                <a:cs typeface="Arial" panose="020B0604020202020204" pitchFamily="34" charset="0"/>
              </a:rPr>
              <a:t>modelo de prototipos</a:t>
            </a:r>
            <a:r>
              <a:rPr lang="es-MX" dirty="0">
                <a:latin typeface="Arial" panose="020B0604020202020204" pitchFamily="34" charset="0"/>
                <a:cs typeface="Arial" panose="020B0604020202020204" pitchFamily="34" charset="0"/>
              </a:rPr>
              <a:t> (también llamado </a:t>
            </a:r>
            <a:r>
              <a:rPr lang="es-MX" b="1" dirty="0">
                <a:latin typeface="Arial" panose="020B0604020202020204" pitchFamily="34" charset="0"/>
                <a:cs typeface="Arial" panose="020B0604020202020204" pitchFamily="34" charset="0"/>
              </a:rPr>
              <a:t>modelo evolutivo</a:t>
            </a:r>
            <a:r>
              <a:rPr lang="es-MX" dirty="0">
                <a:latin typeface="Arial" panose="020B0604020202020204" pitchFamily="34" charset="0"/>
                <a:cs typeface="Arial" panose="020B0604020202020204" pitchFamily="34" charset="0"/>
              </a:rPr>
              <a:t>) es un enfoque de desarrollo de software donde se construyen </a:t>
            </a:r>
            <a:r>
              <a:rPr lang="es-MX" b="1" dirty="0">
                <a:latin typeface="Arial" panose="020B0604020202020204" pitchFamily="34" charset="0"/>
                <a:cs typeface="Arial" panose="020B0604020202020204" pitchFamily="34" charset="0"/>
              </a:rPr>
              <a:t>versiones preliminares del sistema (prototipos)</a:t>
            </a:r>
            <a:r>
              <a:rPr lang="es-MX" dirty="0">
                <a:latin typeface="Arial" panose="020B0604020202020204" pitchFamily="34" charset="0"/>
                <a:cs typeface="Arial" panose="020B0604020202020204" pitchFamily="34" charset="0"/>
              </a:rPr>
              <a:t> para que los usuarios las prueben y den retroalimentación antes de llegar al producto final.</a:t>
            </a:r>
          </a:p>
        </p:txBody>
      </p:sp>
    </p:spTree>
    <p:extLst>
      <p:ext uri="{BB962C8B-B14F-4D97-AF65-F5344CB8AC3E}">
        <p14:creationId xmlns:p14="http://schemas.microsoft.com/office/powerpoint/2010/main" val="2690996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FE4D9-918F-0991-D635-DEF9C679F93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4056196-FDA0-1CC6-C0DB-381D4E60746E}"/>
              </a:ext>
            </a:extLst>
          </p:cNvPr>
          <p:cNvSpPr txBox="1"/>
          <p:nvPr/>
        </p:nvSpPr>
        <p:spPr>
          <a:xfrm>
            <a:off x="1411941" y="1313400"/>
            <a:ext cx="9399494" cy="4278094"/>
          </a:xfrm>
          <a:prstGeom prst="rect">
            <a:avLst/>
          </a:prstGeom>
          <a:noFill/>
        </p:spPr>
        <p:txBody>
          <a:bodyPr wrap="square">
            <a:spAutoFit/>
          </a:bodyPr>
          <a:lstStyle/>
          <a:p>
            <a:pPr>
              <a:buNone/>
            </a:pPr>
            <a:r>
              <a:rPr lang="es-MX" sz="2000" b="1" dirty="0">
                <a:latin typeface="Arial" panose="020B0604020202020204" pitchFamily="34" charset="0"/>
                <a:cs typeface="Arial" panose="020B0604020202020204" pitchFamily="34" charset="0"/>
              </a:rPr>
              <a:t>Características del modelo de prototipos / evolutivo</a:t>
            </a:r>
          </a:p>
          <a:p>
            <a:pPr>
              <a:buNone/>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Iterativo y flexible</a:t>
            </a:r>
            <a:r>
              <a:rPr lang="es-MX" dirty="0">
                <a:latin typeface="Arial" panose="020B0604020202020204" pitchFamily="34" charset="0"/>
                <a:cs typeface="Arial" panose="020B0604020202020204" pitchFamily="34" charset="0"/>
              </a:rPr>
              <a:t>: el sistema se construye en ciclos de prueba y mejora.</a:t>
            </a:r>
          </a:p>
          <a:p>
            <a:pPr>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Centrado en el usuario</a:t>
            </a:r>
            <a:r>
              <a:rPr lang="es-MX" dirty="0">
                <a:latin typeface="Arial" panose="020B0604020202020204" pitchFamily="34" charset="0"/>
                <a:cs typeface="Arial" panose="020B0604020202020204" pitchFamily="34" charset="0"/>
              </a:rPr>
              <a:t>: la retroalimentación del cliente es clave para guiar el desarrollo.</a:t>
            </a:r>
          </a:p>
          <a:p>
            <a:pPr>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Prototipos como herramienta de comunicación</a:t>
            </a:r>
            <a:r>
              <a:rPr lang="es-MX" dirty="0">
                <a:latin typeface="Arial" panose="020B0604020202020204" pitchFamily="34" charset="0"/>
                <a:cs typeface="Arial" panose="020B0604020202020204" pitchFamily="34" charset="0"/>
              </a:rPr>
              <a:t>: sirven para validar requerimientos, usabilidad y diseño.</a:t>
            </a:r>
          </a:p>
          <a:p>
            <a:pPr>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No siempre funcionales al 100%</a:t>
            </a:r>
            <a:r>
              <a:rPr lang="es-MX" dirty="0">
                <a:latin typeface="Arial" panose="020B0604020202020204" pitchFamily="34" charset="0"/>
                <a:cs typeface="Arial" panose="020B0604020202020204" pitchFamily="34" charset="0"/>
              </a:rPr>
              <a:t>: un prototipo puede ser de baja fidelidad (solo pantallas, diagramas) o de alta fidelidad (con código real).</a:t>
            </a:r>
          </a:p>
          <a:p>
            <a:pPr>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El prototipo se reemplaza o evoluciona</a:t>
            </a:r>
            <a:r>
              <a:rPr lang="es-MX" dirty="0">
                <a:latin typeface="Arial" panose="020B0604020202020204" pitchFamily="34" charset="0"/>
                <a:cs typeface="Arial" panose="020B0604020202020204" pitchFamily="34" charset="0"/>
              </a:rPr>
              <a:t>: algunos prototipos se descartan, otros se refinan hasta convertirse en el producto final.</a:t>
            </a:r>
          </a:p>
        </p:txBody>
      </p:sp>
    </p:spTree>
    <p:extLst>
      <p:ext uri="{BB962C8B-B14F-4D97-AF65-F5344CB8AC3E}">
        <p14:creationId xmlns:p14="http://schemas.microsoft.com/office/powerpoint/2010/main" val="1324577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D1B0-E33B-FBE7-98F9-59F77630C81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3BD40F2-1AAB-CA42-D795-5C15C8E2644E}"/>
              </a:ext>
            </a:extLst>
          </p:cNvPr>
          <p:cNvSpPr txBox="1"/>
          <p:nvPr/>
        </p:nvSpPr>
        <p:spPr>
          <a:xfrm>
            <a:off x="1502708" y="1746374"/>
            <a:ext cx="8310031" cy="2862322"/>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Tipos de prototipos</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Descartables (throwaway)</a:t>
            </a:r>
            <a:r>
              <a:rPr lang="es-MX" dirty="0">
                <a:latin typeface="Arial" panose="020B0604020202020204" pitchFamily="34" charset="0"/>
                <a:cs typeface="Arial" panose="020B0604020202020204" pitchFamily="34" charset="0"/>
              </a:rPr>
              <a:t>: se hacen para aclarar requerimientos y luego se eliminan.</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Evolutivos</a:t>
            </a:r>
            <a:r>
              <a:rPr lang="es-MX" dirty="0">
                <a:latin typeface="Arial" panose="020B0604020202020204" pitchFamily="34" charset="0"/>
                <a:cs typeface="Arial" panose="020B0604020202020204" pitchFamily="34" charset="0"/>
              </a:rPr>
              <a:t>: se van mejorando hasta convertirse en el sistema final.</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De baja fidelidad</a:t>
            </a:r>
            <a:r>
              <a:rPr lang="es-MX" dirty="0">
                <a:latin typeface="Arial" panose="020B0604020202020204" pitchFamily="34" charset="0"/>
                <a:cs typeface="Arial" panose="020B0604020202020204" pitchFamily="34" charset="0"/>
              </a:rPr>
              <a:t>: maquetas en papel, wireframes, mockups.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De alta fidelidad</a:t>
            </a:r>
            <a:r>
              <a:rPr lang="es-MX" dirty="0">
                <a:latin typeface="Arial" panose="020B0604020202020204" pitchFamily="34" charset="0"/>
                <a:cs typeface="Arial" panose="020B0604020202020204" pitchFamily="34" charset="0"/>
              </a:rPr>
              <a:t>: prototipos con parte de la lógica real implementada.</a:t>
            </a:r>
          </a:p>
        </p:txBody>
      </p:sp>
    </p:spTree>
    <p:extLst>
      <p:ext uri="{BB962C8B-B14F-4D97-AF65-F5344CB8AC3E}">
        <p14:creationId xmlns:p14="http://schemas.microsoft.com/office/powerpoint/2010/main" val="3469992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5B9AC-17C2-EB4A-855F-4DE0F01785D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30BD3B2-E526-3145-BD40-BAB8C6F729AD}"/>
              </a:ext>
            </a:extLst>
          </p:cNvPr>
          <p:cNvSpPr txBox="1"/>
          <p:nvPr/>
        </p:nvSpPr>
        <p:spPr>
          <a:xfrm>
            <a:off x="1972101" y="2007318"/>
            <a:ext cx="6100548" cy="2308324"/>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Ventajas del modelo de prototipos</a:t>
            </a:r>
          </a:p>
          <a:p>
            <a:pPr>
              <a:buNone/>
            </a:pPr>
            <a:endParaRPr lang="es-MX" b="1"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 Mejor comprensión de requerimientos ambiguos.</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Mayor involucramiento del usuario.</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Detecta problemas de usabilidad temprano.</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Reduce el riesgo de construir un sistema que no satisface al cliente.</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Retroalimentación rápida y continua.</a:t>
            </a:r>
          </a:p>
        </p:txBody>
      </p:sp>
    </p:spTree>
    <p:extLst>
      <p:ext uri="{BB962C8B-B14F-4D97-AF65-F5344CB8AC3E}">
        <p14:creationId xmlns:p14="http://schemas.microsoft.com/office/powerpoint/2010/main" val="20337989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5AC8-0FF3-3FEC-9B70-CBC73EE6C4A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E8382C0-2A65-5DF3-3379-65D3DECF2750}"/>
              </a:ext>
            </a:extLst>
          </p:cNvPr>
          <p:cNvSpPr txBox="1"/>
          <p:nvPr/>
        </p:nvSpPr>
        <p:spPr>
          <a:xfrm>
            <a:off x="1733266" y="1728295"/>
            <a:ext cx="8147713" cy="2585323"/>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 Desventajas del modelo de prototipos</a:t>
            </a:r>
          </a:p>
          <a:p>
            <a:pPr>
              <a:buNone/>
            </a:pPr>
            <a:endParaRPr lang="es-MX" b="1" dirty="0">
              <a:latin typeface="Arial" panose="020B0604020202020204" pitchFamily="34" charset="0"/>
              <a:cs typeface="Arial" panose="020B0604020202020204" pitchFamily="34" charset="0"/>
            </a:endParaRPr>
          </a:p>
          <a:p>
            <a:pPr>
              <a:buNone/>
            </a:pPr>
            <a:r>
              <a:rPr lang="es-MX" dirty="0">
                <a:latin typeface="Arial" panose="020B0604020202020204" pitchFamily="34" charset="0"/>
                <a:cs typeface="Arial" panose="020B0604020202020204" pitchFamily="34" charset="0"/>
              </a:rPr>
              <a:t>⚠ Puede generar falsas expectativas si el cliente cree que el prototipo ya es el producto final.</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Puede haber sobrecostos si se hacen demasiadas iteraciones sin control.</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Riesgo de que el diseño evolutivo se vuelva desordenado si no se planifica bien.</a:t>
            </a:r>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 No siempre es adecuado para sistemas críticos (ej. aeroespacial, salud de alto riesgo), donde se requiere formalidad desde el inicio.</a:t>
            </a:r>
          </a:p>
        </p:txBody>
      </p:sp>
    </p:spTree>
    <p:extLst>
      <p:ext uri="{BB962C8B-B14F-4D97-AF65-F5344CB8AC3E}">
        <p14:creationId xmlns:p14="http://schemas.microsoft.com/office/powerpoint/2010/main" val="19437332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548E-0E37-B9C2-41EC-3AD15D26229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EFF0D98-B37D-D32C-6AFD-9EFE8B5E6EFC}"/>
              </a:ext>
            </a:extLst>
          </p:cNvPr>
          <p:cNvSpPr txBox="1"/>
          <p:nvPr/>
        </p:nvSpPr>
        <p:spPr>
          <a:xfrm>
            <a:off x="1011640" y="843677"/>
            <a:ext cx="10168720" cy="5170646"/>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Ejemplo de aplicación (Sistema de inscripción universitaria)</a:t>
            </a:r>
          </a:p>
          <a:p>
            <a:pPr>
              <a:buNone/>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Prototipo 1 (baja fidelidad)</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Pantallas en Figma mostrando flujo de inscripción (login, selección de materias, confirmación).</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Se prueba con estudiantes para validar facilidad de uso.</a:t>
            </a:r>
          </a:p>
          <a:p>
            <a:pPr marL="742950" lvl="1"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Prototipo 2 (alta fidelidad)</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Versión parcial en web donde los estudiantes pueden simular inscribir materias (sin conexión a BD real).</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Retroalimentación: mejorar visualización de horarios y detectar choques.</a:t>
            </a:r>
          </a:p>
          <a:p>
            <a:pPr marL="742950" lvl="1"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Prototipo 3 (evolutivo)</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Se conecta con la base de datos real.</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Ya permite inscripción de materias con validación de créditos.</a:t>
            </a:r>
          </a:p>
          <a:p>
            <a:pPr marL="742950" lvl="1"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Producto final</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El prototipo evolutivo se refina y se convierte en el sistema en producción.</a:t>
            </a:r>
          </a:p>
        </p:txBody>
      </p:sp>
    </p:spTree>
    <p:extLst>
      <p:ext uri="{BB962C8B-B14F-4D97-AF65-F5344CB8AC3E}">
        <p14:creationId xmlns:p14="http://schemas.microsoft.com/office/powerpoint/2010/main" val="4268488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830E7-E519-B0C8-0F4E-F23651857DC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2A8281A-9893-47B4-DAC1-65592454432B}"/>
              </a:ext>
            </a:extLst>
          </p:cNvPr>
          <p:cNvSpPr txBox="1"/>
          <p:nvPr/>
        </p:nvSpPr>
        <p:spPr>
          <a:xfrm>
            <a:off x="1315871" y="1597884"/>
            <a:ext cx="9807053" cy="3416320"/>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 ¿Cuándo usar el modelo de prototipos?</a:t>
            </a:r>
          </a:p>
          <a:p>
            <a:pPr>
              <a:buNone/>
            </a:pPr>
            <a:endParaRPr lang="es-MX" sz="2400"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latin typeface="Arial" panose="020B0604020202020204" pitchFamily="34" charset="0"/>
                <a:cs typeface="Arial" panose="020B0604020202020204" pitchFamily="34" charset="0"/>
              </a:rPr>
              <a:t> Cuando los </a:t>
            </a:r>
            <a:r>
              <a:rPr lang="es-MX" sz="2400" b="1" dirty="0">
                <a:latin typeface="Arial" panose="020B0604020202020204" pitchFamily="34" charset="0"/>
                <a:cs typeface="Arial" panose="020B0604020202020204" pitchFamily="34" charset="0"/>
              </a:rPr>
              <a:t>requerimientos no están claros</a:t>
            </a:r>
            <a:r>
              <a:rPr lang="es-MX" sz="2400" dirty="0">
                <a:latin typeface="Arial" panose="020B0604020202020204" pitchFamily="34" charset="0"/>
                <a:cs typeface="Arial" panose="020B0604020202020204" pitchFamily="34" charset="0"/>
              </a:rPr>
              <a:t> desde el inicio.</a:t>
            </a:r>
          </a:p>
          <a:p>
            <a:pPr>
              <a:buFont typeface="Arial" panose="020B0604020202020204" pitchFamily="34" charset="0"/>
              <a:buChar char="•"/>
            </a:pPr>
            <a:endParaRPr lang="es-MX" sz="2400"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latin typeface="Arial" panose="020B0604020202020204" pitchFamily="34" charset="0"/>
                <a:cs typeface="Arial" panose="020B0604020202020204" pitchFamily="34" charset="0"/>
              </a:rPr>
              <a:t> En sistemas donde la </a:t>
            </a:r>
            <a:r>
              <a:rPr lang="es-MX" sz="2400" b="1" dirty="0">
                <a:latin typeface="Arial" panose="020B0604020202020204" pitchFamily="34" charset="0"/>
                <a:cs typeface="Arial" panose="020B0604020202020204" pitchFamily="34" charset="0"/>
              </a:rPr>
              <a:t>usabilidad y la experiencia del usuario</a:t>
            </a:r>
            <a:r>
              <a:rPr lang="es-MX" sz="2400" dirty="0">
                <a:latin typeface="Arial" panose="020B0604020202020204" pitchFamily="34" charset="0"/>
                <a:cs typeface="Arial" panose="020B0604020202020204" pitchFamily="34" charset="0"/>
              </a:rPr>
              <a:t> son críticas.</a:t>
            </a:r>
          </a:p>
          <a:p>
            <a:pPr>
              <a:buFont typeface="Arial" panose="020B0604020202020204" pitchFamily="34" charset="0"/>
              <a:buChar char="•"/>
            </a:pPr>
            <a:endParaRPr lang="es-MX" sz="2400"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latin typeface="Arial" panose="020B0604020202020204" pitchFamily="34" charset="0"/>
                <a:cs typeface="Arial" panose="020B0604020202020204" pitchFamily="34" charset="0"/>
              </a:rPr>
              <a:t> En proyectos que necesitan </a:t>
            </a:r>
            <a:r>
              <a:rPr lang="es-MX" sz="2400" b="1" dirty="0">
                <a:latin typeface="Arial" panose="020B0604020202020204" pitchFamily="34" charset="0"/>
                <a:cs typeface="Arial" panose="020B0604020202020204" pitchFamily="34" charset="0"/>
              </a:rPr>
              <a:t>validación temprana con usuarios finales</a:t>
            </a:r>
            <a:r>
              <a:rPr lang="es-MX"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230936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EF553-186A-0787-BADD-2DD860270C0E}"/>
            </a:ext>
          </a:extLst>
        </p:cNvPr>
        <p:cNvGrpSpPr/>
        <p:nvPr/>
      </p:nvGrpSpPr>
      <p:grpSpPr>
        <a:xfrm>
          <a:off x="0" y="0"/>
          <a:ext cx="0" cy="0"/>
          <a:chOff x="0" y="0"/>
          <a:chExt cx="0" cy="0"/>
        </a:xfrm>
      </p:grpSpPr>
    </p:spTree>
    <p:extLst>
      <p:ext uri="{BB962C8B-B14F-4D97-AF65-F5344CB8AC3E}">
        <p14:creationId xmlns:p14="http://schemas.microsoft.com/office/powerpoint/2010/main" val="20561606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DDBF-FCB7-F2B9-899A-0E5281EC47A3}"/>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FD2DD989-47B6-7176-442D-AA1330F9E6C5}"/>
              </a:ext>
            </a:extLst>
          </p:cNvPr>
          <p:cNvSpPr txBox="1"/>
          <p:nvPr/>
        </p:nvSpPr>
        <p:spPr>
          <a:xfrm>
            <a:off x="1066800" y="1114475"/>
            <a:ext cx="10627360" cy="830997"/>
          </a:xfrm>
          <a:prstGeom prst="rect">
            <a:avLst/>
          </a:prstGeom>
          <a:noFill/>
        </p:spPr>
        <p:txBody>
          <a:bodyPr wrap="square">
            <a:spAutoFit/>
          </a:bodyPr>
          <a:lstStyle/>
          <a:p>
            <a:r>
              <a:rPr lang="es-MX" sz="1600" dirty="0">
                <a:latin typeface="Courier New" panose="02070309020205020404" pitchFamily="49" charset="0"/>
                <a:cs typeface="Courier New" panose="02070309020205020404" pitchFamily="49" charset="0"/>
              </a:rPr>
              <a:t>Lopez-Bermudez, Ricauter. (2019). Método ágil en el desarrollo de software aplicando la herramienta Genexus. </a:t>
            </a:r>
          </a:p>
          <a:p>
            <a:endParaRPr lang="es-MX"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559266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29162</TotalTime>
  <Words>4426</Words>
  <Application>Microsoft Macintosh PowerPoint</Application>
  <PresentationFormat>Panorámica</PresentationFormat>
  <Paragraphs>477</Paragraphs>
  <Slides>56</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56</vt:i4>
      </vt:variant>
    </vt:vector>
  </HeadingPairs>
  <TitlesOfParts>
    <vt:vector size="61" baseType="lpstr">
      <vt:lpstr>Aptos</vt:lpstr>
      <vt:lpstr>Aptos Display</vt:lpstr>
      <vt:lpstr>Arial</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reyes juarez</dc:creator>
  <cp:lastModifiedBy>reyes juarez</cp:lastModifiedBy>
  <cp:revision>94</cp:revision>
  <dcterms:created xsi:type="dcterms:W3CDTF">2025-08-09T18:38:38Z</dcterms:created>
  <dcterms:modified xsi:type="dcterms:W3CDTF">2025-09-18T20:42:19Z</dcterms:modified>
</cp:coreProperties>
</file>