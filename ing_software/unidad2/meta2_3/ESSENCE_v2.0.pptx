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339" r:id="rId2"/>
    <p:sldId id="288" r:id="rId3"/>
    <p:sldId id="291" r:id="rId4"/>
    <p:sldId id="308" r:id="rId5"/>
    <p:sldId id="307" r:id="rId6"/>
    <p:sldId id="304" r:id="rId7"/>
    <p:sldId id="305" r:id="rId8"/>
    <p:sldId id="306" r:id="rId9"/>
    <p:sldId id="309" r:id="rId10"/>
    <p:sldId id="322" r:id="rId11"/>
    <p:sldId id="321" r:id="rId12"/>
    <p:sldId id="323" r:id="rId13"/>
    <p:sldId id="325" r:id="rId14"/>
    <p:sldId id="324" r:id="rId15"/>
    <p:sldId id="328" r:id="rId16"/>
    <p:sldId id="327" r:id="rId17"/>
    <p:sldId id="329" r:id="rId18"/>
    <p:sldId id="330" r:id="rId19"/>
    <p:sldId id="326" r:id="rId20"/>
    <p:sldId id="332" r:id="rId21"/>
    <p:sldId id="335" r:id="rId22"/>
    <p:sldId id="331" r:id="rId23"/>
    <p:sldId id="333" r:id="rId24"/>
    <p:sldId id="334" r:id="rId25"/>
    <p:sldId id="337" r:id="rId26"/>
    <p:sldId id="336" r:id="rId27"/>
    <p:sldId id="338" r:id="rId28"/>
    <p:sldId id="320" r:id="rId29"/>
    <p:sldId id="312" r:id="rId30"/>
    <p:sldId id="310" r:id="rId31"/>
    <p:sldId id="314" r:id="rId32"/>
    <p:sldId id="311" r:id="rId33"/>
    <p:sldId id="303" r:id="rId34"/>
    <p:sldId id="315" r:id="rId35"/>
    <p:sldId id="302" r:id="rId36"/>
    <p:sldId id="316" r:id="rId37"/>
    <p:sldId id="317" r:id="rId38"/>
    <p:sldId id="318" r:id="rId39"/>
    <p:sldId id="294" r:id="rId40"/>
    <p:sldId id="295" r:id="rId41"/>
    <p:sldId id="265" r:id="rId42"/>
    <p:sldId id="259" r:id="rId43"/>
    <p:sldId id="262" r:id="rId44"/>
    <p:sldId id="299" r:id="rId45"/>
    <p:sldId id="270" r:id="rId46"/>
    <p:sldId id="271" r:id="rId47"/>
    <p:sldId id="268" r:id="rId48"/>
    <p:sldId id="276" r:id="rId49"/>
    <p:sldId id="278" r:id="rId50"/>
    <p:sldId id="277" r:id="rId51"/>
    <p:sldId id="274" r:id="rId52"/>
    <p:sldId id="269" r:id="rId53"/>
    <p:sldId id="275" r:id="rId54"/>
    <p:sldId id="279" r:id="rId55"/>
    <p:sldId id="272" r:id="rId56"/>
    <p:sldId id="343" r:id="rId57"/>
    <p:sldId id="340" r:id="rId58"/>
    <p:sldId id="341" r:id="rId59"/>
    <p:sldId id="283" r:id="rId60"/>
    <p:sldId id="342" r:id="rId61"/>
    <p:sldId id="319" r:id="rId6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44"/>
    <p:restoredTop sz="94694"/>
  </p:normalViewPr>
  <p:slideViewPr>
    <p:cSldViewPr snapToGrid="0">
      <p:cViewPr varScale="1">
        <p:scale>
          <a:sx n="107" d="100"/>
          <a:sy n="107" d="100"/>
        </p:scale>
        <p:origin x="68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F30A2-5664-3643-B870-11F2760ACA8B}" type="datetimeFigureOut">
              <a:rPr lang="es-MX" smtClean="0"/>
              <a:t>10/10/25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7052E2-608B-994A-A12A-B81D3D0245F9}" type="slidenum">
              <a:rPr lang="es-MX" smtClean="0"/>
              <a:t>‹Nº›</a:t>
            </a:fld>
            <a:endParaRPr lang="es-MX"/>
          </a:p>
        </p:txBody>
      </p:sp>
    </p:spTree>
    <p:extLst>
      <p:ext uri="{BB962C8B-B14F-4D97-AF65-F5344CB8AC3E}">
        <p14:creationId xmlns:p14="http://schemas.microsoft.com/office/powerpoint/2010/main" val="110979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55A1CE47-9AEA-8E40-8DC3-97779E80C823}" type="slidenum">
              <a:rPr lang="es-MX" smtClean="0"/>
              <a:t>1</a:t>
            </a:fld>
            <a:endParaRPr lang="es-MX"/>
          </a:p>
        </p:txBody>
      </p:sp>
    </p:spTree>
    <p:extLst>
      <p:ext uri="{BB962C8B-B14F-4D97-AF65-F5344CB8AC3E}">
        <p14:creationId xmlns:p14="http://schemas.microsoft.com/office/powerpoint/2010/main" val="4066257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A1BF94-28AC-EBA7-FE3B-D4941D683872}"/>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A6FB0EC4-EA91-BA03-3066-026A62C9D1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B94E20B4-6887-6056-5D00-22078E416CB0}"/>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406A12DD-2BEB-A00F-AFA9-4796C830526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D587A0D5-0E35-22A3-2AFC-1D909EBF16E0}"/>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89555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481BA1-5AFE-72B4-C6B5-787AAABB3F83}"/>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585C07DD-540F-C620-F7F0-CA428E207AE3}"/>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D03D3F2B-156C-785B-C465-3A004D0C838F}"/>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CB7D75A1-5EEA-3005-F638-3AD860B33EE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4BC29B4-C02B-633F-D5DD-AEE9A64B7A06}"/>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3200432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110359-5089-11CB-22AF-840C6EDC7790}"/>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CA400945-4133-ACCF-DC2C-5090AB1C32D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3D314835-6E75-5FBF-C6AD-4830B4997B08}"/>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DA18A0C8-494D-FC59-B848-1996019F60F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FDD0465-18DC-E89D-488D-CA1884538532}"/>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3868207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9A6B82-4E10-2A0B-A235-32C8D4961B31}"/>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037B31FF-A7D5-815D-2206-45E591AB4646}"/>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3FF6E949-DA6C-C757-5AA7-F6DFC4EDC198}"/>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AE743D18-3AF7-ABAC-A545-38146E34B270}"/>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6" name="Marcador de pie de página 5">
            <a:extLst>
              <a:ext uri="{FF2B5EF4-FFF2-40B4-BE49-F238E27FC236}">
                <a16:creationId xmlns:a16="http://schemas.microsoft.com/office/drawing/2014/main" id="{B0ED6A78-7B8F-1A69-1AC8-D76951D22DE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0B63C96-0FE6-531A-D900-CDEB9CD80113}"/>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417335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47034B-5F0B-7EDA-7C77-0C38FC300FFF}"/>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DA9770BC-F9A2-3266-36D7-6E633D621F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B6BAEBF1-50D2-289C-999F-80D0F9DB0861}"/>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EDEBE72B-4789-B631-F71F-69A7C92F89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6B67ACD5-4A18-3F5F-B5E9-0043AF8FB21B}"/>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2298FDCD-64C9-19AB-2D49-C0A36F78BB68}"/>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8" name="Marcador de pie de página 7">
            <a:extLst>
              <a:ext uri="{FF2B5EF4-FFF2-40B4-BE49-F238E27FC236}">
                <a16:creationId xmlns:a16="http://schemas.microsoft.com/office/drawing/2014/main" id="{401AFC53-5166-5F58-D21A-A42B48F58E9C}"/>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E6F9D1F5-2DAB-4A48-66AE-FBC5E0414A66}"/>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3288550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0E36E1-604A-10F4-2A21-AE34F219590F}"/>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95F60500-7317-4350-9F52-685ABB766EB9}"/>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4" name="Marcador de pie de página 3">
            <a:extLst>
              <a:ext uri="{FF2B5EF4-FFF2-40B4-BE49-F238E27FC236}">
                <a16:creationId xmlns:a16="http://schemas.microsoft.com/office/drawing/2014/main" id="{2E9CF4A2-8A7B-4233-A04A-A6F401DE61A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AFE9890-29D0-9FE9-30E9-A88DB5129F89}"/>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4201131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BF5DE86-AFBB-844E-9E2D-7639A913045C}"/>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3" name="Marcador de pie de página 2">
            <a:extLst>
              <a:ext uri="{FF2B5EF4-FFF2-40B4-BE49-F238E27FC236}">
                <a16:creationId xmlns:a16="http://schemas.microsoft.com/office/drawing/2014/main" id="{EEEF45AA-F69F-39CC-B040-8D140C0CE6D6}"/>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6FF1B6F6-1A7F-5504-0CEF-A601B97D8DC0}"/>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851813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9CE020-90B0-9DAE-E982-B84CDE902B6B}"/>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00D192F-BF55-364A-3C41-1C7740845B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29DC029C-466D-0D28-870B-BFA236622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BA6C87D-B7AB-A2B4-B2D5-702092020780}"/>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6" name="Marcador de pie de página 5">
            <a:extLst>
              <a:ext uri="{FF2B5EF4-FFF2-40B4-BE49-F238E27FC236}">
                <a16:creationId xmlns:a16="http://schemas.microsoft.com/office/drawing/2014/main" id="{21F2E44F-AF0F-C3ED-0D4A-6BE2EB2232AC}"/>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E62A30DC-C744-9D6F-2B75-4EEF649AB96E}"/>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1648947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58FCFC-BAD3-47A7-487D-80EFBA8C71E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01026618-D4E6-7C27-CD71-1EB29E3118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797B2A19-FBF4-1374-E5C7-BC4C2F477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7094FB39-198E-9657-752D-BF92FA3F683D}"/>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6" name="Marcador de pie de página 5">
            <a:extLst>
              <a:ext uri="{FF2B5EF4-FFF2-40B4-BE49-F238E27FC236}">
                <a16:creationId xmlns:a16="http://schemas.microsoft.com/office/drawing/2014/main" id="{A7DEC968-FB0B-7B79-CBA4-7C40E28054C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146D9EE-62C4-6662-620D-154226A5D6C2}"/>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3720795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2BDD78-E6BC-D0B1-AD63-B0C372635C7D}"/>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A38C7A2-A4D4-BF59-CCC6-408282EB7F7A}"/>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CC665460-9D6B-9D32-DAB5-4BCD656F2284}"/>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9258CE78-53CC-20E1-5F00-997D13BE991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E9B0F90-E878-8CA0-102E-96482841CDC3}"/>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31246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86F8C7D-53B0-C9FA-7468-40A5AF7DA805}"/>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4F3B3435-5761-FD45-8635-3007933E556B}"/>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F8F64E2A-4BA5-14A1-43F8-7E3D82BE7583}"/>
              </a:ext>
            </a:extLst>
          </p:cNvPr>
          <p:cNvSpPr>
            <a:spLocks noGrp="1"/>
          </p:cNvSpPr>
          <p:nvPr>
            <p:ph type="dt" sz="half" idx="10"/>
          </p:nvPr>
        </p:nvSpPr>
        <p:spPr/>
        <p:txBody>
          <a:body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C511BCFC-4BEC-CECA-653F-66584ECD250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4736798-C092-9083-9A45-E8DC30116DD2}"/>
              </a:ext>
            </a:extLst>
          </p:cNvPr>
          <p:cNvSpPr>
            <a:spLocks noGrp="1"/>
          </p:cNvSpPr>
          <p:nvPr>
            <p:ph type="sldNum" sz="quarter" idx="12"/>
          </p:nvPr>
        </p:nvSpPr>
        <p:spPr/>
        <p:txBody>
          <a:bodyPr/>
          <a:lstStyle/>
          <a:p>
            <a:fld id="{5D68A82C-3476-F84D-950A-4BF88F206561}" type="slidenum">
              <a:rPr lang="es-MX" smtClean="0"/>
              <a:t>‹Nº›</a:t>
            </a:fld>
            <a:endParaRPr lang="es-MX"/>
          </a:p>
        </p:txBody>
      </p:sp>
    </p:spTree>
    <p:extLst>
      <p:ext uri="{BB962C8B-B14F-4D97-AF65-F5344CB8AC3E}">
        <p14:creationId xmlns:p14="http://schemas.microsoft.com/office/powerpoint/2010/main" val="223911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2A980D2-AAF0-08C4-34DB-79B4FACC6B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8B502FD5-9987-CB25-DA67-0C091D8BDC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8DB9A1A8-7F82-BA36-89C4-9A5D4BDF13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D75147-A732-0442-988A-941BB6BFE8B0}" type="datetimeFigureOut">
              <a:rPr lang="es-MX" smtClean="0"/>
              <a:t>08/10/25</a:t>
            </a:fld>
            <a:endParaRPr lang="es-MX"/>
          </a:p>
        </p:txBody>
      </p:sp>
      <p:sp>
        <p:nvSpPr>
          <p:cNvPr id="5" name="Marcador de pie de página 4">
            <a:extLst>
              <a:ext uri="{FF2B5EF4-FFF2-40B4-BE49-F238E27FC236}">
                <a16:creationId xmlns:a16="http://schemas.microsoft.com/office/drawing/2014/main" id="{45057470-3422-90FA-C4C3-38B3E93020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63A25861-62F8-A50B-0B99-F661241C34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D68A82C-3476-F84D-950A-4BF88F206561}" type="slidenum">
              <a:rPr lang="es-MX" smtClean="0"/>
              <a:t>‹Nº›</a:t>
            </a:fld>
            <a:endParaRPr lang="es-MX"/>
          </a:p>
        </p:txBody>
      </p:sp>
    </p:spTree>
    <p:extLst>
      <p:ext uri="{BB962C8B-B14F-4D97-AF65-F5344CB8AC3E}">
        <p14:creationId xmlns:p14="http://schemas.microsoft.com/office/powerpoint/2010/main" val="2337905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hyperlink" Target="http://www.omg.org/spec/Essence/1.0/Beta2" TargetMode="External"/><Relationship Id="rId2" Type="http://schemas.openxmlformats.org/officeDocument/2006/relationships/hyperlink" Target="http://www.ivarjacobson.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7A6676D-7840-9F62-69AC-C022B2135BD4}"/>
              </a:ext>
            </a:extLst>
          </p:cNvPr>
          <p:cNvPicPr>
            <a:picLocks noChangeAspect="1"/>
          </p:cNvPicPr>
          <p:nvPr/>
        </p:nvPicPr>
        <p:blipFill>
          <a:blip r:embed="rId3"/>
          <a:stretch>
            <a:fillRect/>
          </a:stretch>
        </p:blipFill>
        <p:spPr>
          <a:xfrm>
            <a:off x="1064173" y="622737"/>
            <a:ext cx="1153727" cy="1571953"/>
          </a:xfrm>
          <a:prstGeom prst="rect">
            <a:avLst/>
          </a:prstGeom>
        </p:spPr>
      </p:pic>
      <p:sp>
        <p:nvSpPr>
          <p:cNvPr id="6" name="Rectángulo 5">
            <a:extLst>
              <a:ext uri="{FF2B5EF4-FFF2-40B4-BE49-F238E27FC236}">
                <a16:creationId xmlns:a16="http://schemas.microsoft.com/office/drawing/2014/main" id="{11817BBA-DF9D-F047-4902-989C5C99B79C}"/>
              </a:ext>
            </a:extLst>
          </p:cNvPr>
          <p:cNvSpPr/>
          <p:nvPr/>
        </p:nvSpPr>
        <p:spPr>
          <a:xfrm>
            <a:off x="1001110" y="2598004"/>
            <a:ext cx="10326414" cy="1077218"/>
          </a:xfrm>
          <a:prstGeom prst="rect">
            <a:avLst/>
          </a:prstGeom>
          <a:noFill/>
        </p:spPr>
        <p:txBody>
          <a:bodyPr wrap="square" lIns="91440" tIns="45720" rIns="91440" bIns="45720">
            <a:spAutoFit/>
          </a:bodyPr>
          <a:lstStyle/>
          <a:p>
            <a:pPr algn="ctr"/>
            <a:r>
              <a:rPr lang="es-MX" sz="3200" b="1" dirty="0">
                <a:latin typeface="Arial" panose="020B0604020202020204" pitchFamily="34" charset="0"/>
                <a:cs typeface="Arial" panose="020B0604020202020204" pitchFamily="34" charset="0"/>
              </a:rPr>
              <a:t>ESSENCE (Kernel and Language for Software Engineering),</a:t>
            </a:r>
          </a:p>
        </p:txBody>
      </p:sp>
      <p:sp>
        <p:nvSpPr>
          <p:cNvPr id="7" name="Rectángulo 6">
            <a:extLst>
              <a:ext uri="{FF2B5EF4-FFF2-40B4-BE49-F238E27FC236}">
                <a16:creationId xmlns:a16="http://schemas.microsoft.com/office/drawing/2014/main" id="{D14FDC92-A258-85F8-64E6-A003E731A437}"/>
              </a:ext>
            </a:extLst>
          </p:cNvPr>
          <p:cNvSpPr/>
          <p:nvPr/>
        </p:nvSpPr>
        <p:spPr>
          <a:xfrm>
            <a:off x="2293883" y="679069"/>
            <a:ext cx="9033641" cy="1077218"/>
          </a:xfrm>
          <a:prstGeom prst="rect">
            <a:avLst/>
          </a:prstGeom>
          <a:noFill/>
        </p:spPr>
        <p:txBody>
          <a:bodyPr wrap="squar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Universidad Autónoma de Baja California</a:t>
            </a:r>
          </a:p>
          <a:p>
            <a:pPr algn="ctr"/>
            <a:r>
              <a:rPr lang="es-MX" sz="3200" dirty="0">
                <a:ln w="0"/>
                <a:effectLst>
                  <a:outerShdw blurRad="38100" dist="19050" dir="2700000" algn="tl" rotWithShape="0">
                    <a:schemeClr val="dk1">
                      <a:alpha val="40000"/>
                    </a:schemeClr>
                  </a:outerShdw>
                </a:effectLst>
              </a:rPr>
              <a:t>Facultad de Ciencias Químicas e Ingeniería</a:t>
            </a:r>
            <a:endParaRPr lang="es-MX" sz="3200" b="0" cap="none" spc="0" dirty="0">
              <a:ln w="0"/>
              <a:solidFill>
                <a:schemeClr val="tx1"/>
              </a:solidFill>
              <a:effectLst>
                <a:outerShdw blurRad="38100" dist="19050" dir="2700000" algn="tl" rotWithShape="0">
                  <a:schemeClr val="dk1">
                    <a:alpha val="40000"/>
                  </a:schemeClr>
                </a:outerShdw>
              </a:effectLst>
            </a:endParaRPr>
          </a:p>
        </p:txBody>
      </p:sp>
      <p:sp>
        <p:nvSpPr>
          <p:cNvPr id="8" name="Rectángulo 7">
            <a:extLst>
              <a:ext uri="{FF2B5EF4-FFF2-40B4-BE49-F238E27FC236}">
                <a16:creationId xmlns:a16="http://schemas.microsoft.com/office/drawing/2014/main" id="{E1225BAA-68D7-B886-F1F5-F44663D0D8A7}"/>
              </a:ext>
            </a:extLst>
          </p:cNvPr>
          <p:cNvSpPr/>
          <p:nvPr/>
        </p:nvSpPr>
        <p:spPr>
          <a:xfrm>
            <a:off x="3310759" y="4024496"/>
            <a:ext cx="5486400" cy="954107"/>
          </a:xfrm>
          <a:prstGeom prst="rect">
            <a:avLst/>
          </a:prstGeom>
          <a:noFill/>
        </p:spPr>
        <p:txBody>
          <a:bodyPr wrap="square" lIns="91440" tIns="45720" rIns="91440" bIns="45720">
            <a:spAutoFit/>
          </a:bodyPr>
          <a:lstStyle/>
          <a:p>
            <a:pPr algn="ctr"/>
            <a:r>
              <a:rPr lang="es-MX" sz="2800" b="0" cap="none" spc="0" dirty="0">
                <a:ln w="0"/>
                <a:solidFill>
                  <a:schemeClr val="tx1"/>
                </a:solidFill>
                <a:effectLst>
                  <a:outerShdw blurRad="38100" dist="19050" dir="2700000" algn="tl" rotWithShape="0">
                    <a:schemeClr val="dk1">
                      <a:alpha val="40000"/>
                    </a:schemeClr>
                  </a:outerShdw>
                </a:effectLst>
              </a:rPr>
              <a:t>Dr. J. Reyes Juárez Ramírez</a:t>
            </a:r>
          </a:p>
          <a:p>
            <a:pPr algn="ctr"/>
            <a:r>
              <a:rPr lang="es-MX" sz="2800" dirty="0">
                <a:ln w="0"/>
                <a:effectLst>
                  <a:outerShdw blurRad="38100" dist="19050" dir="2700000" algn="tl" rotWithShape="0">
                    <a:schemeClr val="dk1">
                      <a:alpha val="40000"/>
                    </a:schemeClr>
                  </a:outerShdw>
                </a:effectLst>
              </a:rPr>
              <a:t>reyesjua@uabc.edu.mx</a:t>
            </a:r>
            <a:endParaRPr lang="es-MX" sz="2800" b="0" cap="none" spc="0" dirty="0">
              <a:ln w="0"/>
              <a:solidFill>
                <a:schemeClr val="tx1"/>
              </a:solidFill>
              <a:effectLst>
                <a:outerShdw blurRad="38100" dist="19050" dir="2700000" algn="tl" rotWithShape="0">
                  <a:schemeClr val="dk1">
                    <a:alpha val="40000"/>
                  </a:schemeClr>
                </a:outerShdw>
              </a:effectLst>
            </a:endParaRPr>
          </a:p>
        </p:txBody>
      </p:sp>
      <p:sp>
        <p:nvSpPr>
          <p:cNvPr id="9" name="Rectángulo 8">
            <a:extLst>
              <a:ext uri="{FF2B5EF4-FFF2-40B4-BE49-F238E27FC236}">
                <a16:creationId xmlns:a16="http://schemas.microsoft.com/office/drawing/2014/main" id="{4F9AB259-B9AB-1F6C-87DE-719ACDBED92C}"/>
              </a:ext>
            </a:extLst>
          </p:cNvPr>
          <p:cNvSpPr/>
          <p:nvPr/>
        </p:nvSpPr>
        <p:spPr>
          <a:xfrm>
            <a:off x="5662448" y="5520722"/>
            <a:ext cx="5486400" cy="523220"/>
          </a:xfrm>
          <a:prstGeom prst="rect">
            <a:avLst/>
          </a:prstGeom>
          <a:noFill/>
        </p:spPr>
        <p:txBody>
          <a:bodyPr wrap="square" lIns="91440" tIns="45720" rIns="91440" bIns="45720">
            <a:spAutoFit/>
          </a:bodyPr>
          <a:lstStyle/>
          <a:p>
            <a:pPr algn="ctr"/>
            <a:r>
              <a:rPr lang="es-MX" sz="2800" dirty="0">
                <a:ln w="0"/>
                <a:effectLst>
                  <a:outerShdw blurRad="38100" dist="19050" dir="2700000" algn="tl" rotWithShape="0">
                    <a:schemeClr val="dk1">
                      <a:alpha val="40000"/>
                    </a:schemeClr>
                  </a:outerShdw>
                </a:effectLst>
              </a:rPr>
              <a:t>Octubre de 2025</a:t>
            </a:r>
            <a:endParaRPr lang="es-MX"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37050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8E7F0-C0A6-50C2-B1A6-EA261D263D3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0C3F797-C058-F5F2-9BD8-7B844486EBC4}"/>
              </a:ext>
            </a:extLst>
          </p:cNvPr>
          <p:cNvSpPr txBox="1"/>
          <p:nvPr/>
        </p:nvSpPr>
        <p:spPr>
          <a:xfrm>
            <a:off x="1255815" y="1557417"/>
            <a:ext cx="10298875" cy="3416320"/>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ESSENCE</a:t>
            </a:r>
            <a:r>
              <a:rPr lang="es-MX" dirty="0">
                <a:latin typeface="Arial" panose="020B0604020202020204" pitchFamily="34" charset="0"/>
                <a:cs typeface="Arial" panose="020B0604020202020204" pitchFamily="34" charset="0"/>
              </a:rPr>
              <a:t> (Kernel and Language for Software Engineering), es un estándar de </a:t>
            </a:r>
            <a:r>
              <a:rPr lang="es-MX" b="1" dirty="0">
                <a:latin typeface="Arial" panose="020B0604020202020204" pitchFamily="34" charset="0"/>
                <a:cs typeface="Arial" panose="020B0604020202020204" pitchFamily="34" charset="0"/>
              </a:rPr>
              <a:t>OMG (Object Management Group)</a:t>
            </a:r>
            <a:r>
              <a:rPr lang="es-MX" dirty="0">
                <a:latin typeface="Arial" panose="020B0604020202020204" pitchFamily="34" charset="0"/>
                <a:cs typeface="Arial" panose="020B0604020202020204" pitchFamily="34" charset="0"/>
              </a:rPr>
              <a:t> orientado a dar un marco común y adaptable para el desarrollo de software.</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ESSENCE es un estándar </a:t>
            </a:r>
            <a:r>
              <a:rPr lang="es-ES" b="1" dirty="0">
                <a:latin typeface="Arial" panose="020B0604020202020204" pitchFamily="34" charset="0"/>
                <a:cs typeface="Arial" panose="020B0604020202020204" pitchFamily="34" charset="0"/>
              </a:rPr>
              <a:t>para la creación, el uso y la mejora de prácticas y métodos de ingeniería de software</a:t>
            </a:r>
            <a:r>
              <a:rPr lang="es-ES" dirty="0">
                <a:latin typeface="Arial" panose="020B0604020202020204" pitchFamily="34" charset="0"/>
                <a:cs typeface="Arial" panose="020B0604020202020204" pitchFamily="34" charset="0"/>
              </a:rPr>
              <a:t>, mantenido y publicado por el consorcio internacional de estándares abiertos OMG.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objetivo de ESSENCE es centrarse en la información esencial y optimizar los aspectos técnicos y humanos de la ingeniería mediante </a:t>
            </a:r>
            <a:r>
              <a:rPr lang="es-ES" b="1" dirty="0">
                <a:latin typeface="Arial" panose="020B0604020202020204" pitchFamily="34" charset="0"/>
                <a:cs typeface="Arial" panose="020B0604020202020204" pitchFamily="34" charset="0"/>
              </a:rPr>
              <a:t>prácticas ultraligeras</a:t>
            </a:r>
            <a:r>
              <a:rPr lang="es-ES" dirty="0">
                <a:latin typeface="Arial" panose="020B0604020202020204" pitchFamily="34" charset="0"/>
                <a:cs typeface="Arial" panose="020B0604020202020204" pitchFamily="34" charset="0"/>
              </a:rPr>
              <a:t>, a menudo </a:t>
            </a:r>
            <a:r>
              <a:rPr lang="es-ES" b="1" dirty="0">
                <a:latin typeface="Arial" panose="020B0604020202020204" pitchFamily="34" charset="0"/>
                <a:cs typeface="Arial" panose="020B0604020202020204" pitchFamily="34" charset="0"/>
              </a:rPr>
              <a:t>resumidas en un pequeño número de tarjeta</a:t>
            </a:r>
            <a:r>
              <a:rPr lang="es-ES" dirty="0">
                <a:latin typeface="Arial" panose="020B0604020202020204" pitchFamily="34" charset="0"/>
                <a:cs typeface="Arial" panose="020B0604020202020204" pitchFamily="34" charset="0"/>
              </a:rPr>
              <a:t>s, que </a:t>
            </a:r>
            <a:r>
              <a:rPr lang="es-ES" b="1" dirty="0">
                <a:latin typeface="Arial" panose="020B0604020202020204" pitchFamily="34" charset="0"/>
                <a:cs typeface="Arial" panose="020B0604020202020204" pitchFamily="34" charset="0"/>
              </a:rPr>
              <a:t>se centran en los resultados y minimizan la producción de documentación</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4740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89051-2F8F-3BB6-12C1-916E5F0B0E6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FEB8F17-2FEF-D6BB-C46B-48FD8A210333}"/>
              </a:ext>
            </a:extLst>
          </p:cNvPr>
          <p:cNvSpPr txBox="1"/>
          <p:nvPr/>
        </p:nvSpPr>
        <p:spPr>
          <a:xfrm>
            <a:off x="1160812" y="1181548"/>
            <a:ext cx="10085119" cy="341632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Como estándar de la industria, </a:t>
            </a:r>
            <a:r>
              <a:rPr lang="es-MX" dirty="0">
                <a:latin typeface="Arial" panose="020B0604020202020204" pitchFamily="34" charset="0"/>
                <a:cs typeface="Arial" panose="020B0604020202020204" pitchFamily="34" charset="0"/>
              </a:rPr>
              <a:t>ESSENCE</a:t>
            </a:r>
            <a:r>
              <a:rPr lang="es-ES" dirty="0">
                <a:latin typeface="Arial" panose="020B0604020202020204" pitchFamily="34" charset="0"/>
                <a:cs typeface="Arial" panose="020B0604020202020204" pitchFamily="34" charset="0"/>
              </a:rPr>
              <a:t> describe un lenguaje y un núcleo para estas prácticas de ingeniería: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 El </a:t>
            </a:r>
            <a:r>
              <a:rPr lang="es-ES" b="1" dirty="0">
                <a:latin typeface="Arial" panose="020B0604020202020204" pitchFamily="34" charset="0"/>
                <a:cs typeface="Arial" panose="020B0604020202020204" pitchFamily="34" charset="0"/>
              </a:rPr>
              <a:t>lenguaje</a:t>
            </a:r>
            <a:r>
              <a:rPr lang="es-ES" dirty="0">
                <a:latin typeface="Arial" panose="020B0604020202020204" pitchFamily="34" charset="0"/>
                <a:cs typeface="Arial" panose="020B0604020202020204" pitchFamily="34" charset="0"/>
              </a:rPr>
              <a:t> de </a:t>
            </a:r>
            <a:r>
              <a:rPr lang="es-MX" dirty="0">
                <a:latin typeface="Arial" panose="020B0604020202020204" pitchFamily="34" charset="0"/>
                <a:cs typeface="Arial" panose="020B0604020202020204" pitchFamily="34" charset="0"/>
              </a:rPr>
              <a:t>ESSENCE</a:t>
            </a:r>
            <a:r>
              <a:rPr lang="es-ES" dirty="0">
                <a:latin typeface="Arial" panose="020B0604020202020204" pitchFamily="34" charset="0"/>
                <a:cs typeface="Arial" panose="020B0604020202020204" pitchFamily="34" charset="0"/>
              </a:rPr>
              <a:t> </a:t>
            </a:r>
            <a:r>
              <a:rPr lang="es-ES" b="1" dirty="0">
                <a:latin typeface="Arial" panose="020B0604020202020204" pitchFamily="34" charset="0"/>
                <a:cs typeface="Arial" panose="020B0604020202020204" pitchFamily="34" charset="0"/>
              </a:rPr>
              <a:t>permite expresar las prácticas de forma sencilla y estándar</a:t>
            </a:r>
            <a:r>
              <a:rPr lang="es-ES" dirty="0">
                <a:latin typeface="Arial" panose="020B0604020202020204" pitchFamily="34" charset="0"/>
                <a:cs typeface="Arial" panose="020B0604020202020204" pitchFamily="34" charset="0"/>
              </a:rPr>
              <a:t>, lo que garantiza que se puedan compartir, comprender y aplicar fácilmente, tanto de forma independiente como en combinación con otras prácticas de </a:t>
            </a:r>
            <a:r>
              <a:rPr lang="es-MX" dirty="0">
                <a:latin typeface="Arial" panose="020B0604020202020204" pitchFamily="34" charset="0"/>
                <a:cs typeface="Arial" panose="020B0604020202020204" pitchFamily="34" charset="0"/>
              </a:rPr>
              <a:t>ESSENCE</a:t>
            </a:r>
            <a:r>
              <a:rPr lang="es-ES" dirty="0">
                <a:latin typeface="Arial" panose="020B0604020202020204" pitchFamily="34" charset="0"/>
                <a:cs typeface="Arial" panose="020B0604020202020204" pitchFamily="34" charset="0"/>
              </a:rPr>
              <a:t>.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 El </a:t>
            </a:r>
            <a:r>
              <a:rPr lang="es-ES" b="1" dirty="0">
                <a:latin typeface="Arial" panose="020B0604020202020204" pitchFamily="34" charset="0"/>
                <a:cs typeface="Arial" panose="020B0604020202020204" pitchFamily="34" charset="0"/>
              </a:rPr>
              <a:t>núcleo</a:t>
            </a:r>
            <a:r>
              <a:rPr lang="es-ES" dirty="0">
                <a:latin typeface="Arial" panose="020B0604020202020204" pitchFamily="34" charset="0"/>
                <a:cs typeface="Arial" panose="020B0604020202020204" pitchFamily="34" charset="0"/>
              </a:rPr>
              <a:t> de </a:t>
            </a:r>
            <a:r>
              <a:rPr lang="es-MX" dirty="0">
                <a:latin typeface="Arial" panose="020B0604020202020204" pitchFamily="34" charset="0"/>
                <a:cs typeface="Arial" panose="020B0604020202020204" pitchFamily="34" charset="0"/>
              </a:rPr>
              <a:t>ESSENCE</a:t>
            </a:r>
            <a:r>
              <a:rPr lang="es-ES" dirty="0">
                <a:latin typeface="Arial" panose="020B0604020202020204" pitchFamily="34" charset="0"/>
                <a:cs typeface="Arial" panose="020B0604020202020204" pitchFamily="34" charset="0"/>
              </a:rPr>
              <a:t> </a:t>
            </a:r>
            <a:r>
              <a:rPr lang="es-ES" b="1" dirty="0">
                <a:latin typeface="Arial" panose="020B0604020202020204" pitchFamily="34" charset="0"/>
                <a:cs typeface="Arial" panose="020B0604020202020204" pitchFamily="34" charset="0"/>
              </a:rPr>
              <a:t>proporciona la base común para definir estas prácticas</a:t>
            </a:r>
            <a:r>
              <a:rPr lang="es-ES" dirty="0">
                <a:latin typeface="Arial" panose="020B0604020202020204" pitchFamily="34" charset="0"/>
                <a:cs typeface="Arial" panose="020B0604020202020204" pitchFamily="34" charset="0"/>
              </a:rPr>
              <a:t>. </a:t>
            </a:r>
          </a:p>
          <a:p>
            <a:pPr marL="285750"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Incluye los elementos esenciales que siempre son fundamentales en cualquier proyecto de ingeniería de software. </a:t>
            </a:r>
          </a:p>
          <a:p>
            <a:pPr marL="285750" indent="-285750">
              <a:buFont typeface="Courier New" panose="02070309020205020404" pitchFamily="49" charset="0"/>
              <a:buChar char="o"/>
            </a:pPr>
            <a:r>
              <a:rPr lang="es-ES" dirty="0">
                <a:latin typeface="Arial" panose="020B0604020202020204" pitchFamily="34" charset="0"/>
                <a:cs typeface="Arial" panose="020B0604020202020204" pitchFamily="34" charset="0"/>
              </a:rPr>
              <a:t>El núcleo también ayuda a los profesionales a comparar prácticas y a tomar decisiones informadas sobre qué prácticas adoptar, cómo aplicarlas y adaptarlas.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9818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C01F-F8C8-F9DC-38A4-0AC472E9A6F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94FFABD-4865-F160-B094-6023A34893E1}"/>
              </a:ext>
            </a:extLst>
          </p:cNvPr>
          <p:cNvSpPr txBox="1"/>
          <p:nvPr/>
        </p:nvSpPr>
        <p:spPr>
          <a:xfrm>
            <a:off x="1980209" y="2162782"/>
            <a:ext cx="8208819" cy="2062103"/>
          </a:xfrm>
          <a:prstGeom prst="rect">
            <a:avLst/>
          </a:prstGeom>
          <a:noFill/>
        </p:spPr>
        <p:txBody>
          <a:bodyPr wrap="square">
            <a:spAutoFit/>
          </a:bodyPr>
          <a:lstStyle/>
          <a:p>
            <a:pPr algn="ctr"/>
            <a:r>
              <a:rPr lang="es-MX" sz="3200" dirty="0">
                <a:latin typeface="Arial" panose="020B0604020202020204" pitchFamily="34" charset="0"/>
                <a:cs typeface="Arial" panose="020B0604020202020204" pitchFamily="34" charset="0"/>
              </a:rPr>
              <a:t>El </a:t>
            </a:r>
            <a:r>
              <a:rPr lang="es-MX" sz="3200" b="1" dirty="0">
                <a:solidFill>
                  <a:srgbClr val="0070C0"/>
                </a:solidFill>
                <a:latin typeface="Arial" panose="020B0604020202020204" pitchFamily="34" charset="0"/>
                <a:cs typeface="Arial" panose="020B0604020202020204" pitchFamily="34" charset="0"/>
              </a:rPr>
              <a:t>Lenguaje ESSENCE</a:t>
            </a:r>
            <a:r>
              <a:rPr lang="es-MX" sz="3200" dirty="0">
                <a:solidFill>
                  <a:srgbClr val="0070C0"/>
                </a:solidFill>
                <a:latin typeface="Arial" panose="020B0604020202020204" pitchFamily="34" charset="0"/>
                <a:cs typeface="Arial" panose="020B0604020202020204" pitchFamily="34" charset="0"/>
              </a:rPr>
              <a:t> define </a:t>
            </a:r>
            <a:r>
              <a:rPr lang="es-MX" sz="3200" i="1" dirty="0">
                <a:solidFill>
                  <a:srgbClr val="0070C0"/>
                </a:solidFill>
                <a:latin typeface="Arial" panose="020B0604020202020204" pitchFamily="34" charset="0"/>
                <a:cs typeface="Arial" panose="020B0604020202020204" pitchFamily="34" charset="0"/>
              </a:rPr>
              <a:t>cómo describir</a:t>
            </a:r>
            <a:r>
              <a:rPr lang="es-MX" sz="3200" dirty="0">
                <a:solidFill>
                  <a:srgbClr val="0070C0"/>
                </a:solidFill>
                <a:latin typeface="Arial" panose="020B0604020202020204" pitchFamily="34" charset="0"/>
                <a:cs typeface="Arial" panose="020B0604020202020204" pitchFamily="34" charset="0"/>
              </a:rPr>
              <a:t> métodos</a:t>
            </a:r>
            <a:r>
              <a:rPr lang="es-MX" sz="3200" dirty="0">
                <a:latin typeface="Arial" panose="020B0604020202020204" pitchFamily="34" charset="0"/>
                <a:cs typeface="Arial" panose="020B0604020202020204" pitchFamily="34" charset="0"/>
              </a:rPr>
              <a:t>, mientras que el </a:t>
            </a:r>
            <a:r>
              <a:rPr lang="es-MX" sz="3200" b="1" dirty="0">
                <a:solidFill>
                  <a:schemeClr val="accent5"/>
                </a:solidFill>
                <a:latin typeface="Arial" panose="020B0604020202020204" pitchFamily="34" charset="0"/>
                <a:cs typeface="Arial" panose="020B0604020202020204" pitchFamily="34" charset="0"/>
              </a:rPr>
              <a:t>Kernel ESSENCE</a:t>
            </a:r>
            <a:r>
              <a:rPr lang="es-MX" sz="3200" dirty="0">
                <a:solidFill>
                  <a:schemeClr val="accent5"/>
                </a:solidFill>
                <a:latin typeface="Arial" panose="020B0604020202020204" pitchFamily="34" charset="0"/>
                <a:cs typeface="Arial" panose="020B0604020202020204" pitchFamily="34" charset="0"/>
              </a:rPr>
              <a:t> define </a:t>
            </a:r>
            <a:r>
              <a:rPr lang="es-MX" sz="3200" i="1" dirty="0">
                <a:solidFill>
                  <a:schemeClr val="accent5"/>
                </a:solidFill>
                <a:latin typeface="Arial" panose="020B0604020202020204" pitchFamily="34" charset="0"/>
                <a:cs typeface="Arial" panose="020B0604020202020204" pitchFamily="34" charset="0"/>
              </a:rPr>
              <a:t>qué es común a todos los métodos</a:t>
            </a:r>
            <a:r>
              <a:rPr lang="es-MX" sz="3200" dirty="0">
                <a:solidFill>
                  <a:schemeClr val="accent5"/>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233624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360C5-0CF8-E3CB-D3BA-C91A4CD3C2EC}"/>
            </a:ext>
          </a:extLst>
        </p:cNvPr>
        <p:cNvGrpSpPr/>
        <p:nvPr/>
      </p:nvGrpSpPr>
      <p:grpSpPr>
        <a:xfrm>
          <a:off x="0" y="0"/>
          <a:ext cx="0" cy="0"/>
          <a:chOff x="0" y="0"/>
          <a:chExt cx="0" cy="0"/>
        </a:xfrm>
      </p:grpSpPr>
      <p:pic>
        <p:nvPicPr>
          <p:cNvPr id="8194" name="Picture 2" descr="Essence Overview image">
            <a:extLst>
              <a:ext uri="{FF2B5EF4-FFF2-40B4-BE49-F238E27FC236}">
                <a16:creationId xmlns:a16="http://schemas.microsoft.com/office/drawing/2014/main" id="{B6111339-5713-FC4E-97A7-A5417977770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132765" y="1249108"/>
            <a:ext cx="5926470" cy="4622646"/>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D22DB9C6-9862-0A9A-C192-60BD2D3037D1}"/>
              </a:ext>
            </a:extLst>
          </p:cNvPr>
          <p:cNvSpPr/>
          <p:nvPr/>
        </p:nvSpPr>
        <p:spPr>
          <a:xfrm>
            <a:off x="1843712" y="787443"/>
            <a:ext cx="7822801" cy="923330"/>
          </a:xfrm>
          <a:prstGeom prst="rect">
            <a:avLst/>
          </a:prstGeom>
          <a:noFill/>
        </p:spPr>
        <p:txBody>
          <a:bodyPr wrap="squar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Elementos de Essence</a:t>
            </a:r>
          </a:p>
        </p:txBody>
      </p:sp>
    </p:spTree>
    <p:extLst>
      <p:ext uri="{BB962C8B-B14F-4D97-AF65-F5344CB8AC3E}">
        <p14:creationId xmlns:p14="http://schemas.microsoft.com/office/powerpoint/2010/main" val="539360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AA96B-3588-E410-D783-B91F637B0D53}"/>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A86873E0-2EBE-4DE3-1CE7-A2AB5E640223}"/>
              </a:ext>
            </a:extLst>
          </p:cNvPr>
          <p:cNvSpPr/>
          <p:nvPr/>
        </p:nvSpPr>
        <p:spPr>
          <a:xfrm>
            <a:off x="2077372" y="2967335"/>
            <a:ext cx="8037265" cy="923330"/>
          </a:xfrm>
          <a:prstGeom prst="rect">
            <a:avLst/>
          </a:prstGeom>
          <a:noFill/>
        </p:spPr>
        <p:txBody>
          <a:bodyPr wrap="non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El LENGUAJE de ESSENCE</a:t>
            </a:r>
          </a:p>
        </p:txBody>
      </p:sp>
    </p:spTree>
    <p:extLst>
      <p:ext uri="{BB962C8B-B14F-4D97-AF65-F5344CB8AC3E}">
        <p14:creationId xmlns:p14="http://schemas.microsoft.com/office/powerpoint/2010/main" val="234039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07606-A054-7183-8972-7FA79B737B3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3838534B-32CE-2251-56E8-E525134DFB03}"/>
              </a:ext>
            </a:extLst>
          </p:cNvPr>
          <p:cNvSpPr txBox="1"/>
          <p:nvPr/>
        </p:nvSpPr>
        <p:spPr>
          <a:xfrm>
            <a:off x="1766454" y="1759158"/>
            <a:ext cx="9420101" cy="1754326"/>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El </a:t>
            </a:r>
            <a:r>
              <a:rPr lang="es-MX" b="1" dirty="0">
                <a:latin typeface="Arial" panose="020B0604020202020204" pitchFamily="34" charset="0"/>
                <a:cs typeface="Arial" panose="020B0604020202020204" pitchFamily="34" charset="0"/>
              </a:rPr>
              <a:t>lenguaje ESSENCE</a:t>
            </a:r>
            <a:r>
              <a:rPr lang="es-MX" dirty="0">
                <a:latin typeface="Arial" panose="020B0604020202020204" pitchFamily="34" charset="0"/>
                <a:cs typeface="Arial" panose="020B0604020202020204" pitchFamily="34" charset="0"/>
              </a:rPr>
              <a:t> (</a:t>
            </a:r>
            <a:r>
              <a:rPr lang="es-MX" i="1" dirty="0">
                <a:latin typeface="Arial" panose="020B0604020202020204" pitchFamily="34" charset="0"/>
                <a:cs typeface="Arial" panose="020B0604020202020204" pitchFamily="34" charset="0"/>
              </a:rPr>
              <a:t>Essence Language</a:t>
            </a:r>
            <a:r>
              <a:rPr lang="es-MX" dirty="0">
                <a:latin typeface="Arial" panose="020B0604020202020204" pitchFamily="34" charset="0"/>
                <a:cs typeface="Arial" panose="020B0604020202020204" pitchFamily="34" charset="0"/>
              </a:rPr>
              <a:t>) es el </a:t>
            </a:r>
            <a:r>
              <a:rPr lang="es-MX" b="1" dirty="0">
                <a:latin typeface="Arial" panose="020B0604020202020204" pitchFamily="34" charset="0"/>
                <a:cs typeface="Arial" panose="020B0604020202020204" pitchFamily="34" charset="0"/>
              </a:rPr>
              <a:t>metamodelo y notación formal</a:t>
            </a:r>
            <a:r>
              <a:rPr lang="es-MX" dirty="0">
                <a:latin typeface="Arial" panose="020B0604020202020204" pitchFamily="34" charset="0"/>
                <a:cs typeface="Arial" panose="020B0604020202020204" pitchFamily="34" charset="0"/>
              </a:rPr>
              <a:t> que permite </a:t>
            </a:r>
            <a:r>
              <a:rPr lang="es-MX" b="1" dirty="0">
                <a:latin typeface="Arial" panose="020B0604020202020204" pitchFamily="34" charset="0"/>
                <a:cs typeface="Arial" panose="020B0604020202020204" pitchFamily="34" charset="0"/>
              </a:rPr>
              <a:t>describir, representar y extender</a:t>
            </a:r>
            <a:r>
              <a:rPr lang="es-MX" dirty="0">
                <a:latin typeface="Arial" panose="020B0604020202020204" pitchFamily="34" charset="0"/>
                <a:cs typeface="Arial" panose="020B0604020202020204" pitchFamily="34" charset="0"/>
              </a:rPr>
              <a:t> prácticas, métodos y marcos de trabajo de desarrollo de software.</a:t>
            </a:r>
          </a:p>
          <a:p>
            <a:br>
              <a:rPr lang="es-MX" dirty="0">
                <a:latin typeface="Arial" panose="020B0604020202020204" pitchFamily="34" charset="0"/>
                <a:cs typeface="Arial" panose="020B0604020202020204" pitchFamily="34" charset="0"/>
              </a:rPr>
            </a:br>
            <a:r>
              <a:rPr lang="es-MX" dirty="0">
                <a:latin typeface="Arial" panose="020B0604020202020204" pitchFamily="34" charset="0"/>
                <a:cs typeface="Arial" panose="020B0604020202020204" pitchFamily="34" charset="0"/>
              </a:rPr>
              <a:t>Su propósito es </a:t>
            </a:r>
            <a:r>
              <a:rPr lang="es-MX" b="1" dirty="0">
                <a:latin typeface="Arial" panose="020B0604020202020204" pitchFamily="34" charset="0"/>
                <a:cs typeface="Arial" panose="020B0604020202020204" pitchFamily="34" charset="0"/>
              </a:rPr>
              <a:t>dar un lenguaje común</a:t>
            </a:r>
            <a:r>
              <a:rPr lang="es-MX" dirty="0">
                <a:latin typeface="Arial" panose="020B0604020202020204" pitchFamily="34" charset="0"/>
                <a:cs typeface="Arial" panose="020B0604020202020204" pitchFamily="34" charset="0"/>
              </a:rPr>
              <a:t> para modelar cualquier proceso o método ágil o tradicional.</a:t>
            </a:r>
          </a:p>
        </p:txBody>
      </p:sp>
    </p:spTree>
    <p:extLst>
      <p:ext uri="{BB962C8B-B14F-4D97-AF65-F5344CB8AC3E}">
        <p14:creationId xmlns:p14="http://schemas.microsoft.com/office/powerpoint/2010/main" val="3088446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8EC5-5278-DDD4-9927-05748C11A8EF}"/>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B4FB2641-FDA0-78CA-423C-BE00C24BABB1}"/>
              </a:ext>
            </a:extLst>
          </p:cNvPr>
          <p:cNvGraphicFramePr>
            <a:graphicFrameLocks noGrp="1"/>
          </p:cNvGraphicFramePr>
          <p:nvPr/>
        </p:nvGraphicFramePr>
        <p:xfrm>
          <a:off x="1258784" y="2038187"/>
          <a:ext cx="10277874" cy="3398206"/>
        </p:xfrm>
        <a:graphic>
          <a:graphicData uri="http://schemas.openxmlformats.org/drawingml/2006/table">
            <a:tbl>
              <a:tblPr/>
              <a:tblGrid>
                <a:gridCol w="2269969">
                  <a:extLst>
                    <a:ext uri="{9D8B030D-6E8A-4147-A177-3AD203B41FA5}">
                      <a16:colId xmlns:a16="http://schemas.microsoft.com/office/drawing/2014/main" val="2877999919"/>
                    </a:ext>
                  </a:extLst>
                </a:gridCol>
                <a:gridCol w="4569152">
                  <a:extLst>
                    <a:ext uri="{9D8B030D-6E8A-4147-A177-3AD203B41FA5}">
                      <a16:colId xmlns:a16="http://schemas.microsoft.com/office/drawing/2014/main" val="865586159"/>
                    </a:ext>
                  </a:extLst>
                </a:gridCol>
                <a:gridCol w="3438753">
                  <a:extLst>
                    <a:ext uri="{9D8B030D-6E8A-4147-A177-3AD203B41FA5}">
                      <a16:colId xmlns:a16="http://schemas.microsoft.com/office/drawing/2014/main" val="4170049004"/>
                    </a:ext>
                  </a:extLst>
                </a:gridCol>
              </a:tblGrid>
              <a:tr h="258448">
                <a:tc>
                  <a:txBody>
                    <a:bodyPr/>
                    <a:lstStyle/>
                    <a:p>
                      <a:pPr algn="l" fontAlgn="ctr">
                        <a:buNone/>
                      </a:pPr>
                      <a:r>
                        <a:rPr lang="es-MX" sz="1400" b="1" i="0" u="none" strike="noStrike" dirty="0">
                          <a:solidFill>
                            <a:schemeClr val="tx1"/>
                          </a:solidFill>
                          <a:effectLst/>
                          <a:latin typeface="Arial" panose="020B0604020202020204" pitchFamily="34" charset="0"/>
                        </a:rPr>
                        <a:t>Componente</a:t>
                      </a:r>
                      <a:endParaRPr lang="es-MX" sz="1400" b="0" i="0" u="none" strike="noStrike" dirty="0">
                        <a:solidFill>
                          <a:schemeClr val="tx1"/>
                        </a:solidFill>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solidFill>
                            <a:schemeClr val="tx1"/>
                          </a:solidFill>
                          <a:effectLst/>
                          <a:latin typeface="Arial" panose="020B0604020202020204" pitchFamily="34" charset="0"/>
                        </a:rPr>
                        <a:t>Descripción</a:t>
                      </a:r>
                      <a:endParaRPr lang="es-MX" sz="1400" b="0" i="0" u="none" strike="noStrike">
                        <a:solidFill>
                          <a:schemeClr val="tx1"/>
                        </a:solidFill>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dirty="0">
                          <a:solidFill>
                            <a:schemeClr val="tx1"/>
                          </a:solidFill>
                          <a:effectLst/>
                          <a:latin typeface="Arial" panose="020B0604020202020204" pitchFamily="34" charset="0"/>
                        </a:rPr>
                        <a:t>Ejemplo</a:t>
                      </a:r>
                      <a:endParaRPr lang="es-MX" sz="1400" b="0" i="0" u="none" strike="noStrike" dirty="0">
                        <a:solidFill>
                          <a:schemeClr val="tx1"/>
                        </a:solidFill>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284219103"/>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Practices (Prácticas)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Conjunto coherente de actividades, alphas y competencias que logran un propósito específico.</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Scrum, Kanban, Diseño Dirigido por Dominios (DDD)</a:t>
                      </a:r>
                    </a:p>
                  </a:txBody>
                  <a:tcPr marL="58738" marR="58738" marT="29369" marB="29369" anchor="ctr">
                    <a:lnL>
                      <a:noFill/>
                    </a:lnL>
                    <a:lnR>
                      <a:noFill/>
                    </a:lnR>
                    <a:lnT>
                      <a:noFill/>
                    </a:lnT>
                    <a:lnB>
                      <a:noFill/>
                    </a:lnB>
                    <a:noFill/>
                  </a:tcPr>
                </a:tc>
                <a:extLst>
                  <a:ext uri="{0D108BD9-81ED-4DB2-BD59-A6C34878D82A}">
                    <a16:rowId xmlns:a16="http://schemas.microsoft.com/office/drawing/2014/main" val="793850338"/>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Alphas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cs typeface="Arial" panose="020B0604020202020204" pitchFamily="34" charset="0"/>
                        </a:rPr>
                        <a:t>Entidades esenciales que evolucionan a lo largo del tiempo y reflejan el progreso.</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cs typeface="Arial" panose="020B0604020202020204" pitchFamily="34" charset="0"/>
                        </a:rPr>
                        <a:t>Sistema de Software, Equipo, Requisitos</a:t>
                      </a:r>
                    </a:p>
                  </a:txBody>
                  <a:tcPr marL="58738" marR="58738" marT="29369" marB="29369" anchor="ctr">
                    <a:lnL>
                      <a:noFill/>
                    </a:lnL>
                    <a:lnR>
                      <a:noFill/>
                    </a:lnR>
                    <a:lnT>
                      <a:noFill/>
                    </a:lnT>
                    <a:lnB>
                      <a:noFill/>
                    </a:lnB>
                    <a:noFill/>
                  </a:tcPr>
                </a:tc>
                <a:extLst>
                  <a:ext uri="{0D108BD9-81ED-4DB2-BD59-A6C34878D82A}">
                    <a16:rowId xmlns:a16="http://schemas.microsoft.com/office/drawing/2014/main" val="4082183283"/>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States (Estados) de los ALPHAS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Condiciones que describen el progreso o madurez de un Alfa.</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"Requisitos Identificados", "Requisitos Cumplidos"</a:t>
                      </a:r>
                    </a:p>
                  </a:txBody>
                  <a:tcPr marL="58738" marR="58738" marT="29369" marB="29369" anchor="ctr">
                    <a:lnL>
                      <a:noFill/>
                    </a:lnL>
                    <a:lnR>
                      <a:noFill/>
                    </a:lnR>
                    <a:lnT>
                      <a:noFill/>
                    </a:lnT>
                    <a:lnB>
                      <a:noFill/>
                    </a:lnB>
                    <a:noFill/>
                  </a:tcPr>
                </a:tc>
                <a:extLst>
                  <a:ext uri="{0D108BD9-81ED-4DB2-BD59-A6C34878D82A}">
                    <a16:rowId xmlns:a16="http://schemas.microsoft.com/office/drawing/2014/main" val="3721056587"/>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Work Products (Productos de trabajo)</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Artefactos o entregables producidos durante el trabajo.</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Documento de requisitos, código fuente, manual de usuario</a:t>
                      </a:r>
                    </a:p>
                  </a:txBody>
                  <a:tcPr marL="58738" marR="58738" marT="29369" marB="29369" anchor="ctr">
                    <a:lnL>
                      <a:noFill/>
                    </a:lnL>
                    <a:lnR>
                      <a:noFill/>
                    </a:lnR>
                    <a:lnT>
                      <a:noFill/>
                    </a:lnT>
                    <a:lnB>
                      <a:noFill/>
                    </a:lnB>
                    <a:noFill/>
                  </a:tcPr>
                </a:tc>
                <a:extLst>
                  <a:ext uri="{0D108BD9-81ED-4DB2-BD59-A6C34878D82A}">
                    <a16:rowId xmlns:a16="http://schemas.microsoft.com/office/drawing/2014/main" val="1080494203"/>
                  </a:ext>
                </a:extLst>
              </a:tr>
              <a:tr h="434663">
                <a:tc>
                  <a:txBody>
                    <a:bodyPr/>
                    <a:lstStyle/>
                    <a:p>
                      <a:pPr algn="l" fontAlgn="ctr">
                        <a:buNone/>
                      </a:pPr>
                      <a:r>
                        <a:rPr lang="es-ES" sz="1400" b="1" dirty="0">
                          <a:solidFill>
                            <a:srgbClr val="0070C0"/>
                          </a:solidFill>
                          <a:latin typeface="Arial" panose="020B0604020202020204" pitchFamily="34" charset="0"/>
                          <a:cs typeface="Arial" panose="020B0604020202020204" pitchFamily="34" charset="0"/>
                        </a:rPr>
                        <a:t>Niveles de detalle del producto de trabajo</a:t>
                      </a:r>
                      <a:endParaRPr lang="es-MX" sz="1400" b="1"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Un nivel de detalle es la cantidad de detalle o rango de contenido en un producto de trabajo. </a:t>
                      </a:r>
                      <a:endParaRPr lang="es-MX" sz="1400" b="0" i="0" u="none" strike="noStrike" dirty="0">
                        <a:solidFill>
                          <a:srgbClr val="FF000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Una tarjeta de historia con su valor expresado o, además, con sus criterios de aceptación enumerados</a:t>
                      </a:r>
                      <a:r>
                        <a:rPr lang="es-MX" sz="1400" b="0" i="0" u="none" strike="noStrike" dirty="0">
                          <a:solidFill>
                            <a:srgbClr val="FF0000"/>
                          </a:solidFill>
                          <a:effectLst/>
                          <a:latin typeface="Arial" panose="020B0604020202020204" pitchFamily="34" charset="0"/>
                          <a:cs typeface="Arial" panose="020B0604020202020204" pitchFamily="34" charset="0"/>
                        </a:rPr>
                        <a:t>.</a:t>
                      </a:r>
                    </a:p>
                  </a:txBody>
                  <a:tcPr marL="58738" marR="58738" marT="29369" marB="29369" anchor="ctr">
                    <a:lnL>
                      <a:noFill/>
                    </a:lnL>
                    <a:lnR>
                      <a:noFill/>
                    </a:lnR>
                    <a:lnT>
                      <a:noFill/>
                    </a:lnT>
                    <a:lnB>
                      <a:noFill/>
                    </a:lnB>
                    <a:noFill/>
                  </a:tcPr>
                </a:tc>
                <a:extLst>
                  <a:ext uri="{0D108BD9-81ED-4DB2-BD59-A6C34878D82A}">
                    <a16:rowId xmlns:a16="http://schemas.microsoft.com/office/drawing/2014/main" val="3071475074"/>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Activities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Acciones concretas dentro de un espacio de actividad.</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“Diseñar arquitectura”, “Escribir código”, “Ejecutar pruebas”</a:t>
                      </a:r>
                    </a:p>
                  </a:txBody>
                  <a:tcPr marL="58738" marR="58738" marT="29369" marB="29369" anchor="ctr">
                    <a:lnL>
                      <a:noFill/>
                    </a:lnL>
                    <a:lnR>
                      <a:noFill/>
                    </a:lnR>
                    <a:lnT>
                      <a:noFill/>
                    </a:lnT>
                    <a:lnB>
                      <a:noFill/>
                    </a:lnB>
                    <a:noFill/>
                  </a:tcPr>
                </a:tc>
                <a:extLst>
                  <a:ext uri="{0D108BD9-81ED-4DB2-BD59-A6C34878D82A}">
                    <a16:rowId xmlns:a16="http://schemas.microsoft.com/office/drawing/2014/main" val="3780612177"/>
                  </a:ext>
                </a:extLst>
              </a:tr>
            </a:tbl>
          </a:graphicData>
        </a:graphic>
      </p:graphicFrame>
      <p:sp>
        <p:nvSpPr>
          <p:cNvPr id="4" name="CuadroTexto 3">
            <a:extLst>
              <a:ext uri="{FF2B5EF4-FFF2-40B4-BE49-F238E27FC236}">
                <a16:creationId xmlns:a16="http://schemas.microsoft.com/office/drawing/2014/main" id="{63E79DDC-1CCB-1764-8042-72D9627E14ED}"/>
              </a:ext>
            </a:extLst>
          </p:cNvPr>
          <p:cNvSpPr txBox="1"/>
          <p:nvPr/>
        </p:nvSpPr>
        <p:spPr>
          <a:xfrm>
            <a:off x="1077686" y="1133495"/>
            <a:ext cx="6097978" cy="369332"/>
          </a:xfrm>
          <a:prstGeom prst="rect">
            <a:avLst/>
          </a:prstGeom>
          <a:noFill/>
        </p:spPr>
        <p:txBody>
          <a:bodyPr wrap="square">
            <a:spAutoFit/>
          </a:bodyPr>
          <a:lstStyle/>
          <a:p>
            <a:r>
              <a:rPr lang="es-MX" b="1" dirty="0"/>
              <a:t>COMPONENTES DEL LENGUAJE ESSENCE</a:t>
            </a:r>
          </a:p>
        </p:txBody>
      </p:sp>
    </p:spTree>
    <p:extLst>
      <p:ext uri="{BB962C8B-B14F-4D97-AF65-F5344CB8AC3E}">
        <p14:creationId xmlns:p14="http://schemas.microsoft.com/office/powerpoint/2010/main" val="2539416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BC41E-E11B-E214-BF46-7BBF93C8EE6F}"/>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F50A0ADA-09E5-6613-702E-DF9DFA37EB91}"/>
              </a:ext>
            </a:extLst>
          </p:cNvPr>
          <p:cNvGraphicFramePr>
            <a:graphicFrameLocks noGrp="1"/>
          </p:cNvGraphicFramePr>
          <p:nvPr/>
        </p:nvGraphicFramePr>
        <p:xfrm>
          <a:off x="880975" y="1431647"/>
          <a:ext cx="10554964" cy="3707450"/>
        </p:xfrm>
        <a:graphic>
          <a:graphicData uri="http://schemas.openxmlformats.org/drawingml/2006/table">
            <a:tbl>
              <a:tblPr/>
              <a:tblGrid>
                <a:gridCol w="3097836">
                  <a:extLst>
                    <a:ext uri="{9D8B030D-6E8A-4147-A177-3AD203B41FA5}">
                      <a16:colId xmlns:a16="http://schemas.microsoft.com/office/drawing/2014/main" val="2877999919"/>
                    </a:ext>
                  </a:extLst>
                </a:gridCol>
                <a:gridCol w="3925667">
                  <a:extLst>
                    <a:ext uri="{9D8B030D-6E8A-4147-A177-3AD203B41FA5}">
                      <a16:colId xmlns:a16="http://schemas.microsoft.com/office/drawing/2014/main" val="865586159"/>
                    </a:ext>
                  </a:extLst>
                </a:gridCol>
                <a:gridCol w="3531461">
                  <a:extLst>
                    <a:ext uri="{9D8B030D-6E8A-4147-A177-3AD203B41FA5}">
                      <a16:colId xmlns:a16="http://schemas.microsoft.com/office/drawing/2014/main" val="4170049004"/>
                    </a:ext>
                  </a:extLst>
                </a:gridCol>
              </a:tblGrid>
              <a:tr h="258448">
                <a:tc>
                  <a:txBody>
                    <a:bodyPr/>
                    <a:lstStyle/>
                    <a:p>
                      <a:pPr algn="l" fontAlgn="ctr">
                        <a:buNone/>
                      </a:pPr>
                      <a:r>
                        <a:rPr lang="es-MX" sz="1400" b="1" i="0" u="none" strike="noStrike">
                          <a:effectLst/>
                          <a:latin typeface="Arial" panose="020B0604020202020204" pitchFamily="34" charset="0"/>
                        </a:rPr>
                        <a:t>Componente</a:t>
                      </a:r>
                      <a:endParaRPr lang="es-MX" sz="1400" b="0" i="0" u="none" strike="noStrike">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effectLst/>
                          <a:latin typeface="Arial" panose="020B0604020202020204" pitchFamily="34" charset="0"/>
                        </a:rPr>
                        <a:t>Descripción</a:t>
                      </a:r>
                      <a:endParaRPr lang="es-MX" sz="1400" b="0" i="0" u="none" strike="noStrike">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dirty="0">
                          <a:effectLst/>
                          <a:latin typeface="Arial" panose="020B0604020202020204" pitchFamily="34" charset="0"/>
                        </a:rPr>
                        <a:t>Ejemplo</a:t>
                      </a:r>
                      <a:endParaRPr lang="es-MX" sz="1400" b="0" i="0" u="none" strike="noStrike" dirty="0">
                        <a:effectLst/>
                        <a:latin typeface="Arial" panose="020B0604020202020204" pitchFamily="34" charset="0"/>
                      </a:endParaRPr>
                    </a:p>
                  </a:txBody>
                  <a:tcPr marL="58738" marR="58738" marT="29369" marB="29369"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284219103"/>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Competencies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Habilidades y conocimientos requeridos para ejecutar actividades.</a:t>
                      </a:r>
                    </a:p>
                    <a:p>
                      <a:pPr marL="0" marR="0" lvl="0" indent="0" algn="l" defTabSz="914400" rtl="0" eaLnBrk="1" fontAlgn="ctr" latinLnBrk="0" hangingPunct="1">
                        <a:lnSpc>
                          <a:spcPct val="100000"/>
                        </a:lnSpc>
                        <a:spcBef>
                          <a:spcPts val="0"/>
                        </a:spcBef>
                        <a:spcAft>
                          <a:spcPts val="0"/>
                        </a:spcAft>
                        <a:buClrTx/>
                        <a:buSzTx/>
                        <a:buFontTx/>
                        <a:buNone/>
                        <a:tabLst/>
                        <a:defRPr/>
                      </a:pPr>
                      <a:r>
                        <a:rPr lang="es-ES" sz="1400" dirty="0">
                          <a:latin typeface="Arial" panose="020B0604020202020204" pitchFamily="34" charset="0"/>
                          <a:cs typeface="Arial" panose="020B0604020202020204" pitchFamily="34" charset="0"/>
                        </a:rPr>
                        <a:t>Una competencia abarca las habilidades, capacidades, logros, conocimientos y destrezas necesarias para realizar un determinado tipo de trabajo, como liderazgo, desarrollo o pruebas.</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Análisis, Desarrollo, Liderazgo, Gestión</a:t>
                      </a:r>
                    </a:p>
                  </a:txBody>
                  <a:tcPr marL="58738" marR="58738" marT="29369" marB="29369" anchor="ctr">
                    <a:lnL>
                      <a:noFill/>
                    </a:lnL>
                    <a:lnR>
                      <a:noFill/>
                    </a:lnR>
                    <a:lnT>
                      <a:noFill/>
                    </a:lnT>
                    <a:lnB>
                      <a:noFill/>
                    </a:lnB>
                    <a:noFill/>
                  </a:tcPr>
                </a:tc>
                <a:extLst>
                  <a:ext uri="{0D108BD9-81ED-4DB2-BD59-A6C34878D82A}">
                    <a16:rowId xmlns:a16="http://schemas.microsoft.com/office/drawing/2014/main" val="20972416"/>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Nivel de competencia</a:t>
                      </a: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Un nivel de competencia define el nivel de capacidad que tiene un miembro del equipo con respecto a una competencia.</a:t>
                      </a:r>
                      <a:endParaRPr lang="es-MX" sz="1400" b="0" i="0" u="none" strike="noStrike" dirty="0">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Desde el nivel 1 (Asiste) hasta el nivel 5 (Innova).</a:t>
                      </a:r>
                      <a:endParaRPr lang="es-MX" sz="1400" b="0" i="0" u="none" strike="noStrike" dirty="0">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extLst>
                  <a:ext uri="{0D108BD9-81ED-4DB2-BD59-A6C34878D82A}">
                    <a16:rowId xmlns:a16="http://schemas.microsoft.com/office/drawing/2014/main" val="3188087639"/>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Patterns (Patrones)</a:t>
                      </a:r>
                      <a:endParaRPr lang="es-MX" sz="1400" b="0" i="0" u="none" strike="noStrike" dirty="0">
                        <a:solidFill>
                          <a:srgbClr val="0070C0"/>
                        </a:solidFill>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cs typeface="Arial" panose="020B0604020202020204" pitchFamily="34" charset="0"/>
                        </a:rPr>
                        <a:t>Combinaciones reutilizables de prácticas, actividades o alphas que resuelven un problema común.</a:t>
                      </a:r>
                    </a:p>
                  </a:txBody>
                  <a:tcPr marL="58738" marR="58738" marT="29369" marB="29369"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cs typeface="Arial" panose="020B0604020202020204" pitchFamily="34" charset="0"/>
                        </a:rPr>
                        <a:t>Patrón de Sprint, Patrón de Revisión de Código</a:t>
                      </a:r>
                    </a:p>
                  </a:txBody>
                  <a:tcPr marL="58738" marR="58738" marT="29369" marB="29369" anchor="ctr">
                    <a:lnL>
                      <a:noFill/>
                    </a:lnL>
                    <a:lnR>
                      <a:noFill/>
                    </a:lnR>
                    <a:lnT>
                      <a:noFill/>
                    </a:lnT>
                    <a:lnB>
                      <a:noFill/>
                    </a:lnB>
                    <a:noFill/>
                  </a:tcPr>
                </a:tc>
                <a:extLst>
                  <a:ext uri="{0D108BD9-81ED-4DB2-BD59-A6C34878D82A}">
                    <a16:rowId xmlns:a16="http://schemas.microsoft.com/office/drawing/2014/main" val="3880044091"/>
                  </a:ext>
                </a:extLst>
              </a:tr>
              <a:tr h="434663">
                <a:tc>
                  <a:txBody>
                    <a:bodyPr/>
                    <a:lstStyle/>
                    <a:p>
                      <a:pPr algn="l" fontAlgn="ctr">
                        <a:buNone/>
                      </a:pPr>
                      <a:r>
                        <a:rPr lang="es-MX" sz="1400" b="1" i="0" u="none" strike="noStrike" dirty="0">
                          <a:solidFill>
                            <a:srgbClr val="0070C0"/>
                          </a:solidFill>
                          <a:effectLst/>
                          <a:latin typeface="Arial" panose="020B0604020202020204" pitchFamily="34" charset="0"/>
                          <a:cs typeface="Arial" panose="020B0604020202020204" pitchFamily="34" charset="0"/>
                        </a:rPr>
                        <a:t>Recursos</a:t>
                      </a: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Un recurso es una fuente de información o contenido, como un sitio web o la referencia de un libro.</a:t>
                      </a:r>
                      <a:endParaRPr lang="es-MX" sz="1400" b="0" i="0" u="none" strike="noStrike" dirty="0">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tc>
                  <a:txBody>
                    <a:bodyPr/>
                    <a:lstStyle/>
                    <a:p>
                      <a:pPr algn="l" fontAlgn="ctr">
                        <a:buNone/>
                      </a:pPr>
                      <a:r>
                        <a:rPr lang="es-ES" sz="1400" dirty="0">
                          <a:latin typeface="Arial" panose="020B0604020202020204" pitchFamily="34" charset="0"/>
                          <a:cs typeface="Arial" panose="020B0604020202020204" pitchFamily="34" charset="0"/>
                        </a:rPr>
                        <a:t>Para historias de usuario se enumeran varias referencias en línea, libros y otros recursos.</a:t>
                      </a:r>
                      <a:endParaRPr lang="es-MX" sz="1400" b="0" i="0" u="none" strike="noStrike" dirty="0">
                        <a:effectLst/>
                        <a:latin typeface="Arial" panose="020B0604020202020204" pitchFamily="34" charset="0"/>
                        <a:cs typeface="Arial" panose="020B0604020202020204" pitchFamily="34" charset="0"/>
                      </a:endParaRPr>
                    </a:p>
                  </a:txBody>
                  <a:tcPr marL="58738" marR="58738" marT="29369" marB="29369" anchor="ctr">
                    <a:lnL>
                      <a:noFill/>
                    </a:lnL>
                    <a:lnR>
                      <a:noFill/>
                    </a:lnR>
                    <a:lnT>
                      <a:noFill/>
                    </a:lnT>
                    <a:lnB>
                      <a:noFill/>
                    </a:lnB>
                    <a:noFill/>
                  </a:tcPr>
                </a:tc>
                <a:extLst>
                  <a:ext uri="{0D108BD9-81ED-4DB2-BD59-A6C34878D82A}">
                    <a16:rowId xmlns:a16="http://schemas.microsoft.com/office/drawing/2014/main" val="2915600494"/>
                  </a:ext>
                </a:extLst>
              </a:tr>
            </a:tbl>
          </a:graphicData>
        </a:graphic>
      </p:graphicFrame>
    </p:spTree>
    <p:extLst>
      <p:ext uri="{BB962C8B-B14F-4D97-AF65-F5344CB8AC3E}">
        <p14:creationId xmlns:p14="http://schemas.microsoft.com/office/powerpoint/2010/main" val="2142170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859F-BADF-1C8B-8282-6F69651D1A88}"/>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0A2E7616-93C0-1A73-A41C-4DE7DEC6AB76}"/>
              </a:ext>
            </a:extLst>
          </p:cNvPr>
          <p:cNvSpPr txBox="1"/>
          <p:nvPr/>
        </p:nvSpPr>
        <p:spPr>
          <a:xfrm>
            <a:off x="1445822" y="3429000"/>
            <a:ext cx="9978240" cy="2585323"/>
          </a:xfrm>
          <a:prstGeom prst="rect">
            <a:avLst/>
          </a:prstGeom>
          <a:noFill/>
        </p:spPr>
        <p:txBody>
          <a:bodyPr wrap="square">
            <a:spAutoFit/>
          </a:bodyPr>
          <a:lstStyle/>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Una práctica "cuenta una historia" sobre cómo logramos resultados valiosos.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Normalmente consta de: </a:t>
            </a:r>
          </a:p>
          <a:p>
            <a:r>
              <a:rPr lang="es-ES" dirty="0">
                <a:latin typeface="Arial" panose="020B0604020202020204" pitchFamily="34" charset="0"/>
                <a:cs typeface="Arial" panose="020B0604020202020204" pitchFamily="34" charset="0"/>
              </a:rPr>
              <a:t>• Una o más actividades que progresan… </a:t>
            </a:r>
          </a:p>
          <a:p>
            <a:r>
              <a:rPr lang="es-ES" dirty="0">
                <a:latin typeface="Arial" panose="020B0604020202020204" pitchFamily="34" charset="0"/>
                <a:cs typeface="Arial" panose="020B0604020202020204" pitchFamily="34" charset="0"/>
              </a:rPr>
              <a:t>• Uno o más elementos clave llamados Alfas, que se capturan y comunican mediante… </a:t>
            </a:r>
          </a:p>
          <a:p>
            <a:r>
              <a:rPr lang="es-ES" dirty="0">
                <a:latin typeface="Arial" panose="020B0604020202020204" pitchFamily="34" charset="0"/>
                <a:cs typeface="Arial" panose="020B0604020202020204" pitchFamily="34" charset="0"/>
              </a:rPr>
              <a:t>• Uno o más productos de trabajo, complementados y conectados con… </a:t>
            </a:r>
          </a:p>
          <a:p>
            <a:r>
              <a:rPr lang="es-ES" dirty="0">
                <a:latin typeface="Arial" panose="020B0604020202020204" pitchFamily="34" charset="0"/>
                <a:cs typeface="Arial" panose="020B0604020202020204" pitchFamily="34" charset="0"/>
              </a:rPr>
              <a:t>• Uno o más patrones, y se indica más información o se citan fuentes mediante… </a:t>
            </a:r>
          </a:p>
          <a:p>
            <a:r>
              <a:rPr lang="es-ES" dirty="0">
                <a:latin typeface="Arial" panose="020B0604020202020204" pitchFamily="34" charset="0"/>
                <a:cs typeface="Arial" panose="020B0604020202020204" pitchFamily="34" charset="0"/>
              </a:rPr>
              <a:t>• Referencias a uno o más recursos</a:t>
            </a:r>
            <a:endParaRPr lang="es-MX"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53FDA152-5552-98BA-29D8-D94D41A0B9D2}"/>
              </a:ext>
            </a:extLst>
          </p:cNvPr>
          <p:cNvSpPr txBox="1"/>
          <p:nvPr/>
        </p:nvSpPr>
        <p:spPr>
          <a:xfrm>
            <a:off x="3170712" y="1674674"/>
            <a:ext cx="8146472" cy="1754326"/>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práctica es un enfoque repetible para hacer algo con un propósito específico.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Puede utilizarse de forma independiente o en combinación con otras prácticas. Algunos ejemplos incluyen historias de usuario, casos de uso o Scrum. </a:t>
            </a:r>
          </a:p>
        </p:txBody>
      </p:sp>
      <p:pic>
        <p:nvPicPr>
          <p:cNvPr id="7" name="Imagen 6">
            <a:extLst>
              <a:ext uri="{FF2B5EF4-FFF2-40B4-BE49-F238E27FC236}">
                <a16:creationId xmlns:a16="http://schemas.microsoft.com/office/drawing/2014/main" id="{B2D99B91-094E-8597-3E7F-A47EC8B5566B}"/>
              </a:ext>
            </a:extLst>
          </p:cNvPr>
          <p:cNvPicPr>
            <a:picLocks noChangeAspect="1"/>
          </p:cNvPicPr>
          <p:nvPr/>
        </p:nvPicPr>
        <p:blipFill>
          <a:blip r:embed="rId2"/>
          <a:stretch>
            <a:fillRect/>
          </a:stretch>
        </p:blipFill>
        <p:spPr>
          <a:xfrm>
            <a:off x="1947554" y="1766707"/>
            <a:ext cx="1016000" cy="1117600"/>
          </a:xfrm>
          <a:prstGeom prst="rect">
            <a:avLst/>
          </a:prstGeom>
        </p:spPr>
      </p:pic>
      <p:sp>
        <p:nvSpPr>
          <p:cNvPr id="8" name="Rectángulo 7">
            <a:extLst>
              <a:ext uri="{FF2B5EF4-FFF2-40B4-BE49-F238E27FC236}">
                <a16:creationId xmlns:a16="http://schemas.microsoft.com/office/drawing/2014/main" id="{873952CA-5B54-C1F9-B1C0-A3982666E5F9}"/>
              </a:ext>
            </a:extLst>
          </p:cNvPr>
          <p:cNvSpPr/>
          <p:nvPr/>
        </p:nvSpPr>
        <p:spPr>
          <a:xfrm>
            <a:off x="1445822" y="571031"/>
            <a:ext cx="2637902" cy="923330"/>
          </a:xfrm>
          <a:prstGeom prst="rect">
            <a:avLst/>
          </a:prstGeom>
          <a:noFill/>
        </p:spPr>
        <p:txBody>
          <a:bodyPr wrap="none" lIns="91440" tIns="45720" rIns="91440" bIns="45720">
            <a:spAutoFit/>
          </a:bodyPr>
          <a:lstStyle/>
          <a:p>
            <a:pPr algn="ctr"/>
            <a:r>
              <a:rPr lang="es-MX" sz="5400" dirty="0">
                <a:ln w="0"/>
                <a:effectLst>
                  <a:outerShdw blurRad="38100" dist="19050" dir="2700000" algn="tl" rotWithShape="0">
                    <a:schemeClr val="dk1">
                      <a:alpha val="40000"/>
                    </a:schemeClr>
                  </a:outerShdw>
                </a:effectLst>
              </a:rPr>
              <a:t>Práctica</a:t>
            </a:r>
            <a:endParaRPr lang="es-MX"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13077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F30C5-87D6-CF00-96DE-24E5F8CE2A24}"/>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184DA37-9A90-014E-5E94-FDE319588D77}"/>
              </a:ext>
            </a:extLst>
          </p:cNvPr>
          <p:cNvSpPr txBox="1"/>
          <p:nvPr/>
        </p:nvSpPr>
        <p:spPr>
          <a:xfrm>
            <a:off x="1101436" y="824875"/>
            <a:ext cx="10678885"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práctica se describe mediante un conjunto de estos diferentes tipos de elementos, que se describirán brevemente en el resto de esta guía, junto con ejemplos de cada uno.</a:t>
            </a:r>
            <a:endParaRPr lang="es-MX"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B39D656E-338D-2122-5C57-489884EBA267}"/>
              </a:ext>
            </a:extLst>
          </p:cNvPr>
          <p:cNvPicPr>
            <a:picLocks noChangeAspect="1"/>
          </p:cNvPicPr>
          <p:nvPr/>
        </p:nvPicPr>
        <p:blipFill>
          <a:blip r:embed="rId2"/>
          <a:stretch>
            <a:fillRect/>
          </a:stretch>
        </p:blipFill>
        <p:spPr>
          <a:xfrm>
            <a:off x="1491587" y="1680523"/>
            <a:ext cx="9208825" cy="3235861"/>
          </a:xfrm>
          <a:prstGeom prst="rect">
            <a:avLst/>
          </a:prstGeom>
        </p:spPr>
      </p:pic>
    </p:spTree>
    <p:extLst>
      <p:ext uri="{BB962C8B-B14F-4D97-AF65-F5344CB8AC3E}">
        <p14:creationId xmlns:p14="http://schemas.microsoft.com/office/powerpoint/2010/main" val="1754589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0BB7-9755-2C9A-CBF1-88E99A91C92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EE218C1-8888-E4A9-5ECD-D863D6C38AB3}"/>
              </a:ext>
            </a:extLst>
          </p:cNvPr>
          <p:cNvSpPr txBox="1"/>
          <p:nvPr/>
        </p:nvSpPr>
        <p:spPr>
          <a:xfrm>
            <a:off x="2909454" y="1674674"/>
            <a:ext cx="8312727" cy="1200329"/>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Alfa es un aspecto o elemento clave que necesitamos para progresar, y su estado es un indicador clave del progreso general y la salud de un proyecto. Algunos ejemplos podrían ser una Historia de Usuario que avanza al estado "Terminado" o un Equipo que alcanza el estado "En Ejecución".</a:t>
            </a:r>
            <a:endParaRPr lang="es-MX"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6C85ED5-8C8F-0168-D891-BDBADA99A93E}"/>
              </a:ext>
            </a:extLst>
          </p:cNvPr>
          <p:cNvSpPr/>
          <p:nvPr/>
        </p:nvSpPr>
        <p:spPr>
          <a:xfrm>
            <a:off x="1315254" y="751344"/>
            <a:ext cx="1673471" cy="923330"/>
          </a:xfrm>
          <a:prstGeom prst="rect">
            <a:avLst/>
          </a:prstGeom>
          <a:noFill/>
        </p:spPr>
        <p:txBody>
          <a:bodyPr wrap="none" lIns="91440" tIns="45720" rIns="91440" bIns="45720">
            <a:spAutoFit/>
          </a:bodyPr>
          <a:lstStyle/>
          <a:p>
            <a:pPr algn="ctr"/>
            <a:r>
              <a:rPr lang="es-MX" sz="5400" dirty="0">
                <a:ln w="0"/>
                <a:effectLst>
                  <a:outerShdw blurRad="38100" dist="19050" dir="2700000" algn="tl" rotWithShape="0">
                    <a:schemeClr val="dk1">
                      <a:alpha val="40000"/>
                    </a:schemeClr>
                  </a:outerShdw>
                </a:effectLst>
              </a:rPr>
              <a:t>Alfas</a:t>
            </a:r>
            <a:endParaRPr lang="es-MX" sz="5400" b="0" cap="none" spc="0" dirty="0">
              <a:ln w="0"/>
              <a:solidFill>
                <a:schemeClr val="tx1"/>
              </a:solidFill>
              <a:effectLst>
                <a:outerShdw blurRad="38100" dist="19050" dir="2700000" algn="tl" rotWithShape="0">
                  <a:schemeClr val="dk1">
                    <a:alpha val="40000"/>
                  </a:schemeClr>
                </a:outerShdw>
              </a:effectLst>
            </a:endParaRPr>
          </a:p>
        </p:txBody>
      </p:sp>
      <p:pic>
        <p:nvPicPr>
          <p:cNvPr id="6" name="Imagen 5">
            <a:extLst>
              <a:ext uri="{FF2B5EF4-FFF2-40B4-BE49-F238E27FC236}">
                <a16:creationId xmlns:a16="http://schemas.microsoft.com/office/drawing/2014/main" id="{0D171F1C-42BB-DD7D-DD8D-E3E235946DCC}"/>
              </a:ext>
            </a:extLst>
          </p:cNvPr>
          <p:cNvPicPr>
            <a:picLocks noChangeAspect="1"/>
          </p:cNvPicPr>
          <p:nvPr/>
        </p:nvPicPr>
        <p:blipFill>
          <a:blip r:embed="rId2"/>
          <a:stretch>
            <a:fillRect/>
          </a:stretch>
        </p:blipFill>
        <p:spPr>
          <a:xfrm>
            <a:off x="1539008" y="1849388"/>
            <a:ext cx="1295400" cy="850900"/>
          </a:xfrm>
          <a:prstGeom prst="rect">
            <a:avLst/>
          </a:prstGeom>
        </p:spPr>
      </p:pic>
      <p:sp>
        <p:nvSpPr>
          <p:cNvPr id="8" name="CuadroTexto 7">
            <a:extLst>
              <a:ext uri="{FF2B5EF4-FFF2-40B4-BE49-F238E27FC236}">
                <a16:creationId xmlns:a16="http://schemas.microsoft.com/office/drawing/2014/main" id="{AF928582-9715-6CB3-B224-53CB66171F8E}"/>
              </a:ext>
            </a:extLst>
          </p:cNvPr>
          <p:cNvSpPr txBox="1"/>
          <p:nvPr/>
        </p:nvSpPr>
        <p:spPr>
          <a:xfrm>
            <a:off x="1315254" y="3339911"/>
            <a:ext cx="9906927" cy="2031325"/>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Las alfas son nuestro progreso</a:t>
            </a:r>
            <a:r>
              <a:rPr lang="es-ES" dirty="0">
                <a:latin typeface="Arial" panose="020B0604020202020204" pitchFamily="34" charset="0"/>
                <a:cs typeface="Arial" panose="020B0604020202020204" pitchFamily="34" charset="0"/>
              </a:rPr>
              <a:t>. </a:t>
            </a:r>
          </a:p>
          <a:p>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Son de vital importancia en ESSENCE porque nos permiten mantenernos enfocados en los valiosos resultados que buscamos, no en cuestiones secundarias como qué documentos físicos u otros artefactos pueden o no ayudarnos a lograrlos.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progreso pasa por varias etapas, de arriba a abajo, como se muestra en este ejemplo de una historia de usuario.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3488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61287-E0CA-1341-8B9C-664531A759D5}"/>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CFA39A9C-145F-5D20-2F5E-1C16A73F2B81}"/>
              </a:ext>
            </a:extLst>
          </p:cNvPr>
          <p:cNvPicPr>
            <a:picLocks noChangeAspect="1"/>
          </p:cNvPicPr>
          <p:nvPr/>
        </p:nvPicPr>
        <p:blipFill>
          <a:blip r:embed="rId2"/>
          <a:stretch>
            <a:fillRect/>
          </a:stretch>
        </p:blipFill>
        <p:spPr>
          <a:xfrm>
            <a:off x="5673436" y="958850"/>
            <a:ext cx="3505200" cy="4940300"/>
          </a:xfrm>
          <a:prstGeom prst="rect">
            <a:avLst/>
          </a:prstGeom>
        </p:spPr>
      </p:pic>
      <p:sp>
        <p:nvSpPr>
          <p:cNvPr id="4" name="Rectángulo 3">
            <a:extLst>
              <a:ext uri="{FF2B5EF4-FFF2-40B4-BE49-F238E27FC236}">
                <a16:creationId xmlns:a16="http://schemas.microsoft.com/office/drawing/2014/main" id="{94F59962-5259-19B5-AF72-207EB485E398}"/>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spTree>
    <p:extLst>
      <p:ext uri="{BB962C8B-B14F-4D97-AF65-F5344CB8AC3E}">
        <p14:creationId xmlns:p14="http://schemas.microsoft.com/office/powerpoint/2010/main" val="3885344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A0F56-C566-C355-6A10-290583BC91D5}"/>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E7D6B15-25C5-89D5-82A8-874764359A60}"/>
              </a:ext>
            </a:extLst>
          </p:cNvPr>
          <p:cNvSpPr txBox="1"/>
          <p:nvPr/>
        </p:nvSpPr>
        <p:spPr>
          <a:xfrm>
            <a:off x="1071253" y="3283344"/>
            <a:ext cx="10049493" cy="2031325"/>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estados Alfa pueden definirse de forma concisa y precisa en función de los elementos de la lista de verificación que deben cumplirse para alcanzar el estado.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En este ejemplo, el estado identificado de una historia de usuario Alfa podría tener estos tres elementos de la lista de verificación que deben cumplirse antes de poder considerarse en ese estado.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Estos elementos de la lista de verificación pueden utilizarse para evaluar si un elemento se encuentra en este estado o como un conjunto de tareas pendientes para lograrlo.</a:t>
            </a:r>
            <a:endParaRPr lang="es-MX"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CAAF18D8-5197-503C-F1BA-A75404EC89DB}"/>
              </a:ext>
            </a:extLst>
          </p:cNvPr>
          <p:cNvSpPr txBox="1"/>
          <p:nvPr/>
        </p:nvSpPr>
        <p:spPr>
          <a:xfrm>
            <a:off x="3452750" y="1854022"/>
            <a:ext cx="7140039" cy="92333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estado es una especificación del progreso de una alfa. Algunos ejemplos podrían ser una historia de usuario alfa en estado identificado o un impedimento en resolución.</a:t>
            </a:r>
            <a:endParaRPr lang="es-MX" dirty="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B000E8E3-DE38-7ADA-35BC-54AB12DD06FF}"/>
              </a:ext>
            </a:extLst>
          </p:cNvPr>
          <p:cNvPicPr>
            <a:picLocks noChangeAspect="1"/>
          </p:cNvPicPr>
          <p:nvPr/>
        </p:nvPicPr>
        <p:blipFill>
          <a:blip r:embed="rId2"/>
          <a:stretch>
            <a:fillRect/>
          </a:stretch>
        </p:blipFill>
        <p:spPr>
          <a:xfrm>
            <a:off x="2057318" y="1949163"/>
            <a:ext cx="1130300" cy="571500"/>
          </a:xfrm>
          <a:prstGeom prst="rect">
            <a:avLst/>
          </a:prstGeom>
        </p:spPr>
      </p:pic>
      <p:sp>
        <p:nvSpPr>
          <p:cNvPr id="8" name="Rectángulo 7">
            <a:extLst>
              <a:ext uri="{FF2B5EF4-FFF2-40B4-BE49-F238E27FC236}">
                <a16:creationId xmlns:a16="http://schemas.microsoft.com/office/drawing/2014/main" id="{D7058260-3AE1-6F0C-DC5D-1CEA674170A4}"/>
              </a:ext>
            </a:extLst>
          </p:cNvPr>
          <p:cNvSpPr/>
          <p:nvPr/>
        </p:nvSpPr>
        <p:spPr>
          <a:xfrm>
            <a:off x="1315254" y="751344"/>
            <a:ext cx="4432403"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Estados Alfas</a:t>
            </a:r>
            <a:endParaRPr lang="es-MX"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8023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C7F4-A0CC-2D51-FF46-B45AFC787BD3}"/>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7D185E7F-DD0E-F780-2BE0-14FE482072C1}"/>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pic>
        <p:nvPicPr>
          <p:cNvPr id="5" name="Imagen 4">
            <a:extLst>
              <a:ext uri="{FF2B5EF4-FFF2-40B4-BE49-F238E27FC236}">
                <a16:creationId xmlns:a16="http://schemas.microsoft.com/office/drawing/2014/main" id="{6D5D2FFE-67F1-DD6F-AEAF-8BD66397D7C3}"/>
              </a:ext>
            </a:extLst>
          </p:cNvPr>
          <p:cNvPicPr>
            <a:picLocks noChangeAspect="1"/>
          </p:cNvPicPr>
          <p:nvPr/>
        </p:nvPicPr>
        <p:blipFill>
          <a:blip r:embed="rId2"/>
          <a:stretch>
            <a:fillRect/>
          </a:stretch>
        </p:blipFill>
        <p:spPr>
          <a:xfrm>
            <a:off x="5782788" y="1041400"/>
            <a:ext cx="3429000" cy="4775200"/>
          </a:xfrm>
          <a:prstGeom prst="rect">
            <a:avLst/>
          </a:prstGeom>
        </p:spPr>
      </p:pic>
    </p:spTree>
    <p:extLst>
      <p:ext uri="{BB962C8B-B14F-4D97-AF65-F5344CB8AC3E}">
        <p14:creationId xmlns:p14="http://schemas.microsoft.com/office/powerpoint/2010/main" val="2472382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8F622-1FDD-D09B-2610-16B0367C4F52}"/>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0EA7CF8-148F-8E73-1F0F-400FC7400C2E}"/>
              </a:ext>
            </a:extLst>
          </p:cNvPr>
          <p:cNvSpPr txBox="1"/>
          <p:nvPr/>
        </p:nvSpPr>
        <p:spPr>
          <a:xfrm>
            <a:off x="3500254" y="1881779"/>
            <a:ext cx="7781306" cy="92333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producto de trabajo es un artefacto de valor y relevancia para una iniciativa de ingeniería de software. Ejemplos de este tipo de artefactos físicos podrían incluir una tarjeta de historia o un tablero Kanban.</a:t>
            </a:r>
            <a:endParaRPr lang="es-MX"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CC328D1B-9C60-C1B9-2656-E10C5C7735C3}"/>
              </a:ext>
            </a:extLst>
          </p:cNvPr>
          <p:cNvPicPr>
            <a:picLocks noChangeAspect="1"/>
          </p:cNvPicPr>
          <p:nvPr/>
        </p:nvPicPr>
        <p:blipFill>
          <a:blip r:embed="rId2"/>
          <a:stretch>
            <a:fillRect/>
          </a:stretch>
        </p:blipFill>
        <p:spPr>
          <a:xfrm>
            <a:off x="1583542" y="1721144"/>
            <a:ext cx="1092200" cy="1244600"/>
          </a:xfrm>
          <a:prstGeom prst="rect">
            <a:avLst/>
          </a:prstGeom>
        </p:spPr>
      </p:pic>
      <p:sp>
        <p:nvSpPr>
          <p:cNvPr id="6" name="Rectángulo 5">
            <a:extLst>
              <a:ext uri="{FF2B5EF4-FFF2-40B4-BE49-F238E27FC236}">
                <a16:creationId xmlns:a16="http://schemas.microsoft.com/office/drawing/2014/main" id="{50C8D630-569F-ACFF-AB5F-B85AF92DA3AC}"/>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Productos de trabajo</a:t>
            </a:r>
            <a:endParaRPr lang="es-MX" sz="5400" b="0" cap="none" spc="0" dirty="0">
              <a:ln w="0"/>
              <a:solidFill>
                <a:schemeClr val="tx1"/>
              </a:solidFill>
              <a:effectLst>
                <a:outerShdw blurRad="38100" dist="19050" dir="2700000" algn="tl" rotWithShape="0">
                  <a:schemeClr val="dk1">
                    <a:alpha val="40000"/>
                  </a:schemeClr>
                </a:outerShdw>
              </a:effectLst>
            </a:endParaRPr>
          </a:p>
        </p:txBody>
      </p:sp>
      <p:sp>
        <p:nvSpPr>
          <p:cNvPr id="8" name="CuadroTexto 7">
            <a:extLst>
              <a:ext uri="{FF2B5EF4-FFF2-40B4-BE49-F238E27FC236}">
                <a16:creationId xmlns:a16="http://schemas.microsoft.com/office/drawing/2014/main" id="{A1AEEE1D-0005-BC12-41FF-42F09BA24FE2}"/>
              </a:ext>
            </a:extLst>
          </p:cNvPr>
          <p:cNvSpPr txBox="1"/>
          <p:nvPr/>
        </p:nvSpPr>
        <p:spPr>
          <a:xfrm>
            <a:off x="1583542" y="3429000"/>
            <a:ext cx="9318006" cy="1754326"/>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 Producto de Trabajo se define principalmente en términos de los Niveles de Detalle que captura, de arriba a abajo.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Algunos Niveles de Detalle pueden ser opcionales (indicados con una línea discontinua), como se muestra aquí para el nivel de ejemplo "Conversación Capturada". No es obligatorio para todas las Tarjetas de Historia, pero puede capturarse si aporta valor.</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910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A6E4E-CBA4-6A24-0584-D41223279394}"/>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BFA0C039-C45F-F7EB-5537-6BFE6D4E81DB}"/>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pic>
        <p:nvPicPr>
          <p:cNvPr id="3" name="Imagen 2">
            <a:extLst>
              <a:ext uri="{FF2B5EF4-FFF2-40B4-BE49-F238E27FC236}">
                <a16:creationId xmlns:a16="http://schemas.microsoft.com/office/drawing/2014/main" id="{28493984-1D86-2E7B-11C4-2C42829805D1}"/>
              </a:ext>
            </a:extLst>
          </p:cNvPr>
          <p:cNvPicPr>
            <a:picLocks noChangeAspect="1"/>
          </p:cNvPicPr>
          <p:nvPr/>
        </p:nvPicPr>
        <p:blipFill>
          <a:blip r:embed="rId2"/>
          <a:stretch>
            <a:fillRect/>
          </a:stretch>
        </p:blipFill>
        <p:spPr>
          <a:xfrm>
            <a:off x="5942693" y="952748"/>
            <a:ext cx="3441700" cy="4762500"/>
          </a:xfrm>
          <a:prstGeom prst="rect">
            <a:avLst/>
          </a:prstGeom>
        </p:spPr>
      </p:pic>
    </p:spTree>
    <p:extLst>
      <p:ext uri="{BB962C8B-B14F-4D97-AF65-F5344CB8AC3E}">
        <p14:creationId xmlns:p14="http://schemas.microsoft.com/office/powerpoint/2010/main" val="1005819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AD861-7C71-21BC-908D-353E29DA1DF7}"/>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ED7D0CA1-386C-D557-9E6D-83DAD082B184}"/>
              </a:ext>
            </a:extLst>
          </p:cNvPr>
          <p:cNvSpPr/>
          <p:nvPr/>
        </p:nvSpPr>
        <p:spPr>
          <a:xfrm>
            <a:off x="1232127" y="727594"/>
            <a:ext cx="10085058" cy="707886"/>
          </a:xfrm>
          <a:prstGeom prst="rect">
            <a:avLst/>
          </a:prstGeom>
          <a:noFill/>
        </p:spPr>
        <p:txBody>
          <a:bodyPr wrap="square" lIns="91440" tIns="45720" rIns="91440" bIns="45720">
            <a:spAutoFit/>
          </a:bodyPr>
          <a:lstStyle/>
          <a:p>
            <a:pPr algn="ctr"/>
            <a:r>
              <a:rPr lang="es-MX" sz="4000" dirty="0">
                <a:ln w="0"/>
                <a:effectLst>
                  <a:outerShdw blurRad="38100" dist="19050" dir="2700000" algn="tl" rotWithShape="0">
                    <a:schemeClr val="dk1">
                      <a:alpha val="40000"/>
                    </a:schemeClr>
                  </a:outerShdw>
                </a:effectLst>
              </a:rPr>
              <a:t>Niveles de detalles de productos de trabajo</a:t>
            </a:r>
            <a:endParaRPr lang="es-MX" sz="40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3EBFC30A-9BAD-ECBF-35AC-ADF53399D523}"/>
              </a:ext>
            </a:extLst>
          </p:cNvPr>
          <p:cNvSpPr txBox="1"/>
          <p:nvPr/>
        </p:nvSpPr>
        <p:spPr>
          <a:xfrm>
            <a:off x="3201917" y="1708745"/>
            <a:ext cx="8008390" cy="92333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nivel de detalle es la cantidad de detalle o rango de contenido en un producto de trabajo. Algunos ejemplos podrían incluir una tarjeta de historia con su valor expresado o con sus criterios de aceptación enumerados.</a:t>
            </a:r>
            <a:endParaRPr lang="es-MX"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AF344A09-D9BD-BB6D-D183-B50095A031F0}"/>
              </a:ext>
            </a:extLst>
          </p:cNvPr>
          <p:cNvPicPr>
            <a:picLocks noChangeAspect="1"/>
          </p:cNvPicPr>
          <p:nvPr/>
        </p:nvPicPr>
        <p:blipFill>
          <a:blip r:embed="rId2"/>
          <a:stretch>
            <a:fillRect/>
          </a:stretch>
        </p:blipFill>
        <p:spPr>
          <a:xfrm>
            <a:off x="1653012" y="1840494"/>
            <a:ext cx="1358900" cy="584200"/>
          </a:xfrm>
          <a:prstGeom prst="rect">
            <a:avLst/>
          </a:prstGeom>
        </p:spPr>
      </p:pic>
      <p:sp>
        <p:nvSpPr>
          <p:cNvPr id="10" name="CuadroTexto 9">
            <a:extLst>
              <a:ext uri="{FF2B5EF4-FFF2-40B4-BE49-F238E27FC236}">
                <a16:creationId xmlns:a16="http://schemas.microsoft.com/office/drawing/2014/main" id="{BC89B21E-04F9-FF7E-39FA-65D03B7ECD2A}"/>
              </a:ext>
            </a:extLst>
          </p:cNvPr>
          <p:cNvSpPr txBox="1"/>
          <p:nvPr/>
        </p:nvSpPr>
        <p:spPr>
          <a:xfrm>
            <a:off x="961901" y="2991085"/>
            <a:ext cx="10449729" cy="3139321"/>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Así como los Alfas tienen Estados que describen su progreso, los Productos de Trabajo tienen Niveles de Detalle que describen cuánta y qué tipo de información se ha capturado.</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Niveles de Detalle de los Productos de Trabajo también pueden definirse de forma concisa y precisa en términos de un conjunto de Elementos de la Lista de Verificación. Por ejemplo, el Nivel de Detalle Expresado por el Valor de una Tarjeta de Historia contiene estos dos elementos que deben lograrse.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Nuevamente, estos Elementos de la Lista de Verificación pueden utilizarse tanto para evaluar un elemento como para considerarlos como un conjunto de tareas pendientes para lograr este Nivel de Detalle.</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5075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4EFDA-F8FB-74EF-A63B-5E457023B152}"/>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E42E7CF1-2789-E42C-17A2-478DAFBEDA9A}"/>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pic>
        <p:nvPicPr>
          <p:cNvPr id="6" name="Imagen 5">
            <a:extLst>
              <a:ext uri="{FF2B5EF4-FFF2-40B4-BE49-F238E27FC236}">
                <a16:creationId xmlns:a16="http://schemas.microsoft.com/office/drawing/2014/main" id="{A8028173-403D-6B77-18EA-E7D3A0858AB2}"/>
              </a:ext>
            </a:extLst>
          </p:cNvPr>
          <p:cNvPicPr>
            <a:picLocks noChangeAspect="1"/>
          </p:cNvPicPr>
          <p:nvPr/>
        </p:nvPicPr>
        <p:blipFill>
          <a:blip r:embed="rId2"/>
          <a:stretch>
            <a:fillRect/>
          </a:stretch>
        </p:blipFill>
        <p:spPr>
          <a:xfrm>
            <a:off x="5866493" y="971550"/>
            <a:ext cx="3594100" cy="4914900"/>
          </a:xfrm>
          <a:prstGeom prst="rect">
            <a:avLst/>
          </a:prstGeom>
        </p:spPr>
      </p:pic>
    </p:spTree>
    <p:extLst>
      <p:ext uri="{BB962C8B-B14F-4D97-AF65-F5344CB8AC3E}">
        <p14:creationId xmlns:p14="http://schemas.microsoft.com/office/powerpoint/2010/main" val="2863511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8A0BB-34A0-8A0C-4EBC-EE1E4058546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B818A4C-2E9C-AF07-7CCE-D348B2CDF4E6}"/>
              </a:ext>
            </a:extLst>
          </p:cNvPr>
          <p:cNvSpPr txBox="1"/>
          <p:nvPr/>
        </p:nvSpPr>
        <p:spPr>
          <a:xfrm>
            <a:off x="3170711" y="2094931"/>
            <a:ext cx="8087096" cy="92333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competencia abarca las habilidades, capacidades, logros, conocimientos y destrezas necesarias para realizar un determinado tipo de trabajo, como liderazgo, desarrollo o pruebas.</a:t>
            </a:r>
            <a:endParaRPr lang="es-MX"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0543E363-C99E-C52D-7185-C0854DA1ED64}"/>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Competencia</a:t>
            </a:r>
            <a:endParaRPr lang="es-MX" sz="5400" b="0" cap="none" spc="0" dirty="0">
              <a:ln w="0"/>
              <a:solidFill>
                <a:schemeClr val="tx1"/>
              </a:solidFill>
              <a:effectLst>
                <a:outerShdw blurRad="38100" dist="19050" dir="2700000" algn="tl" rotWithShape="0">
                  <a:schemeClr val="dk1">
                    <a:alpha val="40000"/>
                  </a:schemeClr>
                </a:outerShdw>
              </a:effectLst>
            </a:endParaRPr>
          </a:p>
        </p:txBody>
      </p:sp>
      <p:pic>
        <p:nvPicPr>
          <p:cNvPr id="6" name="Imagen 5">
            <a:extLst>
              <a:ext uri="{FF2B5EF4-FFF2-40B4-BE49-F238E27FC236}">
                <a16:creationId xmlns:a16="http://schemas.microsoft.com/office/drawing/2014/main" id="{BAF7668A-5F92-0416-9503-631B78906270}"/>
              </a:ext>
            </a:extLst>
          </p:cNvPr>
          <p:cNvPicPr>
            <a:picLocks noChangeAspect="1"/>
          </p:cNvPicPr>
          <p:nvPr/>
        </p:nvPicPr>
        <p:blipFill>
          <a:blip r:embed="rId2"/>
          <a:stretch>
            <a:fillRect/>
          </a:stretch>
        </p:blipFill>
        <p:spPr>
          <a:xfrm>
            <a:off x="2093294" y="2207346"/>
            <a:ext cx="736600" cy="698500"/>
          </a:xfrm>
          <a:prstGeom prst="rect">
            <a:avLst/>
          </a:prstGeom>
        </p:spPr>
      </p:pic>
      <p:sp>
        <p:nvSpPr>
          <p:cNvPr id="8" name="CuadroTexto 7">
            <a:extLst>
              <a:ext uri="{FF2B5EF4-FFF2-40B4-BE49-F238E27FC236}">
                <a16:creationId xmlns:a16="http://schemas.microsoft.com/office/drawing/2014/main" id="{AE1EB6F1-602B-5AD2-96E2-91D05434A923}"/>
              </a:ext>
            </a:extLst>
          </p:cNvPr>
          <p:cNvSpPr txBox="1"/>
          <p:nvPr/>
        </p:nvSpPr>
        <p:spPr>
          <a:xfrm>
            <a:off x="1628435" y="3438519"/>
            <a:ext cx="9783752" cy="1477328"/>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Los equipos son fundamentales para el éxito de los proyectos y actividades.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En particular, es importante comprender qué tipo de miembros necesitamos y qué tipo de competencias poseen.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En este ejemplo de representación de las partes interesadas, se describen las capacidades principales, con varios niveles de competencia posibles.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7334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8D15E-8CDC-4BCD-A486-EF9CD386B37C}"/>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3DD4A011-1762-23C2-BE91-76B915DDE811}"/>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Nivel de competencia</a:t>
            </a:r>
            <a:endParaRPr lang="es-MX" sz="54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458D0EE7-DD54-E7FE-B245-12A0A45947BD}"/>
              </a:ext>
            </a:extLst>
          </p:cNvPr>
          <p:cNvSpPr txBox="1"/>
          <p:nvPr/>
        </p:nvSpPr>
        <p:spPr>
          <a:xfrm>
            <a:off x="3047011" y="2036158"/>
            <a:ext cx="8092044" cy="923330"/>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nivel de competencia define el nivel de capacidad que tiene un miembro del equipo con respecto a una competencia, desde el nivel 1 (Asiste) hasta el nivel 5 (Innova).</a:t>
            </a:r>
            <a:endParaRPr lang="es-MX"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F6162506-9FD7-DDF9-5953-9177D9579B7C}"/>
              </a:ext>
            </a:extLst>
          </p:cNvPr>
          <p:cNvPicPr>
            <a:picLocks noChangeAspect="1"/>
          </p:cNvPicPr>
          <p:nvPr/>
        </p:nvPicPr>
        <p:blipFill>
          <a:blip r:embed="rId2"/>
          <a:stretch>
            <a:fillRect/>
          </a:stretch>
        </p:blipFill>
        <p:spPr>
          <a:xfrm>
            <a:off x="1431141" y="2212073"/>
            <a:ext cx="1397000" cy="571500"/>
          </a:xfrm>
          <a:prstGeom prst="rect">
            <a:avLst/>
          </a:prstGeom>
        </p:spPr>
      </p:pic>
    </p:spTree>
    <p:extLst>
      <p:ext uri="{BB962C8B-B14F-4D97-AF65-F5344CB8AC3E}">
        <p14:creationId xmlns:p14="http://schemas.microsoft.com/office/powerpoint/2010/main" val="40720488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06CE4-C417-AF48-8175-50CFD589D7C9}"/>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27CFF8B-6E4F-932E-82B3-C5ADEC066AEB}"/>
              </a:ext>
            </a:extLst>
          </p:cNvPr>
          <p:cNvPicPr>
            <a:picLocks noChangeAspect="1"/>
          </p:cNvPicPr>
          <p:nvPr/>
        </p:nvPicPr>
        <p:blipFill>
          <a:blip r:embed="rId2"/>
          <a:stretch>
            <a:fillRect/>
          </a:stretch>
        </p:blipFill>
        <p:spPr>
          <a:xfrm>
            <a:off x="6329054" y="1035050"/>
            <a:ext cx="3429000" cy="4787900"/>
          </a:xfrm>
          <a:prstGeom prst="rect">
            <a:avLst/>
          </a:prstGeom>
        </p:spPr>
      </p:pic>
      <p:sp>
        <p:nvSpPr>
          <p:cNvPr id="4" name="Rectángulo 3">
            <a:extLst>
              <a:ext uri="{FF2B5EF4-FFF2-40B4-BE49-F238E27FC236}">
                <a16:creationId xmlns:a16="http://schemas.microsoft.com/office/drawing/2014/main" id="{6C898B69-B909-8168-00A3-2CDD166DD340}"/>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spTree>
    <p:extLst>
      <p:ext uri="{BB962C8B-B14F-4D97-AF65-F5344CB8AC3E}">
        <p14:creationId xmlns:p14="http://schemas.microsoft.com/office/powerpoint/2010/main" val="2548449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DA7C1-FBF9-E48C-878F-1B46F34976BE}"/>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D3EB52A-4752-9A0A-7704-E2297FAF6CA3}"/>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Actividades</a:t>
            </a:r>
            <a:endParaRPr lang="es-MX" sz="54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72B19778-7345-20ED-CD53-25864F6202FA}"/>
              </a:ext>
            </a:extLst>
          </p:cNvPr>
          <p:cNvSpPr txBox="1"/>
          <p:nvPr/>
        </p:nvSpPr>
        <p:spPr>
          <a:xfrm>
            <a:off x="3929279" y="1763423"/>
            <a:ext cx="6853516" cy="1200329"/>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actividad es la realización de un trabajo por parte de una o más personas, posiblemente en un taller o reunión. Algunos ejemplos pueden ser: encontrar historias de usuario, reuniones diarias o refinar el backlog.</a:t>
            </a:r>
            <a:endParaRPr lang="es-MX"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B2D84DC0-665C-116E-E7B3-A754A383987A}"/>
              </a:ext>
            </a:extLst>
          </p:cNvPr>
          <p:cNvPicPr>
            <a:picLocks noChangeAspect="1"/>
          </p:cNvPicPr>
          <p:nvPr/>
        </p:nvPicPr>
        <p:blipFill>
          <a:blip r:embed="rId2"/>
          <a:stretch>
            <a:fillRect/>
          </a:stretch>
        </p:blipFill>
        <p:spPr>
          <a:xfrm>
            <a:off x="2032660" y="1931788"/>
            <a:ext cx="1181100" cy="863600"/>
          </a:xfrm>
          <a:prstGeom prst="rect">
            <a:avLst/>
          </a:prstGeom>
        </p:spPr>
      </p:pic>
      <p:sp>
        <p:nvSpPr>
          <p:cNvPr id="8" name="CuadroTexto 7">
            <a:extLst>
              <a:ext uri="{FF2B5EF4-FFF2-40B4-BE49-F238E27FC236}">
                <a16:creationId xmlns:a16="http://schemas.microsoft.com/office/drawing/2014/main" id="{31842A1E-1D86-2711-B171-6760301A96FC}"/>
              </a:ext>
            </a:extLst>
          </p:cNvPr>
          <p:cNvSpPr txBox="1"/>
          <p:nvPr/>
        </p:nvSpPr>
        <p:spPr>
          <a:xfrm>
            <a:off x="1469572" y="3611709"/>
            <a:ext cx="9811986" cy="1754326"/>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Una buena descripción de la actividad incluirá orientación sobre: </a:t>
            </a:r>
          </a:p>
          <a:p>
            <a:r>
              <a:rPr lang="es-ES" dirty="0">
                <a:latin typeface="Arial" panose="020B0604020202020204" pitchFamily="34" charset="0"/>
                <a:cs typeface="Arial" panose="020B0604020202020204" pitchFamily="34" charset="0"/>
              </a:rPr>
              <a:t>• Qué resultados produce o logra la actividad en términos de estados alfa o niveles de detalle del producto de trabajo. </a:t>
            </a:r>
          </a:p>
          <a:p>
            <a:r>
              <a:rPr lang="es-ES" dirty="0">
                <a:latin typeface="Arial" panose="020B0604020202020204" pitchFamily="34" charset="0"/>
                <a:cs typeface="Arial" panose="020B0604020202020204" pitchFamily="34" charset="0"/>
              </a:rPr>
              <a:t>• Qué debemos hacer para lograr estos resultados. </a:t>
            </a:r>
          </a:p>
          <a:p>
            <a:r>
              <a:rPr lang="es-ES" dirty="0">
                <a:latin typeface="Arial" panose="020B0604020202020204" pitchFamily="34" charset="0"/>
                <a:cs typeface="Arial" panose="020B0604020202020204" pitchFamily="34" charset="0"/>
              </a:rPr>
              <a:t>• Qué tipos de competencias y en qué niveles se necesitan para realizar esta actividad con éxito.</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18829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E25F2-52EC-1487-0D88-8F54595CF9C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75E23D09-2D6C-42F0-1082-3D1D1BCBDCD9}"/>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pic>
        <p:nvPicPr>
          <p:cNvPr id="4" name="Imagen 3">
            <a:extLst>
              <a:ext uri="{FF2B5EF4-FFF2-40B4-BE49-F238E27FC236}">
                <a16:creationId xmlns:a16="http://schemas.microsoft.com/office/drawing/2014/main" id="{A1AF2F58-1B65-4C05-9EAF-D9CDECF0A24B}"/>
              </a:ext>
            </a:extLst>
          </p:cNvPr>
          <p:cNvPicPr>
            <a:picLocks noChangeAspect="1"/>
          </p:cNvPicPr>
          <p:nvPr/>
        </p:nvPicPr>
        <p:blipFill>
          <a:blip r:embed="rId2"/>
          <a:stretch>
            <a:fillRect/>
          </a:stretch>
        </p:blipFill>
        <p:spPr>
          <a:xfrm>
            <a:off x="6389502" y="891074"/>
            <a:ext cx="3441700" cy="4787900"/>
          </a:xfrm>
          <a:prstGeom prst="rect">
            <a:avLst/>
          </a:prstGeom>
        </p:spPr>
      </p:pic>
    </p:spTree>
    <p:extLst>
      <p:ext uri="{BB962C8B-B14F-4D97-AF65-F5344CB8AC3E}">
        <p14:creationId xmlns:p14="http://schemas.microsoft.com/office/powerpoint/2010/main" val="433113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BE8C4-0498-3A8B-48B9-89626F337155}"/>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B551257D-4143-2314-0694-473F5A4A2924}"/>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Patrones</a:t>
            </a:r>
            <a:endParaRPr lang="es-MX" sz="5400" b="0" cap="none" spc="0" dirty="0">
              <a:ln w="0"/>
              <a:solidFill>
                <a:schemeClr val="tx1"/>
              </a:solidFill>
              <a:effectLst>
                <a:outerShdw blurRad="38100" dist="19050" dir="2700000" algn="tl" rotWithShape="0">
                  <a:schemeClr val="dk1">
                    <a:alpha val="40000"/>
                  </a:schemeClr>
                </a:outerShdw>
              </a:effectLst>
            </a:endParaRPr>
          </a:p>
        </p:txBody>
      </p:sp>
      <p:sp>
        <p:nvSpPr>
          <p:cNvPr id="4" name="CuadroTexto 3">
            <a:extLst>
              <a:ext uri="{FF2B5EF4-FFF2-40B4-BE49-F238E27FC236}">
                <a16:creationId xmlns:a16="http://schemas.microsoft.com/office/drawing/2014/main" id="{926F9E70-A59B-DFD5-D951-09A449E2C3BA}"/>
              </a:ext>
            </a:extLst>
          </p:cNvPr>
          <p:cNvSpPr txBox="1"/>
          <p:nvPr/>
        </p:nvSpPr>
        <p:spPr>
          <a:xfrm>
            <a:off x="3238994" y="1830272"/>
            <a:ext cx="8161317"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Patrón es un mecanismo genérico para describir la guía práctica que puede relacionarse con muchos otros elementos de Esencia asociados.</a:t>
            </a:r>
            <a:endParaRPr lang="es-MX"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5CBC08B2-EA40-BE2C-B7FB-754755C37466}"/>
              </a:ext>
            </a:extLst>
          </p:cNvPr>
          <p:cNvPicPr>
            <a:picLocks noChangeAspect="1"/>
          </p:cNvPicPr>
          <p:nvPr/>
        </p:nvPicPr>
        <p:blipFill>
          <a:blip r:embed="rId2"/>
          <a:stretch>
            <a:fillRect/>
          </a:stretch>
        </p:blipFill>
        <p:spPr>
          <a:xfrm>
            <a:off x="1594593" y="1721637"/>
            <a:ext cx="1117600" cy="863600"/>
          </a:xfrm>
          <a:prstGeom prst="rect">
            <a:avLst/>
          </a:prstGeom>
        </p:spPr>
      </p:pic>
      <p:sp>
        <p:nvSpPr>
          <p:cNvPr id="7" name="CuadroTexto 6">
            <a:extLst>
              <a:ext uri="{FF2B5EF4-FFF2-40B4-BE49-F238E27FC236}">
                <a16:creationId xmlns:a16="http://schemas.microsoft.com/office/drawing/2014/main" id="{26A23A3F-05A6-96DC-85C0-6F9F43C02D14}"/>
              </a:ext>
            </a:extLst>
          </p:cNvPr>
          <p:cNvSpPr txBox="1"/>
          <p:nvPr/>
        </p:nvSpPr>
        <p:spPr>
          <a:xfrm>
            <a:off x="1018370" y="2857904"/>
            <a:ext cx="10619447" cy="3293209"/>
          </a:xfrm>
          <a:prstGeom prst="rect">
            <a:avLst/>
          </a:prstGeom>
          <a:noFill/>
        </p:spPr>
        <p:txBody>
          <a:bodyPr wrap="square">
            <a:spAutoFit/>
          </a:bodyPr>
          <a:lstStyle/>
          <a:p>
            <a:pPr algn="l">
              <a:buNone/>
            </a:pPr>
            <a:r>
              <a:rPr lang="es-ES" sz="1600" b="0" i="0" dirty="0">
                <a:solidFill>
                  <a:srgbClr val="1F1F1F"/>
                </a:solidFill>
                <a:effectLst/>
                <a:latin typeface="Arial" panose="020B0604020202020204" pitchFamily="34" charset="0"/>
              </a:rPr>
              <a:t>Los patrones son una forma flexible e invaluable de proporcionar orientación adicional de cualquier tipo relacionada con los demás elementos de la práctica y cómo estos elementos interactúan. </a:t>
            </a:r>
          </a:p>
          <a:p>
            <a:pPr algn="l">
              <a:buNone/>
            </a:pPr>
            <a:endParaRPr lang="es-ES" sz="1600" b="0" i="0" dirty="0">
              <a:solidFill>
                <a:srgbClr val="1F1F1F"/>
              </a:solidFill>
              <a:effectLst/>
              <a:latin typeface="Arial" panose="020B0604020202020204" pitchFamily="34" charset="0"/>
            </a:endParaRPr>
          </a:p>
          <a:p>
            <a:pPr algn="l">
              <a:buNone/>
            </a:pPr>
            <a:r>
              <a:rPr lang="es-ES" sz="1600" b="0" i="0" dirty="0">
                <a:solidFill>
                  <a:srgbClr val="1F1F1F"/>
                </a:solidFill>
                <a:effectLst/>
                <a:latin typeface="Arial" panose="020B0604020202020204" pitchFamily="34" charset="0"/>
              </a:rPr>
              <a:t>Ejemplos de tipos y usos comunes de patrones incluyen: </a:t>
            </a:r>
          </a:p>
          <a:p>
            <a:pPr algn="l">
              <a:buNone/>
            </a:pPr>
            <a:r>
              <a:rPr lang="es-ES" sz="1600" b="0" i="0" dirty="0">
                <a:solidFill>
                  <a:srgbClr val="1F1F1F"/>
                </a:solidFill>
                <a:effectLst/>
                <a:latin typeface="Arial" panose="020B0604020202020204" pitchFamily="34" charset="0"/>
              </a:rPr>
              <a:t>• </a:t>
            </a:r>
            <a:r>
              <a:rPr lang="es-ES" sz="1600" b="1" i="0" dirty="0">
                <a:solidFill>
                  <a:srgbClr val="1F1F1F"/>
                </a:solidFill>
                <a:effectLst/>
                <a:latin typeface="Arial" panose="020B0604020202020204" pitchFamily="34" charset="0"/>
              </a:rPr>
              <a:t>Roles</a:t>
            </a:r>
            <a:r>
              <a:rPr lang="es-ES" sz="1600" b="0" i="0" dirty="0">
                <a:solidFill>
                  <a:srgbClr val="1F1F1F"/>
                </a:solidFill>
                <a:effectLst/>
                <a:latin typeface="Arial" panose="020B0604020202020204" pitchFamily="34" charset="0"/>
              </a:rPr>
              <a:t>: como este ejemplo del equipo del cliente, que se define haciendo referencia a las competencias y niveles de competencia requeridos, y definiendo sus responsabilidades con respecto a las actividades, los alfas y los productos del trabajo. </a:t>
            </a:r>
          </a:p>
          <a:p>
            <a:pPr algn="l">
              <a:buNone/>
            </a:pPr>
            <a:r>
              <a:rPr lang="es-ES" sz="1600" b="0" i="0" dirty="0">
                <a:solidFill>
                  <a:srgbClr val="1F1F1F"/>
                </a:solidFill>
                <a:effectLst/>
                <a:latin typeface="Arial" panose="020B0604020202020204" pitchFamily="34" charset="0"/>
              </a:rPr>
              <a:t>• </a:t>
            </a:r>
            <a:r>
              <a:rPr lang="es-ES" sz="1600" b="1" i="0" dirty="0">
                <a:solidFill>
                  <a:srgbClr val="1F1F1F"/>
                </a:solidFill>
                <a:effectLst/>
                <a:latin typeface="Arial" panose="020B0604020202020204" pitchFamily="34" charset="0"/>
              </a:rPr>
              <a:t>Hitos</a:t>
            </a:r>
            <a:r>
              <a:rPr lang="es-ES" sz="1600" b="0" i="0" dirty="0">
                <a:solidFill>
                  <a:srgbClr val="1F1F1F"/>
                </a:solidFill>
                <a:effectLst/>
                <a:latin typeface="Arial" panose="020B0604020202020204" pitchFamily="34" charset="0"/>
              </a:rPr>
              <a:t>: que pueden definirse en términos del conjunto de estados alfa y elementos de la lista de verificación que deben lograrse. </a:t>
            </a:r>
          </a:p>
          <a:p>
            <a:pPr algn="l">
              <a:buNone/>
            </a:pPr>
            <a:r>
              <a:rPr lang="es-ES" sz="1600" b="0" i="0" dirty="0">
                <a:solidFill>
                  <a:srgbClr val="1F1F1F"/>
                </a:solidFill>
                <a:effectLst/>
                <a:latin typeface="Arial" panose="020B0604020202020204" pitchFamily="34" charset="0"/>
              </a:rPr>
              <a:t>• </a:t>
            </a:r>
            <a:r>
              <a:rPr lang="es-ES" sz="1600" b="1" i="0" dirty="0">
                <a:solidFill>
                  <a:srgbClr val="1F1F1F"/>
                </a:solidFill>
                <a:effectLst/>
                <a:latin typeface="Arial" panose="020B0604020202020204" pitchFamily="34" charset="0"/>
              </a:rPr>
              <a:t>Juegos: </a:t>
            </a:r>
            <a:r>
              <a:rPr lang="es-ES" sz="1600" b="0" i="0" dirty="0">
                <a:solidFill>
                  <a:srgbClr val="1F1F1F"/>
                </a:solidFill>
                <a:effectLst/>
                <a:latin typeface="Arial" panose="020B0604020202020204" pitchFamily="34" charset="0"/>
              </a:rPr>
              <a:t>que utilizan diferentes combinaciones de elementos del núcleo de esencia o las prácticas de esencia para ayudar a los equipos a planificar, ejecutar, evaluar y adaptar sus esfuerzos. </a:t>
            </a:r>
          </a:p>
          <a:p>
            <a:pPr algn="l">
              <a:buNone/>
            </a:pPr>
            <a:r>
              <a:rPr lang="es-ES" sz="1600" b="0" i="0" dirty="0">
                <a:solidFill>
                  <a:srgbClr val="1F1F1F"/>
                </a:solidFill>
                <a:effectLst/>
                <a:latin typeface="Arial" panose="020B0604020202020204" pitchFamily="34" charset="0"/>
              </a:rPr>
              <a:t>• </a:t>
            </a:r>
            <a:r>
              <a:rPr lang="es-ES" sz="1600" b="1" i="0" dirty="0">
                <a:solidFill>
                  <a:srgbClr val="1F1F1F"/>
                </a:solidFill>
                <a:effectLst/>
                <a:latin typeface="Arial" panose="020B0604020202020204" pitchFamily="34" charset="0"/>
              </a:rPr>
              <a:t>Técnicas</a:t>
            </a:r>
            <a:r>
              <a:rPr lang="es-ES" sz="1600" b="0" i="0" dirty="0">
                <a:solidFill>
                  <a:srgbClr val="1F1F1F"/>
                </a:solidFill>
                <a:effectLst/>
                <a:latin typeface="Arial" panose="020B0604020202020204" pitchFamily="34" charset="0"/>
              </a:rPr>
              <a:t>: como la lluvia de ideas o el análisis de causa raíz, que pueden describirse y relacionarse con las actividades que podrían beneficiarse de su uso</a:t>
            </a:r>
            <a:r>
              <a:rPr lang="es-ES" sz="1600" dirty="0">
                <a:solidFill>
                  <a:srgbClr val="1F1F1F"/>
                </a:solidFill>
                <a:latin typeface="Arial" panose="020B0604020202020204" pitchFamily="34" charset="0"/>
              </a:rPr>
              <a:t>.</a:t>
            </a:r>
            <a:endParaRPr lang="es-ES" sz="1600" b="0" i="0" dirty="0">
              <a:solidFill>
                <a:srgbClr val="1F1F1F"/>
              </a:solidFill>
              <a:effectLst/>
              <a:latin typeface="Arial" panose="020B0604020202020204" pitchFamily="34" charset="0"/>
            </a:endParaRPr>
          </a:p>
        </p:txBody>
      </p:sp>
    </p:spTree>
    <p:extLst>
      <p:ext uri="{BB962C8B-B14F-4D97-AF65-F5344CB8AC3E}">
        <p14:creationId xmlns:p14="http://schemas.microsoft.com/office/powerpoint/2010/main" val="3470736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3B50F-2C66-394A-ACD5-194DC6CDFCE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00E8C76-E0D2-3B74-45CF-C4D727FBD2A8}"/>
              </a:ext>
            </a:extLst>
          </p:cNvPr>
          <p:cNvPicPr>
            <a:picLocks noChangeAspect="1"/>
          </p:cNvPicPr>
          <p:nvPr/>
        </p:nvPicPr>
        <p:blipFill>
          <a:blip r:embed="rId2"/>
          <a:stretch>
            <a:fillRect/>
          </a:stretch>
        </p:blipFill>
        <p:spPr>
          <a:xfrm>
            <a:off x="5621234" y="1028700"/>
            <a:ext cx="3467100" cy="4800600"/>
          </a:xfrm>
          <a:prstGeom prst="rect">
            <a:avLst/>
          </a:prstGeom>
        </p:spPr>
      </p:pic>
      <p:sp>
        <p:nvSpPr>
          <p:cNvPr id="6" name="Rectángulo 5">
            <a:extLst>
              <a:ext uri="{FF2B5EF4-FFF2-40B4-BE49-F238E27FC236}">
                <a16:creationId xmlns:a16="http://schemas.microsoft.com/office/drawing/2014/main" id="{1767F430-3D87-C4AD-2AFD-A5EAC0572372}"/>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spTree>
    <p:extLst>
      <p:ext uri="{BB962C8B-B14F-4D97-AF65-F5344CB8AC3E}">
        <p14:creationId xmlns:p14="http://schemas.microsoft.com/office/powerpoint/2010/main" val="3346341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39AD-A8B2-A338-91F9-8BD2EE90EBC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623DAC8-04EE-5A3B-E122-BF9DEF13E880}"/>
              </a:ext>
            </a:extLst>
          </p:cNvPr>
          <p:cNvSpPr txBox="1"/>
          <p:nvPr/>
        </p:nvSpPr>
        <p:spPr>
          <a:xfrm>
            <a:off x="4194494" y="1947554"/>
            <a:ext cx="6097978"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Un </a:t>
            </a:r>
            <a:r>
              <a:rPr lang="es-ES" b="1" dirty="0">
                <a:latin typeface="Arial" panose="020B0604020202020204" pitchFamily="34" charset="0"/>
                <a:cs typeface="Arial" panose="020B0604020202020204" pitchFamily="34" charset="0"/>
              </a:rPr>
              <a:t>recurso</a:t>
            </a:r>
            <a:r>
              <a:rPr lang="es-ES" dirty="0">
                <a:latin typeface="Arial" panose="020B0604020202020204" pitchFamily="34" charset="0"/>
                <a:cs typeface="Arial" panose="020B0604020202020204" pitchFamily="34" charset="0"/>
              </a:rPr>
              <a:t> es una fuente de información o contenido, como un sitio web o la referencia de un libro.</a:t>
            </a:r>
            <a:endParaRPr lang="es-MX"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0CDF381F-6082-86B7-0001-A7B775CA2C65}"/>
              </a:ext>
            </a:extLst>
          </p:cNvPr>
          <p:cNvSpPr/>
          <p:nvPr/>
        </p:nvSpPr>
        <p:spPr>
          <a:xfrm>
            <a:off x="1315254" y="751344"/>
            <a:ext cx="6724341" cy="923330"/>
          </a:xfrm>
          <a:prstGeom prst="rect">
            <a:avLst/>
          </a:prstGeom>
          <a:noFill/>
        </p:spPr>
        <p:txBody>
          <a:bodyPr wrap="square" lIns="91440" tIns="45720" rIns="91440" bIns="45720">
            <a:spAutoFit/>
          </a:bodyPr>
          <a:lstStyle/>
          <a:p>
            <a:pPr algn="ctr"/>
            <a:r>
              <a:rPr lang="es-MX" sz="5400" dirty="0">
                <a:ln w="0"/>
                <a:effectLst>
                  <a:outerShdw blurRad="38100" dist="19050" dir="2700000" algn="tl" rotWithShape="0">
                    <a:schemeClr val="dk1">
                      <a:alpha val="40000"/>
                    </a:schemeClr>
                  </a:outerShdw>
                </a:effectLst>
              </a:rPr>
              <a:t>Recursos</a:t>
            </a:r>
            <a:endParaRPr lang="es-MX" sz="5400" b="0" cap="none" spc="0" dirty="0">
              <a:ln w="0"/>
              <a:solidFill>
                <a:schemeClr val="tx1"/>
              </a:solidFill>
              <a:effectLst>
                <a:outerShdw blurRad="38100" dist="19050" dir="2700000" algn="tl" rotWithShape="0">
                  <a:schemeClr val="dk1">
                    <a:alpha val="40000"/>
                  </a:schemeClr>
                </a:outerShdw>
              </a:effectLst>
            </a:endParaRPr>
          </a:p>
        </p:txBody>
      </p:sp>
      <p:pic>
        <p:nvPicPr>
          <p:cNvPr id="6" name="Imagen 5">
            <a:extLst>
              <a:ext uri="{FF2B5EF4-FFF2-40B4-BE49-F238E27FC236}">
                <a16:creationId xmlns:a16="http://schemas.microsoft.com/office/drawing/2014/main" id="{34EAAEB3-C757-1D1D-79C4-3B6A17927D26}"/>
              </a:ext>
            </a:extLst>
          </p:cNvPr>
          <p:cNvPicPr>
            <a:picLocks noChangeAspect="1"/>
          </p:cNvPicPr>
          <p:nvPr/>
        </p:nvPicPr>
        <p:blipFill>
          <a:blip r:embed="rId2"/>
          <a:stretch>
            <a:fillRect/>
          </a:stretch>
        </p:blipFill>
        <p:spPr>
          <a:xfrm>
            <a:off x="2873251" y="1872838"/>
            <a:ext cx="1054100" cy="838200"/>
          </a:xfrm>
          <a:prstGeom prst="rect">
            <a:avLst/>
          </a:prstGeom>
        </p:spPr>
      </p:pic>
      <p:sp>
        <p:nvSpPr>
          <p:cNvPr id="8" name="CuadroTexto 7">
            <a:extLst>
              <a:ext uri="{FF2B5EF4-FFF2-40B4-BE49-F238E27FC236}">
                <a16:creationId xmlns:a16="http://schemas.microsoft.com/office/drawing/2014/main" id="{D1618A05-31CC-0CA5-9F79-6402DAAC0057}"/>
              </a:ext>
            </a:extLst>
          </p:cNvPr>
          <p:cNvSpPr txBox="1"/>
          <p:nvPr/>
        </p:nvSpPr>
        <p:spPr>
          <a:xfrm>
            <a:off x="1315254" y="3085190"/>
            <a:ext cx="9657546" cy="1200329"/>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Dado que una Práctica Esencial se centra principalmente en lo esencial, resulta útil poder consultar otros recursos donde se puede encontrar más orientación.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En este ejemplo de Historias de Usuario, se enumeran diversas referencias en línea, libros y otros recursos.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7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0DC64-68DB-EBEA-8EA8-CD40D744787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9730EA5-F4B2-0CEF-B0C9-6CF004DAD0A9}"/>
              </a:ext>
            </a:extLst>
          </p:cNvPr>
          <p:cNvPicPr>
            <a:picLocks noChangeAspect="1"/>
          </p:cNvPicPr>
          <p:nvPr/>
        </p:nvPicPr>
        <p:blipFill>
          <a:blip r:embed="rId2"/>
          <a:stretch>
            <a:fillRect/>
          </a:stretch>
        </p:blipFill>
        <p:spPr>
          <a:xfrm>
            <a:off x="6820333" y="1016000"/>
            <a:ext cx="3505200" cy="4826000"/>
          </a:xfrm>
          <a:prstGeom prst="rect">
            <a:avLst/>
          </a:prstGeom>
        </p:spPr>
      </p:pic>
      <p:sp>
        <p:nvSpPr>
          <p:cNvPr id="5" name="Rectángulo 4">
            <a:extLst>
              <a:ext uri="{FF2B5EF4-FFF2-40B4-BE49-F238E27FC236}">
                <a16:creationId xmlns:a16="http://schemas.microsoft.com/office/drawing/2014/main" id="{0F229CEB-E16A-DD67-EBD0-64EC1F1706F4}"/>
              </a:ext>
            </a:extLst>
          </p:cNvPr>
          <p:cNvSpPr/>
          <p:nvPr/>
        </p:nvSpPr>
        <p:spPr>
          <a:xfrm>
            <a:off x="2218711" y="2599200"/>
            <a:ext cx="3174267" cy="923330"/>
          </a:xfrm>
          <a:prstGeom prst="rect">
            <a:avLst/>
          </a:prstGeom>
          <a:noFill/>
        </p:spPr>
        <p:txBody>
          <a:bodyPr wrap="none" lIns="91440" tIns="45720" rIns="91440" bIns="45720">
            <a:spAutoFit/>
          </a:bodyPr>
          <a:lstStyle/>
          <a:p>
            <a:pPr algn="ctr"/>
            <a:r>
              <a:rPr lang="es-MX" sz="5400" b="0" cap="none" spc="0" dirty="0">
                <a:ln w="0"/>
                <a:solidFill>
                  <a:schemeClr val="accent1"/>
                </a:solidFill>
                <a:effectLst>
                  <a:outerShdw blurRad="38100" dist="25400" dir="5400000" algn="ctr" rotWithShape="0">
                    <a:srgbClr val="6E747A">
                      <a:alpha val="43000"/>
                    </a:srgbClr>
                  </a:outerShdw>
                </a:effectLst>
              </a:rPr>
              <a:t>Ejemplos:</a:t>
            </a:r>
          </a:p>
        </p:txBody>
      </p:sp>
    </p:spTree>
    <p:extLst>
      <p:ext uri="{BB962C8B-B14F-4D97-AF65-F5344CB8AC3E}">
        <p14:creationId xmlns:p14="http://schemas.microsoft.com/office/powerpoint/2010/main" val="3695442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E056-CEC6-8347-3478-BF83AE0A1EA2}"/>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410EC79B-2DE8-3C72-73DD-D4FA07AFCC3C}"/>
              </a:ext>
            </a:extLst>
          </p:cNvPr>
          <p:cNvSpPr/>
          <p:nvPr/>
        </p:nvSpPr>
        <p:spPr>
          <a:xfrm>
            <a:off x="2471456" y="2967335"/>
            <a:ext cx="7249100" cy="923330"/>
          </a:xfrm>
          <a:prstGeom prst="rect">
            <a:avLst/>
          </a:prstGeom>
          <a:noFill/>
        </p:spPr>
        <p:txBody>
          <a:bodyPr wrap="non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El KERNEL de ESSENCE</a:t>
            </a:r>
          </a:p>
        </p:txBody>
      </p:sp>
    </p:spTree>
    <p:extLst>
      <p:ext uri="{BB962C8B-B14F-4D97-AF65-F5344CB8AC3E}">
        <p14:creationId xmlns:p14="http://schemas.microsoft.com/office/powerpoint/2010/main" val="3932926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908B-4713-4521-E151-6C3CBC4D9F1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19D9C116-D7F1-2C78-A721-092972C0FCC4}"/>
              </a:ext>
            </a:extLst>
          </p:cNvPr>
          <p:cNvSpPr txBox="1"/>
          <p:nvPr/>
        </p:nvSpPr>
        <p:spPr>
          <a:xfrm>
            <a:off x="950025" y="745889"/>
            <a:ext cx="10034649" cy="3293209"/>
          </a:xfrm>
          <a:prstGeom prst="rect">
            <a:avLst/>
          </a:prstGeom>
          <a:noFill/>
        </p:spPr>
        <p:txBody>
          <a:bodyPr wrap="square">
            <a:spAutoFit/>
          </a:bodyPr>
          <a:lstStyle/>
          <a:p>
            <a:r>
              <a:rPr lang="es-ES" sz="2800" b="1" dirty="0">
                <a:latin typeface="Arial" panose="020B0604020202020204" pitchFamily="34" charset="0"/>
                <a:cs typeface="Arial" panose="020B0604020202020204" pitchFamily="34" charset="0"/>
              </a:rPr>
              <a:t>Alfas del </a:t>
            </a:r>
            <a:r>
              <a:rPr lang="es-ES" sz="2800" b="1" dirty="0" err="1">
                <a:latin typeface="Arial" panose="020B0604020202020204" pitchFamily="34" charset="0"/>
                <a:cs typeface="Arial" panose="020B0604020202020204" pitchFamily="34" charset="0"/>
              </a:rPr>
              <a:t>Kernel</a:t>
            </a:r>
            <a:r>
              <a:rPr lang="es-ES" sz="2800" b="1" dirty="0">
                <a:latin typeface="Arial" panose="020B0604020202020204" pitchFamily="34" charset="0"/>
                <a:cs typeface="Arial" panose="020B0604020202020204" pitchFamily="34" charset="0"/>
              </a:rPr>
              <a:t>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Ya hemos definido las Alfas como aspectos o elementos clave de un proyecto que necesitamos progresar.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El </a:t>
            </a:r>
            <a:r>
              <a:rPr lang="es-ES" dirty="0" err="1">
                <a:latin typeface="Arial" panose="020B0604020202020204" pitchFamily="34" charset="0"/>
                <a:cs typeface="Arial" panose="020B0604020202020204" pitchFamily="34" charset="0"/>
              </a:rPr>
              <a:t>Kernel</a:t>
            </a:r>
            <a:r>
              <a:rPr lang="es-ES" dirty="0">
                <a:latin typeface="Arial" panose="020B0604020202020204" pitchFamily="34" charset="0"/>
                <a:cs typeface="Arial" panose="020B0604020202020204" pitchFamily="34" charset="0"/>
              </a:rPr>
              <a:t> ESSENCE define </a:t>
            </a:r>
            <a:r>
              <a:rPr lang="es-ES" b="1" dirty="0">
                <a:latin typeface="Arial" panose="020B0604020202020204" pitchFamily="34" charset="0"/>
                <a:cs typeface="Arial" panose="020B0604020202020204" pitchFamily="34" charset="0"/>
              </a:rPr>
              <a:t>siete </a:t>
            </a:r>
            <a:r>
              <a:rPr lang="es-ES" b="1" dirty="0" err="1">
                <a:latin typeface="Arial" panose="020B0604020202020204" pitchFamily="34" charset="0"/>
                <a:cs typeface="Arial" panose="020B0604020202020204" pitchFamily="34" charset="0"/>
              </a:rPr>
              <a:t>Alphas</a:t>
            </a:r>
            <a:r>
              <a:rPr lang="es-ES" dirty="0">
                <a:latin typeface="Arial" panose="020B0604020202020204" pitchFamily="34" charset="0"/>
                <a:cs typeface="Arial" panose="020B0604020202020204" pitchFamily="34" charset="0"/>
              </a:rPr>
              <a:t> comunes fundamentales que, en conjunto: </a:t>
            </a:r>
          </a:p>
          <a:p>
            <a:r>
              <a:rPr lang="es-ES" dirty="0">
                <a:latin typeface="Arial" panose="020B0604020202020204" pitchFamily="34" charset="0"/>
                <a:cs typeface="Arial" panose="020B0604020202020204" pitchFamily="34" charset="0"/>
              </a:rPr>
              <a:t>• Capturan los conceptos clave de la ingeniería de software </a:t>
            </a:r>
          </a:p>
          <a:p>
            <a:r>
              <a:rPr lang="es-ES" dirty="0">
                <a:latin typeface="Arial" panose="020B0604020202020204" pitchFamily="34" charset="0"/>
                <a:cs typeface="Arial" panose="020B0604020202020204" pitchFamily="34" charset="0"/>
              </a:rPr>
              <a:t>• Permiten el seguimiento y la evaluación del progreso y la salud de cualquier proyecto de software </a:t>
            </a:r>
          </a:p>
          <a:p>
            <a:r>
              <a:rPr lang="es-ES" dirty="0">
                <a:latin typeface="Arial" panose="020B0604020202020204" pitchFamily="34" charset="0"/>
                <a:cs typeface="Arial" panose="020B0604020202020204" pitchFamily="34" charset="0"/>
              </a:rPr>
              <a:t>• Proporcionan una base común para la definición de métodos y prácticas de ingeniería de software.</a:t>
            </a:r>
            <a:endParaRPr lang="es-MX" dirty="0">
              <a:latin typeface="Arial" panose="020B0604020202020204" pitchFamily="34" charset="0"/>
              <a:cs typeface="Arial" panose="020B0604020202020204" pitchFamily="34" charset="0"/>
            </a:endParaRPr>
          </a:p>
        </p:txBody>
      </p:sp>
      <p:pic>
        <p:nvPicPr>
          <p:cNvPr id="4" name="Picture 2" descr="Essence Alphas Image">
            <a:extLst>
              <a:ext uri="{FF2B5EF4-FFF2-40B4-BE49-F238E27FC236}">
                <a16:creationId xmlns:a16="http://schemas.microsoft.com/office/drawing/2014/main" id="{003F3327-53C3-33AC-3E4A-19B1A513AC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4015" y="2629593"/>
            <a:ext cx="8003969" cy="3748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828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6DAD0-4F1E-B185-0635-6A8D8AB5B441}"/>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A83BB41-0D1A-8D12-D235-FECAC073EAEA}"/>
              </a:ext>
            </a:extLst>
          </p:cNvPr>
          <p:cNvSpPr txBox="1"/>
          <p:nvPr/>
        </p:nvSpPr>
        <p:spPr>
          <a:xfrm>
            <a:off x="1374569" y="1031173"/>
            <a:ext cx="9693234" cy="2585323"/>
          </a:xfrm>
          <a:prstGeom prst="rect">
            <a:avLst/>
          </a:prstGeom>
          <a:noFill/>
        </p:spPr>
        <p:txBody>
          <a:bodyPr wrap="square">
            <a:spAutoFit/>
          </a:bodyPr>
          <a:lstStyle/>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Alphas (7 elementos clave)</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Oportunidad</a:t>
            </a:r>
            <a:r>
              <a:rPr lang="es-MX" dirty="0">
                <a:latin typeface="Arial" panose="020B0604020202020204" pitchFamily="34" charset="0"/>
                <a:cs typeface="Arial" panose="020B0604020202020204" pitchFamily="34" charset="0"/>
              </a:rPr>
              <a:t> – Justificación y valor de negocio del software.</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Stakeholders</a:t>
            </a:r>
            <a:r>
              <a:rPr lang="es-MX" dirty="0">
                <a:latin typeface="Arial" panose="020B0604020202020204" pitchFamily="34" charset="0"/>
                <a:cs typeface="Arial" panose="020B0604020202020204" pitchFamily="34" charset="0"/>
              </a:rPr>
              <a:t> – Personas o grupos interesados en el resultado.</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Requisitos</a:t>
            </a:r>
            <a:r>
              <a:rPr lang="es-MX" dirty="0">
                <a:latin typeface="Arial" panose="020B0604020202020204" pitchFamily="34" charset="0"/>
                <a:cs typeface="Arial" panose="020B0604020202020204" pitchFamily="34" charset="0"/>
              </a:rPr>
              <a:t> – Necesidades y capacidades que el sistema debe cumplir.</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Sistema Software </a:t>
            </a:r>
            <a:r>
              <a:rPr lang="es-MX" dirty="0">
                <a:latin typeface="Arial" panose="020B0604020202020204" pitchFamily="34" charset="0"/>
                <a:cs typeface="Arial" panose="020B0604020202020204" pitchFamily="34" charset="0"/>
              </a:rPr>
              <a:t>– El producto de software en construcción.</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Equipo</a:t>
            </a:r>
            <a:r>
              <a:rPr lang="es-MX" dirty="0">
                <a:latin typeface="Arial" panose="020B0604020202020204" pitchFamily="34" charset="0"/>
                <a:cs typeface="Arial" panose="020B0604020202020204" pitchFamily="34" charset="0"/>
              </a:rPr>
              <a:t> – Grupo de personas que desarrolla el software.</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Trabajo</a:t>
            </a:r>
            <a:r>
              <a:rPr lang="es-MX" dirty="0">
                <a:latin typeface="Arial" panose="020B0604020202020204" pitchFamily="34" charset="0"/>
                <a:cs typeface="Arial" panose="020B0604020202020204" pitchFamily="34" charset="0"/>
              </a:rPr>
              <a:t> – Esfuerzo y actividades necesarias para avanzar.</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Forma de trabajo (Way of Working)</a:t>
            </a:r>
            <a:r>
              <a:rPr lang="es-MX" dirty="0">
                <a:latin typeface="Arial" panose="020B0604020202020204" pitchFamily="34" charset="0"/>
                <a:cs typeface="Arial" panose="020B0604020202020204" pitchFamily="34" charset="0"/>
              </a:rPr>
              <a:t> – El método, prácticas y acuerdos que usa el equipo.</a:t>
            </a:r>
          </a:p>
        </p:txBody>
      </p:sp>
    </p:spTree>
    <p:extLst>
      <p:ext uri="{BB962C8B-B14F-4D97-AF65-F5344CB8AC3E}">
        <p14:creationId xmlns:p14="http://schemas.microsoft.com/office/powerpoint/2010/main" val="21389017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0560A-3BA5-A290-4BDF-2C1D89F8F90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80F0680F-BEC3-B2F0-340F-70C5C6549D64}"/>
              </a:ext>
            </a:extLst>
          </p:cNvPr>
          <p:cNvSpPr txBox="1"/>
          <p:nvPr/>
        </p:nvSpPr>
        <p:spPr>
          <a:xfrm>
            <a:off x="1232066" y="1046915"/>
            <a:ext cx="9966366" cy="3970318"/>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Hay necesidades del</a:t>
            </a:r>
            <a:r>
              <a:rPr lang="es-ES" b="1" dirty="0">
                <a:latin typeface="Arial" panose="020B0604020202020204" pitchFamily="34" charset="0"/>
                <a:cs typeface="Arial" panose="020B0604020202020204" pitchFamily="34" charset="0"/>
              </a:rPr>
              <a:t> cliente </a:t>
            </a:r>
            <a:r>
              <a:rPr lang="es-ES" dirty="0">
                <a:latin typeface="Arial" panose="020B0604020202020204" pitchFamily="34" charset="0"/>
                <a:cs typeface="Arial" panose="020B0604020202020204" pitchFamily="34" charset="0"/>
              </a:rPr>
              <a:t>que satisfacer. </a:t>
            </a:r>
          </a:p>
          <a:p>
            <a:r>
              <a:rPr lang="es-ES" dirty="0">
                <a:latin typeface="Arial" panose="020B0604020202020204" pitchFamily="34" charset="0"/>
                <a:cs typeface="Arial" panose="020B0604020202020204" pitchFamily="34" charset="0"/>
              </a:rPr>
              <a:t>• Alguien tiene un problema u oportunidad que abordar. </a:t>
            </a:r>
          </a:p>
          <a:p>
            <a:r>
              <a:rPr lang="es-ES" dirty="0">
                <a:latin typeface="Arial" panose="020B0604020202020204" pitchFamily="34" charset="0"/>
                <a:cs typeface="Arial" panose="020B0604020202020204" pitchFamily="34" charset="0"/>
              </a:rPr>
              <a:t>• Hay otras partes interesadas que financiarán, utilizarán y se beneficiarán de la solución producida.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Hay una </a:t>
            </a:r>
            <a:r>
              <a:rPr lang="es-ES" b="1" dirty="0">
                <a:latin typeface="Arial" panose="020B0604020202020204" pitchFamily="34" charset="0"/>
                <a:cs typeface="Arial" panose="020B0604020202020204" pitchFamily="34" charset="0"/>
              </a:rPr>
              <a:t>solución</a:t>
            </a:r>
            <a:r>
              <a:rPr lang="es-ES" dirty="0">
                <a:latin typeface="Arial" panose="020B0604020202020204" pitchFamily="34" charset="0"/>
                <a:cs typeface="Arial" panose="020B0604020202020204" pitchFamily="34" charset="0"/>
              </a:rPr>
              <a:t> que entregar. </a:t>
            </a:r>
          </a:p>
          <a:p>
            <a:r>
              <a:rPr lang="es-ES" dirty="0">
                <a:latin typeface="Arial" panose="020B0604020202020204" pitchFamily="34" charset="0"/>
                <a:cs typeface="Arial" panose="020B0604020202020204" pitchFamily="34" charset="0"/>
              </a:rPr>
              <a:t>• Hay ciertos requisitos que cumplir. </a:t>
            </a:r>
          </a:p>
          <a:p>
            <a:r>
              <a:rPr lang="es-ES" dirty="0">
                <a:latin typeface="Arial" panose="020B0604020202020204" pitchFamily="34" charset="0"/>
                <a:cs typeface="Arial" panose="020B0604020202020204" pitchFamily="34" charset="0"/>
              </a:rPr>
              <a:t>• Habrá un sistema de software que desarrollar.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Hay un </a:t>
            </a:r>
            <a:r>
              <a:rPr lang="es-ES" b="1" dirty="0">
                <a:latin typeface="Arial" panose="020B0604020202020204" pitchFamily="34" charset="0"/>
                <a:cs typeface="Arial" panose="020B0604020202020204" pitchFamily="34" charset="0"/>
              </a:rPr>
              <a:t>esfuerzo</a:t>
            </a:r>
            <a:r>
              <a:rPr lang="es-ES" dirty="0">
                <a:latin typeface="Arial" panose="020B0604020202020204" pitchFamily="34" charset="0"/>
                <a:cs typeface="Arial" panose="020B0604020202020204" pitchFamily="34" charset="0"/>
              </a:rPr>
              <a:t> que realizar/emprender. </a:t>
            </a:r>
          </a:p>
          <a:p>
            <a:r>
              <a:rPr lang="es-ES" dirty="0">
                <a:latin typeface="Arial" panose="020B0604020202020204" pitchFamily="34" charset="0"/>
                <a:cs typeface="Arial" panose="020B0604020202020204" pitchFamily="34" charset="0"/>
              </a:rPr>
              <a:t>• Necesitamos iniciar el trabajo... </a:t>
            </a:r>
          </a:p>
          <a:p>
            <a:r>
              <a:rPr lang="es-ES" dirty="0">
                <a:latin typeface="Arial" panose="020B0604020202020204" pitchFamily="34" charset="0"/>
                <a:cs typeface="Arial" panose="020B0604020202020204" pitchFamily="34" charset="0"/>
              </a:rPr>
              <a:t>• Construir un equipo capacitado de personas competentes... </a:t>
            </a:r>
          </a:p>
          <a:p>
            <a:r>
              <a:rPr lang="es-ES" dirty="0">
                <a:latin typeface="Arial" panose="020B0604020202020204" pitchFamily="34" charset="0"/>
                <a:cs typeface="Arial" panose="020B0604020202020204" pitchFamily="34" charset="0"/>
              </a:rPr>
              <a:t>• Con una forma de trabajar eficaz y receptiva. </a:t>
            </a:r>
          </a:p>
          <a:p>
            <a:endParaRPr lang="es-E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0142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6BD65-1D61-102D-6804-E14B89B06C74}"/>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DBEBC3E-886E-ABAD-FE50-4EE0830DEB95}"/>
              </a:ext>
            </a:extLst>
          </p:cNvPr>
          <p:cNvSpPr txBox="1"/>
          <p:nvPr/>
        </p:nvSpPr>
        <p:spPr>
          <a:xfrm>
            <a:off x="3788228" y="1925518"/>
            <a:ext cx="7449783" cy="2585323"/>
          </a:xfrm>
          <a:prstGeom prst="rect">
            <a:avLst/>
          </a:prstGeom>
          <a:noFill/>
        </p:spPr>
        <p:txBody>
          <a:bodyPr wrap="square">
            <a:spAutoFit/>
          </a:bodyPr>
          <a:lstStyle/>
          <a:p>
            <a:r>
              <a:rPr lang="es-ES" b="1" dirty="0">
                <a:latin typeface="Arial" panose="020B0604020202020204" pitchFamily="34" charset="0"/>
                <a:cs typeface="Arial" panose="020B0604020202020204" pitchFamily="34" charset="0"/>
              </a:rPr>
              <a:t>Cliente: </a:t>
            </a:r>
            <a:r>
              <a:rPr lang="es-ES" dirty="0">
                <a:latin typeface="Arial" panose="020B0604020202020204" pitchFamily="34" charset="0"/>
                <a:cs typeface="Arial" panose="020B0604020202020204" pitchFamily="34" charset="0"/>
              </a:rPr>
              <a:t>abarca todo lo relacionado con el uso y la explotación de la solución para generar valor para los clientes y usuarios.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Solución: </a:t>
            </a:r>
            <a:r>
              <a:rPr lang="es-ES" dirty="0">
                <a:latin typeface="Arial" panose="020B0604020202020204" pitchFamily="34" charset="0"/>
                <a:cs typeface="Arial" panose="020B0604020202020204" pitchFamily="34" charset="0"/>
              </a:rPr>
              <a:t>abarca todo lo relacionado con la especificación y el desarrollo de la solución para satisfacer las necesidades de los clientes. </a:t>
            </a:r>
          </a:p>
          <a:p>
            <a:endParaRPr lang="es-ES" dirty="0">
              <a:latin typeface="Arial" panose="020B0604020202020204" pitchFamily="34" charset="0"/>
              <a:cs typeface="Arial" panose="020B0604020202020204" pitchFamily="34" charset="0"/>
            </a:endParaRPr>
          </a:p>
          <a:p>
            <a:r>
              <a:rPr lang="es-ES" b="1" dirty="0">
                <a:latin typeface="Arial" panose="020B0604020202020204" pitchFamily="34" charset="0"/>
                <a:cs typeface="Arial" panose="020B0604020202020204" pitchFamily="34" charset="0"/>
              </a:rPr>
              <a:t>Esfuerzo: </a:t>
            </a:r>
            <a:r>
              <a:rPr lang="es-ES" dirty="0">
                <a:latin typeface="Arial" panose="020B0604020202020204" pitchFamily="34" charset="0"/>
                <a:cs typeface="Arial" panose="020B0604020202020204" pitchFamily="34" charset="0"/>
              </a:rPr>
              <a:t>abarca todo lo relacionado con el equipo y la forma en que abordan su trabajo para entregar la solución al cliente.</a:t>
            </a:r>
            <a:endParaRPr lang="es-MX"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E5CA011B-7B9E-72E4-4204-017D00CBC902}"/>
              </a:ext>
            </a:extLst>
          </p:cNvPr>
          <p:cNvSpPr txBox="1"/>
          <p:nvPr/>
        </p:nvSpPr>
        <p:spPr>
          <a:xfrm>
            <a:off x="1338941" y="939622"/>
            <a:ext cx="9823861" cy="646331"/>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ESSENCE subdivide el campo de la ingeniería de software en </a:t>
            </a:r>
            <a:r>
              <a:rPr lang="es-ES" b="1" dirty="0">
                <a:latin typeface="Arial" panose="020B0604020202020204" pitchFamily="34" charset="0"/>
                <a:cs typeface="Arial" panose="020B0604020202020204" pitchFamily="34" charset="0"/>
              </a:rPr>
              <a:t>tres amplias áreas de interés</a:t>
            </a:r>
            <a:r>
              <a:rPr lang="es-ES" dirty="0">
                <a:latin typeface="Arial" panose="020B0604020202020204" pitchFamily="34" charset="0"/>
                <a:cs typeface="Arial" panose="020B0604020202020204" pitchFamily="34" charset="0"/>
              </a:rPr>
              <a:t>. Cada una tiene su propio código de colores distintivo:</a:t>
            </a:r>
            <a:endParaRPr lang="es-MX" dirty="0">
              <a:latin typeface="Arial" panose="020B0604020202020204" pitchFamily="34" charset="0"/>
              <a:cs typeface="Arial" panose="020B0604020202020204" pitchFamily="34" charset="0"/>
            </a:endParaRPr>
          </a:p>
        </p:txBody>
      </p:sp>
      <p:pic>
        <p:nvPicPr>
          <p:cNvPr id="7" name="Imagen 6">
            <a:extLst>
              <a:ext uri="{FF2B5EF4-FFF2-40B4-BE49-F238E27FC236}">
                <a16:creationId xmlns:a16="http://schemas.microsoft.com/office/drawing/2014/main" id="{55EE1E06-580B-FDAE-A175-5AA0CECD6FBF}"/>
              </a:ext>
            </a:extLst>
          </p:cNvPr>
          <p:cNvPicPr>
            <a:picLocks noChangeAspect="1"/>
          </p:cNvPicPr>
          <p:nvPr/>
        </p:nvPicPr>
        <p:blipFill>
          <a:blip r:embed="rId2"/>
          <a:stretch>
            <a:fillRect/>
          </a:stretch>
        </p:blipFill>
        <p:spPr>
          <a:xfrm>
            <a:off x="849200" y="1925518"/>
            <a:ext cx="2939028" cy="2815927"/>
          </a:xfrm>
          <a:prstGeom prst="rect">
            <a:avLst/>
          </a:prstGeom>
        </p:spPr>
      </p:pic>
    </p:spTree>
    <p:extLst>
      <p:ext uri="{BB962C8B-B14F-4D97-AF65-F5344CB8AC3E}">
        <p14:creationId xmlns:p14="http://schemas.microsoft.com/office/powerpoint/2010/main" val="40441984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2064-8159-D564-8478-E8FF40EA04CD}"/>
            </a:ext>
          </a:extLst>
        </p:cNvPr>
        <p:cNvGrpSpPr/>
        <p:nvPr/>
      </p:nvGrpSpPr>
      <p:grpSpPr>
        <a:xfrm>
          <a:off x="0" y="0"/>
          <a:ext cx="0" cy="0"/>
          <a:chOff x="0" y="0"/>
          <a:chExt cx="0" cy="0"/>
        </a:xfrm>
      </p:grpSpPr>
      <p:pic>
        <p:nvPicPr>
          <p:cNvPr id="2" name="Picture 2" descr="Essence kernel alphas (i ∈ α) [1]">
            <a:extLst>
              <a:ext uri="{FF2B5EF4-FFF2-40B4-BE49-F238E27FC236}">
                <a16:creationId xmlns:a16="http://schemas.microsoft.com/office/drawing/2014/main" id="{ECA33087-F5BA-7F11-4CC6-9CCFB7F36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5699" y="1318182"/>
            <a:ext cx="7095505" cy="4873782"/>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22A8F95-062A-A4CB-59C7-0DB620728E4A}"/>
              </a:ext>
            </a:extLst>
          </p:cNvPr>
          <p:cNvSpPr/>
          <p:nvPr/>
        </p:nvSpPr>
        <p:spPr>
          <a:xfrm>
            <a:off x="860529" y="610296"/>
            <a:ext cx="7440323" cy="707886"/>
          </a:xfrm>
          <a:prstGeom prst="rect">
            <a:avLst/>
          </a:prstGeom>
          <a:noFill/>
        </p:spPr>
        <p:txBody>
          <a:bodyPr wrap="square" lIns="91440" tIns="45720" rIns="91440" bIns="45720">
            <a:spAutoFit/>
          </a:bodyPr>
          <a:lstStyle/>
          <a:p>
            <a:pPr algn="ctr"/>
            <a:r>
              <a:rPr lang="es-MX" sz="4000" b="0" cap="none" spc="0" dirty="0">
                <a:ln w="0"/>
                <a:solidFill>
                  <a:schemeClr val="tx1"/>
                </a:solidFill>
                <a:effectLst>
                  <a:outerShdw blurRad="38100" dist="19050" dir="2700000" algn="tl" rotWithShape="0">
                    <a:schemeClr val="dk1">
                      <a:alpha val="40000"/>
                    </a:schemeClr>
                  </a:outerShdw>
                </a:effectLst>
              </a:rPr>
              <a:t>ALPHAS y sus relaciones</a:t>
            </a:r>
          </a:p>
        </p:txBody>
      </p:sp>
    </p:spTree>
    <p:extLst>
      <p:ext uri="{BB962C8B-B14F-4D97-AF65-F5344CB8AC3E}">
        <p14:creationId xmlns:p14="http://schemas.microsoft.com/office/powerpoint/2010/main" val="846669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4B43E-6032-9DE9-BF6A-6C3F47CF05B3}"/>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BA84BD6D-4F11-5FD9-BC1F-113BFF21079A}"/>
              </a:ext>
            </a:extLst>
          </p:cNvPr>
          <p:cNvSpPr txBox="1"/>
          <p:nvPr/>
        </p:nvSpPr>
        <p:spPr>
          <a:xfrm>
            <a:off x="1137063" y="1003142"/>
            <a:ext cx="10061368" cy="738664"/>
          </a:xfrm>
          <a:prstGeom prst="rect">
            <a:avLst/>
          </a:prstGeom>
          <a:noFill/>
        </p:spPr>
        <p:txBody>
          <a:bodyPr wrap="square">
            <a:spAutoFit/>
          </a:bodyPr>
          <a:lstStyle/>
          <a:p>
            <a:r>
              <a:rPr lang="es-ES" sz="2400" b="1" dirty="0">
                <a:latin typeface="Arial" panose="020B0604020202020204" pitchFamily="34" charset="0"/>
                <a:cs typeface="Arial" panose="020B0604020202020204" pitchFamily="34" charset="0"/>
              </a:rPr>
              <a:t>Espacios de Actividad (</a:t>
            </a:r>
            <a:r>
              <a:rPr lang="es-ES" sz="2400" b="1" dirty="0" err="1">
                <a:latin typeface="Arial" panose="020B0604020202020204" pitchFamily="34" charset="0"/>
                <a:cs typeface="Arial" panose="020B0604020202020204" pitchFamily="34" charset="0"/>
              </a:rPr>
              <a:t>Activity</a:t>
            </a:r>
            <a:r>
              <a:rPr lang="es-ES" sz="2400" b="1" dirty="0">
                <a:latin typeface="Arial" panose="020B0604020202020204" pitchFamily="34" charset="0"/>
                <a:cs typeface="Arial" panose="020B0604020202020204" pitchFamily="34" charset="0"/>
              </a:rPr>
              <a:t> Spaces)</a:t>
            </a:r>
          </a:p>
          <a:p>
            <a:endParaRPr lang="es-ES"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653A9295-7649-9795-9B95-F383CDB2D8B0}"/>
              </a:ext>
            </a:extLst>
          </p:cNvPr>
          <p:cNvSpPr txBox="1"/>
          <p:nvPr/>
        </p:nvSpPr>
        <p:spPr>
          <a:xfrm>
            <a:off x="4319650" y="2136338"/>
            <a:ext cx="6097978" cy="2585323"/>
          </a:xfrm>
          <a:prstGeom prst="rect">
            <a:avLst/>
          </a:prstGeom>
          <a:noFill/>
        </p:spPr>
        <p:txBody>
          <a:bodyPr wrap="square">
            <a:spAutoFit/>
          </a:bodyPr>
          <a:lstStyle/>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Un Espacio de Actividad es un marcador de posición para algo que se debe hacer en una tarea, como comprender los requisitos. </a:t>
            </a: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s-E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núcleo de ESSENCE define un conjunto de Espacios de Actividad, que en conjunto definen el tipo de cosas que necesitamos hacer para progresar en cualquier proyecto de ingeniería de software.</a:t>
            </a:r>
            <a:endParaRPr lang="es-MX" dirty="0">
              <a:latin typeface="Arial" panose="020B0604020202020204" pitchFamily="34" charset="0"/>
              <a:cs typeface="Arial" panose="020B0604020202020204" pitchFamily="34" charset="0"/>
            </a:endParaRPr>
          </a:p>
        </p:txBody>
      </p:sp>
      <p:pic>
        <p:nvPicPr>
          <p:cNvPr id="10" name="Imagen 9">
            <a:extLst>
              <a:ext uri="{FF2B5EF4-FFF2-40B4-BE49-F238E27FC236}">
                <a16:creationId xmlns:a16="http://schemas.microsoft.com/office/drawing/2014/main" id="{09B0AB12-BA0E-F454-A995-8BD6286495F9}"/>
              </a:ext>
            </a:extLst>
          </p:cNvPr>
          <p:cNvPicPr>
            <a:picLocks noChangeAspect="1"/>
          </p:cNvPicPr>
          <p:nvPr/>
        </p:nvPicPr>
        <p:blipFill>
          <a:blip r:embed="rId2"/>
          <a:stretch>
            <a:fillRect/>
          </a:stretch>
        </p:blipFill>
        <p:spPr>
          <a:xfrm>
            <a:off x="3024250" y="2050565"/>
            <a:ext cx="1295400" cy="1041400"/>
          </a:xfrm>
          <a:prstGeom prst="rect">
            <a:avLst/>
          </a:prstGeom>
        </p:spPr>
      </p:pic>
    </p:spTree>
    <p:extLst>
      <p:ext uri="{BB962C8B-B14F-4D97-AF65-F5344CB8AC3E}">
        <p14:creationId xmlns:p14="http://schemas.microsoft.com/office/powerpoint/2010/main" val="3305291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598F35-5A86-5578-C046-180A93DD6747}"/>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B908A872-5992-6F61-80E3-B1FF60798990}"/>
              </a:ext>
            </a:extLst>
          </p:cNvPr>
          <p:cNvPicPr>
            <a:picLocks noChangeAspect="1"/>
          </p:cNvPicPr>
          <p:nvPr/>
        </p:nvPicPr>
        <p:blipFill>
          <a:blip r:embed="rId2"/>
          <a:stretch>
            <a:fillRect/>
          </a:stretch>
        </p:blipFill>
        <p:spPr>
          <a:xfrm>
            <a:off x="2406552" y="643466"/>
            <a:ext cx="7378896" cy="5571067"/>
          </a:xfrm>
          <a:prstGeom prst="rect">
            <a:avLst/>
          </a:prstGeom>
        </p:spPr>
      </p:pic>
    </p:spTree>
    <p:extLst>
      <p:ext uri="{BB962C8B-B14F-4D97-AF65-F5344CB8AC3E}">
        <p14:creationId xmlns:p14="http://schemas.microsoft.com/office/powerpoint/2010/main" val="3252524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E1561-724D-94C0-FF40-948EB7065A8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E2A9AC9E-2740-AB5F-3348-001AC7B69F15}"/>
              </a:ext>
            </a:extLst>
          </p:cNvPr>
          <p:cNvSpPr txBox="1"/>
          <p:nvPr/>
        </p:nvSpPr>
        <p:spPr>
          <a:xfrm>
            <a:off x="1505196" y="1161664"/>
            <a:ext cx="9716985" cy="2862322"/>
          </a:xfrm>
          <a:prstGeom prst="rect">
            <a:avLst/>
          </a:prstGeom>
          <a:noFill/>
        </p:spPr>
        <p:txBody>
          <a:bodyPr wrap="square">
            <a:spAutoFit/>
          </a:bodyPr>
          <a:lstStyle/>
          <a:p>
            <a:r>
              <a:rPr lang="es-ES" dirty="0">
                <a:latin typeface="Arial" panose="020B0604020202020204" pitchFamily="34" charset="0"/>
                <a:cs typeface="Arial" panose="020B0604020202020204" pitchFamily="34" charset="0"/>
              </a:rPr>
              <a:t>Al igual que con las </a:t>
            </a:r>
            <a:r>
              <a:rPr lang="es-ES" dirty="0" err="1">
                <a:latin typeface="Arial" panose="020B0604020202020204" pitchFamily="34" charset="0"/>
                <a:cs typeface="Arial" panose="020B0604020202020204" pitchFamily="34" charset="0"/>
              </a:rPr>
              <a:t>Alphas</a:t>
            </a:r>
            <a:r>
              <a:rPr lang="es-ES" dirty="0">
                <a:latin typeface="Arial" panose="020B0604020202020204" pitchFamily="34" charset="0"/>
                <a:cs typeface="Arial" panose="020B0604020202020204" pitchFamily="34" charset="0"/>
              </a:rPr>
              <a:t> del </a:t>
            </a:r>
            <a:r>
              <a:rPr lang="es-ES" dirty="0" err="1">
                <a:latin typeface="Arial" panose="020B0604020202020204" pitchFamily="34" charset="0"/>
                <a:cs typeface="Arial" panose="020B0604020202020204" pitchFamily="34" charset="0"/>
              </a:rPr>
              <a:t>Kernel</a:t>
            </a:r>
            <a:r>
              <a:rPr lang="es-ES" dirty="0">
                <a:latin typeface="Arial" panose="020B0604020202020204" pitchFamily="34" charset="0"/>
                <a:cs typeface="Arial" panose="020B0604020202020204" pitchFamily="34" charset="0"/>
              </a:rPr>
              <a:t>, estos pueden usarse tanto de forma independiente como para ayudar a definir prácticas: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 El conjunto de Espacios de Actividad puede usarse para evaluar la cobertura y realizar análisis de brechas en la forma de trabajar actual de un equipo. </a:t>
            </a: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 Las actividades de las prácticas pueden ubicarse dentro de los Espacios de Actividad para indicar claramente qué objetivos generales ayudarán al equipo a lograr la práctica y sus actividades; por ejemplo, nuestro ejemplo anterior, la Actividad "Buscar Historias de Usuario", se encuentra en el Espacio de Actividad "Comprender los Requisitos".</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0996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376A1-64C2-90E0-681F-C5CDC87A6725}"/>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9D29981-B433-C10E-407A-7F570DB8E67F}"/>
              </a:ext>
            </a:extLst>
          </p:cNvPr>
          <p:cNvSpPr txBox="1"/>
          <p:nvPr/>
        </p:nvSpPr>
        <p:spPr>
          <a:xfrm>
            <a:off x="1505196" y="1161664"/>
            <a:ext cx="4325588" cy="3877985"/>
          </a:xfrm>
          <a:prstGeom prst="rect">
            <a:avLst/>
          </a:prstGeom>
          <a:noFill/>
        </p:spPr>
        <p:txBody>
          <a:bodyPr wrap="square">
            <a:spAutoFit/>
          </a:bodyPr>
          <a:lstStyle/>
          <a:p>
            <a:r>
              <a:rPr lang="es-ES" sz="2400" b="1" dirty="0">
                <a:latin typeface="Arial" panose="020B0604020202020204" pitchFamily="34" charset="0"/>
                <a:cs typeface="Arial" panose="020B0604020202020204" pitchFamily="34" charset="0"/>
              </a:rPr>
              <a:t>Competencias </a:t>
            </a:r>
          </a:p>
          <a:p>
            <a:endParaRPr lang="es-ES" sz="2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El núcleo de ESSENCE define </a:t>
            </a:r>
            <a:r>
              <a:rPr lang="es-ES" b="1" dirty="0">
                <a:latin typeface="Arial" panose="020B0604020202020204" pitchFamily="34" charset="0"/>
                <a:cs typeface="Arial" panose="020B0604020202020204" pitchFamily="34" charset="0"/>
              </a:rPr>
              <a:t>seis competencias fundamentales </a:t>
            </a:r>
            <a:r>
              <a:rPr lang="es-ES" dirty="0">
                <a:latin typeface="Arial" panose="020B0604020202020204" pitchFamily="34" charset="0"/>
                <a:cs typeface="Arial" panose="020B0604020202020204" pitchFamily="34" charset="0"/>
              </a:rPr>
              <a:t>que son comunes en cualquier proyecto de software.</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 Las prácticas se referirán a estas o pueden ampliar este conjunto e introducir sus propias competencias adicionales para abordar desafíos específicos. Algunos ejemplos son </a:t>
            </a:r>
            <a:r>
              <a:rPr lang="es-ES" i="1" dirty="0">
                <a:latin typeface="Arial" panose="020B0604020202020204" pitchFamily="34" charset="0"/>
                <a:cs typeface="Arial" panose="020B0604020202020204" pitchFamily="34" charset="0"/>
              </a:rPr>
              <a:t>operaciones, diseño de hardware o coaching</a:t>
            </a:r>
            <a:r>
              <a:rPr lang="es-ES" dirty="0">
                <a:latin typeface="Arial" panose="020B0604020202020204" pitchFamily="34" charset="0"/>
                <a:cs typeface="Arial" panose="020B0604020202020204" pitchFamily="34" charset="0"/>
              </a:rPr>
              <a:t>.</a:t>
            </a:r>
            <a:endParaRPr lang="es-MX"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940E7E89-286E-4ECE-B89C-34E5EF083724}"/>
              </a:ext>
            </a:extLst>
          </p:cNvPr>
          <p:cNvPicPr>
            <a:picLocks noChangeAspect="1"/>
          </p:cNvPicPr>
          <p:nvPr/>
        </p:nvPicPr>
        <p:blipFill>
          <a:blip r:embed="rId2"/>
          <a:stretch>
            <a:fillRect/>
          </a:stretch>
        </p:blipFill>
        <p:spPr>
          <a:xfrm>
            <a:off x="5975845" y="1104900"/>
            <a:ext cx="5346700" cy="4648200"/>
          </a:xfrm>
          <a:prstGeom prst="rect">
            <a:avLst/>
          </a:prstGeom>
        </p:spPr>
      </p:pic>
    </p:spTree>
    <p:extLst>
      <p:ext uri="{BB962C8B-B14F-4D97-AF65-F5344CB8AC3E}">
        <p14:creationId xmlns:p14="http://schemas.microsoft.com/office/powerpoint/2010/main" val="3821195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C72C2-0755-CA96-9C43-295C2004FFF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C117DEAB-18DB-D6B1-AE21-5326F843FF30}"/>
              </a:ext>
            </a:extLst>
          </p:cNvPr>
          <p:cNvSpPr txBox="1"/>
          <p:nvPr/>
        </p:nvSpPr>
        <p:spPr>
          <a:xfrm>
            <a:off x="1137061" y="967517"/>
            <a:ext cx="10370127" cy="3816429"/>
          </a:xfrm>
          <a:prstGeom prst="rect">
            <a:avLst/>
          </a:prstGeom>
          <a:noFill/>
        </p:spPr>
        <p:txBody>
          <a:bodyPr wrap="square">
            <a:spAutoFit/>
          </a:bodyPr>
          <a:lstStyle/>
          <a:p>
            <a:pPr algn="ctr"/>
            <a:r>
              <a:rPr lang="es-ES" sz="4000" b="1" dirty="0">
                <a:latin typeface="Arial" panose="020B0604020202020204" pitchFamily="34" charset="0"/>
                <a:cs typeface="Arial" panose="020B0604020202020204" pitchFamily="34" charset="0"/>
              </a:rPr>
              <a:t>El núcleo de ingeniería de software ESSENCE </a:t>
            </a:r>
          </a:p>
          <a:p>
            <a:endParaRPr lang="es-ES" dirty="0">
              <a:latin typeface="Arial" panose="020B0604020202020204" pitchFamily="34" charset="0"/>
              <a:cs typeface="Arial" panose="020B0604020202020204" pitchFamily="34" charset="0"/>
            </a:endParaRPr>
          </a:p>
          <a:p>
            <a:endParaRPr lang="es-ES" dirty="0">
              <a:latin typeface="Arial" panose="020B0604020202020204" pitchFamily="34" charset="0"/>
              <a:cs typeface="Arial" panose="020B0604020202020204" pitchFamily="34" charset="0"/>
            </a:endParaRPr>
          </a:p>
          <a:p>
            <a:r>
              <a:rPr lang="es-ES" dirty="0">
                <a:latin typeface="Arial" panose="020B0604020202020204" pitchFamily="34" charset="0"/>
                <a:cs typeface="Arial" panose="020B0604020202020204" pitchFamily="34" charset="0"/>
              </a:rPr>
              <a:t>El núcleo de ingeniería de software </a:t>
            </a:r>
            <a:r>
              <a:rPr lang="es-ES" dirty="0" err="1">
                <a:latin typeface="Arial" panose="020B0604020202020204" pitchFamily="34" charset="0"/>
                <a:cs typeface="Arial" panose="020B0604020202020204" pitchFamily="34" charset="0"/>
              </a:rPr>
              <a:t>Essence</a:t>
            </a:r>
            <a:r>
              <a:rPr lang="es-ES" dirty="0">
                <a:latin typeface="Arial" panose="020B0604020202020204" pitchFamily="34" charset="0"/>
                <a:cs typeface="Arial" panose="020B0604020202020204" pitchFamily="34" charset="0"/>
              </a:rPr>
              <a:t> </a:t>
            </a:r>
            <a:r>
              <a:rPr lang="es-ES" b="1" dirty="0">
                <a:solidFill>
                  <a:srgbClr val="0070C0"/>
                </a:solidFill>
                <a:latin typeface="Arial" panose="020B0604020202020204" pitchFamily="34" charset="0"/>
                <a:cs typeface="Arial" panose="020B0604020202020204" pitchFamily="34" charset="0"/>
              </a:rPr>
              <a:t>proporciona la base común para definir las prácticas de desarrollo de software</a:t>
            </a:r>
            <a:r>
              <a:rPr lang="es-ES" dirty="0">
                <a:latin typeface="Arial" panose="020B0604020202020204" pitchFamily="34" charset="0"/>
                <a:cs typeface="Arial" panose="020B0604020202020204" pitchFamily="34" charset="0"/>
              </a:rPr>
              <a:t>. Incluye los elementos esenciales que siempre son fundamentales en cualquier proyecto de ingeniería de software, incluyendo: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Espacios de actividad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Alfas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Competencias </a:t>
            </a:r>
          </a:p>
          <a:p>
            <a:pPr marL="285750" indent="-285750">
              <a:buFont typeface="Arial" panose="020B0604020202020204" pitchFamily="34" charset="0"/>
              <a:buChar char="•"/>
            </a:pPr>
            <a:r>
              <a:rPr lang="es-ES" dirty="0">
                <a:latin typeface="Arial" panose="020B0604020202020204" pitchFamily="34" charset="0"/>
                <a:cs typeface="Arial" panose="020B0604020202020204" pitchFamily="34" charset="0"/>
              </a:rPr>
              <a:t>Niveles de competencia</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060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73B2F-9A70-150D-5A97-F78ED5D45863}"/>
            </a:ext>
          </a:extLst>
        </p:cNvPr>
        <p:cNvGrpSpPr/>
        <p:nvPr/>
      </p:nvGrpSpPr>
      <p:grpSpPr>
        <a:xfrm>
          <a:off x="0" y="0"/>
          <a:ext cx="0" cy="0"/>
          <a:chOff x="0" y="0"/>
          <a:chExt cx="0" cy="0"/>
        </a:xfrm>
      </p:grpSpPr>
      <p:pic>
        <p:nvPicPr>
          <p:cNvPr id="18434" name="Picture 2" descr="Essence for Agility - Key Concepts Image">
            <a:extLst>
              <a:ext uri="{FF2B5EF4-FFF2-40B4-BE49-F238E27FC236}">
                <a16:creationId xmlns:a16="http://schemas.microsoft.com/office/drawing/2014/main" id="{B56F4970-A9A7-F099-CC7B-C6F1E4E51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753" y="599704"/>
            <a:ext cx="9458493" cy="565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26634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25BB-3C0F-457D-0598-DB532625D98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31F6AF4-0290-EFE9-016B-D93CFAEF573F}"/>
              </a:ext>
            </a:extLst>
          </p:cNvPr>
          <p:cNvSpPr txBox="1"/>
          <p:nvPr/>
        </p:nvSpPr>
        <p:spPr>
          <a:xfrm>
            <a:off x="1398319" y="1723672"/>
            <a:ext cx="9776361" cy="3816429"/>
          </a:xfrm>
          <a:prstGeom prst="rect">
            <a:avLst/>
          </a:prstGeom>
          <a:noFill/>
        </p:spPr>
        <p:txBody>
          <a:bodyPr wrap="square">
            <a:spAutoFit/>
          </a:bodyPr>
          <a:lstStyle/>
          <a:p>
            <a:pPr algn="ctr">
              <a:buNone/>
            </a:pPr>
            <a:r>
              <a:rPr lang="es-MX" sz="4000" b="1" dirty="0">
                <a:latin typeface="Arial" panose="020B0604020202020204" pitchFamily="34" charset="0"/>
                <a:cs typeface="Arial" panose="020B0604020202020204" pitchFamily="34" charset="0"/>
              </a:rPr>
              <a:t>ALPHAS (Abstract-Level Progress Health Attributes)</a:t>
            </a:r>
          </a:p>
          <a:p>
            <a:pPr>
              <a:buNone/>
            </a:pPr>
            <a:endParaRPr lang="es-MX" b="1" dirty="0">
              <a:latin typeface="Arial" panose="020B0604020202020204" pitchFamily="34" charset="0"/>
              <a:cs typeface="Arial" panose="020B0604020202020204" pitchFamily="34" charset="0"/>
            </a:endParaRP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Definición:</a:t>
            </a:r>
          </a:p>
          <a:p>
            <a:pPr>
              <a:buNone/>
            </a:pPr>
            <a:r>
              <a:rPr lang="es-MX" dirty="0">
                <a:latin typeface="Arial" panose="020B0604020202020204" pitchFamily="34" charset="0"/>
                <a:cs typeface="Arial" panose="020B0604020202020204" pitchFamily="34" charset="0"/>
              </a:rPr>
              <a:t>Son los </a:t>
            </a:r>
            <a:r>
              <a:rPr lang="es-MX" b="1" dirty="0">
                <a:latin typeface="Arial" panose="020B0604020202020204" pitchFamily="34" charset="0"/>
                <a:cs typeface="Arial" panose="020B0604020202020204" pitchFamily="34" charset="0"/>
              </a:rPr>
              <a:t>elementos esenciales y universales</a:t>
            </a:r>
            <a:r>
              <a:rPr lang="es-MX" dirty="0">
                <a:latin typeface="Arial" panose="020B0604020202020204" pitchFamily="34" charset="0"/>
                <a:cs typeface="Arial" panose="020B0604020202020204" pitchFamily="34" charset="0"/>
              </a:rPr>
              <a:t> que describen la evolución y el estado de un esfuerzo de desarrollo de software.</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Font typeface="Arial" panose="020B0604020202020204" pitchFamily="34" charset="0"/>
              <a:buChar char="•"/>
            </a:pPr>
            <a:r>
              <a:rPr lang="es-MX" dirty="0">
                <a:latin typeface="Arial" panose="020B0604020202020204" pitchFamily="34" charset="0"/>
                <a:cs typeface="Arial" panose="020B0604020202020204" pitchFamily="34" charset="0"/>
              </a:rPr>
              <a:t> Funcionan como </a:t>
            </a:r>
            <a:r>
              <a:rPr lang="es-MX" b="1" dirty="0">
                <a:latin typeface="Arial" panose="020B0604020202020204" pitchFamily="34" charset="0"/>
                <a:cs typeface="Arial" panose="020B0604020202020204" pitchFamily="34" charset="0"/>
              </a:rPr>
              <a:t>puntos de control</a:t>
            </a:r>
            <a:r>
              <a:rPr lang="es-MX" dirty="0">
                <a:latin typeface="Arial" panose="020B0604020202020204" pitchFamily="34" charset="0"/>
                <a:cs typeface="Arial" panose="020B0604020202020204" pitchFamily="34" charset="0"/>
              </a:rPr>
              <a:t> (checkpoints) para evaluar </a:t>
            </a:r>
            <a:r>
              <a:rPr lang="es-MX" b="1" dirty="0">
                <a:latin typeface="Arial" panose="020B0604020202020204" pitchFamily="34" charset="0"/>
                <a:cs typeface="Arial" panose="020B0604020202020204" pitchFamily="34" charset="0"/>
              </a:rPr>
              <a:t>progreso, salud y riesgos</a:t>
            </a:r>
            <a:r>
              <a:rPr lang="es-MX" dirty="0">
                <a:latin typeface="Arial" panose="020B0604020202020204" pitchFamily="34" charset="0"/>
                <a:cs typeface="Arial" panose="020B0604020202020204" pitchFamily="34" charset="0"/>
              </a:rPr>
              <a:t> de un proyecto.</a:t>
            </a:r>
          </a:p>
          <a:p>
            <a:pPr>
              <a:buFont typeface="Arial" panose="020B0604020202020204" pitchFamily="34" charset="0"/>
              <a:buChar char="•"/>
            </a:pPr>
            <a:r>
              <a:rPr lang="es-MX" dirty="0">
                <a:latin typeface="Arial" panose="020B0604020202020204" pitchFamily="34" charset="0"/>
                <a:cs typeface="Arial" panose="020B0604020202020204" pitchFamily="34" charset="0"/>
              </a:rPr>
              <a:t> No son documentos ni tareas, sino </a:t>
            </a:r>
            <a:r>
              <a:rPr lang="es-MX" b="1" dirty="0">
                <a:latin typeface="Arial" panose="020B0604020202020204" pitchFamily="34" charset="0"/>
                <a:cs typeface="Arial" panose="020B0604020202020204" pitchFamily="34" charset="0"/>
              </a:rPr>
              <a:t>entidades conceptuales vivas</a:t>
            </a:r>
            <a:r>
              <a:rPr lang="es-MX"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844628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D65FC-D6E3-945A-42DD-BED73D5FAB76}"/>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25E65AC-C15F-5F60-8481-7F97BDD3FD83}"/>
              </a:ext>
            </a:extLst>
          </p:cNvPr>
          <p:cNvSpPr txBox="1"/>
          <p:nvPr/>
        </p:nvSpPr>
        <p:spPr>
          <a:xfrm>
            <a:off x="1101437" y="726558"/>
            <a:ext cx="10382002" cy="5570756"/>
          </a:xfrm>
          <a:prstGeom prst="rect">
            <a:avLst/>
          </a:prstGeom>
          <a:noFill/>
        </p:spPr>
        <p:txBody>
          <a:bodyPr wrap="square">
            <a:spAutoFit/>
          </a:bodyPr>
          <a:lstStyle/>
          <a:p>
            <a:pPr>
              <a:buNone/>
            </a:pPr>
            <a:r>
              <a:rPr lang="es-MX" sz="3200" b="1" dirty="0">
                <a:latin typeface="Arial" panose="020B0604020202020204" pitchFamily="34" charset="0"/>
                <a:cs typeface="Arial" panose="020B0604020202020204" pitchFamily="34" charset="0"/>
              </a:rPr>
              <a:t>Los 7 Alphas del Kernel (ESTADOS)</a:t>
            </a:r>
          </a:p>
          <a:p>
            <a:pPr>
              <a:buNone/>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Oportunidad (Opportunity)</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El motivo y valor de negocio del sistema.</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Estados: Identificada → Solución viable → Solución con valor → Beneficio realizado → Cerrada.</a:t>
            </a:r>
          </a:p>
          <a:p>
            <a:pPr marL="742950" lvl="1" indent="-285750">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Stakeholders</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Personas/grupos interesados o afectados.</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Estados: Reconocidos → Representados → Involucrados → En acuerdo → Satisfechos.</a:t>
            </a:r>
          </a:p>
          <a:p>
            <a:pPr marL="742950" lvl="1" indent="-285750">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Requisitos (Requirements)</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Necesidades y capacidades que el sistema debe satisfacer.</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Estados: Concebidos → Borrador → Aceptados → Abordados → Cumplidos.</a:t>
            </a:r>
          </a:p>
          <a:p>
            <a:pPr marL="742950" lvl="1" indent="-285750">
              <a:buFont typeface="+mj-lt"/>
              <a:buAutoNum type="arabicPeriod"/>
            </a:pPr>
            <a:endParaRPr lang="es-MX"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Sistema de Software (Software System)</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El producto en construcción y su evolución.</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Estados: Arquitectura seleccionada → Demostrado → Utilizable → Listo para entrega → En uso → Retirado.</a:t>
            </a:r>
          </a:p>
        </p:txBody>
      </p:sp>
    </p:spTree>
    <p:extLst>
      <p:ext uri="{BB962C8B-B14F-4D97-AF65-F5344CB8AC3E}">
        <p14:creationId xmlns:p14="http://schemas.microsoft.com/office/powerpoint/2010/main" val="27880841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95041-968F-813E-7BB2-80389C8EE18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2968DEC0-112D-D7C7-EDE5-E1583CA52B28}"/>
              </a:ext>
            </a:extLst>
          </p:cNvPr>
          <p:cNvSpPr txBox="1"/>
          <p:nvPr/>
        </p:nvSpPr>
        <p:spPr>
          <a:xfrm>
            <a:off x="1084613" y="889843"/>
            <a:ext cx="10327574" cy="5078313"/>
          </a:xfrm>
          <a:prstGeom prst="rect">
            <a:avLst/>
          </a:prstGeom>
          <a:noFill/>
        </p:spPr>
        <p:txBody>
          <a:bodyPr wrap="square">
            <a:spAutoFit/>
          </a:bodyPr>
          <a:lstStyle/>
          <a:p>
            <a:r>
              <a:rPr lang="es-MX" b="1" dirty="0"/>
              <a:t>5. Trabajo (Work)</a:t>
            </a:r>
            <a:endParaRPr lang="es-MX" dirty="0"/>
          </a:p>
          <a:p>
            <a:pPr marL="742950" lvl="1" indent="-285750">
              <a:buFont typeface="Arial" panose="020B0604020202020204" pitchFamily="34" charset="0"/>
              <a:buChar char="•"/>
            </a:pPr>
            <a:r>
              <a:rPr lang="es-MX" dirty="0"/>
              <a:t>Esfuerzo coordinado para lograr resultados.</a:t>
            </a:r>
          </a:p>
          <a:p>
            <a:pPr marL="742950" lvl="1" indent="-285750">
              <a:buFont typeface="Arial" panose="020B0604020202020204" pitchFamily="34" charset="0"/>
              <a:buChar char="•"/>
            </a:pPr>
            <a:r>
              <a:rPr lang="es-MX" dirty="0"/>
              <a:t>Estados: Iniciado → Preparado → En curso → Interrumpido → Finalizado.</a:t>
            </a:r>
          </a:p>
          <a:p>
            <a:pPr>
              <a:buFont typeface="+mj-lt"/>
              <a:buAutoNum type="arabicPeriod"/>
            </a:pPr>
            <a:endParaRPr lang="es-MX" b="1" dirty="0"/>
          </a:p>
          <a:p>
            <a:r>
              <a:rPr lang="es-MX" b="1" dirty="0"/>
              <a:t>6. Equipo (Team)</a:t>
            </a:r>
            <a:endParaRPr lang="es-MX" dirty="0"/>
          </a:p>
          <a:p>
            <a:pPr marL="742950" lvl="1" indent="-285750">
              <a:buFont typeface="Arial" panose="020B0604020202020204" pitchFamily="34" charset="0"/>
              <a:buChar char="•"/>
            </a:pPr>
            <a:r>
              <a:rPr lang="es-MX" dirty="0"/>
              <a:t>Grupo de personas que hacen el trabajo.</a:t>
            </a:r>
          </a:p>
          <a:p>
            <a:pPr marL="742950" lvl="1" indent="-285750">
              <a:buFont typeface="Arial" panose="020B0604020202020204" pitchFamily="34" charset="0"/>
              <a:buChar char="•"/>
            </a:pPr>
            <a:r>
              <a:rPr lang="es-MX" dirty="0"/>
              <a:t>Estados: Semilla → Formado → Colaborando → Altamente productivo → Disuelto.</a:t>
            </a:r>
          </a:p>
          <a:p>
            <a:endParaRPr lang="es-MX" b="1" dirty="0"/>
          </a:p>
          <a:p>
            <a:r>
              <a:rPr lang="es-MX" b="1" dirty="0"/>
              <a:t>7. Forma de trabajo (Way of Working)</a:t>
            </a:r>
            <a:endParaRPr lang="es-MX" dirty="0"/>
          </a:p>
          <a:p>
            <a:pPr marL="742950" lvl="1" indent="-285750">
              <a:buFont typeface="Arial" panose="020B0604020202020204" pitchFamily="34" charset="0"/>
              <a:buChar char="•"/>
            </a:pPr>
            <a:r>
              <a:rPr lang="es-MX" dirty="0"/>
              <a:t>Los métodos, prácticas, herramientas y acuerdos que guían al equipo.</a:t>
            </a:r>
          </a:p>
          <a:p>
            <a:pPr marL="742950" lvl="1" indent="-285750">
              <a:buFont typeface="Arial" panose="020B0604020202020204" pitchFamily="34" charset="0"/>
              <a:buChar char="•"/>
            </a:pPr>
            <a:r>
              <a:rPr lang="es-MX" dirty="0"/>
              <a:t>Estados: Principios establecidos → Fundamentos en uso → Usada → Ajustada → En funcionamiento → Retirada.</a:t>
            </a:r>
          </a:p>
          <a:p>
            <a:pPr>
              <a:buNone/>
            </a:pPr>
            <a:endParaRPr lang="es-MX" b="1" dirty="0"/>
          </a:p>
          <a:p>
            <a:pPr>
              <a:buNone/>
            </a:pPr>
            <a:r>
              <a:rPr lang="es-MX" b="1" dirty="0"/>
              <a:t>Controles:</a:t>
            </a:r>
          </a:p>
          <a:p>
            <a:pPr>
              <a:buFont typeface="Arial" panose="020B0604020202020204" pitchFamily="34" charset="0"/>
              <a:buChar char="•"/>
            </a:pPr>
            <a:r>
              <a:rPr lang="es-MX" b="1" dirty="0"/>
              <a:t> Estados y checkpoints:</a:t>
            </a:r>
            <a:r>
              <a:rPr lang="es-MX" dirty="0"/>
              <a:t> cada Alfa tiene un conjunto de </a:t>
            </a:r>
            <a:r>
              <a:rPr lang="es-MX" b="1" dirty="0"/>
              <a:t>estados ordenados</a:t>
            </a:r>
            <a:r>
              <a:rPr lang="es-MX" dirty="0"/>
              <a:t> y </a:t>
            </a:r>
            <a:r>
              <a:rPr lang="es-MX" b="1" dirty="0"/>
              <a:t>checkpoints</a:t>
            </a:r>
            <a:r>
              <a:rPr lang="es-MX" dirty="0"/>
              <a:t> que ayudan a evaluar si el proyecto avanza de manera saludable.</a:t>
            </a:r>
          </a:p>
          <a:p>
            <a:pPr>
              <a:buFont typeface="Arial" panose="020B0604020202020204" pitchFamily="34" charset="0"/>
              <a:buChar char="•"/>
            </a:pPr>
            <a:r>
              <a:rPr lang="es-MX" b="1" dirty="0"/>
              <a:t> Tablero de Alphas:</a:t>
            </a:r>
            <a:r>
              <a:rPr lang="es-MX" dirty="0"/>
              <a:t> muchas implementaciones gráficas usan tableros tipo </a:t>
            </a:r>
            <a:r>
              <a:rPr lang="es-MX" b="1" dirty="0"/>
              <a:t>kanban</a:t>
            </a:r>
            <a:r>
              <a:rPr lang="es-MX" dirty="0"/>
              <a:t> para visualizar el progreso de los Alphas.</a:t>
            </a:r>
          </a:p>
        </p:txBody>
      </p:sp>
    </p:spTree>
    <p:extLst>
      <p:ext uri="{BB962C8B-B14F-4D97-AF65-F5344CB8AC3E}">
        <p14:creationId xmlns:p14="http://schemas.microsoft.com/office/powerpoint/2010/main" val="31230270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F2F00-13B5-761C-B15E-BE0B6A84CA8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3141BCD-90D6-8557-AFD8-558A0F7C2516}"/>
              </a:ext>
            </a:extLst>
          </p:cNvPr>
          <p:cNvPicPr>
            <a:picLocks noChangeAspect="1"/>
          </p:cNvPicPr>
          <p:nvPr/>
        </p:nvPicPr>
        <p:blipFill>
          <a:blip r:embed="rId2"/>
          <a:stretch>
            <a:fillRect/>
          </a:stretch>
        </p:blipFill>
        <p:spPr>
          <a:xfrm>
            <a:off x="1372506" y="1368257"/>
            <a:ext cx="8816521" cy="4786504"/>
          </a:xfrm>
          <a:prstGeom prst="rect">
            <a:avLst/>
          </a:prstGeom>
        </p:spPr>
      </p:pic>
      <p:sp>
        <p:nvSpPr>
          <p:cNvPr id="5" name="Rectángulo 4">
            <a:extLst>
              <a:ext uri="{FF2B5EF4-FFF2-40B4-BE49-F238E27FC236}">
                <a16:creationId xmlns:a16="http://schemas.microsoft.com/office/drawing/2014/main" id="{3B003AC3-7538-97B8-0BB2-7E54C65B4306}"/>
              </a:ext>
            </a:extLst>
          </p:cNvPr>
          <p:cNvSpPr/>
          <p:nvPr/>
        </p:nvSpPr>
        <p:spPr>
          <a:xfrm>
            <a:off x="1181163" y="660371"/>
            <a:ext cx="5235471" cy="707886"/>
          </a:xfrm>
          <a:prstGeom prst="rect">
            <a:avLst/>
          </a:prstGeom>
          <a:noFill/>
        </p:spPr>
        <p:txBody>
          <a:bodyPr wrap="square" lIns="91440" tIns="45720" rIns="91440" bIns="45720">
            <a:spAutoFit/>
          </a:bodyPr>
          <a:lstStyle/>
          <a:p>
            <a:pPr algn="ctr"/>
            <a:r>
              <a:rPr lang="es-MX" sz="4000" b="0" cap="none" spc="0" dirty="0">
                <a:ln w="0"/>
                <a:solidFill>
                  <a:schemeClr val="tx1"/>
                </a:solidFill>
                <a:effectLst>
                  <a:outerShdw blurRad="38100" dist="19050" dir="2700000" algn="tl" rotWithShape="0">
                    <a:schemeClr val="dk1">
                      <a:alpha val="40000"/>
                    </a:schemeClr>
                  </a:outerShdw>
                </a:effectLst>
              </a:rPr>
              <a:t>ALFAS y sus ESTADOS</a:t>
            </a:r>
          </a:p>
        </p:txBody>
      </p:sp>
    </p:spTree>
    <p:extLst>
      <p:ext uri="{BB962C8B-B14F-4D97-AF65-F5344CB8AC3E}">
        <p14:creationId xmlns:p14="http://schemas.microsoft.com/office/powerpoint/2010/main" val="32301020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639FB-E75A-6402-E317-664D1182A75C}"/>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605B9C79-5F46-C42E-069E-9C2888014748}"/>
              </a:ext>
            </a:extLst>
          </p:cNvPr>
          <p:cNvGraphicFramePr>
            <a:graphicFrameLocks noGrp="1"/>
          </p:cNvGraphicFramePr>
          <p:nvPr/>
        </p:nvGraphicFramePr>
        <p:xfrm>
          <a:off x="1115400" y="1754430"/>
          <a:ext cx="9961199" cy="3349139"/>
        </p:xfrm>
        <a:graphic>
          <a:graphicData uri="http://schemas.openxmlformats.org/drawingml/2006/table">
            <a:tbl>
              <a:tblPr>
                <a:tableStyleId>{9D7B26C5-4107-4FEC-AEDC-1716B250A1EF}</a:tableStyleId>
              </a:tblPr>
              <a:tblGrid>
                <a:gridCol w="1877182">
                  <a:extLst>
                    <a:ext uri="{9D8B030D-6E8A-4147-A177-3AD203B41FA5}">
                      <a16:colId xmlns:a16="http://schemas.microsoft.com/office/drawing/2014/main" val="1226562639"/>
                    </a:ext>
                  </a:extLst>
                </a:gridCol>
                <a:gridCol w="2778826">
                  <a:extLst>
                    <a:ext uri="{9D8B030D-6E8A-4147-A177-3AD203B41FA5}">
                      <a16:colId xmlns:a16="http://schemas.microsoft.com/office/drawing/2014/main" val="2705701669"/>
                    </a:ext>
                  </a:extLst>
                </a:gridCol>
                <a:gridCol w="5305191">
                  <a:extLst>
                    <a:ext uri="{9D8B030D-6E8A-4147-A177-3AD203B41FA5}">
                      <a16:colId xmlns:a16="http://schemas.microsoft.com/office/drawing/2014/main" val="3736128320"/>
                    </a:ext>
                  </a:extLst>
                </a:gridCol>
              </a:tblGrid>
              <a:tr h="273119">
                <a:tc>
                  <a:txBody>
                    <a:bodyPr/>
                    <a:lstStyle/>
                    <a:p>
                      <a:pPr>
                        <a:buNone/>
                      </a:pPr>
                      <a:r>
                        <a:rPr lang="es-MX" sz="1300" b="1" dirty="0">
                          <a:latin typeface="Arial" panose="020B0604020202020204" pitchFamily="34" charset="0"/>
                          <a:cs typeface="Arial" panose="020B0604020202020204" pitchFamily="34" charset="0"/>
                        </a:rPr>
                        <a:t>Alfa</a:t>
                      </a:r>
                      <a:endParaRPr lang="es-MX" sz="1300" dirty="0">
                        <a:latin typeface="Arial" panose="020B0604020202020204" pitchFamily="34" charset="0"/>
                        <a:cs typeface="Arial" panose="020B0604020202020204" pitchFamily="34" charset="0"/>
                      </a:endParaRPr>
                    </a:p>
                  </a:txBody>
                  <a:tcPr marL="34740" marR="34740" marT="17370" marB="17370" anchor="ctr">
                    <a:solidFill>
                      <a:schemeClr val="tx2">
                        <a:lumMod val="25000"/>
                        <a:lumOff val="75000"/>
                      </a:schemeClr>
                    </a:solidFill>
                  </a:tcPr>
                </a:tc>
                <a:tc>
                  <a:txBody>
                    <a:bodyPr/>
                    <a:lstStyle/>
                    <a:p>
                      <a:pPr>
                        <a:buNone/>
                      </a:pPr>
                      <a:r>
                        <a:rPr lang="es-MX" sz="1300" b="1">
                          <a:latin typeface="Arial" panose="020B0604020202020204" pitchFamily="34" charset="0"/>
                          <a:cs typeface="Arial" panose="020B0604020202020204" pitchFamily="34" charset="0"/>
                        </a:rPr>
                        <a:t>Estados</a:t>
                      </a:r>
                      <a:endParaRPr lang="es-MX" sz="1300">
                        <a:latin typeface="Arial" panose="020B0604020202020204" pitchFamily="34" charset="0"/>
                        <a:cs typeface="Arial" panose="020B0604020202020204" pitchFamily="34" charset="0"/>
                      </a:endParaRPr>
                    </a:p>
                  </a:txBody>
                  <a:tcPr marL="34740" marR="34740" marT="17370" marB="17370" anchor="ctr">
                    <a:solidFill>
                      <a:schemeClr val="tx2">
                        <a:lumMod val="25000"/>
                        <a:lumOff val="75000"/>
                      </a:schemeClr>
                    </a:solidFill>
                  </a:tcPr>
                </a:tc>
                <a:tc>
                  <a:txBody>
                    <a:bodyPr/>
                    <a:lstStyle/>
                    <a:p>
                      <a:pPr>
                        <a:buNone/>
                      </a:pPr>
                      <a:r>
                        <a:rPr lang="es-MX" sz="1300" b="1" dirty="0">
                          <a:latin typeface="Arial" panose="020B0604020202020204" pitchFamily="34" charset="0"/>
                          <a:cs typeface="Arial" panose="020B0604020202020204" pitchFamily="34" charset="0"/>
                        </a:rPr>
                        <a:t>Ejemplos de Checkpoints (criterios de verificación)</a:t>
                      </a:r>
                      <a:endParaRPr lang="es-MX" sz="1300" dirty="0">
                        <a:latin typeface="Arial" panose="020B0604020202020204" pitchFamily="34" charset="0"/>
                        <a:cs typeface="Arial" panose="020B0604020202020204" pitchFamily="34" charset="0"/>
                      </a:endParaRPr>
                    </a:p>
                  </a:txBody>
                  <a:tcPr marL="34740" marR="34740" marT="17370" marB="17370" anchor="ctr">
                    <a:solidFill>
                      <a:schemeClr val="tx2">
                        <a:lumMod val="25000"/>
                        <a:lumOff val="75000"/>
                      </a:schemeClr>
                    </a:solidFill>
                  </a:tcPr>
                </a:tc>
                <a:extLst>
                  <a:ext uri="{0D108BD9-81ED-4DB2-BD59-A6C34878D82A}">
                    <a16:rowId xmlns:a16="http://schemas.microsoft.com/office/drawing/2014/main" val="1613329957"/>
                  </a:ext>
                </a:extLst>
              </a:tr>
              <a:tr h="849843">
                <a:tc>
                  <a:txBody>
                    <a:bodyPr/>
                    <a:lstStyle/>
                    <a:p>
                      <a:pPr>
                        <a:buNone/>
                      </a:pPr>
                      <a:r>
                        <a:rPr lang="es-MX" sz="1300" b="1">
                          <a:latin typeface="Arial" panose="020B0604020202020204" pitchFamily="34" charset="0"/>
                          <a:cs typeface="Arial" panose="020B0604020202020204" pitchFamily="34" charset="0"/>
                        </a:rPr>
                        <a:t>Oportunidad</a:t>
                      </a:r>
                      <a:endParaRPr lang="es-MX" sz="1300">
                        <a:latin typeface="Arial" panose="020B0604020202020204" pitchFamily="34" charset="0"/>
                        <a:cs typeface="Arial" panose="020B0604020202020204" pitchFamily="34" charset="0"/>
                      </a:endParaRPr>
                    </a:p>
                  </a:txBody>
                  <a:tcPr marL="34740" marR="34740" marT="17370" marB="17370" anchor="ctr"/>
                </a:tc>
                <a:tc>
                  <a:txBody>
                    <a:bodyPr/>
                    <a:lstStyle/>
                    <a:p>
                      <a:pPr>
                        <a:buNone/>
                      </a:pPr>
                      <a:r>
                        <a:rPr lang="es-MX" sz="1300" dirty="0">
                          <a:latin typeface="Arial" panose="020B0604020202020204" pitchFamily="34" charset="0"/>
                          <a:cs typeface="Arial" panose="020B0604020202020204" pitchFamily="34" charset="0"/>
                        </a:rPr>
                        <a:t>Identificada → </a:t>
                      </a:r>
                    </a:p>
                    <a:p>
                      <a:pPr>
                        <a:buNone/>
                      </a:pPr>
                      <a:r>
                        <a:rPr lang="es-MX" sz="1300" dirty="0">
                          <a:latin typeface="Arial" panose="020B0604020202020204" pitchFamily="34" charset="0"/>
                          <a:cs typeface="Arial" panose="020B0604020202020204" pitchFamily="34" charset="0"/>
                        </a:rPr>
                        <a:t>Solución viable → </a:t>
                      </a:r>
                    </a:p>
                    <a:p>
                      <a:pPr>
                        <a:buNone/>
                      </a:pPr>
                      <a:r>
                        <a:rPr lang="es-MX" sz="1300" dirty="0">
                          <a:latin typeface="Arial" panose="020B0604020202020204" pitchFamily="34" charset="0"/>
                          <a:cs typeface="Arial" panose="020B0604020202020204" pitchFamily="34" charset="0"/>
                        </a:rPr>
                        <a:t>Solución con valor → </a:t>
                      </a:r>
                    </a:p>
                    <a:p>
                      <a:pPr>
                        <a:buNone/>
                      </a:pPr>
                      <a:r>
                        <a:rPr lang="es-MX" sz="1300" dirty="0">
                          <a:latin typeface="Arial" panose="020B0604020202020204" pitchFamily="34" charset="0"/>
                          <a:cs typeface="Arial" panose="020B0604020202020204" pitchFamily="34" charset="0"/>
                        </a:rPr>
                        <a:t>Beneficio realizado → </a:t>
                      </a:r>
                    </a:p>
                    <a:p>
                      <a:pPr>
                        <a:buNone/>
                      </a:pPr>
                      <a:r>
                        <a:rPr lang="es-MX" sz="1300" dirty="0">
                          <a:latin typeface="Arial" panose="020B0604020202020204" pitchFamily="34" charset="0"/>
                          <a:cs typeface="Arial" panose="020B0604020202020204" pitchFamily="34" charset="0"/>
                        </a:rPr>
                        <a:t>Cerrada</a:t>
                      </a:r>
                    </a:p>
                  </a:txBody>
                  <a:tcPr marL="34740" marR="34740" marT="17370" marB="1737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Se identificó un problema o necesidad clara.</a:t>
                      </a:r>
                    </a:p>
                    <a:p>
                      <a:pPr marL="285750" indent="-285750">
                        <a:buFontTx/>
                        <a:buChar char="-"/>
                      </a:pPr>
                      <a:r>
                        <a:rPr lang="es-MX" sz="1300" dirty="0">
                          <a:latin typeface="Arial" panose="020B0604020202020204" pitchFamily="34" charset="0"/>
                          <a:cs typeface="Arial" panose="020B0604020202020204" pitchFamily="34" charset="0"/>
                        </a:rPr>
                        <a:t>Se evaluaron soluciones factibles.</a:t>
                      </a:r>
                    </a:p>
                    <a:p>
                      <a:pPr marL="285750" indent="-285750">
                        <a:buFontTx/>
                        <a:buChar char="-"/>
                      </a:pPr>
                      <a:r>
                        <a:rPr lang="es-MX" sz="1300" dirty="0">
                          <a:latin typeface="Arial" panose="020B0604020202020204" pitchFamily="34" charset="0"/>
                          <a:cs typeface="Arial" panose="020B0604020202020204" pitchFamily="34" charset="0"/>
                        </a:rPr>
                        <a:t>Los stakeholders aceptan que la solución aporta valor.</a:t>
                      </a:r>
                    </a:p>
                    <a:p>
                      <a:pPr marL="285750" indent="-285750">
                        <a:buFontTx/>
                        <a:buChar char="-"/>
                      </a:pPr>
                      <a:r>
                        <a:rPr lang="es-MX" sz="1300" dirty="0">
                          <a:latin typeface="Arial" panose="020B0604020202020204" pitchFamily="34" charset="0"/>
                          <a:cs typeface="Arial" panose="020B0604020202020204" pitchFamily="34" charset="0"/>
                        </a:rPr>
                        <a:t>El sistema en uso está generando beneficios.</a:t>
                      </a:r>
                    </a:p>
                    <a:p>
                      <a:pPr marL="285750" indent="-285750">
                        <a:buFontTx/>
                        <a:buChar char="-"/>
                      </a:pPr>
                      <a:r>
                        <a:rPr lang="es-MX" sz="1300" dirty="0">
                          <a:latin typeface="Arial" panose="020B0604020202020204" pitchFamily="34" charset="0"/>
                          <a:cs typeface="Arial" panose="020B0604020202020204" pitchFamily="34" charset="0"/>
                        </a:rPr>
                        <a:t>La oportunidad ya no es relevante.</a:t>
                      </a:r>
                    </a:p>
                  </a:txBody>
                  <a:tcPr marL="34740" marR="34740" marT="17370" marB="17370" anchor="ctr"/>
                </a:tc>
                <a:extLst>
                  <a:ext uri="{0D108BD9-81ED-4DB2-BD59-A6C34878D82A}">
                    <a16:rowId xmlns:a16="http://schemas.microsoft.com/office/drawing/2014/main" val="1996037413"/>
                  </a:ext>
                </a:extLst>
              </a:tr>
              <a:tr h="657602">
                <a:tc>
                  <a:txBody>
                    <a:bodyPr/>
                    <a:lstStyle/>
                    <a:p>
                      <a:pPr>
                        <a:buNone/>
                      </a:pPr>
                      <a:r>
                        <a:rPr lang="es-MX" sz="1300" b="1">
                          <a:latin typeface="Arial" panose="020B0604020202020204" pitchFamily="34" charset="0"/>
                          <a:cs typeface="Arial" panose="020B0604020202020204" pitchFamily="34" charset="0"/>
                        </a:rPr>
                        <a:t>Stakeholders</a:t>
                      </a:r>
                      <a:endParaRPr lang="es-MX" sz="1300">
                        <a:latin typeface="Arial" panose="020B0604020202020204" pitchFamily="34" charset="0"/>
                        <a:cs typeface="Arial" panose="020B0604020202020204" pitchFamily="34" charset="0"/>
                      </a:endParaRPr>
                    </a:p>
                  </a:txBody>
                  <a:tcPr marL="34740" marR="34740" marT="17370" marB="17370" anchor="ctr">
                    <a:solidFill>
                      <a:schemeClr val="accent6">
                        <a:lumMod val="20000"/>
                        <a:lumOff val="80000"/>
                      </a:schemeClr>
                    </a:solidFill>
                  </a:tcPr>
                </a:tc>
                <a:tc>
                  <a:txBody>
                    <a:bodyPr/>
                    <a:lstStyle/>
                    <a:p>
                      <a:pPr>
                        <a:buNone/>
                      </a:pPr>
                      <a:r>
                        <a:rPr lang="es-MX" sz="1300" dirty="0">
                          <a:latin typeface="Arial" panose="020B0604020202020204" pitchFamily="34" charset="0"/>
                          <a:cs typeface="Arial" panose="020B0604020202020204" pitchFamily="34" charset="0"/>
                        </a:rPr>
                        <a:t>Reconocidos → </a:t>
                      </a:r>
                    </a:p>
                    <a:p>
                      <a:pPr>
                        <a:buNone/>
                      </a:pPr>
                      <a:r>
                        <a:rPr lang="es-MX" sz="1300" dirty="0">
                          <a:latin typeface="Arial" panose="020B0604020202020204" pitchFamily="34" charset="0"/>
                          <a:cs typeface="Arial" panose="020B0604020202020204" pitchFamily="34" charset="0"/>
                        </a:rPr>
                        <a:t>Representados → </a:t>
                      </a:r>
                    </a:p>
                    <a:p>
                      <a:pPr>
                        <a:buNone/>
                      </a:pPr>
                      <a:r>
                        <a:rPr lang="es-MX" sz="1300" dirty="0">
                          <a:latin typeface="Arial" panose="020B0604020202020204" pitchFamily="34" charset="0"/>
                          <a:cs typeface="Arial" panose="020B0604020202020204" pitchFamily="34" charset="0"/>
                        </a:rPr>
                        <a:t>Involucrados → </a:t>
                      </a:r>
                    </a:p>
                    <a:p>
                      <a:pPr>
                        <a:buNone/>
                      </a:pPr>
                      <a:r>
                        <a:rPr lang="es-MX" sz="1300" dirty="0">
                          <a:latin typeface="Arial" panose="020B0604020202020204" pitchFamily="34" charset="0"/>
                          <a:cs typeface="Arial" panose="020B0604020202020204" pitchFamily="34" charset="0"/>
                        </a:rPr>
                        <a:t>En acuerdo → </a:t>
                      </a:r>
                    </a:p>
                    <a:p>
                      <a:pPr>
                        <a:buNone/>
                      </a:pPr>
                      <a:r>
                        <a:rPr lang="es-MX" sz="1300" dirty="0">
                          <a:latin typeface="Arial" panose="020B0604020202020204" pitchFamily="34" charset="0"/>
                          <a:cs typeface="Arial" panose="020B0604020202020204" pitchFamily="34" charset="0"/>
                        </a:rPr>
                        <a:t>Satisfechos</a:t>
                      </a:r>
                    </a:p>
                  </a:txBody>
                  <a:tcPr marL="34740" marR="34740" marT="17370" marB="17370" anchor="ctr">
                    <a:solidFill>
                      <a:schemeClr val="accent6">
                        <a:lumMod val="20000"/>
                        <a:lumOff val="80000"/>
                      </a:schemeClr>
                    </a:solidFill>
                  </a:tcPr>
                </a:tc>
                <a:tc>
                  <a:txBody>
                    <a:bodyPr/>
                    <a:lstStyle/>
                    <a:p>
                      <a:pPr marL="285750" indent="-285750">
                        <a:buFontTx/>
                        <a:buChar char="-"/>
                      </a:pPr>
                      <a:r>
                        <a:rPr lang="es-MX" sz="1300" dirty="0">
                          <a:latin typeface="Arial" panose="020B0604020202020204" pitchFamily="34" charset="0"/>
                          <a:cs typeface="Arial" panose="020B0604020202020204" pitchFamily="34" charset="0"/>
                        </a:rPr>
                        <a:t>Los stakeholders principales fueron identificados.</a:t>
                      </a:r>
                    </a:p>
                    <a:p>
                      <a:pPr marL="285750" indent="-285750">
                        <a:buFontTx/>
                        <a:buChar char="-"/>
                      </a:pPr>
                      <a:r>
                        <a:rPr lang="es-MX" sz="1300" dirty="0">
                          <a:latin typeface="Arial" panose="020B0604020202020204" pitchFamily="34" charset="0"/>
                          <a:cs typeface="Arial" panose="020B0604020202020204" pitchFamily="34" charset="0"/>
                        </a:rPr>
                        <a:t>Tienen representación en el proyecto.</a:t>
                      </a:r>
                    </a:p>
                    <a:p>
                      <a:pPr marL="285750" indent="-285750">
                        <a:buFontTx/>
                        <a:buChar char="-"/>
                      </a:pPr>
                      <a:r>
                        <a:rPr lang="es-MX" sz="1300" dirty="0">
                          <a:latin typeface="Arial" panose="020B0604020202020204" pitchFamily="34" charset="0"/>
                          <a:cs typeface="Arial" panose="020B0604020202020204" pitchFamily="34" charset="0"/>
                        </a:rPr>
                        <a:t>Participan en actividades clave.</a:t>
                      </a:r>
                    </a:p>
                    <a:p>
                      <a:pPr marL="285750" indent="-285750">
                        <a:buFontTx/>
                        <a:buChar char="-"/>
                      </a:pPr>
                      <a:r>
                        <a:rPr lang="es-MX" sz="1300" dirty="0">
                          <a:latin typeface="Arial" panose="020B0604020202020204" pitchFamily="34" charset="0"/>
                          <a:cs typeface="Arial" panose="020B0604020202020204" pitchFamily="34" charset="0"/>
                        </a:rPr>
                        <a:t>Hay consenso en los objetivos.</a:t>
                      </a:r>
                    </a:p>
                    <a:p>
                      <a:pPr marL="285750" indent="-285750">
                        <a:buFontTx/>
                        <a:buChar char="-"/>
                      </a:pPr>
                      <a:r>
                        <a:rPr lang="es-MX" sz="1300" dirty="0">
                          <a:latin typeface="Arial" panose="020B0604020202020204" pitchFamily="34" charset="0"/>
                          <a:cs typeface="Arial" panose="020B0604020202020204" pitchFamily="34" charset="0"/>
                        </a:rPr>
                        <a:t>Están conformes con los resultados.</a:t>
                      </a:r>
                    </a:p>
                  </a:txBody>
                  <a:tcPr marL="34740" marR="34740" marT="17370" marB="17370" anchor="ctr">
                    <a:solidFill>
                      <a:schemeClr val="accent6">
                        <a:lumMod val="20000"/>
                        <a:lumOff val="80000"/>
                      </a:schemeClr>
                    </a:solidFill>
                  </a:tcPr>
                </a:tc>
                <a:extLst>
                  <a:ext uri="{0D108BD9-81ED-4DB2-BD59-A6C34878D82A}">
                    <a16:rowId xmlns:a16="http://schemas.microsoft.com/office/drawing/2014/main" val="3947321369"/>
                  </a:ext>
                </a:extLst>
              </a:tr>
              <a:tr h="657602">
                <a:tc>
                  <a:txBody>
                    <a:bodyPr/>
                    <a:lstStyle/>
                    <a:p>
                      <a:pPr>
                        <a:buNone/>
                      </a:pPr>
                      <a:r>
                        <a:rPr lang="es-MX" sz="1300" b="1">
                          <a:latin typeface="Arial" panose="020B0604020202020204" pitchFamily="34" charset="0"/>
                          <a:cs typeface="Arial" panose="020B0604020202020204" pitchFamily="34" charset="0"/>
                        </a:rPr>
                        <a:t>Requisitos</a:t>
                      </a:r>
                      <a:endParaRPr lang="es-MX" sz="1300">
                        <a:latin typeface="Arial" panose="020B0604020202020204" pitchFamily="34" charset="0"/>
                        <a:cs typeface="Arial" panose="020B0604020202020204" pitchFamily="34" charset="0"/>
                      </a:endParaRPr>
                    </a:p>
                  </a:txBody>
                  <a:tcPr marL="34740" marR="34740" marT="17370" marB="17370" anchor="ctr"/>
                </a:tc>
                <a:tc>
                  <a:txBody>
                    <a:bodyPr/>
                    <a:lstStyle/>
                    <a:p>
                      <a:pPr>
                        <a:buNone/>
                      </a:pPr>
                      <a:r>
                        <a:rPr lang="es-MX" sz="1300" dirty="0">
                          <a:latin typeface="Arial" panose="020B0604020202020204" pitchFamily="34" charset="0"/>
                          <a:cs typeface="Arial" panose="020B0604020202020204" pitchFamily="34" charset="0"/>
                        </a:rPr>
                        <a:t>Concebidos → </a:t>
                      </a:r>
                    </a:p>
                    <a:p>
                      <a:pPr>
                        <a:buNone/>
                      </a:pPr>
                      <a:r>
                        <a:rPr lang="es-MX" sz="1300" dirty="0">
                          <a:latin typeface="Arial" panose="020B0604020202020204" pitchFamily="34" charset="0"/>
                          <a:cs typeface="Arial" panose="020B0604020202020204" pitchFamily="34" charset="0"/>
                        </a:rPr>
                        <a:t>Borrador → </a:t>
                      </a:r>
                    </a:p>
                    <a:p>
                      <a:pPr>
                        <a:buNone/>
                      </a:pPr>
                      <a:r>
                        <a:rPr lang="es-MX" sz="1300" dirty="0">
                          <a:latin typeface="Arial" panose="020B0604020202020204" pitchFamily="34" charset="0"/>
                          <a:cs typeface="Arial" panose="020B0604020202020204" pitchFamily="34" charset="0"/>
                        </a:rPr>
                        <a:t>Aceptados → </a:t>
                      </a:r>
                    </a:p>
                    <a:p>
                      <a:pPr>
                        <a:buNone/>
                      </a:pPr>
                      <a:r>
                        <a:rPr lang="es-MX" sz="1300" dirty="0">
                          <a:latin typeface="Arial" panose="020B0604020202020204" pitchFamily="34" charset="0"/>
                          <a:cs typeface="Arial" panose="020B0604020202020204" pitchFamily="34" charset="0"/>
                        </a:rPr>
                        <a:t>Abordados → </a:t>
                      </a:r>
                    </a:p>
                    <a:p>
                      <a:pPr>
                        <a:buNone/>
                      </a:pPr>
                      <a:r>
                        <a:rPr lang="es-MX" sz="1300" dirty="0">
                          <a:latin typeface="Arial" panose="020B0604020202020204" pitchFamily="34" charset="0"/>
                          <a:cs typeface="Arial" panose="020B0604020202020204" pitchFamily="34" charset="0"/>
                        </a:rPr>
                        <a:t>Cumplidos</a:t>
                      </a:r>
                    </a:p>
                  </a:txBody>
                  <a:tcPr marL="34740" marR="34740" marT="17370" marB="1737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Se definió la necesidad inicial.</a:t>
                      </a:r>
                    </a:p>
                    <a:p>
                      <a:pPr marL="285750" indent="-285750">
                        <a:buFontTx/>
                        <a:buChar char="-"/>
                      </a:pPr>
                      <a:r>
                        <a:rPr lang="es-MX" sz="1300" dirty="0">
                          <a:latin typeface="Arial" panose="020B0604020202020204" pitchFamily="34" charset="0"/>
                          <a:cs typeface="Arial" panose="020B0604020202020204" pitchFamily="34" charset="0"/>
                        </a:rPr>
                        <a:t>Existe un conjunto de requisitos documentados.</a:t>
                      </a:r>
                    </a:p>
                    <a:p>
                      <a:pPr marL="285750" indent="-285750">
                        <a:buFontTx/>
                        <a:buChar char="-"/>
                      </a:pPr>
                      <a:r>
                        <a:rPr lang="es-MX" sz="1300" dirty="0">
                          <a:latin typeface="Arial" panose="020B0604020202020204" pitchFamily="34" charset="0"/>
                          <a:cs typeface="Arial" panose="020B0604020202020204" pitchFamily="34" charset="0"/>
                        </a:rPr>
                        <a:t>Los stakeholders aprobaron los requisitos.</a:t>
                      </a:r>
                    </a:p>
                    <a:p>
                      <a:pPr marL="285750" indent="-285750">
                        <a:buFontTx/>
                        <a:buChar char="-"/>
                      </a:pPr>
                      <a:r>
                        <a:rPr lang="es-MX" sz="1300" dirty="0">
                          <a:latin typeface="Arial" panose="020B0604020202020204" pitchFamily="34" charset="0"/>
                          <a:cs typeface="Arial" panose="020B0604020202020204" pitchFamily="34" charset="0"/>
                        </a:rPr>
                        <a:t>El sistema implementa esos requisitos.</a:t>
                      </a:r>
                    </a:p>
                    <a:p>
                      <a:pPr marL="285750" indent="-285750">
                        <a:buFontTx/>
                        <a:buChar char="-"/>
                      </a:pPr>
                      <a:r>
                        <a:rPr lang="es-MX" sz="1300" dirty="0">
                          <a:latin typeface="Arial" panose="020B0604020202020204" pitchFamily="34" charset="0"/>
                          <a:cs typeface="Arial" panose="020B0604020202020204" pitchFamily="34" charset="0"/>
                        </a:rPr>
                        <a:t>Las pruebas confirman que se cumplen.</a:t>
                      </a:r>
                    </a:p>
                  </a:txBody>
                  <a:tcPr marL="34740" marR="34740" marT="17370" marB="17370" anchor="ctr"/>
                </a:tc>
                <a:extLst>
                  <a:ext uri="{0D108BD9-81ED-4DB2-BD59-A6C34878D82A}">
                    <a16:rowId xmlns:a16="http://schemas.microsoft.com/office/drawing/2014/main" val="1455909867"/>
                  </a:ext>
                </a:extLst>
              </a:tr>
            </a:tbl>
          </a:graphicData>
        </a:graphic>
      </p:graphicFrame>
      <p:sp>
        <p:nvSpPr>
          <p:cNvPr id="5" name="CuadroTexto 4">
            <a:extLst>
              <a:ext uri="{FF2B5EF4-FFF2-40B4-BE49-F238E27FC236}">
                <a16:creationId xmlns:a16="http://schemas.microsoft.com/office/drawing/2014/main" id="{8FF38D90-9691-B2E0-8C84-12BCB1DE87BC}"/>
              </a:ext>
            </a:extLst>
          </p:cNvPr>
          <p:cNvSpPr txBox="1"/>
          <p:nvPr/>
        </p:nvSpPr>
        <p:spPr>
          <a:xfrm>
            <a:off x="1115400" y="1074118"/>
            <a:ext cx="6097978" cy="369332"/>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Resumen de los ALPHAS en ESSENCE</a:t>
            </a:r>
          </a:p>
        </p:txBody>
      </p:sp>
    </p:spTree>
    <p:extLst>
      <p:ext uri="{BB962C8B-B14F-4D97-AF65-F5344CB8AC3E}">
        <p14:creationId xmlns:p14="http://schemas.microsoft.com/office/powerpoint/2010/main" val="35099355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AEA14-45AB-A510-D113-E3D17DD4E7A2}"/>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4199AA7-80DE-EE28-D51E-AFE62271434D}"/>
              </a:ext>
            </a:extLst>
          </p:cNvPr>
          <p:cNvGraphicFramePr>
            <a:graphicFrameLocks noGrp="1"/>
          </p:cNvGraphicFramePr>
          <p:nvPr/>
        </p:nvGraphicFramePr>
        <p:xfrm>
          <a:off x="1335095" y="1043640"/>
          <a:ext cx="9521810" cy="4770719"/>
        </p:xfrm>
        <a:graphic>
          <a:graphicData uri="http://schemas.openxmlformats.org/drawingml/2006/table">
            <a:tbl>
              <a:tblPr>
                <a:tableStyleId>{9D7B26C5-4107-4FEC-AEDC-1716B250A1EF}</a:tableStyleId>
              </a:tblPr>
              <a:tblGrid>
                <a:gridCol w="1305952">
                  <a:extLst>
                    <a:ext uri="{9D8B030D-6E8A-4147-A177-3AD203B41FA5}">
                      <a16:colId xmlns:a16="http://schemas.microsoft.com/office/drawing/2014/main" val="1226562639"/>
                    </a:ext>
                  </a:extLst>
                </a:gridCol>
                <a:gridCol w="3035395">
                  <a:extLst>
                    <a:ext uri="{9D8B030D-6E8A-4147-A177-3AD203B41FA5}">
                      <a16:colId xmlns:a16="http://schemas.microsoft.com/office/drawing/2014/main" val="2705701669"/>
                    </a:ext>
                  </a:extLst>
                </a:gridCol>
                <a:gridCol w="5180463">
                  <a:extLst>
                    <a:ext uri="{9D8B030D-6E8A-4147-A177-3AD203B41FA5}">
                      <a16:colId xmlns:a16="http://schemas.microsoft.com/office/drawing/2014/main" val="3736128320"/>
                    </a:ext>
                  </a:extLst>
                </a:gridCol>
              </a:tblGrid>
              <a:tr h="273119">
                <a:tc>
                  <a:txBody>
                    <a:bodyPr/>
                    <a:lstStyle/>
                    <a:p>
                      <a:pPr>
                        <a:buNone/>
                      </a:pPr>
                      <a:r>
                        <a:rPr lang="es-MX" sz="1300" b="1" dirty="0">
                          <a:latin typeface="Arial" panose="020B0604020202020204" pitchFamily="34" charset="0"/>
                          <a:cs typeface="Arial" panose="020B0604020202020204" pitchFamily="34" charset="0"/>
                        </a:rPr>
                        <a:t>Alfa</a:t>
                      </a:r>
                      <a:endParaRPr lang="es-MX" sz="1300" dirty="0">
                        <a:latin typeface="Arial" panose="020B0604020202020204" pitchFamily="34" charset="0"/>
                        <a:cs typeface="Arial" panose="020B0604020202020204" pitchFamily="34" charset="0"/>
                      </a:endParaRPr>
                    </a:p>
                  </a:txBody>
                  <a:tcPr marL="34740" marR="34740" marT="17370" marB="17370" anchor="ctr">
                    <a:solidFill>
                      <a:schemeClr val="accent1">
                        <a:lumMod val="20000"/>
                        <a:lumOff val="80000"/>
                      </a:schemeClr>
                    </a:solidFill>
                  </a:tcPr>
                </a:tc>
                <a:tc>
                  <a:txBody>
                    <a:bodyPr/>
                    <a:lstStyle/>
                    <a:p>
                      <a:pPr>
                        <a:buNone/>
                      </a:pPr>
                      <a:r>
                        <a:rPr lang="es-MX" sz="1300" b="1">
                          <a:latin typeface="Arial" panose="020B0604020202020204" pitchFamily="34" charset="0"/>
                          <a:cs typeface="Arial" panose="020B0604020202020204" pitchFamily="34" charset="0"/>
                        </a:rPr>
                        <a:t>Estados</a:t>
                      </a:r>
                      <a:endParaRPr lang="es-MX" sz="1300">
                        <a:latin typeface="Arial" panose="020B0604020202020204" pitchFamily="34" charset="0"/>
                        <a:cs typeface="Arial" panose="020B0604020202020204" pitchFamily="34" charset="0"/>
                      </a:endParaRPr>
                    </a:p>
                  </a:txBody>
                  <a:tcPr marL="34740" marR="34740" marT="17370" marB="17370" anchor="ctr">
                    <a:solidFill>
                      <a:schemeClr val="accent1">
                        <a:lumMod val="20000"/>
                        <a:lumOff val="80000"/>
                      </a:schemeClr>
                    </a:solidFill>
                  </a:tcPr>
                </a:tc>
                <a:tc>
                  <a:txBody>
                    <a:bodyPr/>
                    <a:lstStyle/>
                    <a:p>
                      <a:pPr>
                        <a:buNone/>
                      </a:pPr>
                      <a:r>
                        <a:rPr lang="es-MX" sz="1300" b="1" dirty="0">
                          <a:latin typeface="Arial" panose="020B0604020202020204" pitchFamily="34" charset="0"/>
                          <a:cs typeface="Arial" panose="020B0604020202020204" pitchFamily="34" charset="0"/>
                        </a:rPr>
                        <a:t>Ejemplos de Checkpoints (criterios de verificación)</a:t>
                      </a:r>
                      <a:endParaRPr lang="es-MX" sz="1300" dirty="0">
                        <a:latin typeface="Arial" panose="020B0604020202020204" pitchFamily="34" charset="0"/>
                        <a:cs typeface="Arial" panose="020B0604020202020204" pitchFamily="34" charset="0"/>
                      </a:endParaRPr>
                    </a:p>
                  </a:txBody>
                  <a:tcPr marL="34740" marR="34740" marT="17370" marB="17370" anchor="ctr">
                    <a:solidFill>
                      <a:schemeClr val="accent1">
                        <a:lumMod val="20000"/>
                        <a:lumOff val="80000"/>
                      </a:schemeClr>
                    </a:solidFill>
                  </a:tcPr>
                </a:tc>
                <a:extLst>
                  <a:ext uri="{0D108BD9-81ED-4DB2-BD59-A6C34878D82A}">
                    <a16:rowId xmlns:a16="http://schemas.microsoft.com/office/drawing/2014/main" val="1613329957"/>
                  </a:ext>
                </a:extLst>
              </a:tr>
              <a:tr h="657602">
                <a:tc>
                  <a:txBody>
                    <a:bodyPr/>
                    <a:lstStyle/>
                    <a:p>
                      <a:pPr>
                        <a:buNone/>
                      </a:pPr>
                      <a:r>
                        <a:rPr lang="es-MX" sz="1300" b="1">
                          <a:latin typeface="Arial" panose="020B0604020202020204" pitchFamily="34" charset="0"/>
                          <a:cs typeface="Arial" panose="020B0604020202020204" pitchFamily="34" charset="0"/>
                        </a:rPr>
                        <a:t>Sistema de Software</a:t>
                      </a:r>
                      <a:endParaRPr lang="es-MX" sz="1300">
                        <a:latin typeface="Arial" panose="020B0604020202020204" pitchFamily="34" charset="0"/>
                        <a:cs typeface="Arial" panose="020B0604020202020204" pitchFamily="34" charset="0"/>
                      </a:endParaRPr>
                    </a:p>
                  </a:txBody>
                  <a:tcPr marL="34740" marR="34740" marT="17370" marB="17370" anchor="ctr"/>
                </a:tc>
                <a:tc>
                  <a:txBody>
                    <a:bodyPr/>
                    <a:lstStyle/>
                    <a:p>
                      <a:pPr>
                        <a:buNone/>
                      </a:pPr>
                      <a:r>
                        <a:rPr lang="es-MX" sz="1300" dirty="0">
                          <a:latin typeface="Arial" panose="020B0604020202020204" pitchFamily="34" charset="0"/>
                          <a:cs typeface="Arial" panose="020B0604020202020204" pitchFamily="34" charset="0"/>
                        </a:rPr>
                        <a:t>Arquitectura seleccionada → </a:t>
                      </a:r>
                    </a:p>
                    <a:p>
                      <a:pPr>
                        <a:buNone/>
                      </a:pPr>
                      <a:r>
                        <a:rPr lang="es-MX" sz="1300" dirty="0">
                          <a:latin typeface="Arial" panose="020B0604020202020204" pitchFamily="34" charset="0"/>
                          <a:cs typeface="Arial" panose="020B0604020202020204" pitchFamily="34" charset="0"/>
                        </a:rPr>
                        <a:t>Demostrado → </a:t>
                      </a:r>
                    </a:p>
                    <a:p>
                      <a:pPr>
                        <a:buNone/>
                      </a:pPr>
                      <a:r>
                        <a:rPr lang="es-MX" sz="1300" dirty="0">
                          <a:latin typeface="Arial" panose="020B0604020202020204" pitchFamily="34" charset="0"/>
                          <a:cs typeface="Arial" panose="020B0604020202020204" pitchFamily="34" charset="0"/>
                        </a:rPr>
                        <a:t>Utilizable → </a:t>
                      </a:r>
                    </a:p>
                    <a:p>
                      <a:pPr>
                        <a:buNone/>
                      </a:pPr>
                      <a:r>
                        <a:rPr lang="es-MX" sz="1300" dirty="0">
                          <a:latin typeface="Arial" panose="020B0604020202020204" pitchFamily="34" charset="0"/>
                          <a:cs typeface="Arial" panose="020B0604020202020204" pitchFamily="34" charset="0"/>
                        </a:rPr>
                        <a:t>Listo para entrega → </a:t>
                      </a:r>
                    </a:p>
                    <a:p>
                      <a:pPr>
                        <a:buNone/>
                      </a:pPr>
                      <a:r>
                        <a:rPr lang="es-MX" sz="1300" dirty="0">
                          <a:latin typeface="Arial" panose="020B0604020202020204" pitchFamily="34" charset="0"/>
                          <a:cs typeface="Arial" panose="020B0604020202020204" pitchFamily="34" charset="0"/>
                        </a:rPr>
                        <a:t>En uso → </a:t>
                      </a:r>
                    </a:p>
                    <a:p>
                      <a:pPr>
                        <a:buNone/>
                      </a:pPr>
                      <a:r>
                        <a:rPr lang="es-MX" sz="1300" dirty="0">
                          <a:latin typeface="Arial" panose="020B0604020202020204" pitchFamily="34" charset="0"/>
                          <a:cs typeface="Arial" panose="020B0604020202020204" pitchFamily="34" charset="0"/>
                        </a:rPr>
                        <a:t>Retirado</a:t>
                      </a:r>
                    </a:p>
                  </a:txBody>
                  <a:tcPr marL="34740" marR="34740" marT="17370" marB="1737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Arquitectura inicial definida.</a:t>
                      </a:r>
                    </a:p>
                    <a:p>
                      <a:pPr marL="285750" indent="-285750">
                        <a:buFontTx/>
                        <a:buChar char="-"/>
                      </a:pPr>
                      <a:r>
                        <a:rPr lang="es-MX" sz="1300" dirty="0">
                          <a:latin typeface="Arial" panose="020B0604020202020204" pitchFamily="34" charset="0"/>
                          <a:cs typeface="Arial" panose="020B0604020202020204" pitchFamily="34" charset="0"/>
                        </a:rPr>
                        <a:t>Versión inicial ejecutable.</a:t>
                      </a:r>
                    </a:p>
                    <a:p>
                      <a:pPr marL="285750" indent="-285750">
                        <a:buFontTx/>
                        <a:buChar char="-"/>
                      </a:pPr>
                      <a:r>
                        <a:rPr lang="es-MX" sz="1300" dirty="0">
                          <a:latin typeface="Arial" panose="020B0604020202020204" pitchFamily="34" charset="0"/>
                          <a:cs typeface="Arial" panose="020B0604020202020204" pitchFamily="34" charset="0"/>
                        </a:rPr>
                        <a:t>El sistema cumple funcionalidades básicas.</a:t>
                      </a:r>
                    </a:p>
                    <a:p>
                      <a:pPr marL="285750" indent="-285750">
                        <a:buFontTx/>
                        <a:buChar char="-"/>
                      </a:pPr>
                      <a:r>
                        <a:rPr lang="es-MX" sz="1300" dirty="0">
                          <a:latin typeface="Arial" panose="020B0604020202020204" pitchFamily="34" charset="0"/>
                          <a:cs typeface="Arial" panose="020B0604020202020204" pitchFamily="34" charset="0"/>
                        </a:rPr>
                        <a:t>Cumple condiciones de despliegue.</a:t>
                      </a:r>
                    </a:p>
                    <a:p>
                      <a:pPr marL="285750" indent="-285750">
                        <a:buFontTx/>
                        <a:buChar char="-"/>
                      </a:pPr>
                      <a:r>
                        <a:rPr lang="es-MX" sz="1300" dirty="0">
                          <a:latin typeface="Arial" panose="020B0604020202020204" pitchFamily="34" charset="0"/>
                          <a:cs typeface="Arial" panose="020B0604020202020204" pitchFamily="34" charset="0"/>
                        </a:rPr>
                        <a:t>Se usa en producción.</a:t>
                      </a:r>
                    </a:p>
                    <a:p>
                      <a:pPr marL="285750" indent="-285750">
                        <a:buFontTx/>
                        <a:buChar char="-"/>
                      </a:pPr>
                      <a:r>
                        <a:rPr lang="es-MX" sz="1300" dirty="0">
                          <a:latin typeface="Arial" panose="020B0604020202020204" pitchFamily="34" charset="0"/>
                          <a:cs typeface="Arial" panose="020B0604020202020204" pitchFamily="34" charset="0"/>
                        </a:rPr>
                        <a:t>Ya no se utiliza oficialmente.</a:t>
                      </a:r>
                    </a:p>
                  </a:txBody>
                  <a:tcPr marL="34740" marR="34740" marT="17370" marB="17370" anchor="ctr"/>
                </a:tc>
                <a:extLst>
                  <a:ext uri="{0D108BD9-81ED-4DB2-BD59-A6C34878D82A}">
                    <a16:rowId xmlns:a16="http://schemas.microsoft.com/office/drawing/2014/main" val="20883503"/>
                  </a:ext>
                </a:extLst>
              </a:tr>
              <a:tr h="465361">
                <a:tc>
                  <a:txBody>
                    <a:bodyPr/>
                    <a:lstStyle/>
                    <a:p>
                      <a:pPr>
                        <a:buNone/>
                      </a:pPr>
                      <a:r>
                        <a:rPr lang="es-MX" sz="1300" b="1">
                          <a:latin typeface="Arial" panose="020B0604020202020204" pitchFamily="34" charset="0"/>
                          <a:cs typeface="Arial" panose="020B0604020202020204" pitchFamily="34" charset="0"/>
                        </a:rPr>
                        <a:t>Trabajo</a:t>
                      </a:r>
                      <a:endParaRPr lang="es-MX" sz="1300">
                        <a:latin typeface="Arial" panose="020B0604020202020204" pitchFamily="34" charset="0"/>
                        <a:cs typeface="Arial" panose="020B0604020202020204" pitchFamily="34" charset="0"/>
                      </a:endParaRPr>
                    </a:p>
                  </a:txBody>
                  <a:tcPr marL="34740" marR="34740" marT="17370" marB="17370" anchor="ctr">
                    <a:solidFill>
                      <a:schemeClr val="accent3">
                        <a:lumMod val="20000"/>
                        <a:lumOff val="80000"/>
                      </a:schemeClr>
                    </a:solidFill>
                  </a:tcPr>
                </a:tc>
                <a:tc>
                  <a:txBody>
                    <a:bodyPr/>
                    <a:lstStyle/>
                    <a:p>
                      <a:pPr>
                        <a:buNone/>
                      </a:pPr>
                      <a:r>
                        <a:rPr lang="es-MX" sz="1300" dirty="0">
                          <a:latin typeface="Arial" panose="020B0604020202020204" pitchFamily="34" charset="0"/>
                          <a:cs typeface="Arial" panose="020B0604020202020204" pitchFamily="34" charset="0"/>
                        </a:rPr>
                        <a:t>Iniciado → </a:t>
                      </a:r>
                    </a:p>
                    <a:p>
                      <a:pPr>
                        <a:buNone/>
                      </a:pPr>
                      <a:r>
                        <a:rPr lang="es-MX" sz="1300" dirty="0">
                          <a:latin typeface="Arial" panose="020B0604020202020204" pitchFamily="34" charset="0"/>
                          <a:cs typeface="Arial" panose="020B0604020202020204" pitchFamily="34" charset="0"/>
                        </a:rPr>
                        <a:t>Preparado → </a:t>
                      </a:r>
                    </a:p>
                    <a:p>
                      <a:pPr>
                        <a:buNone/>
                      </a:pPr>
                      <a:r>
                        <a:rPr lang="es-MX" sz="1300" dirty="0">
                          <a:latin typeface="Arial" panose="020B0604020202020204" pitchFamily="34" charset="0"/>
                          <a:cs typeface="Arial" panose="020B0604020202020204" pitchFamily="34" charset="0"/>
                        </a:rPr>
                        <a:t>En curso → </a:t>
                      </a:r>
                    </a:p>
                    <a:p>
                      <a:pPr>
                        <a:buNone/>
                      </a:pPr>
                      <a:r>
                        <a:rPr lang="es-MX" sz="1300" dirty="0">
                          <a:latin typeface="Arial" panose="020B0604020202020204" pitchFamily="34" charset="0"/>
                          <a:cs typeface="Arial" panose="020B0604020202020204" pitchFamily="34" charset="0"/>
                        </a:rPr>
                        <a:t>Interrumpido → </a:t>
                      </a:r>
                    </a:p>
                    <a:p>
                      <a:pPr>
                        <a:buNone/>
                      </a:pPr>
                      <a:r>
                        <a:rPr lang="es-MX" sz="1300" dirty="0">
                          <a:latin typeface="Arial" panose="020B0604020202020204" pitchFamily="34" charset="0"/>
                          <a:cs typeface="Arial" panose="020B0604020202020204" pitchFamily="34" charset="0"/>
                        </a:rPr>
                        <a:t>Finalizado</a:t>
                      </a:r>
                    </a:p>
                  </a:txBody>
                  <a:tcPr marL="34740" marR="34740" marT="17370" marB="17370" anchor="ctr">
                    <a:solidFill>
                      <a:schemeClr val="accent3">
                        <a:lumMod val="20000"/>
                        <a:lumOff val="80000"/>
                      </a:schemeClr>
                    </a:solidFill>
                  </a:tcPr>
                </a:tc>
                <a:tc>
                  <a:txBody>
                    <a:bodyPr/>
                    <a:lstStyle/>
                    <a:p>
                      <a:pPr marL="285750" indent="-285750">
                        <a:buFontTx/>
                        <a:buChar char="-"/>
                      </a:pPr>
                      <a:r>
                        <a:rPr lang="es-MX" sz="1300" dirty="0">
                          <a:latin typeface="Arial" panose="020B0604020202020204" pitchFamily="34" charset="0"/>
                          <a:cs typeface="Arial" panose="020B0604020202020204" pitchFamily="34" charset="0"/>
                        </a:rPr>
                        <a:t>El esfuerzo está autorizado.</a:t>
                      </a:r>
                    </a:p>
                    <a:p>
                      <a:pPr marL="285750" indent="-285750">
                        <a:buFontTx/>
                        <a:buChar char="-"/>
                      </a:pPr>
                      <a:r>
                        <a:rPr lang="es-MX" sz="1300" dirty="0">
                          <a:latin typeface="Arial" panose="020B0604020202020204" pitchFamily="34" charset="0"/>
                          <a:cs typeface="Arial" panose="020B0604020202020204" pitchFamily="34" charset="0"/>
                        </a:rPr>
                        <a:t>Recursos y plan disponibles.</a:t>
                      </a:r>
                    </a:p>
                    <a:p>
                      <a:pPr marL="285750" indent="-285750">
                        <a:buFontTx/>
                        <a:buChar char="-"/>
                      </a:pPr>
                      <a:r>
                        <a:rPr lang="es-MX" sz="1300" dirty="0">
                          <a:latin typeface="Arial" panose="020B0604020202020204" pitchFamily="34" charset="0"/>
                          <a:cs typeface="Arial" panose="020B0604020202020204" pitchFamily="34" charset="0"/>
                        </a:rPr>
                        <a:t>El trabajo avanza.</a:t>
                      </a:r>
                    </a:p>
                    <a:p>
                      <a:pPr marL="285750" indent="-285750">
                        <a:buFontTx/>
                        <a:buChar char="-"/>
                      </a:pPr>
                      <a:r>
                        <a:rPr lang="es-MX" sz="1300" dirty="0">
                          <a:latin typeface="Arial" panose="020B0604020202020204" pitchFamily="34" charset="0"/>
                          <a:cs typeface="Arial" panose="020B0604020202020204" pitchFamily="34" charset="0"/>
                        </a:rPr>
                        <a:t>El trabajo fue pausado.</a:t>
                      </a:r>
                    </a:p>
                    <a:p>
                      <a:pPr marL="285750" indent="-285750">
                        <a:buFontTx/>
                        <a:buChar char="-"/>
                      </a:pPr>
                      <a:r>
                        <a:rPr lang="es-MX" sz="1300" dirty="0">
                          <a:latin typeface="Arial" panose="020B0604020202020204" pitchFamily="34" charset="0"/>
                          <a:cs typeface="Arial" panose="020B0604020202020204" pitchFamily="34" charset="0"/>
                        </a:rPr>
                        <a:t>El trabajo se completó o canceló.</a:t>
                      </a:r>
                    </a:p>
                  </a:txBody>
                  <a:tcPr marL="34740" marR="34740" marT="17370" marB="17370" anchor="ctr">
                    <a:solidFill>
                      <a:schemeClr val="accent3">
                        <a:lumMod val="20000"/>
                        <a:lumOff val="80000"/>
                      </a:schemeClr>
                    </a:solidFill>
                  </a:tcPr>
                </a:tc>
                <a:extLst>
                  <a:ext uri="{0D108BD9-81ED-4DB2-BD59-A6C34878D82A}">
                    <a16:rowId xmlns:a16="http://schemas.microsoft.com/office/drawing/2014/main" val="580355186"/>
                  </a:ext>
                </a:extLst>
              </a:tr>
              <a:tr h="657602">
                <a:tc>
                  <a:txBody>
                    <a:bodyPr/>
                    <a:lstStyle/>
                    <a:p>
                      <a:pPr>
                        <a:buNone/>
                      </a:pPr>
                      <a:r>
                        <a:rPr lang="es-MX" sz="1300" b="1">
                          <a:latin typeface="Arial" panose="020B0604020202020204" pitchFamily="34" charset="0"/>
                          <a:cs typeface="Arial" panose="020B0604020202020204" pitchFamily="34" charset="0"/>
                        </a:rPr>
                        <a:t>Equipo</a:t>
                      </a:r>
                      <a:endParaRPr lang="es-MX" sz="1300">
                        <a:latin typeface="Arial" panose="020B0604020202020204" pitchFamily="34" charset="0"/>
                        <a:cs typeface="Arial" panose="020B0604020202020204" pitchFamily="34" charset="0"/>
                      </a:endParaRPr>
                    </a:p>
                  </a:txBody>
                  <a:tcPr marL="34740" marR="34740" marT="17370" marB="17370" anchor="ctr"/>
                </a:tc>
                <a:tc>
                  <a:txBody>
                    <a:bodyPr/>
                    <a:lstStyle/>
                    <a:p>
                      <a:pPr>
                        <a:buNone/>
                      </a:pPr>
                      <a:r>
                        <a:rPr lang="es-MX" sz="1300" dirty="0">
                          <a:latin typeface="Arial" panose="020B0604020202020204" pitchFamily="34" charset="0"/>
                          <a:cs typeface="Arial" panose="020B0604020202020204" pitchFamily="34" charset="0"/>
                        </a:rPr>
                        <a:t>Semilla → </a:t>
                      </a:r>
                    </a:p>
                    <a:p>
                      <a:pPr>
                        <a:buNone/>
                      </a:pPr>
                      <a:r>
                        <a:rPr lang="es-MX" sz="1300" dirty="0">
                          <a:latin typeface="Arial" panose="020B0604020202020204" pitchFamily="34" charset="0"/>
                          <a:cs typeface="Arial" panose="020B0604020202020204" pitchFamily="34" charset="0"/>
                        </a:rPr>
                        <a:t>Formado → </a:t>
                      </a:r>
                    </a:p>
                    <a:p>
                      <a:pPr>
                        <a:buNone/>
                      </a:pPr>
                      <a:r>
                        <a:rPr lang="es-MX" sz="1300" dirty="0">
                          <a:latin typeface="Arial" panose="020B0604020202020204" pitchFamily="34" charset="0"/>
                          <a:cs typeface="Arial" panose="020B0604020202020204" pitchFamily="34" charset="0"/>
                        </a:rPr>
                        <a:t>Colaborando → </a:t>
                      </a:r>
                    </a:p>
                    <a:p>
                      <a:pPr>
                        <a:buNone/>
                      </a:pPr>
                      <a:r>
                        <a:rPr lang="es-MX" sz="1300" dirty="0">
                          <a:latin typeface="Arial" panose="020B0604020202020204" pitchFamily="34" charset="0"/>
                          <a:cs typeface="Arial" panose="020B0604020202020204" pitchFamily="34" charset="0"/>
                        </a:rPr>
                        <a:t>Altamente productivo → </a:t>
                      </a:r>
                    </a:p>
                    <a:p>
                      <a:pPr>
                        <a:buNone/>
                      </a:pPr>
                      <a:r>
                        <a:rPr lang="es-MX" sz="1300" dirty="0">
                          <a:latin typeface="Arial" panose="020B0604020202020204" pitchFamily="34" charset="0"/>
                          <a:cs typeface="Arial" panose="020B0604020202020204" pitchFamily="34" charset="0"/>
                        </a:rPr>
                        <a:t>Disuelto</a:t>
                      </a:r>
                    </a:p>
                  </a:txBody>
                  <a:tcPr marL="34740" marR="34740" marT="17370" marB="1737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Hay miembros iniciales identificados</a:t>
                      </a:r>
                    </a:p>
                    <a:p>
                      <a:pPr marL="285750" indent="-285750">
                        <a:buFontTx/>
                        <a:buChar char="-"/>
                      </a:pPr>
                      <a:r>
                        <a:rPr lang="es-MX" sz="1300" dirty="0">
                          <a:latin typeface="Arial" panose="020B0604020202020204" pitchFamily="34" charset="0"/>
                          <a:cs typeface="Arial" panose="020B0604020202020204" pitchFamily="34" charset="0"/>
                        </a:rPr>
                        <a:t>El equipo completo está constituido.</a:t>
                      </a:r>
                    </a:p>
                    <a:p>
                      <a:pPr marL="285750" indent="-285750">
                        <a:buFontTx/>
                        <a:buChar char="-"/>
                      </a:pPr>
                      <a:r>
                        <a:rPr lang="es-MX" sz="1300" dirty="0">
                          <a:latin typeface="Arial" panose="020B0604020202020204" pitchFamily="34" charset="0"/>
                          <a:cs typeface="Arial" panose="020B0604020202020204" pitchFamily="34" charset="0"/>
                        </a:rPr>
                        <a:t>Colaboran de manera efectiva.</a:t>
                      </a:r>
                    </a:p>
                    <a:p>
                      <a:pPr marL="285750" indent="-285750">
                        <a:buFontTx/>
                        <a:buChar char="-"/>
                      </a:pPr>
                      <a:r>
                        <a:rPr lang="es-MX" sz="1300" dirty="0">
                          <a:latin typeface="Arial" panose="020B0604020202020204" pitchFamily="34" charset="0"/>
                          <a:cs typeface="Arial" panose="020B0604020202020204" pitchFamily="34" charset="0"/>
                        </a:rPr>
                        <a:t>Tienen rendimiento sostenido y de calidad.</a:t>
                      </a:r>
                    </a:p>
                    <a:p>
                      <a:pPr marL="285750" indent="-285750">
                        <a:buFontTx/>
                        <a:buChar char="-"/>
                      </a:pPr>
                      <a:r>
                        <a:rPr lang="es-MX" sz="1300" dirty="0">
                          <a:latin typeface="Arial" panose="020B0604020202020204" pitchFamily="34" charset="0"/>
                          <a:cs typeface="Arial" panose="020B0604020202020204" pitchFamily="34" charset="0"/>
                        </a:rPr>
                        <a:t>El equipo fue disuelto.</a:t>
                      </a:r>
                    </a:p>
                  </a:txBody>
                  <a:tcPr marL="34740" marR="34740" marT="17370" marB="17370" anchor="ctr"/>
                </a:tc>
                <a:extLst>
                  <a:ext uri="{0D108BD9-81ED-4DB2-BD59-A6C34878D82A}">
                    <a16:rowId xmlns:a16="http://schemas.microsoft.com/office/drawing/2014/main" val="1610267384"/>
                  </a:ext>
                </a:extLst>
              </a:tr>
              <a:tr h="657602">
                <a:tc>
                  <a:txBody>
                    <a:bodyPr/>
                    <a:lstStyle/>
                    <a:p>
                      <a:pPr>
                        <a:buNone/>
                      </a:pPr>
                      <a:r>
                        <a:rPr lang="es-MX" sz="1300" b="1">
                          <a:latin typeface="Arial" panose="020B0604020202020204" pitchFamily="34" charset="0"/>
                          <a:cs typeface="Arial" panose="020B0604020202020204" pitchFamily="34" charset="0"/>
                        </a:rPr>
                        <a:t>Forma de trabajo (WoW)</a:t>
                      </a:r>
                      <a:endParaRPr lang="es-MX" sz="1300">
                        <a:latin typeface="Arial" panose="020B0604020202020204" pitchFamily="34" charset="0"/>
                        <a:cs typeface="Arial" panose="020B0604020202020204" pitchFamily="34" charset="0"/>
                      </a:endParaRPr>
                    </a:p>
                  </a:txBody>
                  <a:tcPr marL="34740" marR="34740" marT="17370" marB="17370" anchor="ctr">
                    <a:solidFill>
                      <a:schemeClr val="accent6">
                        <a:lumMod val="20000"/>
                        <a:lumOff val="80000"/>
                      </a:schemeClr>
                    </a:solidFill>
                  </a:tcPr>
                </a:tc>
                <a:tc>
                  <a:txBody>
                    <a:bodyPr/>
                    <a:lstStyle/>
                    <a:p>
                      <a:pPr>
                        <a:buNone/>
                      </a:pPr>
                      <a:r>
                        <a:rPr lang="es-MX" sz="1300" dirty="0">
                          <a:latin typeface="Arial" panose="020B0604020202020204" pitchFamily="34" charset="0"/>
                          <a:cs typeface="Arial" panose="020B0604020202020204" pitchFamily="34" charset="0"/>
                        </a:rPr>
                        <a:t>Principios establecidos → </a:t>
                      </a:r>
                    </a:p>
                    <a:p>
                      <a:pPr>
                        <a:buNone/>
                      </a:pPr>
                      <a:r>
                        <a:rPr lang="es-MX" sz="1300" dirty="0">
                          <a:latin typeface="Arial" panose="020B0604020202020204" pitchFamily="34" charset="0"/>
                          <a:cs typeface="Arial" panose="020B0604020202020204" pitchFamily="34" charset="0"/>
                        </a:rPr>
                        <a:t>Fundamentos en uso → </a:t>
                      </a:r>
                    </a:p>
                    <a:p>
                      <a:pPr>
                        <a:buNone/>
                      </a:pPr>
                      <a:r>
                        <a:rPr lang="es-MX" sz="1300" dirty="0">
                          <a:latin typeface="Arial" panose="020B0604020202020204" pitchFamily="34" charset="0"/>
                          <a:cs typeface="Arial" panose="020B0604020202020204" pitchFamily="34" charset="0"/>
                        </a:rPr>
                        <a:t>Usada → </a:t>
                      </a:r>
                    </a:p>
                    <a:p>
                      <a:pPr>
                        <a:buNone/>
                      </a:pPr>
                      <a:r>
                        <a:rPr lang="es-MX" sz="1300" dirty="0">
                          <a:latin typeface="Arial" panose="020B0604020202020204" pitchFamily="34" charset="0"/>
                          <a:cs typeface="Arial" panose="020B0604020202020204" pitchFamily="34" charset="0"/>
                        </a:rPr>
                        <a:t>Ajustada → </a:t>
                      </a:r>
                    </a:p>
                    <a:p>
                      <a:pPr>
                        <a:buNone/>
                      </a:pPr>
                      <a:r>
                        <a:rPr lang="es-MX" sz="1300" dirty="0">
                          <a:latin typeface="Arial" panose="020B0604020202020204" pitchFamily="34" charset="0"/>
                          <a:cs typeface="Arial" panose="020B0604020202020204" pitchFamily="34" charset="0"/>
                        </a:rPr>
                        <a:t>En funcionamiento → </a:t>
                      </a:r>
                    </a:p>
                    <a:p>
                      <a:pPr>
                        <a:buNone/>
                      </a:pPr>
                      <a:r>
                        <a:rPr lang="es-MX" sz="1300" dirty="0">
                          <a:latin typeface="Arial" panose="020B0604020202020204" pitchFamily="34" charset="0"/>
                          <a:cs typeface="Arial" panose="020B0604020202020204" pitchFamily="34" charset="0"/>
                        </a:rPr>
                        <a:t>Retirada</a:t>
                      </a:r>
                    </a:p>
                  </a:txBody>
                  <a:tcPr marL="34740" marR="34740" marT="17370" marB="17370" anchor="ctr">
                    <a:solidFill>
                      <a:schemeClr val="accent6">
                        <a:lumMod val="20000"/>
                        <a:lumOff val="80000"/>
                      </a:schemeClr>
                    </a:solidFill>
                  </a:tcPr>
                </a:tc>
                <a:tc>
                  <a:txBody>
                    <a:bodyPr/>
                    <a:lstStyle/>
                    <a:p>
                      <a:pPr marL="285750" indent="-285750">
                        <a:buFontTx/>
                        <a:buChar char="-"/>
                      </a:pPr>
                      <a:r>
                        <a:rPr lang="es-MX" sz="1300" dirty="0">
                          <a:latin typeface="Arial" panose="020B0604020202020204" pitchFamily="34" charset="0"/>
                          <a:cs typeface="Arial" panose="020B0604020202020204" pitchFamily="34" charset="0"/>
                        </a:rPr>
                        <a:t>Principios y valores acordados.</a:t>
                      </a:r>
                    </a:p>
                    <a:p>
                      <a:pPr marL="285750" indent="-285750">
                        <a:buFontTx/>
                        <a:buChar char="-"/>
                      </a:pPr>
                      <a:r>
                        <a:rPr lang="es-MX" sz="1300" dirty="0">
                          <a:latin typeface="Arial" panose="020B0604020202020204" pitchFamily="34" charset="0"/>
                          <a:cs typeface="Arial" panose="020B0604020202020204" pitchFamily="34" charset="0"/>
                        </a:rPr>
                        <a:t>Prácticas mínimas en uso.</a:t>
                      </a:r>
                    </a:p>
                    <a:p>
                      <a:pPr marL="285750" indent="-285750">
                        <a:buFontTx/>
                        <a:buChar char="-"/>
                      </a:pPr>
                      <a:r>
                        <a:rPr lang="es-MX" sz="1300" dirty="0">
                          <a:latin typeface="Arial" panose="020B0604020202020204" pitchFamily="34" charset="0"/>
                          <a:cs typeface="Arial" panose="020B0604020202020204" pitchFamily="34" charset="0"/>
                        </a:rPr>
                        <a:t>Se trabaja consistentemente con la WoW.</a:t>
                      </a:r>
                    </a:p>
                    <a:p>
                      <a:pPr marL="285750" indent="-285750">
                        <a:buFontTx/>
                        <a:buChar char="-"/>
                      </a:pPr>
                      <a:r>
                        <a:rPr lang="es-MX" sz="1300" dirty="0">
                          <a:latin typeface="Arial" panose="020B0604020202020204" pitchFamily="34" charset="0"/>
                          <a:cs typeface="Arial" panose="020B0604020202020204" pitchFamily="34" charset="0"/>
                        </a:rPr>
                        <a:t>La WoW se adapta según contexto.</a:t>
                      </a:r>
                    </a:p>
                    <a:p>
                      <a:pPr marL="285750" indent="-285750">
                        <a:buFontTx/>
                        <a:buChar char="-"/>
                      </a:pPr>
                      <a:r>
                        <a:rPr lang="es-MX" sz="1300" dirty="0">
                          <a:latin typeface="Arial" panose="020B0604020202020204" pitchFamily="34" charset="0"/>
                          <a:cs typeface="Arial" panose="020B0604020202020204" pitchFamily="34" charset="0"/>
                        </a:rPr>
                        <a:t>Es estable y efectiva.</a:t>
                      </a:r>
                    </a:p>
                    <a:p>
                      <a:pPr marL="285750" indent="-285750">
                        <a:buFontTx/>
                        <a:buChar char="-"/>
                      </a:pPr>
                      <a:r>
                        <a:rPr lang="es-MX" sz="1300" dirty="0">
                          <a:latin typeface="Arial" panose="020B0604020202020204" pitchFamily="34" charset="0"/>
                          <a:cs typeface="Arial" panose="020B0604020202020204" pitchFamily="34" charset="0"/>
                        </a:rPr>
                        <a:t>Se abandonó la WoW.</a:t>
                      </a:r>
                    </a:p>
                  </a:txBody>
                  <a:tcPr marL="34740" marR="34740" marT="17370" marB="17370" anchor="ctr">
                    <a:solidFill>
                      <a:schemeClr val="accent6">
                        <a:lumMod val="20000"/>
                        <a:lumOff val="80000"/>
                      </a:schemeClr>
                    </a:solidFill>
                  </a:tcPr>
                </a:tc>
                <a:extLst>
                  <a:ext uri="{0D108BD9-81ED-4DB2-BD59-A6C34878D82A}">
                    <a16:rowId xmlns:a16="http://schemas.microsoft.com/office/drawing/2014/main" val="2840273060"/>
                  </a:ext>
                </a:extLst>
              </a:tr>
            </a:tbl>
          </a:graphicData>
        </a:graphic>
      </p:graphicFrame>
    </p:spTree>
    <p:extLst>
      <p:ext uri="{BB962C8B-B14F-4D97-AF65-F5344CB8AC3E}">
        <p14:creationId xmlns:p14="http://schemas.microsoft.com/office/powerpoint/2010/main" val="1777786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97844-ED5B-F0EE-7F18-AD6AB661F5A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43F3F5E-9FAD-A366-F627-86BA552A50D1}"/>
              </a:ext>
            </a:extLst>
          </p:cNvPr>
          <p:cNvSpPr txBox="1"/>
          <p:nvPr/>
        </p:nvSpPr>
        <p:spPr>
          <a:xfrm>
            <a:off x="997528" y="782121"/>
            <a:ext cx="10652166" cy="5293757"/>
          </a:xfrm>
          <a:prstGeom prst="rect">
            <a:avLst/>
          </a:prstGeom>
          <a:noFill/>
        </p:spPr>
        <p:txBody>
          <a:bodyPr wrap="square">
            <a:spAutoFit/>
          </a:bodyPr>
          <a:lstStyle/>
          <a:p>
            <a:pPr>
              <a:buNone/>
            </a:pPr>
            <a:r>
              <a:rPr lang="es-MX" sz="3200" b="1" dirty="0">
                <a:latin typeface="Arial" panose="020B0604020202020204" pitchFamily="34" charset="0"/>
                <a:cs typeface="Arial" panose="020B0604020202020204" pitchFamily="34" charset="0"/>
              </a:rPr>
              <a:t>COMPETENCIAS</a:t>
            </a: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Definición</a:t>
            </a:r>
          </a:p>
          <a:p>
            <a:pPr>
              <a:buNone/>
            </a:pPr>
            <a:r>
              <a:rPr lang="es-MX" dirty="0">
                <a:latin typeface="Arial" panose="020B0604020202020204" pitchFamily="34" charset="0"/>
                <a:cs typeface="Arial" panose="020B0604020202020204" pitchFamily="34" charset="0"/>
              </a:rPr>
              <a:t>Son las </a:t>
            </a:r>
            <a:r>
              <a:rPr lang="es-MX" b="1" dirty="0">
                <a:latin typeface="Arial" panose="020B0604020202020204" pitchFamily="34" charset="0"/>
                <a:cs typeface="Arial" panose="020B0604020202020204" pitchFamily="34" charset="0"/>
              </a:rPr>
              <a:t>habilidades y capacidades</a:t>
            </a:r>
            <a:r>
              <a:rPr lang="es-MX" dirty="0">
                <a:latin typeface="Arial" panose="020B0604020202020204" pitchFamily="34" charset="0"/>
                <a:cs typeface="Arial" panose="020B0604020202020204" pitchFamily="34" charset="0"/>
              </a:rPr>
              <a:t> que las personas del equipo deben aplicar para avanzar los Alphas y completar el trabajo.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Cada </a:t>
            </a:r>
            <a:r>
              <a:rPr lang="es-MX" b="1" dirty="0">
                <a:latin typeface="Arial" panose="020B0604020202020204" pitchFamily="34" charset="0"/>
                <a:cs typeface="Arial" panose="020B0604020202020204" pitchFamily="34" charset="0"/>
              </a:rPr>
              <a:t>Competency</a:t>
            </a:r>
            <a:r>
              <a:rPr lang="es-MX" dirty="0">
                <a:latin typeface="Arial" panose="020B0604020202020204" pitchFamily="34" charset="0"/>
                <a:cs typeface="Arial" panose="020B0604020202020204" pitchFamily="34" charset="0"/>
              </a:rPr>
              <a:t> se evalúa con </a:t>
            </a:r>
            <a:r>
              <a:rPr lang="es-MX" b="1" dirty="0">
                <a:latin typeface="Arial" panose="020B0604020202020204" pitchFamily="34" charset="0"/>
                <a:cs typeface="Arial" panose="020B0604020202020204" pitchFamily="34" charset="0"/>
              </a:rPr>
              <a:t>niveles de competencia</a:t>
            </a:r>
            <a:r>
              <a:rPr lang="es-MX" dirty="0">
                <a:latin typeface="Arial" panose="020B0604020202020204" pitchFamily="34" charset="0"/>
                <a:cs typeface="Arial" panose="020B0604020202020204" pitchFamily="34" charset="0"/>
              </a:rPr>
              <a:t> (desde principiante hasta experto).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Los </a:t>
            </a:r>
            <a:r>
              <a:rPr lang="es-MX" b="1" dirty="0">
                <a:latin typeface="Arial" panose="020B0604020202020204" pitchFamily="34" charset="0"/>
                <a:cs typeface="Arial" panose="020B0604020202020204" pitchFamily="34" charset="0"/>
              </a:rPr>
              <a:t>checkpoints</a:t>
            </a:r>
            <a:r>
              <a:rPr lang="es-MX" dirty="0">
                <a:latin typeface="Arial" panose="020B0604020202020204" pitchFamily="34" charset="0"/>
                <a:cs typeface="Arial" panose="020B0604020202020204" pitchFamily="34" charset="0"/>
              </a:rPr>
              <a:t> definen comportamientos, logros o evidencias que confirman cada nivel.</a:t>
            </a:r>
          </a:p>
          <a:p>
            <a:pPr>
              <a:buNone/>
            </a:pPr>
            <a:endParaRPr lang="es-MX"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Principales Competencies</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Liderazgo (Leadership):</a:t>
            </a:r>
            <a:r>
              <a:rPr lang="es-MX" dirty="0">
                <a:latin typeface="Arial" panose="020B0604020202020204" pitchFamily="34" charset="0"/>
                <a:cs typeface="Arial" panose="020B0604020202020204" pitchFamily="34" charset="0"/>
              </a:rPr>
              <a:t> orientar, coordinar y motivar al equipo.</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Desarrollo (Development):</a:t>
            </a:r>
            <a:r>
              <a:rPr lang="es-MX" dirty="0">
                <a:latin typeface="Arial" panose="020B0604020202020204" pitchFamily="34" charset="0"/>
                <a:cs typeface="Arial" panose="020B0604020202020204" pitchFamily="34" charset="0"/>
              </a:rPr>
              <a:t> construcción de software de calidad.</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Análisis (Analysis):</a:t>
            </a:r>
            <a:r>
              <a:rPr lang="es-MX" dirty="0">
                <a:latin typeface="Arial" panose="020B0604020202020204" pitchFamily="34" charset="0"/>
                <a:cs typeface="Arial" panose="020B0604020202020204" pitchFamily="34" charset="0"/>
              </a:rPr>
              <a:t> entender necesidades, requisitos y contexto.</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Testing (Testing):</a:t>
            </a:r>
            <a:r>
              <a:rPr lang="es-MX" dirty="0">
                <a:latin typeface="Arial" panose="020B0604020202020204" pitchFamily="34" charset="0"/>
                <a:cs typeface="Arial" panose="020B0604020202020204" pitchFamily="34" charset="0"/>
              </a:rPr>
              <a:t> asegurar calidad mediante verificación y validación.</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Gestión (Management):</a:t>
            </a:r>
            <a:r>
              <a:rPr lang="es-MX" dirty="0">
                <a:latin typeface="Arial" panose="020B0604020202020204" pitchFamily="34" charset="0"/>
                <a:cs typeface="Arial" panose="020B0604020202020204" pitchFamily="34" charset="0"/>
              </a:rPr>
              <a:t> planificación, seguimiento y control del esfuerzo.</a:t>
            </a:r>
          </a:p>
          <a:p>
            <a:pPr>
              <a:buFont typeface="Arial" panose="020B0604020202020204" pitchFamily="34" charset="0"/>
              <a:buChar char="•"/>
            </a:pPr>
            <a:endParaRPr lang="es-MX"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Controles</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Se pueden medir por </a:t>
            </a:r>
            <a:r>
              <a:rPr lang="es-MX" b="1" dirty="0">
                <a:latin typeface="Arial" panose="020B0604020202020204" pitchFamily="34" charset="0"/>
                <a:cs typeface="Arial" panose="020B0604020202020204" pitchFamily="34" charset="0"/>
              </a:rPr>
              <a:t>niveles de madurez o dominio</a:t>
            </a:r>
            <a:r>
              <a:rPr lang="es-MX" dirty="0">
                <a:latin typeface="Arial" panose="020B0604020202020204" pitchFamily="34" charset="0"/>
                <a:cs typeface="Arial" panose="020B0604020202020204" pitchFamily="34" charset="0"/>
              </a:rPr>
              <a:t> (ejemplo: básico, competente, experto).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Se utilizan para detectar </a:t>
            </a:r>
            <a:r>
              <a:rPr lang="es-MX" b="1" dirty="0">
                <a:latin typeface="Arial" panose="020B0604020202020204" pitchFamily="34" charset="0"/>
                <a:cs typeface="Arial" panose="020B0604020202020204" pitchFamily="34" charset="0"/>
              </a:rPr>
              <a:t>brechas de habilidades</a:t>
            </a:r>
            <a:r>
              <a:rPr lang="es-MX" dirty="0">
                <a:latin typeface="Arial" panose="020B0604020202020204" pitchFamily="34" charset="0"/>
                <a:cs typeface="Arial" panose="020B0604020202020204" pitchFamily="34" charset="0"/>
              </a:rPr>
              <a:t> en un equipo.</a:t>
            </a:r>
          </a:p>
        </p:txBody>
      </p:sp>
    </p:spTree>
    <p:extLst>
      <p:ext uri="{BB962C8B-B14F-4D97-AF65-F5344CB8AC3E}">
        <p14:creationId xmlns:p14="http://schemas.microsoft.com/office/powerpoint/2010/main" val="37431045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56992-68FB-FB3A-C34B-71CE1CEBB73D}"/>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52F444C6-E2B3-5EF4-CFE2-DA31073A21FC}"/>
              </a:ext>
            </a:extLst>
          </p:cNvPr>
          <p:cNvGraphicFramePr>
            <a:graphicFrameLocks noGrp="1"/>
          </p:cNvGraphicFramePr>
          <p:nvPr/>
        </p:nvGraphicFramePr>
        <p:xfrm>
          <a:off x="1127276" y="1771361"/>
          <a:ext cx="9937447" cy="3519900"/>
        </p:xfrm>
        <a:graphic>
          <a:graphicData uri="http://schemas.openxmlformats.org/drawingml/2006/table">
            <a:tbl>
              <a:tblPr>
                <a:tableStyleId>{8EC20E35-A176-4012-BC5E-935CFFF8708E}</a:tableStyleId>
              </a:tblPr>
              <a:tblGrid>
                <a:gridCol w="1537820">
                  <a:extLst>
                    <a:ext uri="{9D8B030D-6E8A-4147-A177-3AD203B41FA5}">
                      <a16:colId xmlns:a16="http://schemas.microsoft.com/office/drawing/2014/main" val="2991947871"/>
                    </a:ext>
                  </a:extLst>
                </a:gridCol>
                <a:gridCol w="2687596">
                  <a:extLst>
                    <a:ext uri="{9D8B030D-6E8A-4147-A177-3AD203B41FA5}">
                      <a16:colId xmlns:a16="http://schemas.microsoft.com/office/drawing/2014/main" val="2153759101"/>
                    </a:ext>
                  </a:extLst>
                </a:gridCol>
                <a:gridCol w="5712031">
                  <a:extLst>
                    <a:ext uri="{9D8B030D-6E8A-4147-A177-3AD203B41FA5}">
                      <a16:colId xmlns:a16="http://schemas.microsoft.com/office/drawing/2014/main" val="3182849635"/>
                    </a:ext>
                  </a:extLst>
                </a:gridCol>
              </a:tblGrid>
              <a:tr h="0">
                <a:tc>
                  <a:txBody>
                    <a:bodyPr/>
                    <a:lstStyle/>
                    <a:p>
                      <a:pPr>
                        <a:buNone/>
                      </a:pPr>
                      <a:r>
                        <a:rPr lang="es-MX" sz="1600" b="1">
                          <a:latin typeface="Arial" panose="020B0604020202020204" pitchFamily="34" charset="0"/>
                          <a:cs typeface="Arial" panose="020B0604020202020204" pitchFamily="34" charset="0"/>
                        </a:rPr>
                        <a:t>Competency</a:t>
                      </a:r>
                      <a:endParaRPr lang="es-MX" sz="160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tc>
                  <a:txBody>
                    <a:bodyPr/>
                    <a:lstStyle/>
                    <a:p>
                      <a:pPr>
                        <a:buNone/>
                      </a:pPr>
                      <a:r>
                        <a:rPr lang="es-MX" sz="1600" b="1">
                          <a:latin typeface="Arial" panose="020B0604020202020204" pitchFamily="34" charset="0"/>
                          <a:cs typeface="Arial" panose="020B0604020202020204" pitchFamily="34" charset="0"/>
                        </a:rPr>
                        <a:t>Niveles</a:t>
                      </a:r>
                      <a:endParaRPr lang="es-MX" sz="160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tc>
                  <a:txBody>
                    <a:bodyPr/>
                    <a:lstStyle/>
                    <a:p>
                      <a:pPr>
                        <a:buNone/>
                      </a:pPr>
                      <a:r>
                        <a:rPr lang="es-MX" sz="1600" b="1" dirty="0">
                          <a:latin typeface="Arial" panose="020B0604020202020204" pitchFamily="34" charset="0"/>
                          <a:cs typeface="Arial" panose="020B0604020202020204" pitchFamily="34" charset="0"/>
                        </a:rPr>
                        <a:t>Ejemplos de Checkpoints (criterios de verificación)</a:t>
                      </a:r>
                      <a:endParaRPr lang="es-MX" sz="1600" dirty="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extLst>
                  <a:ext uri="{0D108BD9-81ED-4DB2-BD59-A6C34878D82A}">
                    <a16:rowId xmlns:a16="http://schemas.microsoft.com/office/drawing/2014/main" val="3128074295"/>
                  </a:ext>
                </a:extLst>
              </a:tr>
              <a:tr h="1087261">
                <a:tc>
                  <a:txBody>
                    <a:bodyPr/>
                    <a:lstStyle/>
                    <a:p>
                      <a:pPr>
                        <a:buNone/>
                      </a:pPr>
                      <a:r>
                        <a:rPr lang="es-MX" sz="1600" b="1">
                          <a:latin typeface="Arial" panose="020B0604020202020204" pitchFamily="34" charset="0"/>
                          <a:cs typeface="Arial" panose="020B0604020202020204" pitchFamily="34" charset="0"/>
                        </a:rPr>
                        <a:t>Liderazgo (Leadership)</a:t>
                      </a:r>
                      <a:endParaRPr lang="es-MX" sz="1600">
                        <a:latin typeface="Arial" panose="020B0604020202020204" pitchFamily="34" charset="0"/>
                        <a:cs typeface="Arial" panose="020B0604020202020204" pitchFamily="34" charset="0"/>
                      </a:endParaRPr>
                    </a:p>
                  </a:txBody>
                  <a:tcPr marL="35380" marR="35380" marT="17690" marB="17690" anchor="ctr"/>
                </a:tc>
                <a:tc>
                  <a:txBody>
                    <a:bodyPr/>
                    <a:lstStyle/>
                    <a:p>
                      <a:pPr marL="342900" indent="-342900">
                        <a:buAutoNum type="arabicPeriod"/>
                      </a:pPr>
                      <a:r>
                        <a:rPr lang="es-MX" sz="1600" dirty="0">
                          <a:latin typeface="Arial" panose="020B0604020202020204" pitchFamily="34" charset="0"/>
                          <a:cs typeface="Arial" panose="020B0604020202020204" pitchFamily="34" charset="0"/>
                        </a:rPr>
                        <a:t>Básico → </a:t>
                      </a:r>
                    </a:p>
                    <a:p>
                      <a:pPr marL="342900" indent="-342900">
                        <a:buAutoNum type="arabicPeriod"/>
                      </a:pPr>
                      <a:r>
                        <a:rPr lang="es-MX" sz="1600" dirty="0">
                          <a:latin typeface="Arial" panose="020B0604020202020204" pitchFamily="34" charset="0"/>
                          <a:cs typeface="Arial" panose="020B0604020202020204" pitchFamily="34" charset="0"/>
                        </a:rPr>
                        <a:t>Practicante → </a:t>
                      </a:r>
                    </a:p>
                    <a:p>
                      <a:pPr marL="342900" indent="-342900">
                        <a:buAutoNum type="arabicPeriod"/>
                      </a:pPr>
                      <a:r>
                        <a:rPr lang="es-MX" sz="1600" dirty="0">
                          <a:latin typeface="Arial" panose="020B0604020202020204" pitchFamily="34" charset="0"/>
                          <a:cs typeface="Arial" panose="020B0604020202020204" pitchFamily="34" charset="0"/>
                        </a:rPr>
                        <a:t>Competente → </a:t>
                      </a:r>
                    </a:p>
                    <a:p>
                      <a:pPr marL="342900" indent="-342900">
                        <a:buAutoNum type="arabicPeriod"/>
                      </a:pPr>
                      <a:r>
                        <a:rPr lang="es-MX" sz="1600" dirty="0">
                          <a:latin typeface="Arial" panose="020B0604020202020204" pitchFamily="34" charset="0"/>
                          <a:cs typeface="Arial" panose="020B0604020202020204" pitchFamily="34" charset="0"/>
                        </a:rPr>
                        <a:t>Avanzado → </a:t>
                      </a:r>
                    </a:p>
                    <a:p>
                      <a:pPr marL="342900" indent="-342900">
                        <a:buAutoNum type="arabicPeriod"/>
                      </a:pPr>
                      <a:r>
                        <a:rPr lang="es-MX" sz="1600" dirty="0">
                          <a:latin typeface="Arial" panose="020B0604020202020204" pitchFamily="34" charset="0"/>
                          <a:cs typeface="Arial" panose="020B0604020202020204" pitchFamily="34" charset="0"/>
                        </a:rPr>
                        <a:t>Experto</a:t>
                      </a:r>
                    </a:p>
                  </a:txBody>
                  <a:tcPr marL="35380" marR="35380" marT="17690" marB="17690" anchor="ctr"/>
                </a:tc>
                <a:tc>
                  <a:txBody>
                    <a:bodyPr/>
                    <a:lstStyle/>
                    <a:p>
                      <a:pPr marL="285750" indent="-285750">
                        <a:buFontTx/>
                        <a:buChar char="-"/>
                      </a:pPr>
                      <a:r>
                        <a:rPr lang="es-MX" sz="1600" dirty="0">
                          <a:latin typeface="Arial" panose="020B0604020202020204" pitchFamily="34" charset="0"/>
                          <a:cs typeface="Arial" panose="020B0604020202020204" pitchFamily="34" charset="0"/>
                        </a:rPr>
                        <a:t>(Básico) Reconoce la importancia de la coordinación.</a:t>
                      </a:r>
                    </a:p>
                    <a:p>
                      <a:pPr marL="285750" indent="-285750">
                        <a:buFontTx/>
                        <a:buChar char="-"/>
                      </a:pPr>
                      <a:r>
                        <a:rPr lang="es-MX" sz="1600" dirty="0">
                          <a:latin typeface="Arial" panose="020B0604020202020204" pitchFamily="34" charset="0"/>
                          <a:cs typeface="Arial" panose="020B0604020202020204" pitchFamily="34" charset="0"/>
                        </a:rPr>
                        <a:t> (Practicante) Facilita reuniones y distribuye tareas.</a:t>
                      </a:r>
                    </a:p>
                    <a:p>
                      <a:pPr marL="285750" indent="-285750">
                        <a:buFontTx/>
                        <a:buChar char="-"/>
                      </a:pPr>
                      <a:r>
                        <a:rPr lang="es-MX" sz="1600" dirty="0">
                          <a:latin typeface="Arial" panose="020B0604020202020204" pitchFamily="34" charset="0"/>
                          <a:cs typeface="Arial" panose="020B0604020202020204" pitchFamily="34" charset="0"/>
                        </a:rPr>
                        <a:t>(Competente) Motiva al equipo y resuelve conflictos.</a:t>
                      </a:r>
                    </a:p>
                    <a:p>
                      <a:pPr marL="285750" indent="-285750">
                        <a:buFontTx/>
                        <a:buChar char="-"/>
                      </a:pPr>
                      <a:r>
                        <a:rPr lang="es-MX" sz="1600" dirty="0">
                          <a:latin typeface="Arial" panose="020B0604020202020204" pitchFamily="34" charset="0"/>
                          <a:cs typeface="Arial" panose="020B0604020202020204" pitchFamily="34" charset="0"/>
                        </a:rPr>
                        <a:t>(Avanzado) Desarrolla liderazgo en otros miembros.</a:t>
                      </a:r>
                    </a:p>
                    <a:p>
                      <a:pPr marL="285750" indent="-285750">
                        <a:buFontTx/>
                        <a:buChar char="-"/>
                      </a:pPr>
                      <a:r>
                        <a:rPr lang="es-MX" sz="1600" dirty="0">
                          <a:latin typeface="Arial" panose="020B0604020202020204" pitchFamily="34" charset="0"/>
                          <a:cs typeface="Arial" panose="020B0604020202020204" pitchFamily="34" charset="0"/>
                        </a:rPr>
                        <a:t>(Experto) Lidera varios equipos y define estrategias organizacionales.</a:t>
                      </a:r>
                    </a:p>
                  </a:txBody>
                  <a:tcPr marL="35380" marR="35380" marT="17690" marB="17690" anchor="ctr"/>
                </a:tc>
                <a:extLst>
                  <a:ext uri="{0D108BD9-81ED-4DB2-BD59-A6C34878D82A}">
                    <a16:rowId xmlns:a16="http://schemas.microsoft.com/office/drawing/2014/main" val="2273125277"/>
                  </a:ext>
                </a:extLst>
              </a:tr>
              <a:tr h="1087261">
                <a:tc>
                  <a:txBody>
                    <a:bodyPr/>
                    <a:lstStyle/>
                    <a:p>
                      <a:pPr>
                        <a:buNone/>
                      </a:pPr>
                      <a:r>
                        <a:rPr lang="es-MX" sz="1600" b="1" dirty="0">
                          <a:latin typeface="Arial" panose="020B0604020202020204" pitchFamily="34" charset="0"/>
                          <a:cs typeface="Arial" panose="020B0604020202020204" pitchFamily="34" charset="0"/>
                        </a:rPr>
                        <a:t>Desarrollo (Development)</a:t>
                      </a:r>
                      <a:endParaRPr lang="es-MX" sz="1600" dirty="0">
                        <a:latin typeface="Arial" panose="020B0604020202020204" pitchFamily="34" charset="0"/>
                        <a:cs typeface="Arial" panose="020B0604020202020204" pitchFamily="34" charset="0"/>
                      </a:endParaRPr>
                    </a:p>
                  </a:txBody>
                  <a:tcPr marL="35380" marR="35380" marT="17690" marB="17690" anchor="ctr">
                    <a:solidFill>
                      <a:schemeClr val="accent6">
                        <a:lumMod val="20000"/>
                        <a:lumOff val="80000"/>
                      </a:schemeClr>
                    </a:solidFill>
                  </a:tcPr>
                </a:tc>
                <a:tc>
                  <a:txBody>
                    <a:bodyPr/>
                    <a:lstStyle/>
                    <a:p>
                      <a:pPr marL="342900" indent="-342900">
                        <a:buAutoNum type="arabicPeriod"/>
                      </a:pPr>
                      <a:r>
                        <a:rPr lang="es-MX" sz="1600" dirty="0">
                          <a:latin typeface="Arial" panose="020B0604020202020204" pitchFamily="34" charset="0"/>
                          <a:cs typeface="Arial" panose="020B0604020202020204" pitchFamily="34" charset="0"/>
                        </a:rPr>
                        <a:t>Básico →</a:t>
                      </a:r>
                    </a:p>
                    <a:p>
                      <a:pPr marL="342900" indent="-342900">
                        <a:buAutoNum type="arabicPeriod"/>
                      </a:pPr>
                      <a:r>
                        <a:rPr lang="es-MX" sz="1600" dirty="0">
                          <a:latin typeface="Arial" panose="020B0604020202020204" pitchFamily="34" charset="0"/>
                          <a:cs typeface="Arial" panose="020B0604020202020204" pitchFamily="34" charset="0"/>
                        </a:rPr>
                        <a:t>Practicante →</a:t>
                      </a:r>
                    </a:p>
                    <a:p>
                      <a:pPr marL="342900" indent="-342900">
                        <a:buAutoNum type="arabicPeriod"/>
                      </a:pPr>
                      <a:r>
                        <a:rPr lang="es-MX" sz="1600" dirty="0">
                          <a:latin typeface="Arial" panose="020B0604020202020204" pitchFamily="34" charset="0"/>
                          <a:cs typeface="Arial" panose="020B0604020202020204" pitchFamily="34" charset="0"/>
                        </a:rPr>
                        <a:t>Competente →</a:t>
                      </a:r>
                    </a:p>
                    <a:p>
                      <a:pPr marL="342900" indent="-342900">
                        <a:buAutoNum type="arabicPeriod"/>
                      </a:pPr>
                      <a:r>
                        <a:rPr lang="es-MX" sz="1600" dirty="0">
                          <a:latin typeface="Arial" panose="020B0604020202020204" pitchFamily="34" charset="0"/>
                          <a:cs typeface="Arial" panose="020B0604020202020204" pitchFamily="34" charset="0"/>
                        </a:rPr>
                        <a:t> Avanzado → </a:t>
                      </a:r>
                    </a:p>
                    <a:p>
                      <a:pPr marL="342900" indent="-342900">
                        <a:buAutoNum type="arabicPeriod"/>
                      </a:pPr>
                      <a:r>
                        <a:rPr lang="es-MX" sz="1600" dirty="0">
                          <a:latin typeface="Arial" panose="020B0604020202020204" pitchFamily="34" charset="0"/>
                          <a:cs typeface="Arial" panose="020B0604020202020204" pitchFamily="34" charset="0"/>
                        </a:rPr>
                        <a:t>Experto</a:t>
                      </a:r>
                    </a:p>
                  </a:txBody>
                  <a:tcPr marL="35380" marR="35380" marT="17690" marB="17690" anchor="ctr">
                    <a:solidFill>
                      <a:schemeClr val="accent6">
                        <a:lumMod val="20000"/>
                        <a:lumOff val="80000"/>
                      </a:schemeClr>
                    </a:solidFill>
                  </a:tcPr>
                </a:tc>
                <a:tc>
                  <a:txBody>
                    <a:bodyPr/>
                    <a:lstStyle/>
                    <a:p>
                      <a:pPr marL="285750" indent="-285750">
                        <a:buFontTx/>
                        <a:buChar char="-"/>
                      </a:pPr>
                      <a:r>
                        <a:rPr lang="es-MX" sz="1600" dirty="0">
                          <a:latin typeface="Arial" panose="020B0604020202020204" pitchFamily="34" charset="0"/>
                          <a:cs typeface="Arial" panose="020B0604020202020204" pitchFamily="34" charset="0"/>
                        </a:rPr>
                        <a:t>(Básico) Conoce principios de programación.</a:t>
                      </a:r>
                    </a:p>
                    <a:p>
                      <a:pPr marL="285750" indent="-285750">
                        <a:buFontTx/>
                        <a:buChar char="-"/>
                      </a:pPr>
                      <a:r>
                        <a:rPr lang="es-MX" sz="1600" dirty="0">
                          <a:latin typeface="Arial" panose="020B0604020202020204" pitchFamily="34" charset="0"/>
                          <a:cs typeface="Arial" panose="020B0604020202020204" pitchFamily="34" charset="0"/>
                        </a:rPr>
                        <a:t>(Practicante) Implementa tareas bajo supervisión.</a:t>
                      </a:r>
                    </a:p>
                    <a:p>
                      <a:pPr marL="285750" indent="-285750">
                        <a:buFontTx/>
                        <a:buChar char="-"/>
                      </a:pPr>
                      <a:r>
                        <a:rPr lang="es-MX" sz="1600" dirty="0">
                          <a:latin typeface="Arial" panose="020B0604020202020204" pitchFamily="34" charset="0"/>
                          <a:cs typeface="Arial" panose="020B0604020202020204" pitchFamily="34" charset="0"/>
                        </a:rPr>
                        <a:t>(Competente) Construye componentes completos y testeables.</a:t>
                      </a:r>
                    </a:p>
                    <a:p>
                      <a:pPr marL="285750" indent="-285750">
                        <a:buFontTx/>
                        <a:buChar char="-"/>
                      </a:pPr>
                      <a:r>
                        <a:rPr lang="es-MX" sz="1600" dirty="0">
                          <a:latin typeface="Arial" panose="020B0604020202020204" pitchFamily="34" charset="0"/>
                          <a:cs typeface="Arial" panose="020B0604020202020204" pitchFamily="34" charset="0"/>
                        </a:rPr>
                        <a:t>(Avanzado) Diseña arquitecturas y frameworks.</a:t>
                      </a:r>
                    </a:p>
                    <a:p>
                      <a:pPr marL="285750" indent="-285750">
                        <a:buFontTx/>
                        <a:buChar char="-"/>
                      </a:pPr>
                      <a:r>
                        <a:rPr lang="es-MX" sz="1600" dirty="0">
                          <a:latin typeface="Arial" panose="020B0604020202020204" pitchFamily="34" charset="0"/>
                          <a:cs typeface="Arial" panose="020B0604020202020204" pitchFamily="34" charset="0"/>
                        </a:rPr>
                        <a:t>(Experto) Define estándares de desarrollo a nivel organización.</a:t>
                      </a:r>
                    </a:p>
                  </a:txBody>
                  <a:tcPr marL="35380" marR="35380" marT="17690" marB="17690" anchor="ctr">
                    <a:solidFill>
                      <a:schemeClr val="accent6">
                        <a:lumMod val="20000"/>
                        <a:lumOff val="80000"/>
                      </a:schemeClr>
                    </a:solidFill>
                  </a:tcPr>
                </a:tc>
                <a:extLst>
                  <a:ext uri="{0D108BD9-81ED-4DB2-BD59-A6C34878D82A}">
                    <a16:rowId xmlns:a16="http://schemas.microsoft.com/office/drawing/2014/main" val="3650175848"/>
                  </a:ext>
                </a:extLst>
              </a:tr>
            </a:tbl>
          </a:graphicData>
        </a:graphic>
      </p:graphicFrame>
      <p:sp>
        <p:nvSpPr>
          <p:cNvPr id="4" name="CuadroTexto 3">
            <a:extLst>
              <a:ext uri="{FF2B5EF4-FFF2-40B4-BE49-F238E27FC236}">
                <a16:creationId xmlns:a16="http://schemas.microsoft.com/office/drawing/2014/main" id="{3112A131-C6CF-D530-8B55-D9A16E1EE8C7}"/>
              </a:ext>
            </a:extLst>
          </p:cNvPr>
          <p:cNvSpPr txBox="1"/>
          <p:nvPr/>
        </p:nvSpPr>
        <p:spPr>
          <a:xfrm>
            <a:off x="1006433" y="1109744"/>
            <a:ext cx="7876309" cy="584775"/>
          </a:xfrm>
          <a:prstGeom prst="rect">
            <a:avLst/>
          </a:prstGeom>
          <a:noFill/>
        </p:spPr>
        <p:txBody>
          <a:bodyPr wrap="square">
            <a:spAutoFit/>
          </a:bodyPr>
          <a:lstStyle/>
          <a:p>
            <a:r>
              <a:rPr lang="es-MX" sz="3200" b="1" dirty="0">
                <a:latin typeface="Arial" panose="020B0604020202020204" pitchFamily="34" charset="0"/>
                <a:cs typeface="Arial" panose="020B0604020202020204" pitchFamily="34" charset="0"/>
              </a:rPr>
              <a:t>Competencias, Niveles y Checkpoints</a:t>
            </a:r>
          </a:p>
        </p:txBody>
      </p:sp>
    </p:spTree>
    <p:extLst>
      <p:ext uri="{BB962C8B-B14F-4D97-AF65-F5344CB8AC3E}">
        <p14:creationId xmlns:p14="http://schemas.microsoft.com/office/powerpoint/2010/main" val="25875987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80C4-EF66-DF2E-5E75-1C30B557C260}"/>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A07A9236-5E82-945C-68EA-0A26703E3527}"/>
              </a:ext>
            </a:extLst>
          </p:cNvPr>
          <p:cNvGraphicFramePr>
            <a:graphicFrameLocks noGrp="1"/>
          </p:cNvGraphicFramePr>
          <p:nvPr/>
        </p:nvGraphicFramePr>
        <p:xfrm>
          <a:off x="1127276" y="1686599"/>
          <a:ext cx="9937447" cy="3484801"/>
        </p:xfrm>
        <a:graphic>
          <a:graphicData uri="http://schemas.openxmlformats.org/drawingml/2006/table">
            <a:tbl>
              <a:tblPr>
                <a:tableStyleId>{8EC20E35-A176-4012-BC5E-935CFFF8708E}</a:tableStyleId>
              </a:tblPr>
              <a:tblGrid>
                <a:gridCol w="2454502">
                  <a:extLst>
                    <a:ext uri="{9D8B030D-6E8A-4147-A177-3AD203B41FA5}">
                      <a16:colId xmlns:a16="http://schemas.microsoft.com/office/drawing/2014/main" val="2991947871"/>
                    </a:ext>
                  </a:extLst>
                </a:gridCol>
                <a:gridCol w="1698993">
                  <a:extLst>
                    <a:ext uri="{9D8B030D-6E8A-4147-A177-3AD203B41FA5}">
                      <a16:colId xmlns:a16="http://schemas.microsoft.com/office/drawing/2014/main" val="2153759101"/>
                    </a:ext>
                  </a:extLst>
                </a:gridCol>
                <a:gridCol w="5783952">
                  <a:extLst>
                    <a:ext uri="{9D8B030D-6E8A-4147-A177-3AD203B41FA5}">
                      <a16:colId xmlns:a16="http://schemas.microsoft.com/office/drawing/2014/main" val="3182849635"/>
                    </a:ext>
                  </a:extLst>
                </a:gridCol>
              </a:tblGrid>
              <a:tr h="284299">
                <a:tc>
                  <a:txBody>
                    <a:bodyPr/>
                    <a:lstStyle/>
                    <a:p>
                      <a:pPr>
                        <a:buNone/>
                      </a:pPr>
                      <a:r>
                        <a:rPr lang="es-MX" sz="1300" b="1">
                          <a:latin typeface="Arial" panose="020B0604020202020204" pitchFamily="34" charset="0"/>
                          <a:cs typeface="Arial" panose="020B0604020202020204" pitchFamily="34" charset="0"/>
                        </a:rPr>
                        <a:t>Competency</a:t>
                      </a:r>
                      <a:endParaRPr lang="es-MX" sz="130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tc>
                  <a:txBody>
                    <a:bodyPr/>
                    <a:lstStyle/>
                    <a:p>
                      <a:pPr>
                        <a:buNone/>
                      </a:pPr>
                      <a:r>
                        <a:rPr lang="es-MX" sz="1300" b="1">
                          <a:latin typeface="Arial" panose="020B0604020202020204" pitchFamily="34" charset="0"/>
                          <a:cs typeface="Arial" panose="020B0604020202020204" pitchFamily="34" charset="0"/>
                        </a:rPr>
                        <a:t>Niveles</a:t>
                      </a:r>
                      <a:endParaRPr lang="es-MX" sz="130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tc>
                  <a:txBody>
                    <a:bodyPr/>
                    <a:lstStyle/>
                    <a:p>
                      <a:pPr>
                        <a:buNone/>
                      </a:pPr>
                      <a:r>
                        <a:rPr lang="es-MX" sz="1300" b="1" dirty="0">
                          <a:latin typeface="Arial" panose="020B0604020202020204" pitchFamily="34" charset="0"/>
                          <a:cs typeface="Arial" panose="020B0604020202020204" pitchFamily="34" charset="0"/>
                        </a:rPr>
                        <a:t>Ejemplos de Checkpoints (criterios de verificación)</a:t>
                      </a:r>
                      <a:endParaRPr lang="es-MX" sz="1300" dirty="0">
                        <a:latin typeface="Arial" panose="020B0604020202020204" pitchFamily="34" charset="0"/>
                        <a:cs typeface="Arial" panose="020B0604020202020204" pitchFamily="34" charset="0"/>
                      </a:endParaRPr>
                    </a:p>
                  </a:txBody>
                  <a:tcPr marL="35380" marR="35380" marT="17690" marB="17690" anchor="ctr">
                    <a:solidFill>
                      <a:schemeClr val="accent1">
                        <a:lumMod val="20000"/>
                        <a:lumOff val="80000"/>
                      </a:schemeClr>
                    </a:solidFill>
                  </a:tcPr>
                </a:tc>
                <a:extLst>
                  <a:ext uri="{0D108BD9-81ED-4DB2-BD59-A6C34878D82A}">
                    <a16:rowId xmlns:a16="http://schemas.microsoft.com/office/drawing/2014/main" val="3128074295"/>
                  </a:ext>
                </a:extLst>
              </a:tr>
              <a:tr h="1087261">
                <a:tc>
                  <a:txBody>
                    <a:bodyPr/>
                    <a:lstStyle/>
                    <a:p>
                      <a:pPr>
                        <a:buNone/>
                      </a:pPr>
                      <a:r>
                        <a:rPr lang="es-MX" sz="1300" b="1" dirty="0">
                          <a:latin typeface="Arial" panose="020B0604020202020204" pitchFamily="34" charset="0"/>
                          <a:cs typeface="Arial" panose="020B0604020202020204" pitchFamily="34" charset="0"/>
                        </a:rPr>
                        <a:t>Análisis (Analysis)</a:t>
                      </a:r>
                      <a:endParaRPr lang="es-MX" sz="1300" dirty="0">
                        <a:latin typeface="Arial" panose="020B0604020202020204" pitchFamily="34" charset="0"/>
                        <a:cs typeface="Arial" panose="020B0604020202020204" pitchFamily="34" charset="0"/>
                      </a:endParaRPr>
                    </a:p>
                  </a:txBody>
                  <a:tcPr marL="35380" marR="35380" marT="17690" marB="17690" anchor="ctr"/>
                </a:tc>
                <a:tc>
                  <a:txBody>
                    <a:bodyPr/>
                    <a:lstStyle/>
                    <a:p>
                      <a:pPr marL="342900" indent="-342900">
                        <a:buAutoNum type="arabicPeriod"/>
                      </a:pPr>
                      <a:r>
                        <a:rPr lang="es-MX" sz="1300" dirty="0">
                          <a:latin typeface="Arial" panose="020B0604020202020204" pitchFamily="34" charset="0"/>
                          <a:cs typeface="Arial" panose="020B0604020202020204" pitchFamily="34" charset="0"/>
                        </a:rPr>
                        <a:t>Básico → </a:t>
                      </a:r>
                    </a:p>
                    <a:p>
                      <a:pPr marL="342900" indent="-342900">
                        <a:buAutoNum type="arabicPeriod"/>
                      </a:pPr>
                      <a:r>
                        <a:rPr lang="es-MX" sz="1300" dirty="0">
                          <a:latin typeface="Arial" panose="020B0604020202020204" pitchFamily="34" charset="0"/>
                          <a:cs typeface="Arial" panose="020B0604020202020204" pitchFamily="34" charset="0"/>
                        </a:rPr>
                        <a:t>Practicante → </a:t>
                      </a:r>
                    </a:p>
                    <a:p>
                      <a:pPr marL="342900" indent="-342900">
                        <a:buAutoNum type="arabicPeriod"/>
                      </a:pPr>
                      <a:r>
                        <a:rPr lang="es-MX" sz="1300" dirty="0">
                          <a:latin typeface="Arial" panose="020B0604020202020204" pitchFamily="34" charset="0"/>
                          <a:cs typeface="Arial" panose="020B0604020202020204" pitchFamily="34" charset="0"/>
                        </a:rPr>
                        <a:t>Competente → </a:t>
                      </a:r>
                    </a:p>
                    <a:p>
                      <a:pPr marL="342900" indent="-342900">
                        <a:buAutoNum type="arabicPeriod"/>
                      </a:pPr>
                      <a:r>
                        <a:rPr lang="es-MX" sz="1300" dirty="0">
                          <a:latin typeface="Arial" panose="020B0604020202020204" pitchFamily="34" charset="0"/>
                          <a:cs typeface="Arial" panose="020B0604020202020204" pitchFamily="34" charset="0"/>
                        </a:rPr>
                        <a:t>Avanzado → </a:t>
                      </a:r>
                    </a:p>
                    <a:p>
                      <a:pPr marL="342900" indent="-342900">
                        <a:buAutoNum type="arabicPeriod"/>
                      </a:pPr>
                      <a:r>
                        <a:rPr lang="es-MX" sz="1300" dirty="0">
                          <a:latin typeface="Arial" panose="020B0604020202020204" pitchFamily="34" charset="0"/>
                          <a:cs typeface="Arial" panose="020B0604020202020204" pitchFamily="34" charset="0"/>
                        </a:rPr>
                        <a:t>Experto</a:t>
                      </a:r>
                    </a:p>
                  </a:txBody>
                  <a:tcPr marL="35380" marR="35380" marT="17690" marB="1769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(Básico) Reconoce necesidades generales de usuarios.</a:t>
                      </a:r>
                    </a:p>
                    <a:p>
                      <a:pPr marL="285750" indent="-285750">
                        <a:buFontTx/>
                        <a:buChar char="-"/>
                      </a:pPr>
                      <a:r>
                        <a:rPr lang="es-MX" sz="1300" dirty="0">
                          <a:latin typeface="Arial" panose="020B0604020202020204" pitchFamily="34" charset="0"/>
                          <a:cs typeface="Arial" panose="020B0604020202020204" pitchFamily="34" charset="0"/>
                        </a:rPr>
                        <a:t>(Practicante) Puede redactar requisitos simples.</a:t>
                      </a:r>
                    </a:p>
                    <a:p>
                      <a:pPr marL="285750" indent="-285750">
                        <a:buFontTx/>
                        <a:buChar char="-"/>
                      </a:pPr>
                      <a:r>
                        <a:rPr lang="es-MX" sz="1300" dirty="0">
                          <a:latin typeface="Arial" panose="020B0604020202020204" pitchFamily="34" charset="0"/>
                          <a:cs typeface="Arial" panose="020B0604020202020204" pitchFamily="34" charset="0"/>
                        </a:rPr>
                        <a:t>(Competente) Modela casos de uso y requisitos completos.</a:t>
                      </a:r>
                    </a:p>
                    <a:p>
                      <a:pPr marL="285750" indent="-285750">
                        <a:buFontTx/>
                        <a:buChar char="-"/>
                      </a:pPr>
                      <a:r>
                        <a:rPr lang="es-MX" sz="1300" dirty="0">
                          <a:latin typeface="Arial" panose="020B0604020202020204" pitchFamily="34" charset="0"/>
                          <a:cs typeface="Arial" panose="020B0604020202020204" pitchFamily="34" charset="0"/>
                        </a:rPr>
                        <a:t>(Avanzado) Valida requisitos con stakeholders complejos.</a:t>
                      </a:r>
                    </a:p>
                    <a:p>
                      <a:pPr marL="285750" indent="-285750">
                        <a:buFontTx/>
                        <a:buChar char="-"/>
                      </a:pPr>
                      <a:r>
                        <a:rPr lang="es-MX" sz="1300" dirty="0">
                          <a:latin typeface="Arial" panose="020B0604020202020204" pitchFamily="34" charset="0"/>
                          <a:cs typeface="Arial" panose="020B0604020202020204" pitchFamily="34" charset="0"/>
                        </a:rPr>
                        <a:t>(Experto) Define marcos de análisis para múltiples proyectos.</a:t>
                      </a:r>
                    </a:p>
                  </a:txBody>
                  <a:tcPr marL="35380" marR="35380" marT="17690" marB="17690" anchor="ctr"/>
                </a:tc>
                <a:extLst>
                  <a:ext uri="{0D108BD9-81ED-4DB2-BD59-A6C34878D82A}">
                    <a16:rowId xmlns:a16="http://schemas.microsoft.com/office/drawing/2014/main" val="3173713183"/>
                  </a:ext>
                </a:extLst>
              </a:tr>
              <a:tr h="886521">
                <a:tc>
                  <a:txBody>
                    <a:bodyPr/>
                    <a:lstStyle/>
                    <a:p>
                      <a:pPr>
                        <a:buNone/>
                      </a:pPr>
                      <a:r>
                        <a:rPr lang="es-MX" sz="1300" b="1">
                          <a:latin typeface="Arial" panose="020B0604020202020204" pitchFamily="34" charset="0"/>
                          <a:cs typeface="Arial" panose="020B0604020202020204" pitchFamily="34" charset="0"/>
                        </a:rPr>
                        <a:t>Testing (Testing)</a:t>
                      </a:r>
                      <a:endParaRPr lang="es-MX" sz="1300">
                        <a:latin typeface="Arial" panose="020B0604020202020204" pitchFamily="34" charset="0"/>
                        <a:cs typeface="Arial" panose="020B0604020202020204" pitchFamily="34" charset="0"/>
                      </a:endParaRPr>
                    </a:p>
                  </a:txBody>
                  <a:tcPr marL="35380" marR="35380" marT="17690" marB="17690" anchor="ctr">
                    <a:solidFill>
                      <a:schemeClr val="accent6">
                        <a:lumMod val="20000"/>
                        <a:lumOff val="80000"/>
                      </a:schemeClr>
                    </a:solidFill>
                  </a:tcPr>
                </a:tc>
                <a:tc>
                  <a:txBody>
                    <a:bodyPr/>
                    <a:lstStyle/>
                    <a:p>
                      <a:pPr marL="342900" indent="-342900">
                        <a:buAutoNum type="arabicPeriod"/>
                      </a:pPr>
                      <a:r>
                        <a:rPr lang="es-MX" sz="1300" dirty="0">
                          <a:latin typeface="Arial" panose="020B0604020202020204" pitchFamily="34" charset="0"/>
                          <a:cs typeface="Arial" panose="020B0604020202020204" pitchFamily="34" charset="0"/>
                        </a:rPr>
                        <a:t>Básico → </a:t>
                      </a:r>
                    </a:p>
                    <a:p>
                      <a:pPr marL="342900" indent="-342900">
                        <a:buAutoNum type="arabicPeriod"/>
                      </a:pPr>
                      <a:r>
                        <a:rPr lang="es-MX" sz="1300" dirty="0">
                          <a:latin typeface="Arial" panose="020B0604020202020204" pitchFamily="34" charset="0"/>
                          <a:cs typeface="Arial" panose="020B0604020202020204" pitchFamily="34" charset="0"/>
                        </a:rPr>
                        <a:t>Practicante →</a:t>
                      </a:r>
                    </a:p>
                    <a:p>
                      <a:pPr marL="342900" indent="-342900">
                        <a:buAutoNum type="arabicPeriod"/>
                      </a:pPr>
                      <a:r>
                        <a:rPr lang="es-MX" sz="1300" dirty="0">
                          <a:latin typeface="Arial" panose="020B0604020202020204" pitchFamily="34" charset="0"/>
                          <a:cs typeface="Arial" panose="020B0604020202020204" pitchFamily="34" charset="0"/>
                        </a:rPr>
                        <a:t>Competente →</a:t>
                      </a:r>
                    </a:p>
                    <a:p>
                      <a:pPr marL="342900" indent="-342900">
                        <a:buAutoNum type="arabicPeriod"/>
                      </a:pPr>
                      <a:r>
                        <a:rPr lang="es-MX" sz="1300" dirty="0">
                          <a:latin typeface="Arial" panose="020B0604020202020204" pitchFamily="34" charset="0"/>
                          <a:cs typeface="Arial" panose="020B0604020202020204" pitchFamily="34" charset="0"/>
                        </a:rPr>
                        <a:t>Avanzado → </a:t>
                      </a:r>
                    </a:p>
                    <a:p>
                      <a:pPr marL="342900" indent="-342900">
                        <a:buAutoNum type="arabicPeriod"/>
                      </a:pPr>
                      <a:r>
                        <a:rPr lang="es-MX" sz="1300" dirty="0">
                          <a:latin typeface="Arial" panose="020B0604020202020204" pitchFamily="34" charset="0"/>
                          <a:cs typeface="Arial" panose="020B0604020202020204" pitchFamily="34" charset="0"/>
                        </a:rPr>
                        <a:t>Experto</a:t>
                      </a:r>
                    </a:p>
                  </a:txBody>
                  <a:tcPr marL="35380" marR="35380" marT="17690" marB="17690" anchor="ctr">
                    <a:solidFill>
                      <a:schemeClr val="accent6">
                        <a:lumMod val="20000"/>
                        <a:lumOff val="80000"/>
                      </a:schemeClr>
                    </a:solidFill>
                  </a:tcPr>
                </a:tc>
                <a:tc>
                  <a:txBody>
                    <a:bodyPr/>
                    <a:lstStyle/>
                    <a:p>
                      <a:pPr marL="285750" indent="-285750">
                        <a:buFontTx/>
                        <a:buChar char="-"/>
                      </a:pPr>
                      <a:r>
                        <a:rPr lang="es-MX" sz="1300" dirty="0">
                          <a:latin typeface="Arial" panose="020B0604020202020204" pitchFamily="34" charset="0"/>
                          <a:cs typeface="Arial" panose="020B0604020202020204" pitchFamily="34" charset="0"/>
                        </a:rPr>
                        <a:t>(Básico) Ejecuta pruebas siguiendo guías.</a:t>
                      </a:r>
                    </a:p>
                    <a:p>
                      <a:pPr marL="285750" indent="-285750">
                        <a:buFontTx/>
                        <a:buChar char="-"/>
                      </a:pPr>
                      <a:r>
                        <a:rPr lang="es-MX" sz="1300" dirty="0">
                          <a:latin typeface="Arial" panose="020B0604020202020204" pitchFamily="34" charset="0"/>
                          <a:cs typeface="Arial" panose="020B0604020202020204" pitchFamily="34" charset="0"/>
                        </a:rPr>
                        <a:t>(Practicante) Diseña casos de prueba simples.</a:t>
                      </a:r>
                    </a:p>
                    <a:p>
                      <a:pPr marL="285750" indent="-285750">
                        <a:buFontTx/>
                        <a:buChar char="-"/>
                      </a:pPr>
                      <a:r>
                        <a:rPr lang="es-MX" sz="1300" dirty="0">
                          <a:latin typeface="Arial" panose="020B0604020202020204" pitchFamily="34" charset="0"/>
                          <a:cs typeface="Arial" panose="020B0604020202020204" pitchFamily="34" charset="0"/>
                        </a:rPr>
                        <a:t>(Competente) Automatiza pruebas y evalúa cobertura.</a:t>
                      </a:r>
                    </a:p>
                    <a:p>
                      <a:pPr marL="285750" indent="-285750">
                        <a:buFontTx/>
                        <a:buChar char="-"/>
                      </a:pPr>
                      <a:r>
                        <a:rPr lang="es-MX" sz="1300" dirty="0">
                          <a:latin typeface="Arial" panose="020B0604020202020204" pitchFamily="34" charset="0"/>
                          <a:cs typeface="Arial" panose="020B0604020202020204" pitchFamily="34" charset="0"/>
                        </a:rPr>
                        <a:t>(Avanzado) Define estrategias de calidad para todo el proyecto.</a:t>
                      </a:r>
                    </a:p>
                    <a:p>
                      <a:pPr marL="285750" indent="-285750">
                        <a:buFontTx/>
                        <a:buChar char="-"/>
                      </a:pPr>
                      <a:r>
                        <a:rPr lang="es-MX" sz="1300" dirty="0">
                          <a:latin typeface="Arial" panose="020B0604020202020204" pitchFamily="34" charset="0"/>
                          <a:cs typeface="Arial" panose="020B0604020202020204" pitchFamily="34" charset="0"/>
                        </a:rPr>
                        <a:t>(Experto) Establece políticas de calidad a nivel empresa.</a:t>
                      </a:r>
                    </a:p>
                  </a:txBody>
                  <a:tcPr marL="35380" marR="35380" marT="17690" marB="17690" anchor="ctr">
                    <a:solidFill>
                      <a:schemeClr val="accent6">
                        <a:lumMod val="20000"/>
                        <a:lumOff val="80000"/>
                      </a:schemeClr>
                    </a:solidFill>
                  </a:tcPr>
                </a:tc>
                <a:extLst>
                  <a:ext uri="{0D108BD9-81ED-4DB2-BD59-A6C34878D82A}">
                    <a16:rowId xmlns:a16="http://schemas.microsoft.com/office/drawing/2014/main" val="3904182500"/>
                  </a:ext>
                </a:extLst>
              </a:tr>
              <a:tr h="1087261">
                <a:tc>
                  <a:txBody>
                    <a:bodyPr/>
                    <a:lstStyle/>
                    <a:p>
                      <a:pPr>
                        <a:buNone/>
                      </a:pPr>
                      <a:r>
                        <a:rPr lang="es-MX" sz="1300" b="1">
                          <a:latin typeface="Arial" panose="020B0604020202020204" pitchFamily="34" charset="0"/>
                          <a:cs typeface="Arial" panose="020B0604020202020204" pitchFamily="34" charset="0"/>
                        </a:rPr>
                        <a:t>Gestión (Management)</a:t>
                      </a:r>
                      <a:endParaRPr lang="es-MX" sz="1300">
                        <a:latin typeface="Arial" panose="020B0604020202020204" pitchFamily="34" charset="0"/>
                        <a:cs typeface="Arial" panose="020B0604020202020204" pitchFamily="34" charset="0"/>
                      </a:endParaRPr>
                    </a:p>
                  </a:txBody>
                  <a:tcPr marL="35380" marR="35380" marT="17690" marB="17690" anchor="ctr"/>
                </a:tc>
                <a:tc>
                  <a:txBody>
                    <a:bodyPr/>
                    <a:lstStyle/>
                    <a:p>
                      <a:pPr marL="342900" indent="-342900">
                        <a:buAutoNum type="arabicPeriod"/>
                      </a:pPr>
                      <a:r>
                        <a:rPr lang="es-MX" sz="1300" dirty="0">
                          <a:latin typeface="Arial" panose="020B0604020202020204" pitchFamily="34" charset="0"/>
                          <a:cs typeface="Arial" panose="020B0604020202020204" pitchFamily="34" charset="0"/>
                        </a:rPr>
                        <a:t>Básico →</a:t>
                      </a:r>
                    </a:p>
                    <a:p>
                      <a:pPr marL="342900" indent="-342900">
                        <a:buAutoNum type="arabicPeriod"/>
                      </a:pPr>
                      <a:r>
                        <a:rPr lang="es-MX" sz="1300" dirty="0">
                          <a:latin typeface="Arial" panose="020B0604020202020204" pitchFamily="34" charset="0"/>
                          <a:cs typeface="Arial" panose="020B0604020202020204" pitchFamily="34" charset="0"/>
                        </a:rPr>
                        <a:t>Practicante →</a:t>
                      </a:r>
                    </a:p>
                    <a:p>
                      <a:pPr marL="342900" indent="-342900">
                        <a:buAutoNum type="arabicPeriod"/>
                      </a:pPr>
                      <a:r>
                        <a:rPr lang="es-MX" sz="1300" dirty="0">
                          <a:latin typeface="Arial" panose="020B0604020202020204" pitchFamily="34" charset="0"/>
                          <a:cs typeface="Arial" panose="020B0604020202020204" pitchFamily="34" charset="0"/>
                        </a:rPr>
                        <a:t>Competente →</a:t>
                      </a:r>
                    </a:p>
                    <a:p>
                      <a:pPr marL="342900" indent="-342900">
                        <a:buAutoNum type="arabicPeriod"/>
                      </a:pPr>
                      <a:r>
                        <a:rPr lang="es-MX" sz="1300" dirty="0">
                          <a:latin typeface="Arial" panose="020B0604020202020204" pitchFamily="34" charset="0"/>
                          <a:cs typeface="Arial" panose="020B0604020202020204" pitchFamily="34" charset="0"/>
                        </a:rPr>
                        <a:t>Avanzado →</a:t>
                      </a:r>
                    </a:p>
                    <a:p>
                      <a:pPr marL="342900" indent="-342900">
                        <a:buAutoNum type="arabicPeriod"/>
                      </a:pPr>
                      <a:r>
                        <a:rPr lang="es-MX" sz="1300" dirty="0">
                          <a:latin typeface="Arial" panose="020B0604020202020204" pitchFamily="34" charset="0"/>
                          <a:cs typeface="Arial" panose="020B0604020202020204" pitchFamily="34" charset="0"/>
                        </a:rPr>
                        <a:t>Experto</a:t>
                      </a:r>
                    </a:p>
                  </a:txBody>
                  <a:tcPr marL="35380" marR="35380" marT="17690" marB="17690" anchor="ctr"/>
                </a:tc>
                <a:tc>
                  <a:txBody>
                    <a:bodyPr/>
                    <a:lstStyle/>
                    <a:p>
                      <a:pPr marL="285750" indent="-285750">
                        <a:buFontTx/>
                        <a:buChar char="-"/>
                      </a:pPr>
                      <a:r>
                        <a:rPr lang="es-MX" sz="1300" dirty="0">
                          <a:latin typeface="Arial" panose="020B0604020202020204" pitchFamily="34" charset="0"/>
                          <a:cs typeface="Arial" panose="020B0604020202020204" pitchFamily="34" charset="0"/>
                        </a:rPr>
                        <a:t>(Básico) Conoce conceptos básicos de planificación.</a:t>
                      </a:r>
                    </a:p>
                    <a:p>
                      <a:pPr marL="285750" indent="-285750">
                        <a:buFontTx/>
                        <a:buChar char="-"/>
                      </a:pPr>
                      <a:r>
                        <a:rPr lang="es-MX" sz="1300" dirty="0">
                          <a:latin typeface="Arial" panose="020B0604020202020204" pitchFamily="34" charset="0"/>
                          <a:cs typeface="Arial" panose="020B0604020202020204" pitchFamily="34" charset="0"/>
                        </a:rPr>
                        <a:t>(Practicante) Da seguimiento a tareas</a:t>
                      </a:r>
                    </a:p>
                    <a:p>
                      <a:pPr marL="285750" indent="-285750">
                        <a:buFontTx/>
                        <a:buChar char="-"/>
                      </a:pPr>
                      <a:r>
                        <a:rPr lang="es-MX" sz="1300" dirty="0">
                          <a:latin typeface="Arial" panose="020B0604020202020204" pitchFamily="34" charset="0"/>
                          <a:cs typeface="Arial" panose="020B0604020202020204" pitchFamily="34" charset="0"/>
                        </a:rPr>
                        <a:t> (Competente) Planifica iteraciones y controla recursos</a:t>
                      </a:r>
                    </a:p>
                    <a:p>
                      <a:pPr marL="285750" indent="-285750">
                        <a:buFontTx/>
                        <a:buChar char="-"/>
                      </a:pPr>
                      <a:r>
                        <a:rPr lang="es-MX" sz="1300" dirty="0">
                          <a:latin typeface="Arial" panose="020B0604020202020204" pitchFamily="34" charset="0"/>
                          <a:cs typeface="Arial" panose="020B0604020202020204" pitchFamily="34" charset="0"/>
                        </a:rPr>
                        <a:t> (Avanzado) Gestiona dependencias entre proyectos.</a:t>
                      </a:r>
                    </a:p>
                    <a:p>
                      <a:pPr marL="285750" indent="-285750">
                        <a:buFontTx/>
                        <a:buChar char="-"/>
                      </a:pPr>
                      <a:r>
                        <a:rPr lang="es-MX" sz="1300" dirty="0">
                          <a:latin typeface="Arial" panose="020B0604020202020204" pitchFamily="34" charset="0"/>
                          <a:cs typeface="Arial" panose="020B0604020202020204" pitchFamily="34" charset="0"/>
                        </a:rPr>
                        <a:t>(Experto) Diseña modelos de gobernanza para toda la organización.</a:t>
                      </a:r>
                    </a:p>
                  </a:txBody>
                  <a:tcPr marL="35380" marR="35380" marT="17690" marB="17690" anchor="ctr"/>
                </a:tc>
                <a:extLst>
                  <a:ext uri="{0D108BD9-81ED-4DB2-BD59-A6C34878D82A}">
                    <a16:rowId xmlns:a16="http://schemas.microsoft.com/office/drawing/2014/main" val="2375123850"/>
                  </a:ext>
                </a:extLst>
              </a:tr>
            </a:tbl>
          </a:graphicData>
        </a:graphic>
      </p:graphicFrame>
    </p:spTree>
    <p:extLst>
      <p:ext uri="{BB962C8B-B14F-4D97-AF65-F5344CB8AC3E}">
        <p14:creationId xmlns:p14="http://schemas.microsoft.com/office/powerpoint/2010/main" val="2025977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48A3A-8749-182C-6661-1870919FCDB9}"/>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E89B0383-3642-8775-6ED3-5051F6FA0FE3}"/>
              </a:ext>
            </a:extLst>
          </p:cNvPr>
          <p:cNvSpPr txBox="1"/>
          <p:nvPr/>
        </p:nvSpPr>
        <p:spPr>
          <a:xfrm>
            <a:off x="1391886" y="1174850"/>
            <a:ext cx="9794669" cy="4062651"/>
          </a:xfrm>
          <a:prstGeom prst="rect">
            <a:avLst/>
          </a:prstGeom>
          <a:noFill/>
        </p:spPr>
        <p:txBody>
          <a:bodyPr wrap="square">
            <a:spAutoFit/>
          </a:bodyPr>
          <a:lstStyle/>
          <a:p>
            <a:pPr>
              <a:buNone/>
            </a:pPr>
            <a:r>
              <a:rPr lang="es-MX" sz="2400" b="1" dirty="0">
                <a:latin typeface="Arial" panose="020B0604020202020204" pitchFamily="34" charset="0"/>
                <a:cs typeface="Arial" panose="020B0604020202020204" pitchFamily="34" charset="0"/>
              </a:rPr>
              <a:t>Aspectos clave de los Competencies</a:t>
            </a:r>
          </a:p>
          <a:p>
            <a:pPr>
              <a:buNone/>
            </a:pPr>
            <a:endParaRPr lang="es-MX" b="1" dirty="0">
              <a:latin typeface="Arial" panose="020B0604020202020204" pitchFamily="34" charset="0"/>
              <a:cs typeface="Arial" panose="020B0604020202020204" pitchFamily="34" charset="0"/>
            </a:endParaRPr>
          </a:p>
          <a:p>
            <a:pPr>
              <a:buFont typeface="+mj-lt"/>
              <a:buAutoNum type="arabicPeriod"/>
            </a:pPr>
            <a:r>
              <a:rPr lang="es-MX" b="1" dirty="0">
                <a:latin typeface="Arial" panose="020B0604020202020204" pitchFamily="34" charset="0"/>
                <a:cs typeface="Arial" panose="020B0604020202020204" pitchFamily="34" charset="0"/>
              </a:rPr>
              <a:t> Estructura en niveles</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Van desde </a:t>
            </a:r>
            <a:r>
              <a:rPr lang="es-MX" b="1" dirty="0">
                <a:latin typeface="Arial" panose="020B0604020202020204" pitchFamily="34" charset="0"/>
                <a:cs typeface="Arial" panose="020B0604020202020204" pitchFamily="34" charset="0"/>
              </a:rPr>
              <a:t>“Básico” (reconocimiento inicial)</a:t>
            </a:r>
            <a:r>
              <a:rPr lang="es-MX" dirty="0">
                <a:latin typeface="Arial" panose="020B0604020202020204" pitchFamily="34" charset="0"/>
                <a:cs typeface="Arial" panose="020B0604020202020204" pitchFamily="34" charset="0"/>
              </a:rPr>
              <a:t> hasta </a:t>
            </a:r>
            <a:r>
              <a:rPr lang="es-MX" b="1" dirty="0">
                <a:latin typeface="Arial" panose="020B0604020202020204" pitchFamily="34" charset="0"/>
                <a:cs typeface="Arial" panose="020B0604020202020204" pitchFamily="34" charset="0"/>
              </a:rPr>
              <a:t>“Experto” (influencia organizacional)</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No son jerárquicos estrictos, sino acumulativos (cada nivel incluye lo anterior).</a:t>
            </a:r>
          </a:p>
          <a:p>
            <a:pPr>
              <a:buFont typeface="+mj-lt"/>
              <a:buAutoNum type="arabicPeriod"/>
            </a:pPr>
            <a:r>
              <a:rPr lang="es-MX" b="1" dirty="0">
                <a:latin typeface="Arial" panose="020B0604020202020204" pitchFamily="34" charset="0"/>
                <a:cs typeface="Arial" panose="020B0604020202020204" pitchFamily="34" charset="0"/>
              </a:rPr>
              <a:t> Checkpoints</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Son </a:t>
            </a:r>
            <a:r>
              <a:rPr lang="es-MX" b="1" dirty="0">
                <a:latin typeface="Arial" panose="020B0604020202020204" pitchFamily="34" charset="0"/>
                <a:cs typeface="Arial" panose="020B0604020202020204" pitchFamily="34" charset="0"/>
              </a:rPr>
              <a:t>indicadores observables</a:t>
            </a:r>
            <a:r>
              <a:rPr lang="es-MX" dirty="0">
                <a:latin typeface="Arial" panose="020B0604020202020204" pitchFamily="34" charset="0"/>
                <a:cs typeface="Arial" panose="020B0604020202020204" pitchFamily="34" charset="0"/>
              </a:rPr>
              <a:t> de que una persona alcanzó un nivel.</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Pueden expresarse como </a:t>
            </a:r>
            <a:r>
              <a:rPr lang="es-MX" b="1" dirty="0">
                <a:latin typeface="Arial" panose="020B0604020202020204" pitchFamily="34" charset="0"/>
                <a:cs typeface="Arial" panose="020B0604020202020204" pitchFamily="34" charset="0"/>
              </a:rPr>
              <a:t>habilidades demostradas, resultados entregados, o comportamientos consistentes</a:t>
            </a:r>
            <a:r>
              <a:rPr lang="es-MX" dirty="0">
                <a:latin typeface="Arial" panose="020B0604020202020204" pitchFamily="34" charset="0"/>
                <a:cs typeface="Arial" panose="020B0604020202020204" pitchFamily="34" charset="0"/>
              </a:rPr>
              <a:t>.</a:t>
            </a:r>
          </a:p>
          <a:p>
            <a:pPr>
              <a:buFont typeface="+mj-lt"/>
              <a:buAutoNum type="arabicPeriod"/>
            </a:pPr>
            <a:r>
              <a:rPr lang="es-MX" b="1" dirty="0">
                <a:latin typeface="Arial" panose="020B0604020202020204" pitchFamily="34" charset="0"/>
                <a:cs typeface="Arial" panose="020B0604020202020204" pitchFamily="34" charset="0"/>
              </a:rPr>
              <a:t> Control y uso</a:t>
            </a:r>
            <a:endParaRPr lang="es-MX"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Sirven para identificar </a:t>
            </a:r>
            <a:r>
              <a:rPr lang="es-MX" b="1" dirty="0">
                <a:latin typeface="Arial" panose="020B0604020202020204" pitchFamily="34" charset="0"/>
                <a:cs typeface="Arial" panose="020B0604020202020204" pitchFamily="34" charset="0"/>
              </a:rPr>
              <a:t>brechas de habilidades</a:t>
            </a:r>
            <a:r>
              <a:rPr lang="es-MX" dirty="0">
                <a:latin typeface="Arial" panose="020B0604020202020204" pitchFamily="34" charset="0"/>
                <a:cs typeface="Arial" panose="020B0604020202020204" pitchFamily="34" charset="0"/>
              </a:rPr>
              <a:t> en el equipo.</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Ayudan a planear </a:t>
            </a:r>
            <a:r>
              <a:rPr lang="es-MX" b="1" dirty="0">
                <a:latin typeface="Arial" panose="020B0604020202020204" pitchFamily="34" charset="0"/>
                <a:cs typeface="Arial" panose="020B0604020202020204" pitchFamily="34" charset="0"/>
              </a:rPr>
              <a:t>capacitaciones, mentoring y distribución de roles</a:t>
            </a:r>
            <a:r>
              <a:rPr lang="es-MX"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s-MX" dirty="0">
                <a:latin typeface="Arial" panose="020B0604020202020204" pitchFamily="34" charset="0"/>
                <a:cs typeface="Arial" panose="020B0604020202020204" pitchFamily="34" charset="0"/>
              </a:rPr>
              <a:t>Pueden medirse en evaluaciones periódicas.</a:t>
            </a:r>
          </a:p>
        </p:txBody>
      </p:sp>
    </p:spTree>
    <p:extLst>
      <p:ext uri="{BB962C8B-B14F-4D97-AF65-F5344CB8AC3E}">
        <p14:creationId xmlns:p14="http://schemas.microsoft.com/office/powerpoint/2010/main" val="22054517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B39D9-41D6-D401-1AB8-449A6477433E}"/>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65D948D-99EE-358A-4D9D-3A19388E1457}"/>
              </a:ext>
            </a:extLst>
          </p:cNvPr>
          <p:cNvSpPr txBox="1"/>
          <p:nvPr/>
        </p:nvSpPr>
        <p:spPr>
          <a:xfrm>
            <a:off x="1802080" y="1620521"/>
            <a:ext cx="9206345" cy="1908215"/>
          </a:xfrm>
          <a:prstGeom prst="rect">
            <a:avLst/>
          </a:prstGeom>
          <a:noFill/>
        </p:spPr>
        <p:txBody>
          <a:bodyPr wrap="square">
            <a:spAutoFit/>
          </a:bodyPr>
          <a:lstStyle/>
          <a:p>
            <a:pPr>
              <a:buNone/>
            </a:pPr>
            <a:r>
              <a:rPr lang="es-MX" sz="3200" b="1" dirty="0">
                <a:latin typeface="Arial" panose="020B0604020202020204" pitchFamily="34" charset="0"/>
                <a:cs typeface="Arial" panose="020B0604020202020204" pitchFamily="34" charset="0"/>
              </a:rPr>
              <a:t>En resumen</a:t>
            </a:r>
            <a:r>
              <a:rPr lang="es-MX" sz="3200" dirty="0">
                <a:latin typeface="Arial" panose="020B0604020202020204" pitchFamily="34" charset="0"/>
                <a:cs typeface="Arial" panose="020B0604020202020204" pitchFamily="34" charset="0"/>
              </a:rPr>
              <a:t>:</a:t>
            </a:r>
          </a:p>
          <a:p>
            <a:pPr>
              <a:buNone/>
            </a:pPr>
            <a:endParaRPr lang="es-MX"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Mientras los </a:t>
            </a:r>
            <a:r>
              <a:rPr lang="es-MX" b="1" dirty="0">
                <a:latin typeface="Arial" panose="020B0604020202020204" pitchFamily="34" charset="0"/>
                <a:cs typeface="Arial" panose="020B0604020202020204" pitchFamily="34" charset="0"/>
              </a:rPr>
              <a:t>Alphas</a:t>
            </a:r>
            <a:r>
              <a:rPr lang="es-MX" dirty="0">
                <a:latin typeface="Arial" panose="020B0604020202020204" pitchFamily="34" charset="0"/>
                <a:cs typeface="Arial" panose="020B0604020202020204" pitchFamily="34" charset="0"/>
              </a:rPr>
              <a:t> se miden con </a:t>
            </a:r>
            <a:r>
              <a:rPr lang="es-MX" b="1" dirty="0">
                <a:latin typeface="Arial" panose="020B0604020202020204" pitchFamily="34" charset="0"/>
                <a:cs typeface="Arial" panose="020B0604020202020204" pitchFamily="34" charset="0"/>
              </a:rPr>
              <a:t>estados secuenciales</a:t>
            </a:r>
            <a:r>
              <a:rPr lang="es-MX"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los </a:t>
            </a:r>
            <a:r>
              <a:rPr lang="es-MX" b="1" dirty="0">
                <a:latin typeface="Arial" panose="020B0604020202020204" pitchFamily="34" charset="0"/>
                <a:cs typeface="Arial" panose="020B0604020202020204" pitchFamily="34" charset="0"/>
              </a:rPr>
              <a:t>Competencies</a:t>
            </a:r>
            <a:r>
              <a:rPr lang="es-MX" dirty="0">
                <a:latin typeface="Arial" panose="020B0604020202020204" pitchFamily="34" charset="0"/>
                <a:cs typeface="Arial" panose="020B0604020202020204" pitchFamily="34" charset="0"/>
              </a:rPr>
              <a:t> se miden con </a:t>
            </a:r>
            <a:r>
              <a:rPr lang="es-MX" b="1" dirty="0">
                <a:latin typeface="Arial" panose="020B0604020202020204" pitchFamily="34" charset="0"/>
                <a:cs typeface="Arial" panose="020B0604020202020204" pitchFamily="34" charset="0"/>
              </a:rPr>
              <a:t>niveles de madurez</a:t>
            </a:r>
            <a:r>
              <a:rPr lang="es-MX" dirty="0">
                <a:latin typeface="Arial" panose="020B0604020202020204" pitchFamily="34" charset="0"/>
                <a:cs typeface="Arial" panose="020B0604020202020204" pitchFamily="34" charset="0"/>
              </a:rPr>
              <a:t> validados por </a:t>
            </a:r>
            <a:r>
              <a:rPr lang="es-MX" b="1" dirty="0">
                <a:latin typeface="Arial" panose="020B0604020202020204" pitchFamily="34" charset="0"/>
                <a:cs typeface="Arial" panose="020B0604020202020204" pitchFamily="34" charset="0"/>
              </a:rPr>
              <a:t>checkpoints observables</a:t>
            </a:r>
            <a:r>
              <a:rPr lang="es-MX"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241219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1F5F7-5676-3037-2D55-CFE402E579F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4F319B75-B058-557C-D15A-A1E8228B2013}"/>
              </a:ext>
            </a:extLst>
          </p:cNvPr>
          <p:cNvSpPr txBox="1"/>
          <p:nvPr/>
        </p:nvSpPr>
        <p:spPr>
          <a:xfrm>
            <a:off x="983671" y="505122"/>
            <a:ext cx="10951030" cy="5847755"/>
          </a:xfrm>
          <a:prstGeom prst="rect">
            <a:avLst/>
          </a:prstGeom>
          <a:noFill/>
        </p:spPr>
        <p:txBody>
          <a:bodyPr wrap="square">
            <a:spAutoFit/>
          </a:bodyPr>
          <a:lstStyle/>
          <a:p>
            <a:pPr>
              <a:buNone/>
            </a:pPr>
            <a:r>
              <a:rPr lang="es-MX" sz="3200" b="1" dirty="0">
                <a:latin typeface="Arial" panose="020B0604020202020204" pitchFamily="34" charset="0"/>
                <a:cs typeface="Arial" panose="020B0604020202020204" pitchFamily="34" charset="0"/>
              </a:rPr>
              <a:t>ESPACIOS DE ACTIVIDADES</a:t>
            </a: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Definición</a:t>
            </a:r>
          </a:p>
          <a:p>
            <a:pPr>
              <a:buNone/>
            </a:pPr>
            <a:r>
              <a:rPr lang="es-MX" dirty="0">
                <a:latin typeface="Arial" panose="020B0604020202020204" pitchFamily="34" charset="0"/>
                <a:cs typeface="Arial" panose="020B0604020202020204" pitchFamily="34" charset="0"/>
              </a:rPr>
              <a:t>Son </a:t>
            </a:r>
            <a:r>
              <a:rPr lang="es-MX" b="1" dirty="0">
                <a:latin typeface="Arial" panose="020B0604020202020204" pitchFamily="34" charset="0"/>
                <a:cs typeface="Arial" panose="020B0604020202020204" pitchFamily="34" charset="0"/>
              </a:rPr>
              <a:t>ámbitos de trabajo genéricos y recurrentes</a:t>
            </a:r>
            <a:r>
              <a:rPr lang="es-MX" dirty="0">
                <a:latin typeface="Arial" panose="020B0604020202020204" pitchFamily="34" charset="0"/>
                <a:cs typeface="Arial" panose="020B0604020202020204" pitchFamily="34" charset="0"/>
              </a:rPr>
              <a:t> en todo desarrollo de software.</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No son actividades específicas, sino </a:t>
            </a:r>
            <a:r>
              <a:rPr lang="es-MX" b="1" dirty="0">
                <a:latin typeface="Arial" panose="020B0604020202020204" pitchFamily="34" charset="0"/>
                <a:cs typeface="Arial" panose="020B0604020202020204" pitchFamily="34" charset="0"/>
              </a:rPr>
              <a:t>categorías de actividades</a:t>
            </a:r>
            <a:r>
              <a:rPr lang="es-MX" dirty="0">
                <a:latin typeface="Arial" panose="020B0604020202020204" pitchFamily="34" charset="0"/>
                <a:cs typeface="Arial" panose="020B0604020202020204" pitchFamily="34" charset="0"/>
              </a:rPr>
              <a:t> que guían al equipo.</a:t>
            </a:r>
          </a:p>
          <a:p>
            <a:pPr marL="285750" indent="-285750">
              <a:buFont typeface="Arial" panose="020B0604020202020204" pitchFamily="34" charset="0"/>
              <a:buChar char="•"/>
            </a:pPr>
            <a:r>
              <a:rPr lang="es-MX" dirty="0">
                <a:latin typeface="Arial" panose="020B0604020202020204" pitchFamily="34" charset="0"/>
                <a:cs typeface="Arial" panose="020B0604020202020204" pitchFamily="34" charset="0"/>
              </a:rPr>
              <a:t>Cada organización o método puede definir sus </a:t>
            </a:r>
            <a:r>
              <a:rPr lang="es-MX" b="1" dirty="0">
                <a:latin typeface="Arial" panose="020B0604020202020204" pitchFamily="34" charset="0"/>
                <a:cs typeface="Arial" panose="020B0604020202020204" pitchFamily="34" charset="0"/>
              </a:rPr>
              <a:t>actividades concretas</a:t>
            </a:r>
            <a:r>
              <a:rPr lang="es-MX" dirty="0">
                <a:latin typeface="Arial" panose="020B0604020202020204" pitchFamily="34" charset="0"/>
                <a:cs typeface="Arial" panose="020B0604020202020204" pitchFamily="34" charset="0"/>
              </a:rPr>
              <a:t> dentro de estos espacios.</a:t>
            </a: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Ejemplos de Activity Spaces (Kernel ESSENCE)</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Explorar posibilidades</a:t>
            </a:r>
            <a:r>
              <a:rPr lang="es-MX" dirty="0">
                <a:latin typeface="Arial" panose="020B0604020202020204" pitchFamily="34" charset="0"/>
                <a:cs typeface="Arial" panose="020B0604020202020204" pitchFamily="34" charset="0"/>
              </a:rPr>
              <a:t> (qué problemas vale la pena resolver).</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Entender las necesidades</a:t>
            </a:r>
            <a:r>
              <a:rPr lang="es-MX" dirty="0">
                <a:latin typeface="Arial" panose="020B0604020202020204" pitchFamily="34" charset="0"/>
                <a:cs typeface="Arial" panose="020B0604020202020204" pitchFamily="34" charset="0"/>
              </a:rPr>
              <a:t> (recopilar, analizar requisitos).</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Formar el equipo</a:t>
            </a:r>
            <a:r>
              <a:rPr lang="es-MX" dirty="0">
                <a:latin typeface="Arial" panose="020B0604020202020204" pitchFamily="34" charset="0"/>
                <a:cs typeface="Arial" panose="020B0604020202020204" pitchFamily="34" charset="0"/>
              </a:rPr>
              <a:t> (reunir personas, roles, acuerdos).</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Hacer evolucionar la forma de trabajo</a:t>
            </a:r>
            <a:r>
              <a:rPr lang="es-MX" dirty="0">
                <a:latin typeface="Arial" panose="020B0604020202020204" pitchFamily="34" charset="0"/>
                <a:cs typeface="Arial" panose="020B0604020202020204" pitchFamily="34" charset="0"/>
              </a:rPr>
              <a:t> (ajustar procesos y prácticas).</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Implementar el sistema</a:t>
            </a:r>
            <a:r>
              <a:rPr lang="es-MX" dirty="0">
                <a:latin typeface="Arial" panose="020B0604020202020204" pitchFamily="34" charset="0"/>
                <a:cs typeface="Arial" panose="020B0604020202020204" pitchFamily="34" charset="0"/>
              </a:rPr>
              <a:t> (construcción de software).</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Evaluar el sistema</a:t>
            </a:r>
            <a:r>
              <a:rPr lang="es-MX" dirty="0">
                <a:latin typeface="Arial" panose="020B0604020202020204" pitchFamily="34" charset="0"/>
                <a:cs typeface="Arial" panose="020B0604020202020204" pitchFamily="34" charset="0"/>
              </a:rPr>
              <a:t> (pruebas, validación, feedback).</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Operar el sistema</a:t>
            </a:r>
            <a:r>
              <a:rPr lang="es-MX" dirty="0">
                <a:latin typeface="Arial" panose="020B0604020202020204" pitchFamily="34" charset="0"/>
                <a:cs typeface="Arial" panose="020B0604020202020204" pitchFamily="34" charset="0"/>
              </a:rPr>
              <a:t> (uso y soporte en producción).</a:t>
            </a:r>
          </a:p>
          <a:p>
            <a:pPr>
              <a:buNone/>
            </a:pPr>
            <a:endParaRPr lang="es-MX" b="1" dirty="0">
              <a:latin typeface="Arial" panose="020B0604020202020204" pitchFamily="34" charset="0"/>
              <a:cs typeface="Arial" panose="020B0604020202020204" pitchFamily="34" charset="0"/>
            </a:endParaRPr>
          </a:p>
          <a:p>
            <a:pPr>
              <a:buNone/>
            </a:pPr>
            <a:r>
              <a:rPr lang="es-MX" b="1" dirty="0">
                <a:latin typeface="Arial" panose="020B0604020202020204" pitchFamily="34" charset="0"/>
                <a:cs typeface="Arial" panose="020B0604020202020204" pitchFamily="34" charset="0"/>
              </a:rPr>
              <a:t>Controles</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Checklists de finalización:</a:t>
            </a:r>
            <a:r>
              <a:rPr lang="es-MX" dirty="0">
                <a:latin typeface="Arial" panose="020B0604020202020204" pitchFamily="34" charset="0"/>
                <a:cs typeface="Arial" panose="020B0604020202020204" pitchFamily="34" charset="0"/>
              </a:rPr>
              <a:t> aseguran que cada espacio ha sido suficientemente cubierto.</a:t>
            </a:r>
          </a:p>
          <a:p>
            <a:pPr marL="285750" indent="-285750">
              <a:buFont typeface="Arial" panose="020B0604020202020204" pitchFamily="34" charset="0"/>
              <a:buChar char="•"/>
            </a:pPr>
            <a:r>
              <a:rPr lang="es-MX" b="1" dirty="0">
                <a:latin typeface="Arial" panose="020B0604020202020204" pitchFamily="34" charset="0"/>
                <a:cs typeface="Arial" panose="020B0604020202020204" pitchFamily="34" charset="0"/>
              </a:rPr>
              <a:t>Prácticas enlazadas:</a:t>
            </a:r>
            <a:r>
              <a:rPr lang="es-MX" dirty="0">
                <a:latin typeface="Arial" panose="020B0604020202020204" pitchFamily="34" charset="0"/>
                <a:cs typeface="Arial" panose="020B0604020202020204" pitchFamily="34" charset="0"/>
              </a:rPr>
              <a:t> cada práctica (Scrum, TDD, CI/CD) se mapea dentro de uno o más Activity Spaces.</a:t>
            </a:r>
          </a:p>
        </p:txBody>
      </p:sp>
    </p:spTree>
    <p:extLst>
      <p:ext uri="{BB962C8B-B14F-4D97-AF65-F5344CB8AC3E}">
        <p14:creationId xmlns:p14="http://schemas.microsoft.com/office/powerpoint/2010/main" val="27742964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5A316-D0CF-6212-57A4-BE7B154EAEC0}"/>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5A09AA57-9409-850F-D075-3CCA29A3748E}"/>
              </a:ext>
            </a:extLst>
          </p:cNvPr>
          <p:cNvSpPr txBox="1"/>
          <p:nvPr/>
        </p:nvSpPr>
        <p:spPr>
          <a:xfrm>
            <a:off x="1362693" y="1106292"/>
            <a:ext cx="9621981" cy="3170099"/>
          </a:xfrm>
          <a:prstGeom prst="rect">
            <a:avLst/>
          </a:prstGeom>
          <a:noFill/>
        </p:spPr>
        <p:txBody>
          <a:bodyPr wrap="square">
            <a:spAutoFit/>
          </a:bodyPr>
          <a:lstStyle/>
          <a:p>
            <a:pPr>
              <a:buFont typeface="Arial" panose="020B0604020202020204" pitchFamily="34" charset="0"/>
              <a:buChar char="•"/>
            </a:pPr>
            <a:endParaRPr lang="es-MX" sz="4000" dirty="0">
              <a:latin typeface="Arial" panose="020B0604020202020204" pitchFamily="34" charset="0"/>
              <a:cs typeface="Arial" panose="020B0604020202020204" pitchFamily="34" charset="0"/>
            </a:endParaRPr>
          </a:p>
          <a:p>
            <a:pPr>
              <a:buNone/>
            </a:pPr>
            <a:r>
              <a:rPr lang="es-MX" sz="4000" dirty="0">
                <a:latin typeface="Arial" panose="020B0604020202020204" pitchFamily="34" charset="0"/>
                <a:cs typeface="Arial" panose="020B0604020202020204" pitchFamily="34" charset="0"/>
              </a:rPr>
              <a:t>Mientras los </a:t>
            </a:r>
            <a:r>
              <a:rPr lang="es-MX" sz="4000" b="1" dirty="0">
                <a:latin typeface="Arial" panose="020B0604020202020204" pitchFamily="34" charset="0"/>
                <a:cs typeface="Arial" panose="020B0604020202020204" pitchFamily="34" charset="0"/>
              </a:rPr>
              <a:t>Alphas</a:t>
            </a:r>
            <a:r>
              <a:rPr lang="es-MX" sz="4000" dirty="0">
                <a:latin typeface="Arial" panose="020B0604020202020204" pitchFamily="34" charset="0"/>
                <a:cs typeface="Arial" panose="020B0604020202020204" pitchFamily="34" charset="0"/>
              </a:rPr>
              <a:t> se centran en </a:t>
            </a:r>
            <a:r>
              <a:rPr lang="es-MX" sz="4000" b="1" dirty="0">
                <a:latin typeface="Arial" panose="020B0604020202020204" pitchFamily="34" charset="0"/>
                <a:cs typeface="Arial" panose="020B0604020202020204" pitchFamily="34" charset="0"/>
              </a:rPr>
              <a:t>qué debe evolucionar</a:t>
            </a:r>
            <a:r>
              <a:rPr lang="es-MX" sz="4000" dirty="0">
                <a:latin typeface="Arial" panose="020B0604020202020204" pitchFamily="34" charset="0"/>
                <a:cs typeface="Arial" panose="020B0604020202020204" pitchFamily="34" charset="0"/>
              </a:rPr>
              <a:t>, los </a:t>
            </a:r>
            <a:r>
              <a:rPr lang="es-MX" sz="4000" b="1" dirty="0">
                <a:latin typeface="Arial" panose="020B0604020202020204" pitchFamily="34" charset="0"/>
                <a:cs typeface="Arial" panose="020B0604020202020204" pitchFamily="34" charset="0"/>
              </a:rPr>
              <a:t>Activity Spaces</a:t>
            </a:r>
            <a:r>
              <a:rPr lang="es-MX" sz="4000" dirty="0">
                <a:latin typeface="Arial" panose="020B0604020202020204" pitchFamily="34" charset="0"/>
                <a:cs typeface="Arial" panose="020B0604020202020204" pitchFamily="34" charset="0"/>
              </a:rPr>
              <a:t> se centran en </a:t>
            </a:r>
            <a:r>
              <a:rPr lang="es-MX" sz="4000" b="1" dirty="0">
                <a:latin typeface="Arial" panose="020B0604020202020204" pitchFamily="34" charset="0"/>
                <a:cs typeface="Arial" panose="020B0604020202020204" pitchFamily="34" charset="0"/>
              </a:rPr>
              <a:t>qué se hace para que eso ocurra</a:t>
            </a:r>
            <a:r>
              <a:rPr lang="es-MX" sz="4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67325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BF31-A937-81AF-1CA0-5DFEC8E8A0B8}"/>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DD7C58AB-F18B-40AF-0B82-E84EC6CE9EDF}"/>
              </a:ext>
            </a:extLst>
          </p:cNvPr>
          <p:cNvGraphicFramePr>
            <a:graphicFrameLocks noGrp="1"/>
          </p:cNvGraphicFramePr>
          <p:nvPr>
            <p:extLst>
              <p:ext uri="{D42A27DB-BD31-4B8C-83A1-F6EECF244321}">
                <p14:modId xmlns:p14="http://schemas.microsoft.com/office/powerpoint/2010/main" val="1774372605"/>
              </p:ext>
            </p:extLst>
          </p:nvPr>
        </p:nvGraphicFramePr>
        <p:xfrm>
          <a:off x="750345" y="1497638"/>
          <a:ext cx="10905067" cy="4480240"/>
        </p:xfrm>
        <a:graphic>
          <a:graphicData uri="http://schemas.openxmlformats.org/drawingml/2006/table">
            <a:tbl>
              <a:tblPr/>
              <a:tblGrid>
                <a:gridCol w="2373724">
                  <a:extLst>
                    <a:ext uri="{9D8B030D-6E8A-4147-A177-3AD203B41FA5}">
                      <a16:colId xmlns:a16="http://schemas.microsoft.com/office/drawing/2014/main" val="2685569654"/>
                    </a:ext>
                  </a:extLst>
                </a:gridCol>
                <a:gridCol w="3124624">
                  <a:extLst>
                    <a:ext uri="{9D8B030D-6E8A-4147-A177-3AD203B41FA5}">
                      <a16:colId xmlns:a16="http://schemas.microsoft.com/office/drawing/2014/main" val="1902113417"/>
                    </a:ext>
                  </a:extLst>
                </a:gridCol>
                <a:gridCol w="3132426">
                  <a:extLst>
                    <a:ext uri="{9D8B030D-6E8A-4147-A177-3AD203B41FA5}">
                      <a16:colId xmlns:a16="http://schemas.microsoft.com/office/drawing/2014/main" val="503341879"/>
                    </a:ext>
                  </a:extLst>
                </a:gridCol>
                <a:gridCol w="2274293">
                  <a:extLst>
                    <a:ext uri="{9D8B030D-6E8A-4147-A177-3AD203B41FA5}">
                      <a16:colId xmlns:a16="http://schemas.microsoft.com/office/drawing/2014/main" val="468595949"/>
                    </a:ext>
                  </a:extLst>
                </a:gridCol>
              </a:tblGrid>
              <a:tr h="201027">
                <a:tc>
                  <a:txBody>
                    <a:bodyPr/>
                    <a:lstStyle/>
                    <a:p>
                      <a:pPr algn="l" fontAlgn="ctr">
                        <a:buNone/>
                      </a:pPr>
                      <a:r>
                        <a:rPr lang="es-MX" sz="1200" b="1" i="0" u="none" strike="noStrike">
                          <a:effectLst/>
                          <a:latin typeface="Arial" panose="020B0604020202020204" pitchFamily="34" charset="0"/>
                        </a:rPr>
                        <a:t>Área de Preocupación</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200" b="1" i="0" u="none" strike="noStrike" dirty="0">
                          <a:effectLst/>
                          <a:latin typeface="Arial" panose="020B0604020202020204" pitchFamily="34" charset="0"/>
                        </a:rPr>
                        <a:t>Activity Space (Espacio de Actividad)</a:t>
                      </a:r>
                      <a:endParaRPr lang="es-MX" sz="1200" b="0" i="0" u="none" strike="noStrike" dirty="0">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200" b="1" i="0" u="none" strike="noStrike">
                          <a:effectLst/>
                          <a:latin typeface="Arial" panose="020B0604020202020204" pitchFamily="34" charset="0"/>
                        </a:rPr>
                        <a:t>Descripción breve</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200" b="1" i="0" u="none" strike="noStrike" dirty="0">
                          <a:effectLst/>
                          <a:latin typeface="Arial" panose="020B0604020202020204" pitchFamily="34" charset="0"/>
                        </a:rPr>
                        <a:t>Alphas principales involucrados</a:t>
                      </a:r>
                      <a:endParaRPr lang="es-MX" sz="1200" b="0" i="0" u="none" strike="noStrike" dirty="0">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480815057"/>
                  </a:ext>
                </a:extLst>
              </a:tr>
              <a:tr h="338091">
                <a:tc>
                  <a:txBody>
                    <a:bodyPr/>
                    <a:lstStyle/>
                    <a:p>
                      <a:pPr algn="l" fontAlgn="ctr">
                        <a:buNone/>
                      </a:pP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Área del Cliente y Oportunidad</a:t>
                      </a:r>
                      <a:r>
                        <a:rPr lang="es-MX" sz="1200" b="0" i="0" u="none" strike="noStrike">
                          <a:effectLst/>
                          <a:latin typeface="Arial" panose="020B0604020202020204" pitchFamily="34" charset="0"/>
                        </a:rPr>
                        <a:t>(Customer Area of Concern)</a:t>
                      </a: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1. Explorar la oportunidad</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Explore Possibilities</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Identificar problemas o necesidades que pueden resolverse con software.</a:t>
                      </a: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Oportunidad</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Stakeholders</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85735767"/>
                  </a:ext>
                </a:extLst>
              </a:tr>
              <a:tr h="338091">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2. Comprender las necesidades de los stakeholders</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Understand Stakeholder Needs</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Analizar, priorizar y documentar las expectativas y preocupaciones.</a:t>
                      </a: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Stakeholders</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Requisitos</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3403370476"/>
                  </a:ext>
                </a:extLst>
              </a:tr>
              <a:tr h="201027">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3. Definir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Define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200" b="0" i="0" u="none" strike="noStrike">
                          <a:effectLst/>
                          <a:latin typeface="Arial" panose="020B0604020202020204" pitchFamily="34" charset="0"/>
                        </a:rPr>
                        <a:t>Establecer alcance, límites y características del sistema.</a:t>
                      </a:r>
                    </a:p>
                  </a:txBody>
                  <a:tcPr marL="45688" marR="45688" marT="22844" marB="22844" anchor="ctr">
                    <a:lnL>
                      <a:noFill/>
                    </a:lnL>
                    <a:lnR>
                      <a:noFill/>
                    </a:lnR>
                    <a:lnT>
                      <a:noFill/>
                    </a:lnT>
                    <a:lnB>
                      <a:noFill/>
                    </a:lnB>
                    <a:noFill/>
                  </a:tcPr>
                </a:tc>
                <a:tc>
                  <a:txBody>
                    <a:bodyPr/>
                    <a:lstStyle/>
                    <a:p>
                      <a:pPr algn="l" fontAlgn="ctr">
                        <a:buNone/>
                      </a:pPr>
                      <a:r>
                        <a:rPr lang="es-MX" sz="1200" b="1" i="0" u="none" strike="noStrike">
                          <a:effectLst/>
                          <a:latin typeface="Arial" panose="020B0604020202020204" pitchFamily="34" charset="0"/>
                        </a:rPr>
                        <a:t>Requisitos</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Sistema de Software</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671817172"/>
                  </a:ext>
                </a:extLst>
              </a:tr>
              <a:tr h="338091">
                <a:tc>
                  <a:txBody>
                    <a:bodyPr/>
                    <a:lstStyle/>
                    <a:p>
                      <a:pPr algn="l" fontAlgn="ctr">
                        <a:buNone/>
                      </a:pP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Área de la Solución</a:t>
                      </a:r>
                      <a:r>
                        <a:rPr lang="es-MX" sz="1200" b="0" i="0" u="none" strike="noStrike">
                          <a:effectLst/>
                          <a:latin typeface="Arial" panose="020B0604020202020204" pitchFamily="34" charset="0"/>
                        </a:rPr>
                        <a:t>(Solution Area of Concern)</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4. Implementar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Implement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dirty="0">
                          <a:effectLst/>
                          <a:latin typeface="Arial" panose="020B0604020202020204" pitchFamily="34" charset="0"/>
                        </a:rPr>
                        <a:t>Desarrollar componentes del software.</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Sistema de Software</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Trabajo</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6743695"/>
                  </a:ext>
                </a:extLst>
              </a:tr>
              <a:tr h="201027">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5. Integrar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Integrate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Ensamblar los componentes y validar su interoperabilidad.</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Sistema de Software</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Trabajo</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050884667"/>
                  </a:ext>
                </a:extLst>
              </a:tr>
              <a:tr h="338091">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6. Probar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Test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Validar que el sistema cumple requisitos funcionales y no funcionales.</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Sistema de Software</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Requisitos</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908488457"/>
                  </a:ext>
                </a:extLst>
              </a:tr>
              <a:tr h="201027">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7. Desplegar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Deploy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Entregar e instalar el software en su entorno objetivo.</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Sistema de Software</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Stakeholders</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505570663"/>
                  </a:ext>
                </a:extLst>
              </a:tr>
              <a:tr h="201027">
                <a:tc>
                  <a:txBody>
                    <a:bodyPr/>
                    <a:lstStyle/>
                    <a:p>
                      <a:pPr algn="l" fontAlgn="ctr">
                        <a:buNone/>
                      </a:pPr>
                      <a:endParaRPr lang="en-US"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8. Operar el sistema</a:t>
                      </a:r>
                      <a:r>
                        <a:rPr lang="es-MX" sz="1200" b="0" i="0" u="none" strike="noStrike">
                          <a:effectLst/>
                          <a:latin typeface="Arial" panose="020B0604020202020204" pitchFamily="34" charset="0"/>
                        </a:rPr>
                        <a:t> (</a:t>
                      </a:r>
                      <a:r>
                        <a:rPr lang="es-MX" sz="1200" b="0" i="1" u="none" strike="noStrike">
                          <a:effectLst/>
                          <a:latin typeface="Arial" panose="020B0604020202020204" pitchFamily="34" charset="0"/>
                        </a:rPr>
                        <a:t>Operate the System</a:t>
                      </a:r>
                      <a:r>
                        <a:rPr lang="es-MX" sz="1200" b="0" i="0" u="none" strike="noStrike">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Poner el software en uso real, monitorear rendimiento.</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a:effectLst/>
                          <a:latin typeface="Arial" panose="020B0604020202020204" pitchFamily="34" charset="0"/>
                        </a:rPr>
                        <a:t>Sistema de Software</a:t>
                      </a:r>
                      <a:r>
                        <a:rPr lang="es-MX" sz="1200" b="0" i="0" u="none" strike="noStrike">
                          <a:effectLst/>
                          <a:latin typeface="Arial" panose="020B0604020202020204" pitchFamily="34" charset="0"/>
                        </a:rPr>
                        <a:t>, </a:t>
                      </a:r>
                      <a:r>
                        <a:rPr lang="es-MX" sz="1200" b="1" i="0" u="none" strike="noStrike">
                          <a:effectLst/>
                          <a:latin typeface="Arial" panose="020B0604020202020204" pitchFamily="34" charset="0"/>
                        </a:rPr>
                        <a:t>Oportunidad</a:t>
                      </a:r>
                      <a:endParaRPr lang="es-MX" sz="12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4166783645"/>
                  </a:ext>
                </a:extLst>
              </a:tr>
              <a:tr h="338091">
                <a:tc>
                  <a:txBody>
                    <a:bodyPr/>
                    <a:lstStyle/>
                    <a:p>
                      <a:pPr algn="l" fontAlgn="ctr">
                        <a:buNone/>
                      </a:pPr>
                      <a:endParaRPr lang="en-US" sz="1200" b="0" i="0" u="none" strike="noStrike" dirty="0">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dirty="0">
                          <a:effectLst/>
                          <a:latin typeface="Arial" panose="020B0604020202020204" pitchFamily="34" charset="0"/>
                        </a:rPr>
                        <a:t>9. Dar soporte al sistema</a:t>
                      </a:r>
                      <a:r>
                        <a:rPr lang="es-MX" sz="1200" b="0" i="0" u="none" strike="noStrike" dirty="0">
                          <a:effectLst/>
                          <a:latin typeface="Arial" panose="020B0604020202020204" pitchFamily="34" charset="0"/>
                        </a:rPr>
                        <a:t> (</a:t>
                      </a:r>
                      <a:r>
                        <a:rPr lang="es-MX" sz="1200" b="0" i="1" u="none" strike="noStrike" dirty="0">
                          <a:effectLst/>
                          <a:latin typeface="Arial" panose="020B0604020202020204" pitchFamily="34" charset="0"/>
                        </a:rPr>
                        <a:t>Support the System</a:t>
                      </a:r>
                      <a:r>
                        <a:rPr lang="es-MX" sz="1200" b="0" i="0" u="none" strike="noStrike" dirty="0">
                          <a:effectLst/>
                          <a:latin typeface="Arial" panose="020B0604020202020204" pitchFamily="34" charset="0"/>
                        </a:rPr>
                        <a:t>)</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0" i="0" u="none" strike="noStrike">
                          <a:effectLst/>
                          <a:latin typeface="Arial" panose="020B0604020202020204" pitchFamily="34" charset="0"/>
                        </a:rPr>
                        <a:t>Mantener, actualizar y corregir el sistema en uso.</a:t>
                      </a:r>
                    </a:p>
                  </a:txBody>
                  <a:tcPr marL="45688" marR="45688" marT="22844" marB="22844" anchor="ctr">
                    <a:lnL>
                      <a:noFill/>
                    </a:lnL>
                    <a:lnR>
                      <a:noFill/>
                    </a:lnR>
                    <a:lnT>
                      <a:noFill/>
                    </a:lnT>
                    <a:lnB>
                      <a:noFill/>
                    </a:lnB>
                    <a:solidFill>
                      <a:schemeClr val="accent6">
                        <a:lumMod val="20000"/>
                        <a:lumOff val="80000"/>
                      </a:schemeClr>
                    </a:solidFill>
                  </a:tcPr>
                </a:tc>
                <a:tc>
                  <a:txBody>
                    <a:bodyPr/>
                    <a:lstStyle/>
                    <a:p>
                      <a:pPr algn="l" fontAlgn="ctr">
                        <a:buNone/>
                      </a:pPr>
                      <a:r>
                        <a:rPr lang="es-MX" sz="1200" b="1" i="0" u="none" strike="noStrike" dirty="0">
                          <a:effectLst/>
                          <a:latin typeface="Arial" panose="020B0604020202020204" pitchFamily="34" charset="0"/>
                        </a:rPr>
                        <a:t>Sistema de Software</a:t>
                      </a:r>
                      <a:r>
                        <a:rPr lang="es-MX" sz="1200" b="0" i="0" u="none" strike="noStrike" dirty="0">
                          <a:effectLst/>
                          <a:latin typeface="Arial" panose="020B0604020202020204" pitchFamily="34" charset="0"/>
                        </a:rPr>
                        <a:t>, </a:t>
                      </a:r>
                      <a:r>
                        <a:rPr lang="es-MX" sz="1200" b="1" i="0" u="none" strike="noStrike" dirty="0">
                          <a:effectLst/>
                          <a:latin typeface="Arial" panose="020B0604020202020204" pitchFamily="34" charset="0"/>
                        </a:rPr>
                        <a:t>Trabajo</a:t>
                      </a:r>
                      <a:r>
                        <a:rPr lang="es-MX" sz="1200" b="0" i="0" u="none" strike="noStrike" dirty="0">
                          <a:effectLst/>
                          <a:latin typeface="Arial" panose="020B0604020202020204" pitchFamily="34" charset="0"/>
                        </a:rPr>
                        <a:t>, </a:t>
                      </a:r>
                      <a:r>
                        <a:rPr lang="es-MX" sz="1200" b="1" i="0" u="none" strike="noStrike" dirty="0">
                          <a:effectLst/>
                          <a:latin typeface="Arial" panose="020B0604020202020204" pitchFamily="34" charset="0"/>
                        </a:rPr>
                        <a:t>Stakeholders</a:t>
                      </a:r>
                      <a:endParaRPr lang="es-MX" sz="1200" b="0" i="0" u="none" strike="noStrike" dirty="0">
                        <a:effectLst/>
                        <a:latin typeface="Arial" panose="020B0604020202020204" pitchFamily="34" charset="0"/>
                      </a:endParaRPr>
                    </a:p>
                  </a:txBody>
                  <a:tcPr marL="45688" marR="45688" marT="22844" marB="2284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883602305"/>
                  </a:ext>
                </a:extLst>
              </a:tr>
            </a:tbl>
          </a:graphicData>
        </a:graphic>
      </p:graphicFrame>
      <p:sp>
        <p:nvSpPr>
          <p:cNvPr id="3" name="CuadroTexto 2">
            <a:extLst>
              <a:ext uri="{FF2B5EF4-FFF2-40B4-BE49-F238E27FC236}">
                <a16:creationId xmlns:a16="http://schemas.microsoft.com/office/drawing/2014/main" id="{ACE9DBC5-5F70-F89D-FAF5-7CD2236E538E}"/>
              </a:ext>
            </a:extLst>
          </p:cNvPr>
          <p:cNvSpPr txBox="1"/>
          <p:nvPr/>
        </p:nvSpPr>
        <p:spPr>
          <a:xfrm>
            <a:off x="750345" y="880122"/>
            <a:ext cx="10905067" cy="400110"/>
          </a:xfrm>
          <a:prstGeom prst="rect">
            <a:avLst/>
          </a:prstGeom>
          <a:noFill/>
        </p:spPr>
        <p:txBody>
          <a:bodyPr wrap="square">
            <a:spAutoFit/>
          </a:bodyPr>
          <a:lstStyle/>
          <a:p>
            <a:r>
              <a:rPr lang="es-MX" sz="2000" b="1" dirty="0">
                <a:latin typeface="Arial" panose="020B0604020202020204" pitchFamily="34" charset="0"/>
                <a:cs typeface="Arial" panose="020B0604020202020204" pitchFamily="34" charset="0"/>
              </a:rPr>
              <a:t>Matriz de ESPACIOS DE ACTIVIDADESy su Relación con los ALPHAS (ESSENCE Kernel)</a:t>
            </a:r>
          </a:p>
        </p:txBody>
      </p:sp>
    </p:spTree>
    <p:extLst>
      <p:ext uri="{BB962C8B-B14F-4D97-AF65-F5344CB8AC3E}">
        <p14:creationId xmlns:p14="http://schemas.microsoft.com/office/powerpoint/2010/main" val="27859953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4DD09A-9A41-AAD8-5ECD-2C59E64A79F5}"/>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6B5131AE-3403-1F13-CACF-6A35584DE449}"/>
              </a:ext>
            </a:extLst>
          </p:cNvPr>
          <p:cNvGraphicFramePr>
            <a:graphicFrameLocks noGrp="1"/>
          </p:cNvGraphicFramePr>
          <p:nvPr>
            <p:extLst>
              <p:ext uri="{D42A27DB-BD31-4B8C-83A1-F6EECF244321}">
                <p14:modId xmlns:p14="http://schemas.microsoft.com/office/powerpoint/2010/main" val="2760719459"/>
              </p:ext>
            </p:extLst>
          </p:nvPr>
        </p:nvGraphicFramePr>
        <p:xfrm>
          <a:off x="902525" y="653664"/>
          <a:ext cx="10414659" cy="3520216"/>
        </p:xfrm>
        <a:graphic>
          <a:graphicData uri="http://schemas.openxmlformats.org/drawingml/2006/table">
            <a:tbl>
              <a:tblPr/>
              <a:tblGrid>
                <a:gridCol w="2266976">
                  <a:extLst>
                    <a:ext uri="{9D8B030D-6E8A-4147-A177-3AD203B41FA5}">
                      <a16:colId xmlns:a16="http://schemas.microsoft.com/office/drawing/2014/main" val="2685569654"/>
                    </a:ext>
                  </a:extLst>
                </a:gridCol>
                <a:gridCol w="2984108">
                  <a:extLst>
                    <a:ext uri="{9D8B030D-6E8A-4147-A177-3AD203B41FA5}">
                      <a16:colId xmlns:a16="http://schemas.microsoft.com/office/drawing/2014/main" val="1902113417"/>
                    </a:ext>
                  </a:extLst>
                </a:gridCol>
                <a:gridCol w="2991559">
                  <a:extLst>
                    <a:ext uri="{9D8B030D-6E8A-4147-A177-3AD203B41FA5}">
                      <a16:colId xmlns:a16="http://schemas.microsoft.com/office/drawing/2014/main" val="503341879"/>
                    </a:ext>
                  </a:extLst>
                </a:gridCol>
                <a:gridCol w="2172016">
                  <a:extLst>
                    <a:ext uri="{9D8B030D-6E8A-4147-A177-3AD203B41FA5}">
                      <a16:colId xmlns:a16="http://schemas.microsoft.com/office/drawing/2014/main" val="468595949"/>
                    </a:ext>
                  </a:extLst>
                </a:gridCol>
              </a:tblGrid>
              <a:tr h="201027">
                <a:tc>
                  <a:txBody>
                    <a:bodyPr/>
                    <a:lstStyle/>
                    <a:p>
                      <a:pPr algn="l" fontAlgn="ctr">
                        <a:buNone/>
                      </a:pPr>
                      <a:r>
                        <a:rPr lang="es-MX" sz="1400" b="1" i="0" u="none" strike="noStrike">
                          <a:effectLst/>
                          <a:latin typeface="Arial" panose="020B0604020202020204" pitchFamily="34" charset="0"/>
                        </a:rPr>
                        <a:t>Área de Preocupación</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effectLst/>
                          <a:latin typeface="Arial" panose="020B0604020202020204" pitchFamily="34" charset="0"/>
                        </a:rPr>
                        <a:t>Activity Space (Espacio de Actividad)</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a:effectLst/>
                          <a:latin typeface="Arial" panose="020B0604020202020204" pitchFamily="34" charset="0"/>
                        </a:rPr>
                        <a:t>Descripción breve</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tc>
                  <a:txBody>
                    <a:bodyPr/>
                    <a:lstStyle/>
                    <a:p>
                      <a:pPr algn="l" fontAlgn="ctr">
                        <a:buNone/>
                      </a:pPr>
                      <a:r>
                        <a:rPr lang="es-MX" sz="1400" b="1" i="0" u="none" strike="noStrike" dirty="0">
                          <a:effectLst/>
                          <a:latin typeface="Arial" panose="020B0604020202020204" pitchFamily="34" charset="0"/>
                        </a:rPr>
                        <a:t>Alphas principales involucrados</a:t>
                      </a:r>
                      <a:endParaRPr lang="es-MX" sz="1400" b="0" i="0" u="none" strike="noStrike" dirty="0">
                        <a:effectLst/>
                        <a:latin typeface="Arial" panose="020B0604020202020204" pitchFamily="34" charset="0"/>
                      </a:endParaRPr>
                    </a:p>
                  </a:txBody>
                  <a:tcPr marL="45688" marR="45688" marT="22844" marB="22844"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1480815057"/>
                  </a:ext>
                </a:extLst>
              </a:tr>
              <a:tr h="338091">
                <a:tc>
                  <a:txBody>
                    <a:bodyPr/>
                    <a:lstStyle/>
                    <a:p>
                      <a:pPr algn="l" fontAlgn="ctr">
                        <a:buNone/>
                      </a:pPr>
                      <a:r>
                        <a:rPr lang="es-MX" sz="1400" b="0" i="0" u="none" strike="noStrike">
                          <a:effectLst/>
                          <a:latin typeface="Arial" panose="020B0604020202020204" pitchFamily="34" charset="0"/>
                        </a:rPr>
                        <a:t>🟣 </a:t>
                      </a:r>
                      <a:r>
                        <a:rPr lang="es-MX" sz="1400" b="1" i="0" u="none" strike="noStrike">
                          <a:effectLst/>
                          <a:latin typeface="Arial" panose="020B0604020202020204" pitchFamily="34" charset="0"/>
                        </a:rPr>
                        <a:t>Área del Equipo</a:t>
                      </a:r>
                      <a:r>
                        <a:rPr lang="es-MX" sz="1400" b="0" i="0" u="none" strike="noStrike">
                          <a:effectLst/>
                          <a:latin typeface="Arial" panose="020B0604020202020204" pitchFamily="34" charset="0"/>
                        </a:rPr>
                        <a:t>(Endeavor Area of Concern)</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10. Preparar para el trabajo</a:t>
                      </a:r>
                      <a:r>
                        <a:rPr lang="es-MX" sz="1400" b="0" i="0" u="none" strike="noStrike">
                          <a:effectLst/>
                          <a:latin typeface="Arial" panose="020B0604020202020204" pitchFamily="34" charset="0"/>
                        </a:rPr>
                        <a:t> (</a:t>
                      </a:r>
                      <a:r>
                        <a:rPr lang="es-MX" sz="1400" b="0" i="1" u="none" strike="noStrike">
                          <a:effectLst/>
                          <a:latin typeface="Arial" panose="020B0604020202020204" pitchFamily="34" charset="0"/>
                        </a:rPr>
                        <a:t>Prepare to Do the Work</a:t>
                      </a:r>
                      <a:r>
                        <a:rPr lang="es-MX" sz="14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rPr>
                        <a:t>Planificar actividades, definir objetivos y preparar recursos.</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dirty="0">
                          <a:effectLst/>
                          <a:latin typeface="Arial" panose="020B0604020202020204" pitchFamily="34" charset="0"/>
                        </a:rPr>
                        <a:t>Trabajo</a:t>
                      </a:r>
                      <a:r>
                        <a:rPr lang="es-MX" sz="1400" b="0" i="0" u="none" strike="noStrike" dirty="0">
                          <a:effectLst/>
                          <a:latin typeface="Arial" panose="020B0604020202020204" pitchFamily="34" charset="0"/>
                        </a:rPr>
                        <a:t>, </a:t>
                      </a:r>
                      <a:r>
                        <a:rPr lang="es-MX" sz="1400" b="1" i="0" u="none" strike="noStrike" dirty="0">
                          <a:effectLst/>
                          <a:latin typeface="Arial" panose="020B0604020202020204" pitchFamily="34" charset="0"/>
                        </a:rPr>
                        <a:t>Forma de trabajo</a:t>
                      </a:r>
                      <a:r>
                        <a:rPr lang="es-MX" sz="1400" b="0" i="0" u="none" strike="noStrike" dirty="0">
                          <a:effectLst/>
                          <a:latin typeface="Arial" panose="020B0604020202020204" pitchFamily="34" charset="0"/>
                        </a:rPr>
                        <a:t>, </a:t>
                      </a:r>
                      <a:r>
                        <a:rPr lang="es-MX" sz="1400" b="1" i="0" u="none" strike="noStrike" dirty="0">
                          <a:effectLst/>
                          <a:latin typeface="Arial" panose="020B0604020202020204" pitchFamily="34" charset="0"/>
                        </a:rPr>
                        <a:t>Equipo</a:t>
                      </a:r>
                      <a:endParaRPr lang="es-MX" sz="1400" b="0" i="0" u="none" strike="noStrike" dirty="0">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3342131355"/>
                  </a:ext>
                </a:extLst>
              </a:tr>
              <a:tr h="201027">
                <a:tc>
                  <a:txBody>
                    <a:bodyPr/>
                    <a:lstStyle/>
                    <a:p>
                      <a:pPr algn="l" fontAlgn="ctr">
                        <a:buNone/>
                      </a:pPr>
                      <a:endParaRPr lang="en-US"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11. Coordinar las actividades</a:t>
                      </a:r>
                      <a:r>
                        <a:rPr lang="es-MX" sz="1400" b="0" i="0" u="none" strike="noStrike">
                          <a:effectLst/>
                          <a:latin typeface="Arial" panose="020B0604020202020204" pitchFamily="34" charset="0"/>
                        </a:rPr>
                        <a:t> (</a:t>
                      </a:r>
                      <a:r>
                        <a:rPr lang="es-MX" sz="1400" b="0" i="1" u="none" strike="noStrike">
                          <a:effectLst/>
                          <a:latin typeface="Arial" panose="020B0604020202020204" pitchFamily="34" charset="0"/>
                        </a:rPr>
                        <a:t>Coordinate Activity</a:t>
                      </a:r>
                      <a:r>
                        <a:rPr lang="es-MX" sz="14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rPr>
                        <a:t>Alinear esfuerzos, gestionar dependencias y comunicación.</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Trabajo</a:t>
                      </a:r>
                      <a:r>
                        <a:rPr lang="es-MX" sz="1400" b="0" i="0" u="none" strike="noStrike">
                          <a:effectLst/>
                          <a:latin typeface="Arial" panose="020B0604020202020204" pitchFamily="34" charset="0"/>
                        </a:rPr>
                        <a:t>, </a:t>
                      </a:r>
                      <a:r>
                        <a:rPr lang="es-MX" sz="1400" b="1" i="0" u="none" strike="noStrike">
                          <a:effectLst/>
                          <a:latin typeface="Arial" panose="020B0604020202020204" pitchFamily="34" charset="0"/>
                        </a:rPr>
                        <a:t>Equipo</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1239256126"/>
                  </a:ext>
                </a:extLst>
              </a:tr>
              <a:tr h="338091">
                <a:tc>
                  <a:txBody>
                    <a:bodyPr/>
                    <a:lstStyle/>
                    <a:p>
                      <a:pPr algn="l" fontAlgn="ctr">
                        <a:buNone/>
                      </a:pPr>
                      <a:endParaRPr lang="en-US"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12. Apoyar al equipo</a:t>
                      </a:r>
                      <a:r>
                        <a:rPr lang="es-MX" sz="1400" b="0" i="0" u="none" strike="noStrike">
                          <a:effectLst/>
                          <a:latin typeface="Arial" panose="020B0604020202020204" pitchFamily="34" charset="0"/>
                        </a:rPr>
                        <a:t> (</a:t>
                      </a:r>
                      <a:r>
                        <a:rPr lang="es-MX" sz="1400" b="0" i="1" u="none" strike="noStrike">
                          <a:effectLst/>
                          <a:latin typeface="Arial" panose="020B0604020202020204" pitchFamily="34" charset="0"/>
                        </a:rPr>
                        <a:t>Support the Team</a:t>
                      </a:r>
                      <a:r>
                        <a:rPr lang="es-MX" sz="14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rPr>
                        <a:t>Facilitar recursos, liderazgo, motivación y soporte organizacional.</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Equipo</a:t>
                      </a:r>
                      <a:r>
                        <a:rPr lang="es-MX" sz="1400" b="0" i="0" u="none" strike="noStrike">
                          <a:effectLst/>
                          <a:latin typeface="Arial" panose="020B0604020202020204" pitchFamily="34" charset="0"/>
                        </a:rPr>
                        <a:t>, </a:t>
                      </a:r>
                      <a:r>
                        <a:rPr lang="es-MX" sz="1400" b="1" i="0" u="none" strike="noStrike">
                          <a:effectLst/>
                          <a:latin typeface="Arial" panose="020B0604020202020204" pitchFamily="34" charset="0"/>
                        </a:rPr>
                        <a:t>Forma de trabajo</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304254108"/>
                  </a:ext>
                </a:extLst>
              </a:tr>
              <a:tr h="338091">
                <a:tc>
                  <a:txBody>
                    <a:bodyPr/>
                    <a:lstStyle/>
                    <a:p>
                      <a:pPr algn="l" fontAlgn="ctr">
                        <a:buNone/>
                      </a:pPr>
                      <a:endParaRPr lang="en-US"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13. Evaluar el progreso</a:t>
                      </a:r>
                      <a:r>
                        <a:rPr lang="es-MX" sz="1400" b="0" i="0" u="none" strike="noStrike">
                          <a:effectLst/>
                          <a:latin typeface="Arial" panose="020B0604020202020204" pitchFamily="34" charset="0"/>
                        </a:rPr>
                        <a:t> (</a:t>
                      </a:r>
                      <a:r>
                        <a:rPr lang="es-MX" sz="1400" b="0" i="1" u="none" strike="noStrike">
                          <a:effectLst/>
                          <a:latin typeface="Arial" panose="020B0604020202020204" pitchFamily="34" charset="0"/>
                        </a:rPr>
                        <a:t>Assess Progress</a:t>
                      </a:r>
                      <a:r>
                        <a:rPr lang="es-MX" sz="14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rPr>
                        <a:t>Monitorear avances de los Alphas y calidad de resultados.</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Trabajo</a:t>
                      </a:r>
                      <a:r>
                        <a:rPr lang="es-MX" sz="1400" b="0" i="0" u="none" strike="noStrike">
                          <a:effectLst/>
                          <a:latin typeface="Arial" panose="020B0604020202020204" pitchFamily="34" charset="0"/>
                        </a:rPr>
                        <a:t>, </a:t>
                      </a:r>
                      <a:r>
                        <a:rPr lang="es-MX" sz="1400" b="1" i="0" u="none" strike="noStrike">
                          <a:effectLst/>
                          <a:latin typeface="Arial" panose="020B0604020202020204" pitchFamily="34" charset="0"/>
                        </a:rPr>
                        <a:t>Sistema de Software</a:t>
                      </a:r>
                      <a:r>
                        <a:rPr lang="es-MX" sz="1400" b="0" i="0" u="none" strike="noStrike">
                          <a:effectLst/>
                          <a:latin typeface="Arial" panose="020B0604020202020204" pitchFamily="34" charset="0"/>
                        </a:rPr>
                        <a:t>, </a:t>
                      </a:r>
                      <a:r>
                        <a:rPr lang="es-MX" sz="1400" b="1" i="0" u="none" strike="noStrike">
                          <a:effectLst/>
                          <a:latin typeface="Arial" panose="020B0604020202020204" pitchFamily="34" charset="0"/>
                        </a:rPr>
                        <a:t>Requisitos</a:t>
                      </a:r>
                      <a:endParaRPr lang="es-MX"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4171215566"/>
                  </a:ext>
                </a:extLst>
              </a:tr>
              <a:tr h="338091">
                <a:tc>
                  <a:txBody>
                    <a:bodyPr/>
                    <a:lstStyle/>
                    <a:p>
                      <a:pPr algn="l" fontAlgn="ctr">
                        <a:buNone/>
                      </a:pPr>
                      <a:endParaRPr lang="en-US"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400" b="1" i="0" u="none" strike="noStrike">
                          <a:effectLst/>
                          <a:latin typeface="Arial" panose="020B0604020202020204" pitchFamily="34" charset="0"/>
                        </a:rPr>
                        <a:t>14. Evaluar la forma de trabajo</a:t>
                      </a:r>
                      <a:r>
                        <a:rPr lang="es-MX" sz="1400" b="0" i="0" u="none" strike="noStrike">
                          <a:effectLst/>
                          <a:latin typeface="Arial" panose="020B0604020202020204" pitchFamily="34" charset="0"/>
                        </a:rPr>
                        <a:t> (</a:t>
                      </a:r>
                      <a:r>
                        <a:rPr lang="es-MX" sz="1400" b="0" i="1" u="none" strike="noStrike">
                          <a:effectLst/>
                          <a:latin typeface="Arial" panose="020B0604020202020204" pitchFamily="34" charset="0"/>
                        </a:rPr>
                        <a:t>Assess the Way of Working</a:t>
                      </a:r>
                      <a:r>
                        <a:rPr lang="es-MX" sz="1400" b="0" i="0" u="none" strike="noStrike">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a:effectLst/>
                          <a:latin typeface="Arial" panose="020B0604020202020204" pitchFamily="34" charset="0"/>
                        </a:rPr>
                        <a:t>Reflexionar sobre prácticas usadas, detectar mejoras.</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dirty="0">
                          <a:effectLst/>
                          <a:latin typeface="Arial" panose="020B0604020202020204" pitchFamily="34" charset="0"/>
                        </a:rPr>
                        <a:t>Forma de trabajo</a:t>
                      </a:r>
                      <a:r>
                        <a:rPr lang="es-MX" sz="1400" b="0" i="0" u="none" strike="noStrike" dirty="0">
                          <a:effectLst/>
                          <a:latin typeface="Arial" panose="020B0604020202020204" pitchFamily="34" charset="0"/>
                        </a:rPr>
                        <a:t>, </a:t>
                      </a:r>
                      <a:r>
                        <a:rPr lang="es-MX" sz="1400" b="1" i="0" u="none" strike="noStrike" dirty="0">
                          <a:effectLst/>
                          <a:latin typeface="Arial" panose="020B0604020202020204" pitchFamily="34" charset="0"/>
                        </a:rPr>
                        <a:t>Equipo</a:t>
                      </a:r>
                      <a:endParaRPr lang="es-MX" sz="1400" b="0" i="0" u="none" strike="noStrike" dirty="0">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97909616"/>
                  </a:ext>
                </a:extLst>
              </a:tr>
              <a:tr h="338091">
                <a:tc>
                  <a:txBody>
                    <a:bodyPr/>
                    <a:lstStyle/>
                    <a:p>
                      <a:pPr algn="l" fontAlgn="ctr">
                        <a:buNone/>
                      </a:pPr>
                      <a:endParaRPr lang="en-US" sz="1400" b="0" i="0" u="none" strike="noStrike">
                        <a:effectLst/>
                        <a:latin typeface="Arial" panose="020B0604020202020204" pitchFamily="34" charset="0"/>
                      </a:endParaRPr>
                    </a:p>
                  </a:txBody>
                  <a:tcPr marL="45688" marR="45688" marT="22844" marB="22844" anchor="ctr">
                    <a:lnL>
                      <a:noFill/>
                    </a:lnL>
                    <a:lnR>
                      <a:noFill/>
                    </a:lnR>
                    <a:lnT>
                      <a:noFill/>
                    </a:lnT>
                    <a:lnB>
                      <a:noFill/>
                    </a:lnB>
                    <a:noFill/>
                  </a:tcPr>
                </a:tc>
                <a:tc>
                  <a:txBody>
                    <a:bodyPr/>
                    <a:lstStyle/>
                    <a:p>
                      <a:pPr algn="l" fontAlgn="ctr">
                        <a:buNone/>
                      </a:pPr>
                      <a:r>
                        <a:rPr lang="es-MX" sz="1400" b="1" i="0" u="none" strike="noStrike" dirty="0">
                          <a:effectLst/>
                          <a:latin typeface="Arial" panose="020B0604020202020204" pitchFamily="34" charset="0"/>
                        </a:rPr>
                        <a:t>15. Evolucionar la forma de trabajo</a:t>
                      </a:r>
                      <a:r>
                        <a:rPr lang="es-MX" sz="1400" b="0" i="0" u="none" strike="noStrike" dirty="0">
                          <a:effectLst/>
                          <a:latin typeface="Arial" panose="020B0604020202020204" pitchFamily="34" charset="0"/>
                        </a:rPr>
                        <a:t> (</a:t>
                      </a:r>
                      <a:r>
                        <a:rPr lang="es-MX" sz="1400" b="0" i="1" u="none" strike="noStrike" dirty="0">
                          <a:effectLst/>
                          <a:latin typeface="Arial" panose="020B0604020202020204" pitchFamily="34" charset="0"/>
                        </a:rPr>
                        <a:t>Evolve the Way of Working</a:t>
                      </a:r>
                      <a:r>
                        <a:rPr lang="es-MX" sz="1400" b="0" i="0" u="none" strike="noStrike" dirty="0">
                          <a:effectLst/>
                          <a:latin typeface="Arial" panose="020B0604020202020204" pitchFamily="34" charset="0"/>
                        </a:rPr>
                        <a:t>)</a:t>
                      </a:r>
                    </a:p>
                  </a:txBody>
                  <a:tcPr marL="45688" marR="45688" marT="22844" marB="22844" anchor="ctr">
                    <a:lnL>
                      <a:noFill/>
                    </a:lnL>
                    <a:lnR>
                      <a:noFill/>
                    </a:lnR>
                    <a:lnT>
                      <a:noFill/>
                    </a:lnT>
                    <a:lnB>
                      <a:noFill/>
                    </a:lnB>
                    <a:noFill/>
                  </a:tcPr>
                </a:tc>
                <a:tc>
                  <a:txBody>
                    <a:bodyPr/>
                    <a:lstStyle/>
                    <a:p>
                      <a:pPr algn="l" fontAlgn="ctr">
                        <a:buNone/>
                      </a:pPr>
                      <a:r>
                        <a:rPr lang="es-MX" sz="1400" b="0" i="0" u="none" strike="noStrike" dirty="0">
                          <a:effectLst/>
                          <a:latin typeface="Arial" panose="020B0604020202020204" pitchFamily="34" charset="0"/>
                        </a:rPr>
                        <a:t>Introducir cambios o mejoras a las prácticas y herramientas.</a:t>
                      </a:r>
                    </a:p>
                  </a:txBody>
                  <a:tcPr marL="45688" marR="45688" marT="22844" marB="22844" anchor="ctr">
                    <a:lnL>
                      <a:noFill/>
                    </a:lnL>
                    <a:lnR>
                      <a:noFill/>
                    </a:lnR>
                    <a:lnT>
                      <a:noFill/>
                    </a:lnT>
                    <a:lnB>
                      <a:noFill/>
                    </a:lnB>
                    <a:noFill/>
                  </a:tcPr>
                </a:tc>
                <a:tc>
                  <a:txBody>
                    <a:bodyPr/>
                    <a:lstStyle/>
                    <a:p>
                      <a:pPr algn="l" fontAlgn="ctr">
                        <a:buNone/>
                      </a:pPr>
                      <a:r>
                        <a:rPr lang="es-MX" sz="1400" b="1" i="0" u="none" strike="noStrike" dirty="0">
                          <a:effectLst/>
                          <a:latin typeface="Arial" panose="020B0604020202020204" pitchFamily="34" charset="0"/>
                        </a:rPr>
                        <a:t>Forma de trabajo</a:t>
                      </a:r>
                      <a:r>
                        <a:rPr lang="es-MX" sz="1400" b="0" i="0" u="none" strike="noStrike" dirty="0">
                          <a:effectLst/>
                          <a:latin typeface="Arial" panose="020B0604020202020204" pitchFamily="34" charset="0"/>
                        </a:rPr>
                        <a:t>, </a:t>
                      </a:r>
                      <a:r>
                        <a:rPr lang="es-MX" sz="1400" b="1" i="0" u="none" strike="noStrike" dirty="0">
                          <a:effectLst/>
                          <a:latin typeface="Arial" panose="020B0604020202020204" pitchFamily="34" charset="0"/>
                        </a:rPr>
                        <a:t>Equipo</a:t>
                      </a:r>
                      <a:endParaRPr lang="es-MX" sz="1400" b="0" i="0" u="none" strike="noStrike" dirty="0">
                        <a:effectLst/>
                        <a:latin typeface="Arial" panose="020B0604020202020204" pitchFamily="34" charset="0"/>
                      </a:endParaRPr>
                    </a:p>
                  </a:txBody>
                  <a:tcPr marL="45688" marR="45688" marT="22844" marB="22844" anchor="ctr">
                    <a:lnL>
                      <a:noFill/>
                    </a:lnL>
                    <a:lnR>
                      <a:noFill/>
                    </a:lnR>
                    <a:lnT>
                      <a:noFill/>
                    </a:lnT>
                    <a:lnB>
                      <a:noFill/>
                    </a:lnB>
                    <a:noFill/>
                  </a:tcPr>
                </a:tc>
                <a:extLst>
                  <a:ext uri="{0D108BD9-81ED-4DB2-BD59-A6C34878D82A}">
                    <a16:rowId xmlns:a16="http://schemas.microsoft.com/office/drawing/2014/main" val="2931907542"/>
                  </a:ext>
                </a:extLst>
              </a:tr>
            </a:tbl>
          </a:graphicData>
        </a:graphic>
      </p:graphicFrame>
      <p:sp>
        <p:nvSpPr>
          <p:cNvPr id="7" name="CuadroTexto 6">
            <a:extLst>
              <a:ext uri="{FF2B5EF4-FFF2-40B4-BE49-F238E27FC236}">
                <a16:creationId xmlns:a16="http://schemas.microsoft.com/office/drawing/2014/main" id="{03D67ABA-9C68-A131-3276-275BF8D81598}"/>
              </a:ext>
            </a:extLst>
          </p:cNvPr>
          <p:cNvSpPr txBox="1"/>
          <p:nvPr/>
        </p:nvSpPr>
        <p:spPr>
          <a:xfrm>
            <a:off x="902525" y="4388454"/>
            <a:ext cx="10298877" cy="1815882"/>
          </a:xfrm>
          <a:prstGeom prst="rect">
            <a:avLst/>
          </a:prstGeom>
          <a:noFill/>
        </p:spPr>
        <p:txBody>
          <a:bodyPr wrap="square">
            <a:spAutoFit/>
          </a:bodyPr>
          <a:lstStyle/>
          <a:p>
            <a:pPr>
              <a:buNone/>
            </a:pPr>
            <a:r>
              <a:rPr lang="es-MX" sz="1600" b="1" dirty="0">
                <a:latin typeface="Arial" panose="020B0604020202020204" pitchFamily="34" charset="0"/>
                <a:cs typeface="Arial" panose="020B0604020202020204" pitchFamily="34" charset="0"/>
              </a:rPr>
              <a:t>Ejes de referencia:</a:t>
            </a:r>
            <a:endParaRPr lang="es-MX" sz="1600" dirty="0">
              <a:latin typeface="Arial" panose="020B0604020202020204" pitchFamily="34" charset="0"/>
              <a:cs typeface="Arial" panose="020B0604020202020204" pitchFamily="34" charset="0"/>
            </a:endParaRPr>
          </a:p>
          <a:p>
            <a:pPr>
              <a:buFont typeface="Arial" panose="020B0604020202020204" pitchFamily="34" charset="0"/>
              <a:buChar char="•"/>
            </a:pPr>
            <a:r>
              <a:rPr lang="es-MX" sz="1600" b="1" dirty="0">
                <a:latin typeface="Arial" panose="020B0604020202020204" pitchFamily="34" charset="0"/>
                <a:cs typeface="Arial" panose="020B0604020202020204" pitchFamily="34" charset="0"/>
              </a:rPr>
              <a:t> Columnas:</a:t>
            </a:r>
            <a:r>
              <a:rPr lang="es-MX" sz="1600" dirty="0">
                <a:latin typeface="Arial" panose="020B0604020202020204" pitchFamily="34" charset="0"/>
                <a:cs typeface="Arial" panose="020B0604020202020204" pitchFamily="34" charset="0"/>
              </a:rPr>
              <a:t> qué se hace (espacios de actividad).</a:t>
            </a:r>
          </a:p>
          <a:p>
            <a:pPr>
              <a:buFont typeface="Arial" panose="020B0604020202020204" pitchFamily="34" charset="0"/>
              <a:buChar char="•"/>
            </a:pPr>
            <a:r>
              <a:rPr lang="es-MX" sz="1600" b="1" dirty="0">
                <a:latin typeface="Arial" panose="020B0604020202020204" pitchFamily="34" charset="0"/>
                <a:cs typeface="Arial" panose="020B0604020202020204" pitchFamily="34" charset="0"/>
              </a:rPr>
              <a:t> Filas:</a:t>
            </a:r>
            <a:r>
              <a:rPr lang="es-MX" sz="1600" dirty="0">
                <a:latin typeface="Arial" panose="020B0604020202020204" pitchFamily="34" charset="0"/>
                <a:cs typeface="Arial" panose="020B0604020202020204" pitchFamily="34" charset="0"/>
              </a:rPr>
              <a:t> desde qué perspectiva (Cliente, Solución o Equipo).</a:t>
            </a:r>
          </a:p>
          <a:p>
            <a:pPr>
              <a:buFont typeface="Arial" panose="020B0604020202020204" pitchFamily="34" charset="0"/>
              <a:buChar char="•"/>
            </a:pPr>
            <a:endParaRPr lang="es-MX" sz="1600" dirty="0">
              <a:latin typeface="Arial" panose="020B0604020202020204" pitchFamily="34" charset="0"/>
              <a:cs typeface="Arial" panose="020B0604020202020204" pitchFamily="34" charset="0"/>
            </a:endParaRPr>
          </a:p>
          <a:p>
            <a:pPr>
              <a:buNone/>
            </a:pPr>
            <a:r>
              <a:rPr lang="es-MX" sz="1600" dirty="0">
                <a:latin typeface="Arial" panose="020B0604020202020204" pitchFamily="34" charset="0"/>
                <a:cs typeface="Arial" panose="020B0604020202020204" pitchFamily="34" charset="0"/>
              </a:rPr>
              <a:t>Cada espacio impulsa el avance de uno o más </a:t>
            </a:r>
            <a:r>
              <a:rPr lang="es-MX" sz="1600" b="1" dirty="0">
                <a:latin typeface="Arial" panose="020B0604020202020204" pitchFamily="34" charset="0"/>
                <a:cs typeface="Arial" panose="020B0604020202020204" pitchFamily="34" charset="0"/>
              </a:rPr>
              <a:t>Alphas</a:t>
            </a:r>
            <a:r>
              <a:rPr lang="es-MX" sz="1600" dirty="0">
                <a:latin typeface="Arial" panose="020B0604020202020204" pitchFamily="34" charset="0"/>
                <a:cs typeface="Arial" panose="020B0604020202020204" pitchFamily="34" charset="0"/>
              </a:rPr>
              <a:t>, que reflejan el estado de salud del proyecto.</a:t>
            </a:r>
          </a:p>
          <a:p>
            <a:pPr>
              <a:buNone/>
            </a:pPr>
            <a:r>
              <a:rPr lang="es-MX" sz="1600" dirty="0">
                <a:latin typeface="Arial" panose="020B0604020202020204" pitchFamily="34" charset="0"/>
                <a:cs typeface="Arial" panose="020B0604020202020204" pitchFamily="34" charset="0"/>
              </a:rPr>
              <a:t>En conjunto, los </a:t>
            </a:r>
            <a:r>
              <a:rPr lang="es-MX" sz="1600" b="1" dirty="0">
                <a:latin typeface="Arial" panose="020B0604020202020204" pitchFamily="34" charset="0"/>
                <a:cs typeface="Arial" panose="020B0604020202020204" pitchFamily="34" charset="0"/>
              </a:rPr>
              <a:t>Activity Spaces</a:t>
            </a:r>
            <a:r>
              <a:rPr lang="es-MX" sz="1600" dirty="0">
                <a:latin typeface="Arial" panose="020B0604020202020204" pitchFamily="34" charset="0"/>
                <a:cs typeface="Arial" panose="020B0604020202020204" pitchFamily="34" charset="0"/>
              </a:rPr>
              <a:t> cubren </a:t>
            </a:r>
            <a:r>
              <a:rPr lang="es-MX" sz="1600" b="1" dirty="0">
                <a:latin typeface="Arial" panose="020B0604020202020204" pitchFamily="34" charset="0"/>
                <a:cs typeface="Arial" panose="020B0604020202020204" pitchFamily="34" charset="0"/>
              </a:rPr>
              <a:t>todo el ciclo de vida del software</a:t>
            </a:r>
            <a:r>
              <a:rPr lang="es-MX" sz="1600" dirty="0">
                <a:latin typeface="Arial" panose="020B0604020202020204" pitchFamily="34" charset="0"/>
                <a:cs typeface="Arial" panose="020B0604020202020204" pitchFamily="34" charset="0"/>
              </a:rPr>
              <a:t>: desde la idea inicial hasta la mejora continua del proceso.</a:t>
            </a:r>
          </a:p>
        </p:txBody>
      </p:sp>
    </p:spTree>
    <p:extLst>
      <p:ext uri="{BB962C8B-B14F-4D97-AF65-F5344CB8AC3E}">
        <p14:creationId xmlns:p14="http://schemas.microsoft.com/office/powerpoint/2010/main" val="5563971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3A76FA-2ED9-9603-A89A-5515780C317D}"/>
            </a:ext>
          </a:extLst>
        </p:cNvPr>
        <p:cNvGrpSpPr/>
        <p:nvPr/>
      </p:nvGrpSpPr>
      <p:grpSpPr>
        <a:xfrm>
          <a:off x="0" y="0"/>
          <a:ext cx="0" cy="0"/>
          <a:chOff x="0" y="0"/>
          <a:chExt cx="0" cy="0"/>
        </a:xfrm>
      </p:grpSpPr>
      <p:graphicFrame>
        <p:nvGraphicFramePr>
          <p:cNvPr id="2" name="Tabla 1">
            <a:extLst>
              <a:ext uri="{FF2B5EF4-FFF2-40B4-BE49-F238E27FC236}">
                <a16:creationId xmlns:a16="http://schemas.microsoft.com/office/drawing/2014/main" id="{44E7FD91-DDD1-5484-03B8-1F70F28F8C3A}"/>
              </a:ext>
            </a:extLst>
          </p:cNvPr>
          <p:cNvGraphicFramePr>
            <a:graphicFrameLocks noGrp="1"/>
          </p:cNvGraphicFramePr>
          <p:nvPr>
            <p:extLst>
              <p:ext uri="{D42A27DB-BD31-4B8C-83A1-F6EECF244321}">
                <p14:modId xmlns:p14="http://schemas.microsoft.com/office/powerpoint/2010/main" val="319232689"/>
              </p:ext>
            </p:extLst>
          </p:nvPr>
        </p:nvGraphicFramePr>
        <p:xfrm>
          <a:off x="1043049" y="1829675"/>
          <a:ext cx="10105901" cy="4036735"/>
        </p:xfrm>
        <a:graphic>
          <a:graphicData uri="http://schemas.openxmlformats.org/drawingml/2006/table">
            <a:tbl>
              <a:tblPr/>
              <a:tblGrid>
                <a:gridCol w="2291938">
                  <a:extLst>
                    <a:ext uri="{9D8B030D-6E8A-4147-A177-3AD203B41FA5}">
                      <a16:colId xmlns:a16="http://schemas.microsoft.com/office/drawing/2014/main" val="4257668919"/>
                    </a:ext>
                  </a:extLst>
                </a:gridCol>
                <a:gridCol w="3806958">
                  <a:extLst>
                    <a:ext uri="{9D8B030D-6E8A-4147-A177-3AD203B41FA5}">
                      <a16:colId xmlns:a16="http://schemas.microsoft.com/office/drawing/2014/main" val="3680218686"/>
                    </a:ext>
                  </a:extLst>
                </a:gridCol>
                <a:gridCol w="4007005">
                  <a:extLst>
                    <a:ext uri="{9D8B030D-6E8A-4147-A177-3AD203B41FA5}">
                      <a16:colId xmlns:a16="http://schemas.microsoft.com/office/drawing/2014/main" val="4006668102"/>
                    </a:ext>
                  </a:extLst>
                </a:gridCol>
              </a:tblGrid>
              <a:tr h="721542">
                <a:tc>
                  <a:txBody>
                    <a:bodyPr/>
                    <a:lstStyle/>
                    <a:p>
                      <a:pPr>
                        <a:buNone/>
                      </a:pPr>
                      <a:r>
                        <a:rPr lang="es-MX" sz="1800" b="1">
                          <a:latin typeface="Arial" panose="020B0604020202020204" pitchFamily="34" charset="0"/>
                          <a:cs typeface="Arial" panose="020B0604020202020204" pitchFamily="34" charset="0"/>
                        </a:rPr>
                        <a:t>Nivel</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solidFill>
                      <a:schemeClr val="tx2">
                        <a:lumMod val="25000"/>
                        <a:lumOff val="75000"/>
                      </a:schemeClr>
                    </a:solidFill>
                  </a:tcPr>
                </a:tc>
                <a:tc>
                  <a:txBody>
                    <a:bodyPr/>
                    <a:lstStyle/>
                    <a:p>
                      <a:pPr>
                        <a:buNone/>
                      </a:pPr>
                      <a:r>
                        <a:rPr lang="es-MX" sz="1800" b="1">
                          <a:latin typeface="Arial" panose="020B0604020202020204" pitchFamily="34" charset="0"/>
                          <a:cs typeface="Arial" panose="020B0604020202020204" pitchFamily="34" charset="0"/>
                        </a:rPr>
                        <a:t>Componentes del Lenguaje ESSENCE</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solidFill>
                      <a:schemeClr val="tx2">
                        <a:lumMod val="25000"/>
                        <a:lumOff val="75000"/>
                      </a:schemeClr>
                    </a:solidFill>
                  </a:tcPr>
                </a:tc>
                <a:tc>
                  <a:txBody>
                    <a:bodyPr/>
                    <a:lstStyle/>
                    <a:p>
                      <a:pPr>
                        <a:buNone/>
                      </a:pPr>
                      <a:r>
                        <a:rPr lang="es-MX" sz="1800" b="1" dirty="0">
                          <a:latin typeface="Arial" panose="020B0604020202020204" pitchFamily="34" charset="0"/>
                          <a:cs typeface="Arial" panose="020B0604020202020204" pitchFamily="34" charset="0"/>
                        </a:rPr>
                        <a:t>Componentes del Kernel ESSENCE</a:t>
                      </a:r>
                      <a:endParaRPr lang="es-MX" sz="1800" dirty="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682395949"/>
                  </a:ext>
                </a:extLst>
              </a:tr>
              <a:tr h="429025">
                <a:tc>
                  <a:txBody>
                    <a:bodyPr/>
                    <a:lstStyle/>
                    <a:p>
                      <a:pPr>
                        <a:buNone/>
                      </a:pPr>
                      <a:r>
                        <a:rPr lang="es-MX" sz="1800" b="1">
                          <a:latin typeface="Arial" panose="020B0604020202020204" pitchFamily="34" charset="0"/>
                          <a:cs typeface="Arial" panose="020B0604020202020204" pitchFamily="34" charset="0"/>
                        </a:rPr>
                        <a:t>Conceptual</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noFill/>
                  </a:tcPr>
                </a:tc>
                <a:tc>
                  <a:txBody>
                    <a:bodyPr/>
                    <a:lstStyle/>
                    <a:p>
                      <a:pPr>
                        <a:buNone/>
                      </a:pPr>
                      <a:r>
                        <a:rPr lang="es-MX" sz="1800">
                          <a:latin typeface="Arial" panose="020B0604020202020204" pitchFamily="34" charset="0"/>
                          <a:cs typeface="Arial" panose="020B0604020202020204" pitchFamily="34" charset="0"/>
                        </a:rPr>
                        <a:t>Kernel, Practices, Patterns</a:t>
                      </a:r>
                    </a:p>
                  </a:txBody>
                  <a:tcPr marL="127173" marR="127173" marT="63586" marB="63586" anchor="ctr">
                    <a:lnL>
                      <a:noFill/>
                    </a:lnL>
                    <a:lnR>
                      <a:noFill/>
                    </a:lnR>
                    <a:lnT>
                      <a:noFill/>
                    </a:lnT>
                    <a:lnB>
                      <a:noFill/>
                    </a:lnB>
                    <a:noFill/>
                  </a:tcPr>
                </a:tc>
                <a:tc>
                  <a:txBody>
                    <a:bodyPr/>
                    <a:lstStyle/>
                    <a:p>
                      <a:pPr>
                        <a:buNone/>
                      </a:pPr>
                      <a:r>
                        <a:rPr lang="es-MX" sz="1800">
                          <a:latin typeface="Arial" panose="020B0604020202020204" pitchFamily="34" charset="0"/>
                          <a:cs typeface="Arial" panose="020B0604020202020204" pitchFamily="34" charset="0"/>
                        </a:rPr>
                        <a:t>Areas of Concern</a:t>
                      </a:r>
                    </a:p>
                  </a:txBody>
                  <a:tcPr marL="127173" marR="127173" marT="63586" marB="63586" anchor="ctr">
                    <a:lnL>
                      <a:noFill/>
                    </a:lnL>
                    <a:lnR>
                      <a:noFill/>
                    </a:lnR>
                    <a:lnT>
                      <a:noFill/>
                    </a:lnT>
                    <a:lnB>
                      <a:noFill/>
                    </a:lnB>
                    <a:noFill/>
                  </a:tcPr>
                </a:tc>
                <a:extLst>
                  <a:ext uri="{0D108BD9-81ED-4DB2-BD59-A6C34878D82A}">
                    <a16:rowId xmlns:a16="http://schemas.microsoft.com/office/drawing/2014/main" val="3661532865"/>
                  </a:ext>
                </a:extLst>
              </a:tr>
              <a:tr h="721542">
                <a:tc>
                  <a:txBody>
                    <a:bodyPr/>
                    <a:lstStyle/>
                    <a:p>
                      <a:pPr>
                        <a:buNone/>
                      </a:pPr>
                      <a:r>
                        <a:rPr lang="es-MX" sz="1800" b="1">
                          <a:latin typeface="Arial" panose="020B0604020202020204" pitchFamily="34" charset="0"/>
                          <a:cs typeface="Arial" panose="020B0604020202020204" pitchFamily="34" charset="0"/>
                        </a:rPr>
                        <a:t>Estructural</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solidFill>
                      <a:schemeClr val="accent6">
                        <a:lumMod val="20000"/>
                        <a:lumOff val="80000"/>
                      </a:schemeClr>
                    </a:solidFill>
                  </a:tcPr>
                </a:tc>
                <a:tc>
                  <a:txBody>
                    <a:bodyPr/>
                    <a:lstStyle/>
                    <a:p>
                      <a:pPr>
                        <a:buNone/>
                      </a:pPr>
                      <a:r>
                        <a:rPr lang="es-MX" sz="1800">
                          <a:latin typeface="Arial" panose="020B0604020202020204" pitchFamily="34" charset="0"/>
                          <a:cs typeface="Arial" panose="020B0604020202020204" pitchFamily="34" charset="0"/>
                        </a:rPr>
                        <a:t>Alphas, States, Checkpoints</a:t>
                      </a:r>
                    </a:p>
                  </a:txBody>
                  <a:tcPr marL="127173" marR="127173" marT="63586" marB="63586" anchor="ctr">
                    <a:lnL>
                      <a:noFill/>
                    </a:lnL>
                    <a:lnR>
                      <a:noFill/>
                    </a:lnR>
                    <a:lnT>
                      <a:noFill/>
                    </a:lnT>
                    <a:lnB>
                      <a:noFill/>
                    </a:lnB>
                    <a:solidFill>
                      <a:schemeClr val="accent6">
                        <a:lumMod val="20000"/>
                        <a:lumOff val="80000"/>
                      </a:schemeClr>
                    </a:solidFill>
                  </a:tcPr>
                </a:tc>
                <a:tc>
                  <a:txBody>
                    <a:bodyPr/>
                    <a:lstStyle/>
                    <a:p>
                      <a:pPr>
                        <a:buNone/>
                      </a:pPr>
                      <a:r>
                        <a:rPr lang="es-MX" sz="1800" dirty="0">
                          <a:latin typeface="Arial" panose="020B0604020202020204" pitchFamily="34" charset="0"/>
                          <a:cs typeface="Arial" panose="020B0604020202020204" pitchFamily="34" charset="0"/>
                        </a:rPr>
                        <a:t>Los mismos Alphas (núcleo universal)</a:t>
                      </a:r>
                    </a:p>
                  </a:txBody>
                  <a:tcPr marL="127173" marR="127173" marT="63586" marB="63586"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692893386"/>
                  </a:ext>
                </a:extLst>
              </a:tr>
              <a:tr h="721542">
                <a:tc>
                  <a:txBody>
                    <a:bodyPr/>
                    <a:lstStyle/>
                    <a:p>
                      <a:pPr>
                        <a:buNone/>
                      </a:pPr>
                      <a:r>
                        <a:rPr lang="es-MX" sz="1800" b="1">
                          <a:latin typeface="Arial" panose="020B0604020202020204" pitchFamily="34" charset="0"/>
                          <a:cs typeface="Arial" panose="020B0604020202020204" pitchFamily="34" charset="0"/>
                        </a:rPr>
                        <a:t>Operativo</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noFill/>
                  </a:tcPr>
                </a:tc>
                <a:tc>
                  <a:txBody>
                    <a:bodyPr/>
                    <a:lstStyle/>
                    <a:p>
                      <a:pPr>
                        <a:buNone/>
                      </a:pPr>
                      <a:r>
                        <a:rPr lang="es-MX" sz="1800">
                          <a:latin typeface="Arial" panose="020B0604020202020204" pitchFamily="34" charset="0"/>
                          <a:cs typeface="Arial" panose="020B0604020202020204" pitchFamily="34" charset="0"/>
                        </a:rPr>
                        <a:t>Activity Spaces, Activities, Work Products</a:t>
                      </a:r>
                    </a:p>
                  </a:txBody>
                  <a:tcPr marL="127173" marR="127173" marT="63586" marB="63586" anchor="ctr">
                    <a:lnL>
                      <a:noFill/>
                    </a:lnL>
                    <a:lnR>
                      <a:noFill/>
                    </a:lnR>
                    <a:lnT>
                      <a:noFill/>
                    </a:lnT>
                    <a:lnB>
                      <a:noFill/>
                    </a:lnB>
                    <a:noFill/>
                  </a:tcPr>
                </a:tc>
                <a:tc>
                  <a:txBody>
                    <a:bodyPr/>
                    <a:lstStyle/>
                    <a:p>
                      <a:pPr>
                        <a:buNone/>
                      </a:pPr>
                      <a:r>
                        <a:rPr lang="es-MX" sz="1800" dirty="0">
                          <a:latin typeface="Arial" panose="020B0604020202020204" pitchFamily="34" charset="0"/>
                          <a:cs typeface="Arial" panose="020B0604020202020204" pitchFamily="34" charset="0"/>
                        </a:rPr>
                        <a:t>Activity Spaces básicos</a:t>
                      </a:r>
                    </a:p>
                  </a:txBody>
                  <a:tcPr marL="127173" marR="127173" marT="63586" marB="63586" anchor="ctr">
                    <a:lnL>
                      <a:noFill/>
                    </a:lnL>
                    <a:lnR>
                      <a:noFill/>
                    </a:lnR>
                    <a:lnT>
                      <a:noFill/>
                    </a:lnT>
                    <a:lnB>
                      <a:noFill/>
                    </a:lnB>
                    <a:noFill/>
                  </a:tcPr>
                </a:tc>
                <a:extLst>
                  <a:ext uri="{0D108BD9-81ED-4DB2-BD59-A6C34878D82A}">
                    <a16:rowId xmlns:a16="http://schemas.microsoft.com/office/drawing/2014/main" val="1284485881"/>
                  </a:ext>
                </a:extLst>
              </a:tr>
              <a:tr h="721542">
                <a:tc>
                  <a:txBody>
                    <a:bodyPr/>
                    <a:lstStyle/>
                    <a:p>
                      <a:pPr>
                        <a:buNone/>
                      </a:pPr>
                      <a:r>
                        <a:rPr lang="es-MX" sz="1800" b="1">
                          <a:latin typeface="Arial" panose="020B0604020202020204" pitchFamily="34" charset="0"/>
                          <a:cs typeface="Arial" panose="020B0604020202020204" pitchFamily="34" charset="0"/>
                        </a:rPr>
                        <a:t>Humano</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solidFill>
                      <a:schemeClr val="accent6">
                        <a:lumMod val="20000"/>
                        <a:lumOff val="80000"/>
                      </a:schemeClr>
                    </a:solidFill>
                  </a:tcPr>
                </a:tc>
                <a:tc>
                  <a:txBody>
                    <a:bodyPr/>
                    <a:lstStyle/>
                    <a:p>
                      <a:pPr>
                        <a:buNone/>
                      </a:pPr>
                      <a:r>
                        <a:rPr lang="es-MX" sz="1800">
                          <a:latin typeface="Arial" panose="020B0604020202020204" pitchFamily="34" charset="0"/>
                          <a:cs typeface="Arial" panose="020B0604020202020204" pitchFamily="34" charset="0"/>
                        </a:rPr>
                        <a:t>Competencies</a:t>
                      </a:r>
                    </a:p>
                  </a:txBody>
                  <a:tcPr marL="127173" marR="127173" marT="63586" marB="63586" anchor="ctr">
                    <a:lnL>
                      <a:noFill/>
                    </a:lnL>
                    <a:lnR>
                      <a:noFill/>
                    </a:lnR>
                    <a:lnT>
                      <a:noFill/>
                    </a:lnT>
                    <a:lnB>
                      <a:noFill/>
                    </a:lnB>
                    <a:solidFill>
                      <a:schemeClr val="accent6">
                        <a:lumMod val="20000"/>
                        <a:lumOff val="80000"/>
                      </a:schemeClr>
                    </a:solidFill>
                  </a:tcPr>
                </a:tc>
                <a:tc>
                  <a:txBody>
                    <a:bodyPr/>
                    <a:lstStyle/>
                    <a:p>
                      <a:pPr>
                        <a:buNone/>
                      </a:pPr>
                      <a:r>
                        <a:rPr lang="es-MX" sz="1800" dirty="0">
                          <a:latin typeface="Arial" panose="020B0604020202020204" pitchFamily="34" charset="0"/>
                          <a:cs typeface="Arial" panose="020B0604020202020204" pitchFamily="34" charset="0"/>
                        </a:rPr>
                        <a:t>Competencies nucleares (Analyst, Developer, Leader)</a:t>
                      </a:r>
                    </a:p>
                  </a:txBody>
                  <a:tcPr marL="127173" marR="127173" marT="63586" marB="63586"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696225359"/>
                  </a:ext>
                </a:extLst>
              </a:tr>
              <a:tr h="721542">
                <a:tc>
                  <a:txBody>
                    <a:bodyPr/>
                    <a:lstStyle/>
                    <a:p>
                      <a:pPr>
                        <a:buNone/>
                      </a:pPr>
                      <a:r>
                        <a:rPr lang="es-MX" sz="1800" b="1">
                          <a:latin typeface="Arial" panose="020B0604020202020204" pitchFamily="34" charset="0"/>
                          <a:cs typeface="Arial" panose="020B0604020202020204" pitchFamily="34" charset="0"/>
                        </a:rPr>
                        <a:t>Extensible</a:t>
                      </a:r>
                      <a:endParaRPr lang="es-MX" sz="1800">
                        <a:latin typeface="Arial" panose="020B0604020202020204" pitchFamily="34" charset="0"/>
                        <a:cs typeface="Arial" panose="020B0604020202020204" pitchFamily="34" charset="0"/>
                      </a:endParaRPr>
                    </a:p>
                  </a:txBody>
                  <a:tcPr marL="127173" marR="127173" marT="63586" marB="63586" anchor="ctr">
                    <a:lnL>
                      <a:noFill/>
                    </a:lnL>
                    <a:lnR>
                      <a:noFill/>
                    </a:lnR>
                    <a:lnT>
                      <a:noFill/>
                    </a:lnT>
                    <a:lnB>
                      <a:noFill/>
                    </a:lnB>
                    <a:noFill/>
                  </a:tcPr>
                </a:tc>
                <a:tc>
                  <a:txBody>
                    <a:bodyPr/>
                    <a:lstStyle/>
                    <a:p>
                      <a:pPr>
                        <a:buNone/>
                      </a:pPr>
                      <a:r>
                        <a:rPr lang="es-MX" sz="1800" dirty="0">
                          <a:latin typeface="Arial" panose="020B0604020202020204" pitchFamily="34" charset="0"/>
                          <a:cs typeface="Arial" panose="020B0604020202020204" pitchFamily="34" charset="0"/>
                        </a:rPr>
                        <a:t>Extensions, Practices</a:t>
                      </a:r>
                    </a:p>
                  </a:txBody>
                  <a:tcPr marL="127173" marR="127173" marT="63586" marB="63586" anchor="ctr">
                    <a:lnL>
                      <a:noFill/>
                    </a:lnL>
                    <a:lnR>
                      <a:noFill/>
                    </a:lnR>
                    <a:lnT>
                      <a:noFill/>
                    </a:lnT>
                    <a:lnB>
                      <a:noFill/>
                    </a:lnB>
                    <a:noFill/>
                  </a:tcPr>
                </a:tc>
                <a:tc>
                  <a:txBody>
                    <a:bodyPr/>
                    <a:lstStyle/>
                    <a:p>
                      <a:pPr>
                        <a:buNone/>
                      </a:pPr>
                      <a:r>
                        <a:rPr lang="es-MX" sz="1800" dirty="0">
                          <a:latin typeface="Arial" panose="020B0604020202020204" pitchFamily="34" charset="0"/>
                          <a:cs typeface="Arial" panose="020B0604020202020204" pitchFamily="34" charset="0"/>
                        </a:rPr>
                        <a:t>Kernel fijo (no se modifica, solo se amplía)</a:t>
                      </a:r>
                    </a:p>
                  </a:txBody>
                  <a:tcPr marL="127173" marR="127173" marT="63586" marB="63586" anchor="ctr">
                    <a:lnL>
                      <a:noFill/>
                    </a:lnL>
                    <a:lnR>
                      <a:noFill/>
                    </a:lnR>
                    <a:lnT>
                      <a:noFill/>
                    </a:lnT>
                    <a:lnB>
                      <a:noFill/>
                    </a:lnB>
                    <a:noFill/>
                  </a:tcPr>
                </a:tc>
                <a:extLst>
                  <a:ext uri="{0D108BD9-81ED-4DB2-BD59-A6C34878D82A}">
                    <a16:rowId xmlns:a16="http://schemas.microsoft.com/office/drawing/2014/main" val="172829413"/>
                  </a:ext>
                </a:extLst>
              </a:tr>
            </a:tbl>
          </a:graphicData>
        </a:graphic>
      </p:graphicFrame>
      <p:sp>
        <p:nvSpPr>
          <p:cNvPr id="3" name="Rectángulo 2">
            <a:extLst>
              <a:ext uri="{FF2B5EF4-FFF2-40B4-BE49-F238E27FC236}">
                <a16:creationId xmlns:a16="http://schemas.microsoft.com/office/drawing/2014/main" id="{CD770352-8690-8CC0-BEFA-AC9CDAB901C1}"/>
              </a:ext>
            </a:extLst>
          </p:cNvPr>
          <p:cNvSpPr/>
          <p:nvPr/>
        </p:nvSpPr>
        <p:spPr>
          <a:xfrm>
            <a:off x="1069491" y="859281"/>
            <a:ext cx="5160387" cy="923330"/>
          </a:xfrm>
          <a:prstGeom prst="rect">
            <a:avLst/>
          </a:prstGeom>
          <a:noFill/>
        </p:spPr>
        <p:txBody>
          <a:bodyPr wrap="non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Resumen Global</a:t>
            </a:r>
          </a:p>
        </p:txBody>
      </p:sp>
    </p:spTree>
    <p:extLst>
      <p:ext uri="{BB962C8B-B14F-4D97-AF65-F5344CB8AC3E}">
        <p14:creationId xmlns:p14="http://schemas.microsoft.com/office/powerpoint/2010/main" val="41164095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716B-7462-713E-2BB7-89CD24985117}"/>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75776D49-92E9-80F9-AFA1-001C72505EBE}"/>
              </a:ext>
            </a:extLst>
          </p:cNvPr>
          <p:cNvSpPr txBox="1"/>
          <p:nvPr/>
        </p:nvSpPr>
        <p:spPr>
          <a:xfrm>
            <a:off x="1277884" y="2206692"/>
            <a:ext cx="10193679" cy="2585323"/>
          </a:xfrm>
          <a:prstGeom prst="rect">
            <a:avLst/>
          </a:prstGeom>
          <a:noFill/>
        </p:spPr>
        <p:txBody>
          <a:bodyPr wrap="square">
            <a:spAutoFit/>
          </a:bodyPr>
          <a:lstStyle/>
          <a:p>
            <a:r>
              <a:rPr lang="es-MX" dirty="0">
                <a:effectLst/>
                <a:latin typeface="Arial" panose="020B0604020202020204" pitchFamily="34" charset="0"/>
                <a:cs typeface="Arial" panose="020B0604020202020204" pitchFamily="34" charset="0"/>
              </a:rPr>
              <a:t>La </a:t>
            </a:r>
            <a:r>
              <a:rPr lang="es-MX" b="1" dirty="0">
                <a:effectLst/>
                <a:latin typeface="Arial" panose="020B0604020202020204" pitchFamily="34" charset="0"/>
                <a:cs typeface="Arial" panose="020B0604020202020204" pitchFamily="34" charset="0"/>
              </a:rPr>
              <a:t>aplicación de ESSENCE </a:t>
            </a:r>
            <a:r>
              <a:rPr lang="es-MX" dirty="0">
                <a:effectLst/>
                <a:latin typeface="Arial" panose="020B0604020202020204" pitchFamily="34" charset="0"/>
                <a:cs typeface="Arial" panose="020B0604020202020204" pitchFamily="34" charset="0"/>
              </a:rPr>
              <a:t>en un proyecto de software consiste en </a:t>
            </a:r>
            <a:r>
              <a:rPr lang="es-MX" b="1" u="sng" dirty="0">
                <a:solidFill>
                  <a:srgbClr val="0070C0"/>
                </a:solidFill>
                <a:effectLst/>
                <a:latin typeface="Arial" panose="020B0604020202020204" pitchFamily="34" charset="0"/>
                <a:cs typeface="Arial" panose="020B0604020202020204" pitchFamily="34" charset="0"/>
              </a:rPr>
              <a:t>usar los "alfa" y sus estados para gestionar y evaluar el progreso</a:t>
            </a:r>
            <a:r>
              <a:rPr lang="es-MX" b="0" i="0" u="sng" dirty="0">
                <a:solidFill>
                  <a:srgbClr val="0070C0"/>
                </a:solidFill>
                <a:effectLst/>
                <a:latin typeface="Arial" panose="020B0604020202020204" pitchFamily="34" charset="0"/>
                <a:cs typeface="Arial" panose="020B0604020202020204" pitchFamily="34" charset="0"/>
              </a:rPr>
              <a:t>. </a:t>
            </a:r>
          </a:p>
          <a:p>
            <a:endParaRPr lang="es-MX" b="0" i="0" dirty="0">
              <a:solidFill>
                <a:srgbClr val="001D35"/>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0" i="0" dirty="0">
                <a:solidFill>
                  <a:srgbClr val="001D35"/>
                </a:solidFill>
                <a:effectLst/>
                <a:latin typeface="Arial" panose="020B0604020202020204" pitchFamily="34" charset="0"/>
                <a:cs typeface="Arial" panose="020B0604020202020204" pitchFamily="34" charset="0"/>
              </a:rPr>
              <a:t>Por ejemplo, un </a:t>
            </a:r>
            <a:r>
              <a:rPr lang="es-MX" b="1" i="0" dirty="0">
                <a:solidFill>
                  <a:srgbClr val="001D35"/>
                </a:solidFill>
                <a:effectLst/>
                <a:latin typeface="Arial" panose="020B0604020202020204" pitchFamily="34" charset="0"/>
                <a:cs typeface="Arial" panose="020B0604020202020204" pitchFamily="34" charset="0"/>
              </a:rPr>
              <a:t>equipo</a:t>
            </a:r>
            <a:r>
              <a:rPr lang="es-MX" b="0" i="0" dirty="0">
                <a:solidFill>
                  <a:srgbClr val="001D35"/>
                </a:solidFill>
                <a:effectLst/>
                <a:latin typeface="Arial" panose="020B0604020202020204" pitchFamily="34" charset="0"/>
                <a:cs typeface="Arial" panose="020B0604020202020204" pitchFamily="34" charset="0"/>
              </a:rPr>
              <a:t> de desarrollo puede estar en el estado "sembrado” (semilla), pero al usar las listas de verificación de </a:t>
            </a:r>
            <a:r>
              <a:rPr lang="es-MX" dirty="0">
                <a:effectLst/>
                <a:latin typeface="Arial" panose="020B0604020202020204" pitchFamily="34" charset="0"/>
                <a:cs typeface="Arial" panose="020B0604020202020204" pitchFamily="34" charset="0"/>
              </a:rPr>
              <a:t>ESSENCE</a:t>
            </a:r>
            <a:r>
              <a:rPr lang="es-MX" b="0" i="0" dirty="0">
                <a:solidFill>
                  <a:srgbClr val="001D35"/>
                </a:solidFill>
                <a:effectLst/>
                <a:latin typeface="Arial" panose="020B0604020202020204" pitchFamily="34" charset="0"/>
                <a:cs typeface="Arial" panose="020B0604020202020204" pitchFamily="34" charset="0"/>
              </a:rPr>
              <a:t>, descubren que </a:t>
            </a:r>
            <a:r>
              <a:rPr lang="es-MX" b="0" i="0" dirty="0">
                <a:solidFill>
                  <a:srgbClr val="FF0000"/>
                </a:solidFill>
                <a:effectLst/>
                <a:latin typeface="Arial" panose="020B0604020202020204" pitchFamily="34" charset="0"/>
                <a:cs typeface="Arial" panose="020B0604020202020204" pitchFamily="34" charset="0"/>
              </a:rPr>
              <a:t>al no tener claros los roles y responsabilidades</a:t>
            </a:r>
            <a:r>
              <a:rPr lang="es-MX" b="0" i="0" dirty="0">
                <a:solidFill>
                  <a:srgbClr val="001D35"/>
                </a:solidFill>
                <a:effectLst/>
                <a:latin typeface="Arial" panose="020B0604020202020204" pitchFamily="34" charset="0"/>
                <a:cs typeface="Arial" panose="020B0604020202020204" pitchFamily="34" charset="0"/>
              </a:rPr>
              <a:t> (un estado dentro del alfa "equipo"), </a:t>
            </a:r>
            <a:r>
              <a:rPr lang="es-MX" b="1" i="0" dirty="0">
                <a:solidFill>
                  <a:srgbClr val="001D35"/>
                </a:solidFill>
                <a:effectLst/>
                <a:latin typeface="Arial" panose="020B0604020202020204" pitchFamily="34" charset="0"/>
                <a:cs typeface="Arial" panose="020B0604020202020204" pitchFamily="34" charset="0"/>
              </a:rPr>
              <a:t>no se puede avanzar a "formado</a:t>
            </a:r>
            <a:r>
              <a:rPr lang="es-MX" b="0" i="0" dirty="0">
                <a:solidFill>
                  <a:srgbClr val="001D35"/>
                </a:solidFill>
                <a:effectLst/>
                <a:latin typeface="Arial" panose="020B0604020202020204" pitchFamily="34" charset="0"/>
                <a:cs typeface="Arial" panose="020B0604020202020204" pitchFamily="34" charset="0"/>
              </a:rPr>
              <a:t>". </a:t>
            </a:r>
          </a:p>
          <a:p>
            <a:endParaRPr lang="es-MX" b="0" i="0" dirty="0">
              <a:solidFill>
                <a:srgbClr val="001D35"/>
              </a:solidFill>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MX" b="0" i="0" dirty="0">
                <a:solidFill>
                  <a:srgbClr val="001D35"/>
                </a:solidFill>
                <a:effectLst/>
                <a:latin typeface="Arial" panose="020B0604020202020204" pitchFamily="34" charset="0"/>
                <a:cs typeface="Arial" panose="020B0604020202020204" pitchFamily="34" charset="0"/>
              </a:rPr>
              <a:t>Para solucionar esto, </a:t>
            </a:r>
            <a:r>
              <a:rPr lang="es-MX" b="1" i="0" dirty="0">
                <a:solidFill>
                  <a:srgbClr val="001D35"/>
                </a:solidFill>
                <a:effectLst/>
                <a:latin typeface="Arial" panose="020B0604020202020204" pitchFamily="34" charset="0"/>
                <a:cs typeface="Arial" panose="020B0604020202020204" pitchFamily="34" charset="0"/>
              </a:rPr>
              <a:t>se convoca una reunión de reflexión </a:t>
            </a:r>
            <a:r>
              <a:rPr lang="es-MX" b="0" i="0" dirty="0">
                <a:solidFill>
                  <a:srgbClr val="001D35"/>
                </a:solidFill>
                <a:effectLst/>
                <a:latin typeface="Arial" panose="020B0604020202020204" pitchFamily="34" charset="0"/>
                <a:cs typeface="Arial" panose="020B0604020202020204" pitchFamily="34" charset="0"/>
              </a:rPr>
              <a:t>para que </a:t>
            </a:r>
            <a:r>
              <a:rPr lang="es-MX" b="0" i="0" dirty="0">
                <a:solidFill>
                  <a:srgbClr val="0070C0"/>
                </a:solidFill>
                <a:effectLst/>
                <a:latin typeface="Arial" panose="020B0604020202020204" pitchFamily="34" charset="0"/>
                <a:cs typeface="Arial" panose="020B0604020202020204" pitchFamily="34" charset="0"/>
              </a:rPr>
              <a:t>el equipo defina claramente sus roles, lo que les permitirá avanzar de estado y progresar en el proyecto</a:t>
            </a:r>
            <a:r>
              <a:rPr lang="es-MX" b="0" i="0" dirty="0">
                <a:solidFill>
                  <a:srgbClr val="001D35"/>
                </a:solidFill>
                <a:effectLst/>
                <a:latin typeface="Arial" panose="020B0604020202020204" pitchFamily="34" charset="0"/>
                <a:cs typeface="Arial" panose="020B0604020202020204" pitchFamily="34" charset="0"/>
              </a:rPr>
              <a:t>. </a:t>
            </a:r>
            <a:endParaRPr lang="es-MX"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D11EF991-D801-205A-2051-C16F7EDB080D}"/>
              </a:ext>
            </a:extLst>
          </p:cNvPr>
          <p:cNvSpPr/>
          <p:nvPr/>
        </p:nvSpPr>
        <p:spPr>
          <a:xfrm>
            <a:off x="815676" y="979069"/>
            <a:ext cx="10560647" cy="769441"/>
          </a:xfrm>
          <a:prstGeom prst="rect">
            <a:avLst/>
          </a:prstGeom>
          <a:noFill/>
        </p:spPr>
        <p:txBody>
          <a:bodyPr wrap="none" lIns="91440" tIns="45720" rIns="91440" bIns="45720">
            <a:spAutoFit/>
          </a:bodyPr>
          <a:lstStyle/>
          <a:p>
            <a:pPr algn="ctr"/>
            <a:r>
              <a:rPr lang="es-MX" sz="4400" b="0" cap="none" spc="0" dirty="0">
                <a:ln w="0"/>
                <a:solidFill>
                  <a:schemeClr val="tx1"/>
                </a:solidFill>
                <a:effectLst>
                  <a:outerShdw blurRad="38100" dist="19050" dir="2700000" algn="tl" rotWithShape="0">
                    <a:schemeClr val="dk1">
                      <a:alpha val="40000"/>
                    </a:schemeClr>
                  </a:outerShdw>
                </a:effectLst>
              </a:rPr>
              <a:t>Ejemplificación de aplicación de ESSENCE</a:t>
            </a:r>
          </a:p>
        </p:txBody>
      </p:sp>
    </p:spTree>
    <p:extLst>
      <p:ext uri="{BB962C8B-B14F-4D97-AF65-F5344CB8AC3E}">
        <p14:creationId xmlns:p14="http://schemas.microsoft.com/office/powerpoint/2010/main" val="168313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6905-B8CB-9053-A4EB-226661E8B0E3}"/>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DF2FC9B9-B8E0-FE07-7F41-AEDCFD561B4F}"/>
              </a:ext>
            </a:extLst>
          </p:cNvPr>
          <p:cNvSpPr/>
          <p:nvPr/>
        </p:nvSpPr>
        <p:spPr>
          <a:xfrm>
            <a:off x="1098676" y="983856"/>
            <a:ext cx="6731276" cy="584775"/>
          </a:xfrm>
          <a:prstGeom prst="rect">
            <a:avLst/>
          </a:prstGeom>
          <a:noFill/>
        </p:spPr>
        <p:txBody>
          <a:bodyPr wrap="square" lIns="91440" tIns="45720" rIns="91440" bIns="45720">
            <a:spAutoFit/>
          </a:bodyPr>
          <a:lstStyle/>
          <a:p>
            <a:pPr algn="ctr"/>
            <a:r>
              <a:rPr lang="es-MX" sz="3200" b="0" cap="none" spc="0" dirty="0">
                <a:ln w="0"/>
                <a:solidFill>
                  <a:schemeClr val="tx1"/>
                </a:solidFill>
                <a:effectLst>
                  <a:outerShdw blurRad="38100" dist="19050" dir="2700000" algn="tl" rotWithShape="0">
                    <a:schemeClr val="dk1">
                      <a:alpha val="40000"/>
                    </a:schemeClr>
                  </a:outerShdw>
                </a:effectLst>
              </a:rPr>
              <a:t>Ciclo de aplicación de ESSENCE</a:t>
            </a:r>
          </a:p>
        </p:txBody>
      </p:sp>
      <p:pic>
        <p:nvPicPr>
          <p:cNvPr id="2" name="Imagen 1">
            <a:extLst>
              <a:ext uri="{FF2B5EF4-FFF2-40B4-BE49-F238E27FC236}">
                <a16:creationId xmlns:a16="http://schemas.microsoft.com/office/drawing/2014/main" id="{2CD483D6-353A-31F5-770C-20CDD0F26071}"/>
              </a:ext>
            </a:extLst>
          </p:cNvPr>
          <p:cNvPicPr>
            <a:picLocks noChangeAspect="1"/>
          </p:cNvPicPr>
          <p:nvPr/>
        </p:nvPicPr>
        <p:blipFill>
          <a:blip r:embed="rId2"/>
          <a:stretch>
            <a:fillRect/>
          </a:stretch>
        </p:blipFill>
        <p:spPr>
          <a:xfrm>
            <a:off x="3122921" y="2634833"/>
            <a:ext cx="1295400" cy="850900"/>
          </a:xfrm>
          <a:prstGeom prst="rect">
            <a:avLst/>
          </a:prstGeom>
        </p:spPr>
      </p:pic>
      <p:pic>
        <p:nvPicPr>
          <p:cNvPr id="3" name="Imagen 2">
            <a:extLst>
              <a:ext uri="{FF2B5EF4-FFF2-40B4-BE49-F238E27FC236}">
                <a16:creationId xmlns:a16="http://schemas.microsoft.com/office/drawing/2014/main" id="{EC923811-2FAD-8A81-09AF-F402909AB455}"/>
              </a:ext>
            </a:extLst>
          </p:cNvPr>
          <p:cNvPicPr>
            <a:picLocks noChangeAspect="1"/>
          </p:cNvPicPr>
          <p:nvPr/>
        </p:nvPicPr>
        <p:blipFill>
          <a:blip r:embed="rId3"/>
          <a:stretch>
            <a:fillRect/>
          </a:stretch>
        </p:blipFill>
        <p:spPr>
          <a:xfrm>
            <a:off x="3204896" y="3781130"/>
            <a:ext cx="1130300" cy="571500"/>
          </a:xfrm>
          <a:prstGeom prst="rect">
            <a:avLst/>
          </a:prstGeom>
        </p:spPr>
      </p:pic>
      <p:pic>
        <p:nvPicPr>
          <p:cNvPr id="5" name="Imagen 4">
            <a:extLst>
              <a:ext uri="{FF2B5EF4-FFF2-40B4-BE49-F238E27FC236}">
                <a16:creationId xmlns:a16="http://schemas.microsoft.com/office/drawing/2014/main" id="{F403CF6C-76EC-A729-B8EF-8D65C93370D5}"/>
              </a:ext>
            </a:extLst>
          </p:cNvPr>
          <p:cNvPicPr>
            <a:picLocks noChangeAspect="1"/>
          </p:cNvPicPr>
          <p:nvPr/>
        </p:nvPicPr>
        <p:blipFill>
          <a:blip r:embed="rId3"/>
          <a:stretch>
            <a:fillRect/>
          </a:stretch>
        </p:blipFill>
        <p:spPr>
          <a:xfrm>
            <a:off x="3204896" y="4303112"/>
            <a:ext cx="1130300" cy="571500"/>
          </a:xfrm>
          <a:prstGeom prst="rect">
            <a:avLst/>
          </a:prstGeom>
        </p:spPr>
      </p:pic>
      <p:pic>
        <p:nvPicPr>
          <p:cNvPr id="7" name="Imagen 6">
            <a:extLst>
              <a:ext uri="{FF2B5EF4-FFF2-40B4-BE49-F238E27FC236}">
                <a16:creationId xmlns:a16="http://schemas.microsoft.com/office/drawing/2014/main" id="{FC68690F-F59D-69B1-5922-78B73E109143}"/>
              </a:ext>
            </a:extLst>
          </p:cNvPr>
          <p:cNvPicPr>
            <a:picLocks noChangeAspect="1"/>
          </p:cNvPicPr>
          <p:nvPr/>
        </p:nvPicPr>
        <p:blipFill>
          <a:blip r:embed="rId3"/>
          <a:stretch>
            <a:fillRect/>
          </a:stretch>
        </p:blipFill>
        <p:spPr>
          <a:xfrm>
            <a:off x="3204896" y="4825094"/>
            <a:ext cx="1130300" cy="571500"/>
          </a:xfrm>
          <a:prstGeom prst="rect">
            <a:avLst/>
          </a:prstGeom>
        </p:spPr>
      </p:pic>
      <p:sp>
        <p:nvSpPr>
          <p:cNvPr id="8" name="Abrir llave 7">
            <a:extLst>
              <a:ext uri="{FF2B5EF4-FFF2-40B4-BE49-F238E27FC236}">
                <a16:creationId xmlns:a16="http://schemas.microsoft.com/office/drawing/2014/main" id="{D1EFA1A3-E7DD-7157-0C53-7C9347697F75}"/>
              </a:ext>
            </a:extLst>
          </p:cNvPr>
          <p:cNvSpPr/>
          <p:nvPr/>
        </p:nvSpPr>
        <p:spPr>
          <a:xfrm rot="16200000">
            <a:off x="3587514" y="3187601"/>
            <a:ext cx="368135" cy="948752"/>
          </a:xfrm>
          <a:prstGeom prst="leftBrace">
            <a:avLst>
              <a:gd name="adj1" fmla="val 8333"/>
              <a:gd name="adj2" fmla="val 55007"/>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MX"/>
          </a:p>
        </p:txBody>
      </p:sp>
      <p:sp>
        <p:nvSpPr>
          <p:cNvPr id="9" name="Rectángulo 8">
            <a:extLst>
              <a:ext uri="{FF2B5EF4-FFF2-40B4-BE49-F238E27FC236}">
                <a16:creationId xmlns:a16="http://schemas.microsoft.com/office/drawing/2014/main" id="{47FCED1F-7C66-6861-04C0-3E987D6EB664}"/>
              </a:ext>
            </a:extLst>
          </p:cNvPr>
          <p:cNvSpPr/>
          <p:nvPr/>
        </p:nvSpPr>
        <p:spPr>
          <a:xfrm>
            <a:off x="1201910" y="4300143"/>
            <a:ext cx="1831720" cy="461665"/>
          </a:xfrm>
          <a:prstGeom prst="rect">
            <a:avLst/>
          </a:prstGeom>
          <a:noFill/>
        </p:spPr>
        <p:txBody>
          <a:bodyPr wrap="none" lIns="91440" tIns="45720" rIns="91440" bIns="45720">
            <a:spAutoFit/>
          </a:bodyPr>
          <a:lstStyle/>
          <a:p>
            <a:pPr algn="ctr"/>
            <a:r>
              <a:rPr lang="es-MX" sz="2400" b="0" cap="none" spc="0" dirty="0">
                <a:ln w="0"/>
                <a:solidFill>
                  <a:schemeClr val="tx1"/>
                </a:solidFill>
                <a:effectLst>
                  <a:outerShdw blurRad="38100" dist="19050" dir="2700000" algn="tl" rotWithShape="0">
                    <a:schemeClr val="dk1">
                      <a:alpha val="40000"/>
                    </a:schemeClr>
                  </a:outerShdw>
                </a:effectLst>
              </a:rPr>
              <a:t>Estados Alfa</a:t>
            </a:r>
          </a:p>
        </p:txBody>
      </p:sp>
      <p:sp>
        <p:nvSpPr>
          <p:cNvPr id="11" name="Onda 10">
            <a:extLst>
              <a:ext uri="{FF2B5EF4-FFF2-40B4-BE49-F238E27FC236}">
                <a16:creationId xmlns:a16="http://schemas.microsoft.com/office/drawing/2014/main" id="{DAE3EF99-8F07-86ED-75F4-C7A8A3075E8C}"/>
              </a:ext>
            </a:extLst>
          </p:cNvPr>
          <p:cNvSpPr/>
          <p:nvPr/>
        </p:nvSpPr>
        <p:spPr>
          <a:xfrm>
            <a:off x="5074545" y="3062370"/>
            <a:ext cx="2101933" cy="1567350"/>
          </a:xfrm>
          <a:prstGeom prst="wave">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s-MX" dirty="0"/>
              <a:t>Lista verificación</a:t>
            </a:r>
          </a:p>
        </p:txBody>
      </p:sp>
      <p:sp>
        <p:nvSpPr>
          <p:cNvPr id="12" name="Flecha en U 11">
            <a:extLst>
              <a:ext uri="{FF2B5EF4-FFF2-40B4-BE49-F238E27FC236}">
                <a16:creationId xmlns:a16="http://schemas.microsoft.com/office/drawing/2014/main" id="{9101411D-4A7D-34CC-E8D4-697FD146E758}"/>
              </a:ext>
            </a:extLst>
          </p:cNvPr>
          <p:cNvSpPr/>
          <p:nvPr/>
        </p:nvSpPr>
        <p:spPr>
          <a:xfrm rot="10800000">
            <a:off x="3609748" y="5086786"/>
            <a:ext cx="2890012" cy="782271"/>
          </a:xfrm>
          <a:prstGeom prst="uturn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sp>
        <p:nvSpPr>
          <p:cNvPr id="13" name="Rectángulo 12">
            <a:extLst>
              <a:ext uri="{FF2B5EF4-FFF2-40B4-BE49-F238E27FC236}">
                <a16:creationId xmlns:a16="http://schemas.microsoft.com/office/drawing/2014/main" id="{76B842CA-930E-FEE0-A369-59DC1317C41D}"/>
              </a:ext>
            </a:extLst>
          </p:cNvPr>
          <p:cNvSpPr/>
          <p:nvPr/>
        </p:nvSpPr>
        <p:spPr>
          <a:xfrm>
            <a:off x="2352415" y="2829450"/>
            <a:ext cx="696601" cy="461665"/>
          </a:xfrm>
          <a:prstGeom prst="rect">
            <a:avLst/>
          </a:prstGeom>
          <a:noFill/>
        </p:spPr>
        <p:txBody>
          <a:bodyPr wrap="none" lIns="91440" tIns="45720" rIns="91440" bIns="45720">
            <a:spAutoFit/>
          </a:bodyPr>
          <a:lstStyle/>
          <a:p>
            <a:pPr algn="ctr"/>
            <a:r>
              <a:rPr lang="es-MX" sz="2400" b="0" cap="none" spc="0" dirty="0">
                <a:ln w="0"/>
                <a:solidFill>
                  <a:schemeClr val="tx1"/>
                </a:solidFill>
                <a:effectLst>
                  <a:outerShdw blurRad="38100" dist="19050" dir="2700000" algn="tl" rotWithShape="0">
                    <a:schemeClr val="dk1">
                      <a:alpha val="40000"/>
                    </a:schemeClr>
                  </a:outerShdw>
                </a:effectLst>
              </a:rPr>
              <a:t>Alfa</a:t>
            </a:r>
          </a:p>
        </p:txBody>
      </p:sp>
      <p:sp>
        <p:nvSpPr>
          <p:cNvPr id="14" name="Flecha en U 13">
            <a:extLst>
              <a:ext uri="{FF2B5EF4-FFF2-40B4-BE49-F238E27FC236}">
                <a16:creationId xmlns:a16="http://schemas.microsoft.com/office/drawing/2014/main" id="{89AE4BEB-59F7-4CAE-0DEC-66AA566CE504}"/>
              </a:ext>
            </a:extLst>
          </p:cNvPr>
          <p:cNvSpPr/>
          <p:nvPr/>
        </p:nvSpPr>
        <p:spPr>
          <a:xfrm>
            <a:off x="3629540" y="2008717"/>
            <a:ext cx="2890012" cy="626116"/>
          </a:xfrm>
          <a:prstGeom prst="uturnArrow">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solidFill>
                <a:schemeClr val="tx1"/>
              </a:solidFill>
            </a:endParaRPr>
          </a:p>
        </p:txBody>
      </p:sp>
      <p:pic>
        <p:nvPicPr>
          <p:cNvPr id="38914" name="Picture 2" descr="Icono 2 de la gente de Msn ilustración del vector. Ilustración de insignia  - 3848206">
            <a:extLst>
              <a:ext uri="{FF2B5EF4-FFF2-40B4-BE49-F238E27FC236}">
                <a16:creationId xmlns:a16="http://schemas.microsoft.com/office/drawing/2014/main" id="{F2AD9D15-35FF-54A6-D35B-3CAD274CE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1800" y="2937144"/>
            <a:ext cx="1937468" cy="1937468"/>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32E523FF-AD57-8F3F-A502-B22175F4BED9}"/>
              </a:ext>
            </a:extLst>
          </p:cNvPr>
          <p:cNvSpPr/>
          <p:nvPr/>
        </p:nvSpPr>
        <p:spPr>
          <a:xfrm>
            <a:off x="7437731" y="4649179"/>
            <a:ext cx="2975623" cy="461665"/>
          </a:xfrm>
          <a:prstGeom prst="rect">
            <a:avLst/>
          </a:prstGeom>
          <a:noFill/>
        </p:spPr>
        <p:txBody>
          <a:bodyPr wrap="none" lIns="91440" tIns="45720" rIns="91440" bIns="45720">
            <a:spAutoFit/>
          </a:bodyPr>
          <a:lstStyle/>
          <a:p>
            <a:pPr algn="ctr"/>
            <a:r>
              <a:rPr lang="es-MX" sz="2400" b="0" cap="none" spc="0" dirty="0">
                <a:ln w="0"/>
                <a:solidFill>
                  <a:schemeClr val="tx1"/>
                </a:solidFill>
                <a:effectLst>
                  <a:outerShdw blurRad="38100" dist="19050" dir="2700000" algn="tl" rotWithShape="0">
                    <a:schemeClr val="dk1">
                      <a:alpha val="40000"/>
                    </a:schemeClr>
                  </a:outerShdw>
                </a:effectLst>
              </a:rPr>
              <a:t>Reunión de Reflexión</a:t>
            </a:r>
          </a:p>
        </p:txBody>
      </p:sp>
      <p:sp>
        <p:nvSpPr>
          <p:cNvPr id="16" name="Flecha abajo 15">
            <a:extLst>
              <a:ext uri="{FF2B5EF4-FFF2-40B4-BE49-F238E27FC236}">
                <a16:creationId xmlns:a16="http://schemas.microsoft.com/office/drawing/2014/main" id="{A2CE1886-D339-FDAE-6BD7-1EFB77773BC2}"/>
              </a:ext>
            </a:extLst>
          </p:cNvPr>
          <p:cNvSpPr/>
          <p:nvPr/>
        </p:nvSpPr>
        <p:spPr>
          <a:xfrm>
            <a:off x="4283834" y="3965196"/>
            <a:ext cx="321726" cy="1365662"/>
          </a:xfrm>
          <a:prstGeom prst="down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2527043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821126-6728-2FA2-9E09-78526F2EECD8}"/>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BB803B17-F611-F097-EEC2-1B3F61B69979}"/>
              </a:ext>
            </a:extLst>
          </p:cNvPr>
          <p:cNvGraphicFramePr>
            <a:graphicFrameLocks noGrp="1"/>
          </p:cNvGraphicFramePr>
          <p:nvPr>
            <p:extLst>
              <p:ext uri="{D42A27DB-BD31-4B8C-83A1-F6EECF244321}">
                <p14:modId xmlns:p14="http://schemas.microsoft.com/office/powerpoint/2010/main" val="1387771182"/>
              </p:ext>
            </p:extLst>
          </p:nvPr>
        </p:nvGraphicFramePr>
        <p:xfrm>
          <a:off x="987851" y="1970041"/>
          <a:ext cx="10044326" cy="4026998"/>
        </p:xfrm>
        <a:graphic>
          <a:graphicData uri="http://schemas.openxmlformats.org/drawingml/2006/table">
            <a:tbl>
              <a:tblPr/>
              <a:tblGrid>
                <a:gridCol w="3618732">
                  <a:extLst>
                    <a:ext uri="{9D8B030D-6E8A-4147-A177-3AD203B41FA5}">
                      <a16:colId xmlns:a16="http://schemas.microsoft.com/office/drawing/2014/main" val="3361406587"/>
                    </a:ext>
                  </a:extLst>
                </a:gridCol>
                <a:gridCol w="2895148">
                  <a:extLst>
                    <a:ext uri="{9D8B030D-6E8A-4147-A177-3AD203B41FA5}">
                      <a16:colId xmlns:a16="http://schemas.microsoft.com/office/drawing/2014/main" val="3516125025"/>
                    </a:ext>
                  </a:extLst>
                </a:gridCol>
                <a:gridCol w="3530446">
                  <a:extLst>
                    <a:ext uri="{9D8B030D-6E8A-4147-A177-3AD203B41FA5}">
                      <a16:colId xmlns:a16="http://schemas.microsoft.com/office/drawing/2014/main" val="3684872030"/>
                    </a:ext>
                  </a:extLst>
                </a:gridCol>
              </a:tblGrid>
              <a:tr h="386874">
                <a:tc>
                  <a:txBody>
                    <a:bodyPr/>
                    <a:lstStyle/>
                    <a:p>
                      <a:pPr algn="l" fontAlgn="ctr">
                        <a:buNone/>
                      </a:pPr>
                      <a:r>
                        <a:rPr lang="es-MX" sz="1600" b="1" i="0" u="none" strike="noStrike">
                          <a:effectLst/>
                          <a:latin typeface="Arial" panose="020B0604020202020204" pitchFamily="34" charset="0"/>
                        </a:rPr>
                        <a:t>Etapa</a:t>
                      </a:r>
                    </a:p>
                  </a:txBody>
                  <a:tcPr marL="115567" marR="115567" marT="57784" marB="57784" anchor="ctr">
                    <a:lnL>
                      <a:noFill/>
                    </a:lnL>
                    <a:lnR>
                      <a:noFill/>
                    </a:lnR>
                    <a:lnT>
                      <a:noFill/>
                    </a:lnT>
                    <a:lnB>
                      <a:noFill/>
                    </a:lnB>
                    <a:solidFill>
                      <a:schemeClr val="tx2">
                        <a:lumMod val="25000"/>
                        <a:lumOff val="75000"/>
                      </a:schemeClr>
                    </a:solidFill>
                  </a:tcPr>
                </a:tc>
                <a:tc>
                  <a:txBody>
                    <a:bodyPr/>
                    <a:lstStyle/>
                    <a:p>
                      <a:pPr algn="l" fontAlgn="ctr">
                        <a:buNone/>
                      </a:pPr>
                      <a:r>
                        <a:rPr lang="es-MX" sz="1600" b="1" i="0" u="none" strike="noStrike" dirty="0">
                          <a:effectLst/>
                          <a:latin typeface="Arial" panose="020B0604020202020204" pitchFamily="34" charset="0"/>
                        </a:rPr>
                        <a:t>“Activity Space” principal</a:t>
                      </a:r>
                    </a:p>
                  </a:txBody>
                  <a:tcPr marL="115567" marR="115567" marT="57784" marB="57784" anchor="ctr">
                    <a:lnL>
                      <a:noFill/>
                    </a:lnL>
                    <a:lnR>
                      <a:noFill/>
                    </a:lnR>
                    <a:lnT>
                      <a:noFill/>
                    </a:lnT>
                    <a:lnB>
                      <a:noFill/>
                    </a:lnB>
                    <a:solidFill>
                      <a:schemeClr val="tx2">
                        <a:lumMod val="25000"/>
                        <a:lumOff val="75000"/>
                      </a:schemeClr>
                    </a:solidFill>
                  </a:tcPr>
                </a:tc>
                <a:tc>
                  <a:txBody>
                    <a:bodyPr/>
                    <a:lstStyle/>
                    <a:p>
                      <a:pPr algn="l" fontAlgn="ctr">
                        <a:buNone/>
                      </a:pPr>
                      <a:r>
                        <a:rPr lang="es-MX" sz="1600" b="1" i="0" u="none" strike="noStrike" dirty="0">
                          <a:effectLst/>
                          <a:latin typeface="Arial" panose="020B0604020202020204" pitchFamily="34" charset="0"/>
                        </a:rPr>
                        <a:t>Alphas involucrados</a:t>
                      </a:r>
                    </a:p>
                  </a:txBody>
                  <a:tcPr marL="115567" marR="115567" marT="57784" marB="57784" anchor="ctr">
                    <a:lnL>
                      <a:noFill/>
                    </a:lnL>
                    <a:lnR>
                      <a:noFill/>
                    </a:lnR>
                    <a:lnT>
                      <a:noFill/>
                    </a:lnT>
                    <a:lnB>
                      <a:noFill/>
                    </a:lnB>
                    <a:solidFill>
                      <a:schemeClr val="tx2">
                        <a:lumMod val="25000"/>
                        <a:lumOff val="75000"/>
                      </a:schemeClr>
                    </a:solidFill>
                  </a:tcPr>
                </a:tc>
                <a:extLst>
                  <a:ext uri="{0D108BD9-81ED-4DB2-BD59-A6C34878D82A}">
                    <a16:rowId xmlns:a16="http://schemas.microsoft.com/office/drawing/2014/main" val="2852886580"/>
                  </a:ext>
                </a:extLst>
              </a:tr>
              <a:tr h="386874">
                <a:tc>
                  <a:txBody>
                    <a:bodyPr/>
                    <a:lstStyle/>
                    <a:p>
                      <a:pPr algn="l" fontAlgn="ctr">
                        <a:buNone/>
                      </a:pPr>
                      <a:r>
                        <a:rPr lang="es-MX" sz="1600" b="0" i="0" u="none" strike="noStrike">
                          <a:effectLst/>
                          <a:latin typeface="Arial" panose="020B0604020202020204" pitchFamily="34" charset="0"/>
                        </a:rPr>
                        <a:t>Definición del problema</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a:effectLst/>
                          <a:latin typeface="Arial" panose="020B0604020202020204" pitchFamily="34" charset="0"/>
                        </a:rPr>
                        <a:t>Explorar la oportunidad</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a:effectLst/>
                          <a:latin typeface="Arial" panose="020B0604020202020204" pitchFamily="34" charset="0"/>
                        </a:rPr>
                        <a:t>Oportunidad, Stakeholders</a:t>
                      </a:r>
                    </a:p>
                  </a:txBody>
                  <a:tcPr marL="115567" marR="115567" marT="57784" marB="57784" anchor="ctr">
                    <a:lnL>
                      <a:noFill/>
                    </a:lnL>
                    <a:lnR>
                      <a:noFill/>
                    </a:lnR>
                    <a:lnT>
                      <a:noFill/>
                    </a:lnT>
                    <a:lnB>
                      <a:noFill/>
                    </a:lnB>
                    <a:noFill/>
                  </a:tcPr>
                </a:tc>
                <a:extLst>
                  <a:ext uri="{0D108BD9-81ED-4DB2-BD59-A6C34878D82A}">
                    <a16:rowId xmlns:a16="http://schemas.microsoft.com/office/drawing/2014/main" val="3600375856"/>
                  </a:ext>
                </a:extLst>
              </a:tr>
              <a:tr h="650650">
                <a:tc>
                  <a:txBody>
                    <a:bodyPr/>
                    <a:lstStyle/>
                    <a:p>
                      <a:pPr algn="l" fontAlgn="ctr">
                        <a:buNone/>
                      </a:pPr>
                      <a:r>
                        <a:rPr lang="es-MX" sz="1600" b="0" i="0" u="none" strike="noStrike">
                          <a:effectLst/>
                          <a:latin typeface="Arial" panose="020B0604020202020204" pitchFamily="34" charset="0"/>
                        </a:rPr>
                        <a:t>Levantamiento de requerimientos</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a:effectLst/>
                          <a:latin typeface="Arial" panose="020B0604020202020204" pitchFamily="34" charset="0"/>
                        </a:rPr>
                        <a:t>Comprender las necesidades</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dirty="0">
                          <a:effectLst/>
                          <a:latin typeface="Arial" panose="020B0604020202020204" pitchFamily="34" charset="0"/>
                        </a:rPr>
                        <a:t>Requisitos, Stakeholders</a:t>
                      </a:r>
                    </a:p>
                  </a:txBody>
                  <a:tcPr marL="115567" marR="115567" marT="57784" marB="5778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2602297214"/>
                  </a:ext>
                </a:extLst>
              </a:tr>
              <a:tr h="650650">
                <a:tc>
                  <a:txBody>
                    <a:bodyPr/>
                    <a:lstStyle/>
                    <a:p>
                      <a:pPr algn="l" fontAlgn="ctr">
                        <a:buNone/>
                      </a:pPr>
                      <a:r>
                        <a:rPr lang="es-MX" sz="1600" b="0" i="0" u="none" strike="noStrike">
                          <a:effectLst/>
                          <a:latin typeface="Arial" panose="020B0604020202020204" pitchFamily="34" charset="0"/>
                        </a:rPr>
                        <a:t>Diseño e implementación</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a:effectLst/>
                          <a:latin typeface="Arial" panose="020B0604020202020204" pitchFamily="34" charset="0"/>
                        </a:rPr>
                        <a:t>Implementar el sistema</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dirty="0">
                          <a:effectLst/>
                          <a:latin typeface="Arial" panose="020B0604020202020204" pitchFamily="34" charset="0"/>
                        </a:rPr>
                        <a:t>Sistema de Software, Trabajo</a:t>
                      </a:r>
                    </a:p>
                  </a:txBody>
                  <a:tcPr marL="115567" marR="115567" marT="57784" marB="57784" anchor="ctr">
                    <a:lnL>
                      <a:noFill/>
                    </a:lnL>
                    <a:lnR>
                      <a:noFill/>
                    </a:lnR>
                    <a:lnT>
                      <a:noFill/>
                    </a:lnT>
                    <a:lnB>
                      <a:noFill/>
                    </a:lnB>
                    <a:noFill/>
                  </a:tcPr>
                </a:tc>
                <a:extLst>
                  <a:ext uri="{0D108BD9-81ED-4DB2-BD59-A6C34878D82A}">
                    <a16:rowId xmlns:a16="http://schemas.microsoft.com/office/drawing/2014/main" val="2336720042"/>
                  </a:ext>
                </a:extLst>
              </a:tr>
              <a:tr h="650650">
                <a:tc>
                  <a:txBody>
                    <a:bodyPr/>
                    <a:lstStyle/>
                    <a:p>
                      <a:pPr algn="l" fontAlgn="ctr">
                        <a:buNone/>
                      </a:pPr>
                      <a:r>
                        <a:rPr lang="es-MX" sz="1600" b="0" i="0" u="none" strike="noStrike">
                          <a:effectLst/>
                          <a:latin typeface="Arial" panose="020B0604020202020204" pitchFamily="34" charset="0"/>
                        </a:rPr>
                        <a:t>Pruebas y entrega</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dirty="0">
                          <a:effectLst/>
                          <a:latin typeface="Arial" panose="020B0604020202020204" pitchFamily="34" charset="0"/>
                        </a:rPr>
                        <a:t>Probar / Desplegar el sistema</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dirty="0">
                          <a:effectLst/>
                          <a:latin typeface="Arial" panose="020B0604020202020204" pitchFamily="34" charset="0"/>
                        </a:rPr>
                        <a:t>Sistema de Software, Requisitos</a:t>
                      </a:r>
                    </a:p>
                  </a:txBody>
                  <a:tcPr marL="115567" marR="115567" marT="57784" marB="5778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197903070"/>
                  </a:ext>
                </a:extLst>
              </a:tr>
              <a:tr h="650650">
                <a:tc>
                  <a:txBody>
                    <a:bodyPr/>
                    <a:lstStyle/>
                    <a:p>
                      <a:pPr algn="l" fontAlgn="ctr">
                        <a:buNone/>
                      </a:pPr>
                      <a:r>
                        <a:rPr lang="es-MX" sz="1600" b="0" i="0" u="none" strike="noStrike">
                          <a:effectLst/>
                          <a:latin typeface="Arial" panose="020B0604020202020204" pitchFamily="34" charset="0"/>
                        </a:rPr>
                        <a:t>Operación y mantenimiento</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a:effectLst/>
                          <a:latin typeface="Arial" panose="020B0604020202020204" pitchFamily="34" charset="0"/>
                        </a:rPr>
                        <a:t>Operar / Dar soporte</a:t>
                      </a:r>
                    </a:p>
                  </a:txBody>
                  <a:tcPr marL="115567" marR="115567" marT="57784" marB="57784" anchor="ctr">
                    <a:lnL>
                      <a:noFill/>
                    </a:lnL>
                    <a:lnR>
                      <a:noFill/>
                    </a:lnR>
                    <a:lnT>
                      <a:noFill/>
                    </a:lnT>
                    <a:lnB>
                      <a:noFill/>
                    </a:lnB>
                    <a:noFill/>
                  </a:tcPr>
                </a:tc>
                <a:tc>
                  <a:txBody>
                    <a:bodyPr/>
                    <a:lstStyle/>
                    <a:p>
                      <a:pPr algn="l" fontAlgn="ctr">
                        <a:buNone/>
                      </a:pPr>
                      <a:r>
                        <a:rPr lang="es-MX" sz="1600" b="0" i="0" u="none" strike="noStrike">
                          <a:effectLst/>
                          <a:latin typeface="Arial" panose="020B0604020202020204" pitchFamily="34" charset="0"/>
                        </a:rPr>
                        <a:t>Sistema de Software, Oportunidad</a:t>
                      </a:r>
                    </a:p>
                  </a:txBody>
                  <a:tcPr marL="115567" marR="115567" marT="57784" marB="57784" anchor="ctr">
                    <a:lnL>
                      <a:noFill/>
                    </a:lnL>
                    <a:lnR>
                      <a:noFill/>
                    </a:lnR>
                    <a:lnT>
                      <a:noFill/>
                    </a:lnT>
                    <a:lnB>
                      <a:noFill/>
                    </a:lnB>
                    <a:noFill/>
                  </a:tcPr>
                </a:tc>
                <a:extLst>
                  <a:ext uri="{0D108BD9-81ED-4DB2-BD59-A6C34878D82A}">
                    <a16:rowId xmlns:a16="http://schemas.microsoft.com/office/drawing/2014/main" val="1684040954"/>
                  </a:ext>
                </a:extLst>
              </a:tr>
              <a:tr h="650650">
                <a:tc>
                  <a:txBody>
                    <a:bodyPr/>
                    <a:lstStyle/>
                    <a:p>
                      <a:pPr algn="l" fontAlgn="ctr">
                        <a:buNone/>
                      </a:pPr>
                      <a:r>
                        <a:rPr lang="es-MX" sz="1600" b="0" i="0" u="none" strike="noStrike">
                          <a:effectLst/>
                          <a:latin typeface="Arial" panose="020B0604020202020204" pitchFamily="34" charset="0"/>
                        </a:rPr>
                        <a:t>Retrospectiva del equipo</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a:effectLst/>
                          <a:latin typeface="Arial" panose="020B0604020202020204" pitchFamily="34" charset="0"/>
                        </a:rPr>
                        <a:t>Evaluar / Evolucionar la forma de trabajo</a:t>
                      </a:r>
                    </a:p>
                  </a:txBody>
                  <a:tcPr marL="115567" marR="115567" marT="57784" marB="57784" anchor="ctr">
                    <a:lnL>
                      <a:noFill/>
                    </a:lnL>
                    <a:lnR>
                      <a:noFill/>
                    </a:lnR>
                    <a:lnT>
                      <a:noFill/>
                    </a:lnT>
                    <a:lnB>
                      <a:noFill/>
                    </a:lnB>
                    <a:solidFill>
                      <a:schemeClr val="accent6">
                        <a:lumMod val="20000"/>
                        <a:lumOff val="80000"/>
                      </a:schemeClr>
                    </a:solidFill>
                  </a:tcPr>
                </a:tc>
                <a:tc>
                  <a:txBody>
                    <a:bodyPr/>
                    <a:lstStyle/>
                    <a:p>
                      <a:pPr algn="l" fontAlgn="ctr">
                        <a:buNone/>
                      </a:pPr>
                      <a:r>
                        <a:rPr lang="es-MX" sz="1600" b="0" i="0" u="none" strike="noStrike" dirty="0">
                          <a:effectLst/>
                          <a:latin typeface="Arial" panose="020B0604020202020204" pitchFamily="34" charset="0"/>
                        </a:rPr>
                        <a:t>Forma de trabajo, Equipo</a:t>
                      </a:r>
                    </a:p>
                  </a:txBody>
                  <a:tcPr marL="115567" marR="115567" marT="57784" marB="57784" anchor="ctr">
                    <a:lnL>
                      <a:noFill/>
                    </a:lnL>
                    <a:lnR>
                      <a:noFill/>
                    </a:lnR>
                    <a:lnT>
                      <a:noFill/>
                    </a:lnT>
                    <a:lnB>
                      <a:noFill/>
                    </a:lnB>
                    <a:solidFill>
                      <a:schemeClr val="accent6">
                        <a:lumMod val="20000"/>
                        <a:lumOff val="80000"/>
                      </a:schemeClr>
                    </a:solidFill>
                  </a:tcPr>
                </a:tc>
                <a:extLst>
                  <a:ext uri="{0D108BD9-81ED-4DB2-BD59-A6C34878D82A}">
                    <a16:rowId xmlns:a16="http://schemas.microsoft.com/office/drawing/2014/main" val="3233482220"/>
                  </a:ext>
                </a:extLst>
              </a:tr>
            </a:tbl>
          </a:graphicData>
        </a:graphic>
      </p:graphicFrame>
      <p:sp>
        <p:nvSpPr>
          <p:cNvPr id="6" name="CuadroTexto 5">
            <a:extLst>
              <a:ext uri="{FF2B5EF4-FFF2-40B4-BE49-F238E27FC236}">
                <a16:creationId xmlns:a16="http://schemas.microsoft.com/office/drawing/2014/main" id="{81CA3B2B-1BAF-DFB2-557C-E18455E841FF}"/>
              </a:ext>
            </a:extLst>
          </p:cNvPr>
          <p:cNvSpPr txBox="1"/>
          <p:nvPr/>
        </p:nvSpPr>
        <p:spPr>
          <a:xfrm>
            <a:off x="892850" y="777833"/>
            <a:ext cx="10044324" cy="1107996"/>
          </a:xfrm>
          <a:prstGeom prst="rect">
            <a:avLst/>
          </a:prstGeom>
          <a:noFill/>
        </p:spPr>
        <p:txBody>
          <a:bodyPr wrap="square">
            <a:spAutoFit/>
          </a:bodyPr>
          <a:lstStyle/>
          <a:p>
            <a:pPr>
              <a:buNone/>
            </a:pPr>
            <a:r>
              <a:rPr lang="es-MX" sz="2400" b="1" dirty="0"/>
              <a:t>Otro ejemplo práctico</a:t>
            </a:r>
          </a:p>
          <a:p>
            <a:pPr>
              <a:buNone/>
            </a:pPr>
            <a:endParaRPr lang="es-MX" sz="2400" b="1" dirty="0"/>
          </a:p>
          <a:p>
            <a:pPr>
              <a:buNone/>
            </a:pPr>
            <a:r>
              <a:rPr lang="es-MX" dirty="0"/>
              <a:t>Considérese un proyecto de “Sistema de gestión de citas médicas”:</a:t>
            </a:r>
          </a:p>
        </p:txBody>
      </p:sp>
    </p:spTree>
    <p:extLst>
      <p:ext uri="{BB962C8B-B14F-4D97-AF65-F5344CB8AC3E}">
        <p14:creationId xmlns:p14="http://schemas.microsoft.com/office/powerpoint/2010/main" val="11383605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40313-564A-26A9-DD86-5085B87560D9}"/>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92A57FB2-AF30-B4F4-836D-DCDAB7D7170F}"/>
              </a:ext>
            </a:extLst>
          </p:cNvPr>
          <p:cNvSpPr txBox="1"/>
          <p:nvPr/>
        </p:nvSpPr>
        <p:spPr>
          <a:xfrm>
            <a:off x="1120360" y="1979864"/>
            <a:ext cx="10351204" cy="3970318"/>
          </a:xfrm>
          <a:prstGeom prst="rect">
            <a:avLst/>
          </a:prstGeom>
          <a:noFill/>
        </p:spPr>
        <p:txBody>
          <a:bodyPr wrap="square">
            <a:spAutoFit/>
          </a:bodyPr>
          <a:lstStyle/>
          <a:p>
            <a:r>
              <a:rPr lang="es-MX" b="1" dirty="0">
                <a:latin typeface="Arial" panose="020B0604020202020204" pitchFamily="34" charset="0"/>
                <a:cs typeface="Arial" panose="020B0604020202020204" pitchFamily="34" charset="0"/>
              </a:rPr>
              <a:t>Análisis de salud del proyecto:</a:t>
            </a:r>
            <a:r>
              <a:rPr lang="es-MX" dirty="0">
                <a:latin typeface="Arial" panose="020B0604020202020204" pitchFamily="34" charset="0"/>
                <a:cs typeface="Arial" panose="020B0604020202020204" pitchFamily="34" charset="0"/>
              </a:rPr>
              <a:t> En una reunión de revisión semanal, el equipo revisa el estado de cada uno de los siete alfas (oportunidad, interesados, requerimientos, sistema de software, equipo, forma de trabajar, trabajo).</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Seguimiento de la evolución:</a:t>
            </a:r>
            <a:r>
              <a:rPr lang="es-MX" dirty="0">
                <a:latin typeface="Arial" panose="020B0604020202020204" pitchFamily="34" charset="0"/>
                <a:cs typeface="Arial" panose="020B0604020202020204" pitchFamily="34" charset="0"/>
              </a:rPr>
              <a:t> Identifican que el alfa "requerimientos" está en el estado "incompleto". La lista de verificación para ese estado podría indicar que faltan casos de uso críticos.</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Toma de decisiones:</a:t>
            </a:r>
            <a:r>
              <a:rPr lang="es-MX" dirty="0">
                <a:latin typeface="Arial" panose="020B0604020202020204" pitchFamily="34" charset="0"/>
                <a:cs typeface="Arial" panose="020B0604020202020204" pitchFamily="34" charset="0"/>
              </a:rPr>
              <a:t> Se decide priorizar la definición de esos casos de uso en la próxima iteración del sprint.</a:t>
            </a:r>
          </a:p>
          <a:p>
            <a:endParaRPr lang="es-MX" dirty="0">
              <a:latin typeface="Arial" panose="020B0604020202020204" pitchFamily="34" charset="0"/>
              <a:cs typeface="Arial" panose="020B0604020202020204" pitchFamily="34" charset="0"/>
            </a:endParaRPr>
          </a:p>
          <a:p>
            <a:r>
              <a:rPr lang="es-MX" b="1" dirty="0">
                <a:latin typeface="Arial" panose="020B0604020202020204" pitchFamily="34" charset="0"/>
                <a:cs typeface="Arial" panose="020B0604020202020204" pitchFamily="34" charset="0"/>
              </a:rPr>
              <a:t>Reflexión sobre la "forma de trabajar":</a:t>
            </a:r>
            <a:r>
              <a:rPr lang="es-MX" dirty="0">
                <a:latin typeface="Arial" panose="020B0604020202020204" pitchFamily="34" charset="0"/>
                <a:cs typeface="Arial" panose="020B0604020202020204" pitchFamily="34" charset="0"/>
              </a:rPr>
              <a:t> Al analizar el estado del alfa "forma de trabajar", el equipo podría darse cuenta de que la comunicación es un problema y que debería pasar de un estado de "ejecutando" a "colaborando" de forma más activa. La solución podría ser introducir ceremonias de integración más frecuentes o mejorar las herramientas de colaboración. </a:t>
            </a:r>
          </a:p>
        </p:txBody>
      </p:sp>
      <p:sp>
        <p:nvSpPr>
          <p:cNvPr id="6" name="Rectángulo 5">
            <a:extLst>
              <a:ext uri="{FF2B5EF4-FFF2-40B4-BE49-F238E27FC236}">
                <a16:creationId xmlns:a16="http://schemas.microsoft.com/office/drawing/2014/main" id="{BEC21912-CC55-03A4-4569-8CC34D93376F}"/>
              </a:ext>
            </a:extLst>
          </p:cNvPr>
          <p:cNvSpPr/>
          <p:nvPr/>
        </p:nvSpPr>
        <p:spPr>
          <a:xfrm>
            <a:off x="1120360" y="907818"/>
            <a:ext cx="6558206" cy="923330"/>
          </a:xfrm>
          <a:prstGeom prst="rect">
            <a:avLst/>
          </a:prstGeom>
          <a:noFill/>
        </p:spPr>
        <p:txBody>
          <a:bodyPr wrap="non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Ejemplos específicos</a:t>
            </a:r>
          </a:p>
        </p:txBody>
      </p:sp>
    </p:spTree>
    <p:extLst>
      <p:ext uri="{BB962C8B-B14F-4D97-AF65-F5344CB8AC3E}">
        <p14:creationId xmlns:p14="http://schemas.microsoft.com/office/powerpoint/2010/main" val="2661269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08B8A-A853-66FC-82A6-04112DB59C41}"/>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3D32159-D89E-1C64-C838-299DD6CCDA16}"/>
              </a:ext>
            </a:extLst>
          </p:cNvPr>
          <p:cNvSpPr txBox="1"/>
          <p:nvPr/>
        </p:nvSpPr>
        <p:spPr>
          <a:xfrm>
            <a:off x="1077191" y="1976645"/>
            <a:ext cx="10037618" cy="1815882"/>
          </a:xfrm>
          <a:prstGeom prst="rect">
            <a:avLst/>
          </a:prstGeom>
          <a:noFill/>
        </p:spPr>
        <p:txBody>
          <a:bodyPr wrap="square">
            <a:spAutoFit/>
          </a:bodyPr>
          <a:lstStyle/>
          <a:p>
            <a:r>
              <a:rPr lang="es-MX" sz="1400" dirty="0">
                <a:latin typeface="Courier New" panose="02070309020205020404" pitchFamily="49" charset="0"/>
                <a:cs typeface="Courier New" panose="02070309020205020404" pitchFamily="49" charset="0"/>
              </a:rPr>
              <a:t>Ivar Jacobson International. </a:t>
            </a:r>
            <a:r>
              <a:rPr lang="es-MX" sz="1400" b="1" dirty="0">
                <a:latin typeface="Courier New" panose="02070309020205020404" pitchFamily="49" charset="0"/>
                <a:cs typeface="Courier New" panose="02070309020205020404" pitchFamily="49" charset="0"/>
              </a:rPr>
              <a:t>ESSENCE POCKET GUIDE A quick introduction to Essence</a:t>
            </a:r>
            <a:r>
              <a:rPr lang="es-MX" sz="1400" dirty="0">
                <a:latin typeface="Courier New" panose="02070309020205020404" pitchFamily="49" charset="0"/>
                <a:cs typeface="Courier New" panose="02070309020205020404" pitchFamily="49" charset="0"/>
              </a:rPr>
              <a:t>. Copyright 2019 Ivar Jacobson International, </a:t>
            </a:r>
            <a:r>
              <a:rPr lang="es-MX" sz="1400" dirty="0">
                <a:latin typeface="Courier New" panose="02070309020205020404" pitchFamily="49" charset="0"/>
                <a:cs typeface="Courier New" panose="02070309020205020404" pitchFamily="49" charset="0"/>
                <a:hlinkClick r:id="rId2"/>
              </a:rPr>
              <a:t>www.ivarjacobson.com</a:t>
            </a:r>
            <a:endParaRPr lang="es-MX" sz="1400" dirty="0">
              <a:latin typeface="Courier New" panose="02070309020205020404" pitchFamily="49" charset="0"/>
              <a:cs typeface="Courier New" panose="02070309020205020404" pitchFamily="49" charset="0"/>
            </a:endParaRPr>
          </a:p>
          <a:p>
            <a:endParaRPr lang="es-MX" sz="1400" dirty="0">
              <a:latin typeface="Courier New" panose="02070309020205020404" pitchFamily="49" charset="0"/>
              <a:cs typeface="Courier New" panose="02070309020205020404" pitchFamily="49" charset="0"/>
            </a:endParaRPr>
          </a:p>
          <a:p>
            <a:r>
              <a:rPr lang="es-MX" sz="1400" dirty="0">
                <a:latin typeface="Courier New" panose="02070309020205020404" pitchFamily="49" charset="0"/>
                <a:cs typeface="Courier New" panose="02070309020205020404" pitchFamily="49" charset="0"/>
              </a:rPr>
              <a:t>ESSENCE - Kernel and Language for Software Engineering Methods 1.0 - Beta 2 </a:t>
            </a:r>
            <a:r>
              <a:rPr lang="es-MX" sz="1400" dirty="0">
                <a:latin typeface="Courier New" panose="02070309020205020404" pitchFamily="49" charset="0"/>
                <a:cs typeface="Courier New" panose="02070309020205020404" pitchFamily="49" charset="0"/>
                <a:hlinkClick r:id="rId3"/>
              </a:rPr>
              <a:t>http://www.omg.org/spec/Essence/1.0/Beta2</a:t>
            </a:r>
            <a:r>
              <a:rPr lang="es-MX" sz="1400" dirty="0">
                <a:latin typeface="Courier New" panose="02070309020205020404" pitchFamily="49" charset="0"/>
                <a:cs typeface="Courier New" panose="02070309020205020404" pitchFamily="49" charset="0"/>
              </a:rPr>
              <a:t>/</a:t>
            </a:r>
          </a:p>
          <a:p>
            <a:endParaRPr lang="es-MX" sz="1400" dirty="0">
              <a:latin typeface="Courier New" panose="02070309020205020404" pitchFamily="49" charset="0"/>
              <a:cs typeface="Courier New" panose="02070309020205020404" pitchFamily="49" charset="0"/>
            </a:endParaRPr>
          </a:p>
          <a:p>
            <a:r>
              <a:rPr lang="es-MX" sz="1400" dirty="0">
                <a:latin typeface="Courier New" panose="02070309020205020404" pitchFamily="49" charset="0"/>
                <a:cs typeface="Courier New" panose="02070309020205020404" pitchFamily="49" charset="0"/>
              </a:rPr>
              <a:t>Ivar Jacobson and all. The Essence of Software Engineering: Applying the SEMAT Kernel, Addison-Wesley, 2013.</a:t>
            </a:r>
          </a:p>
        </p:txBody>
      </p:sp>
      <p:sp>
        <p:nvSpPr>
          <p:cNvPr id="3" name="Rectángulo 2">
            <a:extLst>
              <a:ext uri="{FF2B5EF4-FFF2-40B4-BE49-F238E27FC236}">
                <a16:creationId xmlns:a16="http://schemas.microsoft.com/office/drawing/2014/main" id="{E4FBB818-377F-F68C-BAF5-6DBA7332AEE7}"/>
              </a:ext>
            </a:extLst>
          </p:cNvPr>
          <p:cNvSpPr/>
          <p:nvPr/>
        </p:nvSpPr>
        <p:spPr>
          <a:xfrm>
            <a:off x="962981" y="1053315"/>
            <a:ext cx="3737883" cy="923330"/>
          </a:xfrm>
          <a:prstGeom prst="rect">
            <a:avLst/>
          </a:prstGeom>
          <a:noFill/>
        </p:spPr>
        <p:txBody>
          <a:bodyPr wrap="none" lIns="91440" tIns="45720" rIns="91440" bIns="45720">
            <a:spAutoFit/>
          </a:bodyPr>
          <a:lstStyle/>
          <a:p>
            <a:pPr algn="ctr"/>
            <a:r>
              <a:rPr lang="es-MX" sz="5400" b="0" cap="none" spc="0" dirty="0">
                <a:ln w="0"/>
                <a:solidFill>
                  <a:schemeClr val="tx1"/>
                </a:solidFill>
                <a:effectLst>
                  <a:outerShdw blurRad="38100" dist="19050" dir="2700000" algn="tl" rotWithShape="0">
                    <a:schemeClr val="dk1">
                      <a:alpha val="40000"/>
                    </a:schemeClr>
                  </a:outerShdw>
                </a:effectLst>
              </a:rPr>
              <a:t>Referencias</a:t>
            </a:r>
          </a:p>
        </p:txBody>
      </p:sp>
    </p:spTree>
    <p:extLst>
      <p:ext uri="{BB962C8B-B14F-4D97-AF65-F5344CB8AC3E}">
        <p14:creationId xmlns:p14="http://schemas.microsoft.com/office/powerpoint/2010/main" val="25122786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4386</TotalTime>
  <Words>4972</Words>
  <Application>Microsoft Macintosh PowerPoint</Application>
  <PresentationFormat>Panorámica</PresentationFormat>
  <Paragraphs>568</Paragraphs>
  <Slides>61</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61</vt:i4>
      </vt:variant>
    </vt:vector>
  </HeadingPairs>
  <TitlesOfParts>
    <vt:vector size="66" baseType="lpstr">
      <vt:lpstr>Aptos</vt:lpstr>
      <vt:lpstr>Aptos Display</vt:lpstr>
      <vt:lpstr>Arial</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reyes juarez</dc:creator>
  <cp:lastModifiedBy>reyes juarez</cp:lastModifiedBy>
  <cp:revision>25</cp:revision>
  <dcterms:created xsi:type="dcterms:W3CDTF">2025-10-09T03:40:19Z</dcterms:created>
  <dcterms:modified xsi:type="dcterms:W3CDTF">2025-10-12T04:46:34Z</dcterms:modified>
</cp:coreProperties>
</file>