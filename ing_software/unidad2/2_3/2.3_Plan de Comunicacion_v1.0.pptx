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37" r:id="rId3"/>
    <p:sldId id="468" r:id="rId4"/>
    <p:sldId id="573" r:id="rId5"/>
    <p:sldId id="583" r:id="rId6"/>
    <p:sldId id="575" r:id="rId7"/>
    <p:sldId id="577" r:id="rId8"/>
    <p:sldId id="584" r:id="rId9"/>
    <p:sldId id="581" r:id="rId10"/>
    <p:sldId id="580" r:id="rId11"/>
    <p:sldId id="586" r:id="rId12"/>
    <p:sldId id="578" r:id="rId13"/>
    <p:sldId id="585" r:id="rId14"/>
    <p:sldId id="579" r:id="rId15"/>
    <p:sldId id="576" r:id="rId16"/>
    <p:sldId id="587" r:id="rId17"/>
    <p:sldId id="597" r:id="rId18"/>
    <p:sldId id="596" r:id="rId19"/>
    <p:sldId id="595" r:id="rId20"/>
    <p:sldId id="588" r:id="rId21"/>
    <p:sldId id="589" r:id="rId22"/>
    <p:sldId id="572" r:id="rId23"/>
    <p:sldId id="582" r:id="rId24"/>
    <p:sldId id="590" r:id="rId25"/>
    <p:sldId id="591" r:id="rId26"/>
    <p:sldId id="574" r:id="rId27"/>
    <p:sldId id="593" r:id="rId28"/>
    <p:sldId id="592" r:id="rId29"/>
    <p:sldId id="594" r:id="rId30"/>
    <p:sldId id="571" r:id="rId31"/>
    <p:sldId id="602" r:id="rId32"/>
    <p:sldId id="601" r:id="rId33"/>
    <p:sldId id="600" r:id="rId34"/>
    <p:sldId id="599" r:id="rId35"/>
    <p:sldId id="598" r:id="rId36"/>
    <p:sldId id="604" r:id="rId37"/>
    <p:sldId id="603" r:id="rId38"/>
    <p:sldId id="570" r:id="rId39"/>
    <p:sldId id="434" r:id="rId4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66"/>
    <p:restoredTop sz="94694"/>
  </p:normalViewPr>
  <p:slideViewPr>
    <p:cSldViewPr snapToGrid="0">
      <p:cViewPr>
        <p:scale>
          <a:sx n="116" d="100"/>
          <a:sy n="116" d="100"/>
        </p:scale>
        <p:origin x="416"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A4CDE-6755-F74A-8469-26E991703197}" type="datetimeFigureOut">
              <a:rPr lang="es-MX" smtClean="0"/>
              <a:t>30/08/25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A1CE47-9AEA-8E40-8DC3-97779E80C823}" type="slidenum">
              <a:rPr lang="es-MX" smtClean="0"/>
              <a:t>‹Nº›</a:t>
            </a:fld>
            <a:endParaRPr lang="es-MX"/>
          </a:p>
        </p:txBody>
      </p:sp>
    </p:spTree>
    <p:extLst>
      <p:ext uri="{BB962C8B-B14F-4D97-AF65-F5344CB8AC3E}">
        <p14:creationId xmlns:p14="http://schemas.microsoft.com/office/powerpoint/2010/main" val="2356385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55A1CE47-9AEA-8E40-8DC3-97779E80C823}" type="slidenum">
              <a:rPr lang="es-MX" smtClean="0"/>
              <a:t>1</a:t>
            </a:fld>
            <a:endParaRPr lang="es-MX"/>
          </a:p>
        </p:txBody>
      </p:sp>
    </p:spTree>
    <p:extLst>
      <p:ext uri="{BB962C8B-B14F-4D97-AF65-F5344CB8AC3E}">
        <p14:creationId xmlns:p14="http://schemas.microsoft.com/office/powerpoint/2010/main" val="4066257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584816-6D25-6C12-C14B-289F7FE9B379}"/>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76E83CBD-28A8-C942-AF78-721BCF59F7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AC9CAD2C-C0A6-4EB6-67E2-58CAF3C298B7}"/>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F2AF0107-0793-974D-7425-BA167AE649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FA970AE-838F-6051-7FDC-63366D73A5A9}"/>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038919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413CD3-A2DB-083B-ABD1-310FB6D8D709}"/>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BDE85F3-9048-E0A3-C2FA-F730D6FF5750}"/>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244629D-9B74-994C-E5D5-0D93478BD55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FEFC7AE2-65F6-064E-9DB2-1131623147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D72B8ED-674A-DCCA-2918-05B10DE17D5D}"/>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763211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04561E-22CB-CEA9-EB7E-9C395BF13A9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5E05E39F-0342-7DE5-4AF8-2AD595B73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25219128-18CF-584B-B0B7-221F03AAF312}"/>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CF23FFDC-7AF3-A57E-FDC7-77FDEEF0807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678DE0B-658E-CDF8-7C26-44F80B4B1553}"/>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873517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74E60C-2BFF-464F-0A8A-72EED26A912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8C577B8-D164-6069-8699-A61B822BA69B}"/>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0D925709-67D8-C4B6-78A8-A3914542C293}"/>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416DB079-C96D-52B0-6CF8-02EA06E4B1C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30FFBF88-4307-854D-ADED-242EE4778C5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730990E-5620-ED63-FAAE-4362CDCC2A55}"/>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145169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848B20-DA76-DA91-2184-DEE2474A4809}"/>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6E6C573A-2DAB-0725-5A73-32721DEBCC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9CD1F919-C9F2-486A-AE36-D0EF71149A0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4BB08E1E-CA38-9DAF-8DAA-CD3AB32401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1DFF8693-44AD-F35B-C112-C434C8161A3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ABACBBF4-4EDB-F6E5-4215-4EF2BB019653}"/>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8" name="Marcador de pie de página 7">
            <a:extLst>
              <a:ext uri="{FF2B5EF4-FFF2-40B4-BE49-F238E27FC236}">
                <a16:creationId xmlns:a16="http://schemas.microsoft.com/office/drawing/2014/main" id="{1F7F687A-441A-A091-5443-663717C9772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FE5B0CB-8E21-B12B-DACA-958269BD250E}"/>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4282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ADC1B2-30D9-9FE0-9813-08CD4146D121}"/>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B6ED13D7-1670-60D9-CF67-0E34F225895B}"/>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4" name="Marcador de pie de página 3">
            <a:extLst>
              <a:ext uri="{FF2B5EF4-FFF2-40B4-BE49-F238E27FC236}">
                <a16:creationId xmlns:a16="http://schemas.microsoft.com/office/drawing/2014/main" id="{6E852A0D-6B75-67CD-3481-B61E229947A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CFBAD19-2676-0A59-4706-38B416D8EB5E}"/>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61515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3A64F26-9454-BBED-F945-7DE07AFFE4F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3" name="Marcador de pie de página 2">
            <a:extLst>
              <a:ext uri="{FF2B5EF4-FFF2-40B4-BE49-F238E27FC236}">
                <a16:creationId xmlns:a16="http://schemas.microsoft.com/office/drawing/2014/main" id="{FE5315C6-820D-DD66-BA57-3E6496EA712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FECD766-D6C3-0C99-82BA-13D5EDC90368}"/>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4151672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DF7BCB-E881-F24C-1C9E-5E8F0E92C02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00F8777F-817F-A3C5-8DB4-728F43A153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9191A7BF-CF5F-BFA2-F77E-C704BCF35D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8A3C320-6666-5DD2-6959-5CEDEEAC49E0}"/>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EAEFE3E2-4586-54D3-10D5-CDCB49EB06D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99C1F13-7B9A-4424-4F0C-9B47D8188108}"/>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334936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A1C2DD-25DB-8179-AEF0-28F5EC226A9F}"/>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1F5B1197-1929-3114-57C8-549AE73D3D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A057A72-D5D5-2D24-2DF8-BA7FB849E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3B86E3F-18BE-60C0-9306-15FFBEC42136}"/>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6" name="Marcador de pie de página 5">
            <a:extLst>
              <a:ext uri="{FF2B5EF4-FFF2-40B4-BE49-F238E27FC236}">
                <a16:creationId xmlns:a16="http://schemas.microsoft.com/office/drawing/2014/main" id="{357997E0-3AC6-07FB-A05D-C4502FBC72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226BF2A-FD70-E031-1A8C-CAE3C9718004}"/>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952534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D801E6-D506-A38B-219F-EFF289CCA6B1}"/>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209DE57-6CEE-98BE-5CF1-7E5A3BA308A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115EACDA-892F-9FD4-8B6B-EF35E275C237}"/>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3F4BF0DA-23EB-60FA-4FC0-8ED3A163536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1B8346-F00D-6182-D81B-2EFC64D47D21}"/>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1877297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C9EF86F-AA80-DE0F-6830-94529DF5330C}"/>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C28C6697-25C6-3CF3-366D-0F2DC7848CC3}"/>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CFA5622A-5700-CBC4-C04E-18D50A13A41E}"/>
              </a:ext>
            </a:extLst>
          </p:cNvPr>
          <p:cNvSpPr>
            <a:spLocks noGrp="1"/>
          </p:cNvSpPr>
          <p:nvPr>
            <p:ph type="dt" sz="half" idx="10"/>
          </p:nvPr>
        </p:nvSpPr>
        <p:spPr/>
        <p:txBody>
          <a:body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3652B39E-B80F-52B5-498C-0F31149248E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8F97D0F-2FAE-2CAE-EE0B-5E3858A65790}"/>
              </a:ext>
            </a:extLst>
          </p:cNvPr>
          <p:cNvSpPr>
            <a:spLocks noGrp="1"/>
          </p:cNvSpPr>
          <p:nvPr>
            <p:ph type="sldNum" sz="quarter" idx="12"/>
          </p:nvPr>
        </p:nvSpPr>
        <p:spPr/>
        <p:txBody>
          <a:bodyPr/>
          <a:lstStyle/>
          <a:p>
            <a:fld id="{76E9E8F2-97EA-8747-9075-0E28424E3AEA}" type="slidenum">
              <a:rPr lang="es-MX" smtClean="0"/>
              <a:t>‹Nº›</a:t>
            </a:fld>
            <a:endParaRPr lang="es-MX"/>
          </a:p>
        </p:txBody>
      </p:sp>
    </p:spTree>
    <p:extLst>
      <p:ext uri="{BB962C8B-B14F-4D97-AF65-F5344CB8AC3E}">
        <p14:creationId xmlns:p14="http://schemas.microsoft.com/office/powerpoint/2010/main" val="2245310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33B8776-EC2E-F224-60F3-EC0C23AD77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1BA80B43-2E3A-E972-0F20-328BEB1C8D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8398519-AB97-8923-092E-43BE099241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D3127D-7396-D344-B70E-1F9C6F8F9B73}" type="datetimeFigureOut">
              <a:rPr lang="es-MX" smtClean="0"/>
              <a:t>30/08/25</a:t>
            </a:fld>
            <a:endParaRPr lang="es-MX"/>
          </a:p>
        </p:txBody>
      </p:sp>
      <p:sp>
        <p:nvSpPr>
          <p:cNvPr id="5" name="Marcador de pie de página 4">
            <a:extLst>
              <a:ext uri="{FF2B5EF4-FFF2-40B4-BE49-F238E27FC236}">
                <a16:creationId xmlns:a16="http://schemas.microsoft.com/office/drawing/2014/main" id="{730D9F59-2338-9418-CA42-EDD3288B8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4D7B869C-E006-7FE2-B5D2-1666559842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E9E8F2-97EA-8747-9075-0E28424E3AEA}" type="slidenum">
              <a:rPr lang="es-MX" smtClean="0"/>
              <a:t>‹Nº›</a:t>
            </a:fld>
            <a:endParaRPr lang="es-MX"/>
          </a:p>
        </p:txBody>
      </p:sp>
    </p:spTree>
    <p:extLst>
      <p:ext uri="{BB962C8B-B14F-4D97-AF65-F5344CB8AC3E}">
        <p14:creationId xmlns:p14="http://schemas.microsoft.com/office/powerpoint/2010/main" val="3241968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pipedrive.com/es/blog/investigacion-agendar-reuniones-venta" TargetMode="External"/><Relationship Id="rId2" Type="http://schemas.openxmlformats.org/officeDocument/2006/relationships/hyperlink" Target="https://www.pipedrive.com/es/blog/estrategia-omnicanal" TargetMode="External"/><Relationship Id="rId1" Type="http://schemas.openxmlformats.org/officeDocument/2006/relationships/slideLayout" Target="../slideLayouts/slideLayout1.xml"/><Relationship Id="rId5" Type="http://schemas.openxmlformats.org/officeDocument/2006/relationships/hyperlink" Target="https://www.pipedrive.com/es/blog/metricas-de-ventas" TargetMode="External"/><Relationship Id="rId4" Type="http://schemas.openxmlformats.org/officeDocument/2006/relationships/hyperlink" Target="https://www.pipedrive.com/es/products/sales/scheduling-too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clickup.com/es-ES/blog/70422/analisis-de-las-partes-interesadas" TargetMode="External"/><Relationship Id="rId2" Type="http://schemas.openxmlformats.org/officeDocument/2006/relationships/hyperlink" Target="https://clickup.com/es-ES/blog/47698/plantillas-de-planes-de-comunicacion" TargetMode="External"/><Relationship Id="rId1" Type="http://schemas.openxmlformats.org/officeDocument/2006/relationships/slideLayout" Target="../slideLayouts/slideLayout1.xml"/><Relationship Id="rId4" Type="http://schemas.openxmlformats.org/officeDocument/2006/relationships/hyperlink" Target="https://clickup.com/es-ES/blog/71998/metas-de-comunicacion"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clickup.com/es-ES/blog/70387/objetivos-del-proyecto"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clickup.com/es-ES/blog/56658/plantillas-de-recorrido-del-cliente"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clickup.com/es-ES/blog/48192/estrategias-de-comunicacion"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7A6676D-7840-9F62-69AC-C022B2135BD4}"/>
              </a:ext>
            </a:extLst>
          </p:cNvPr>
          <p:cNvPicPr>
            <a:picLocks noChangeAspect="1"/>
          </p:cNvPicPr>
          <p:nvPr/>
        </p:nvPicPr>
        <p:blipFill>
          <a:blip r:embed="rId3"/>
          <a:stretch>
            <a:fillRect/>
          </a:stretch>
        </p:blipFill>
        <p:spPr>
          <a:xfrm>
            <a:off x="1064173" y="622737"/>
            <a:ext cx="1153727" cy="1571953"/>
          </a:xfrm>
          <a:prstGeom prst="rect">
            <a:avLst/>
          </a:prstGeom>
        </p:spPr>
      </p:pic>
      <p:sp>
        <p:nvSpPr>
          <p:cNvPr id="6" name="Rectángulo 5">
            <a:extLst>
              <a:ext uri="{FF2B5EF4-FFF2-40B4-BE49-F238E27FC236}">
                <a16:creationId xmlns:a16="http://schemas.microsoft.com/office/drawing/2014/main" id="{11817BBA-DF9D-F047-4902-989C5C99B79C}"/>
              </a:ext>
            </a:extLst>
          </p:cNvPr>
          <p:cNvSpPr/>
          <p:nvPr/>
        </p:nvSpPr>
        <p:spPr>
          <a:xfrm>
            <a:off x="1001110" y="2598004"/>
            <a:ext cx="10326414" cy="584775"/>
          </a:xfrm>
          <a:prstGeom prst="rect">
            <a:avLst/>
          </a:prstGeom>
          <a:noFill/>
        </p:spPr>
        <p:txBody>
          <a:bodyPr wrap="square" lIns="91440" tIns="45720" rIns="91440" bIns="45720">
            <a:spAutoFit/>
          </a:bodyPr>
          <a:lstStyle/>
          <a:p>
            <a:pPr algn="ctr"/>
            <a:r>
              <a:rPr lang="es-MX" sz="3200" b="1" dirty="0">
                <a:latin typeface="Arial" panose="020B0604020202020204" pitchFamily="34" charset="0"/>
                <a:cs typeface="Arial" panose="020B0604020202020204" pitchFamily="34" charset="0"/>
              </a:rPr>
              <a:t>Plan de Comunicación con el Cliente</a:t>
            </a:r>
          </a:p>
        </p:txBody>
      </p:sp>
      <p:sp>
        <p:nvSpPr>
          <p:cNvPr id="7" name="Rectángulo 6">
            <a:extLst>
              <a:ext uri="{FF2B5EF4-FFF2-40B4-BE49-F238E27FC236}">
                <a16:creationId xmlns:a16="http://schemas.microsoft.com/office/drawing/2014/main" id="{D14FDC92-A258-85F8-64E6-A003E731A437}"/>
              </a:ext>
            </a:extLst>
          </p:cNvPr>
          <p:cNvSpPr/>
          <p:nvPr/>
        </p:nvSpPr>
        <p:spPr>
          <a:xfrm>
            <a:off x="2293883" y="679069"/>
            <a:ext cx="9033641" cy="1077218"/>
          </a:xfrm>
          <a:prstGeom prst="rect">
            <a:avLst/>
          </a:prstGeom>
          <a:noFill/>
        </p:spPr>
        <p:txBody>
          <a:bodyPr wrap="squar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Universidad Autónoma de Baja California</a:t>
            </a:r>
          </a:p>
          <a:p>
            <a:pPr algn="ctr"/>
            <a:r>
              <a:rPr lang="es-MX" sz="3200" dirty="0">
                <a:ln w="0"/>
                <a:effectLst>
                  <a:outerShdw blurRad="38100" dist="19050" dir="2700000" algn="tl" rotWithShape="0">
                    <a:schemeClr val="dk1">
                      <a:alpha val="40000"/>
                    </a:schemeClr>
                  </a:outerShdw>
                </a:effectLst>
              </a:rPr>
              <a:t>Facultad de Ciencias Químicas e Ingeniería</a:t>
            </a:r>
            <a:endParaRPr lang="es-MX" sz="3200" b="0" cap="none" spc="0" dirty="0">
              <a:ln w="0"/>
              <a:solidFill>
                <a:schemeClr val="tx1"/>
              </a:solidFill>
              <a:effectLst>
                <a:outerShdw blurRad="38100" dist="19050" dir="2700000" algn="tl" rotWithShape="0">
                  <a:schemeClr val="dk1">
                    <a:alpha val="40000"/>
                  </a:schemeClr>
                </a:outerShdw>
              </a:effectLst>
            </a:endParaRPr>
          </a:p>
        </p:txBody>
      </p:sp>
      <p:sp>
        <p:nvSpPr>
          <p:cNvPr id="8" name="Rectángulo 7">
            <a:extLst>
              <a:ext uri="{FF2B5EF4-FFF2-40B4-BE49-F238E27FC236}">
                <a16:creationId xmlns:a16="http://schemas.microsoft.com/office/drawing/2014/main" id="{E1225BAA-68D7-B886-F1F5-F44663D0D8A7}"/>
              </a:ext>
            </a:extLst>
          </p:cNvPr>
          <p:cNvSpPr/>
          <p:nvPr/>
        </p:nvSpPr>
        <p:spPr>
          <a:xfrm>
            <a:off x="3310759" y="4024496"/>
            <a:ext cx="5486400" cy="954107"/>
          </a:xfrm>
          <a:prstGeom prst="rect">
            <a:avLst/>
          </a:prstGeom>
          <a:noFill/>
        </p:spPr>
        <p:txBody>
          <a:bodyPr wrap="square" lIns="91440" tIns="45720" rIns="91440" bIns="45720">
            <a:spAutoFit/>
          </a:bodyPr>
          <a:lstStyle/>
          <a:p>
            <a:pPr algn="ctr"/>
            <a:r>
              <a:rPr lang="es-MX" sz="2800" b="0" cap="none" spc="0" dirty="0">
                <a:ln w="0"/>
                <a:solidFill>
                  <a:schemeClr val="tx1"/>
                </a:solidFill>
                <a:effectLst>
                  <a:outerShdw blurRad="38100" dist="19050" dir="2700000" algn="tl" rotWithShape="0">
                    <a:schemeClr val="dk1">
                      <a:alpha val="40000"/>
                    </a:schemeClr>
                  </a:outerShdw>
                </a:effectLst>
              </a:rPr>
              <a:t>Dr. J. Reyes Juárez Ramírez</a:t>
            </a:r>
          </a:p>
          <a:p>
            <a:pPr algn="ctr"/>
            <a:r>
              <a:rPr lang="es-MX" sz="2800" dirty="0">
                <a:ln w="0"/>
                <a:effectLst>
                  <a:outerShdw blurRad="38100" dist="19050" dir="2700000" algn="tl" rotWithShape="0">
                    <a:schemeClr val="dk1">
                      <a:alpha val="40000"/>
                    </a:schemeClr>
                  </a:outerShdw>
                </a:effectLst>
              </a:rPr>
              <a:t>reyesjua@uabc.edu.mx</a:t>
            </a:r>
            <a:endParaRPr lang="es-MX" sz="2800" b="0" cap="none" spc="0" dirty="0">
              <a:ln w="0"/>
              <a:solidFill>
                <a:schemeClr val="tx1"/>
              </a:solidFill>
              <a:effectLst>
                <a:outerShdw blurRad="38100" dist="19050" dir="2700000" algn="tl" rotWithShape="0">
                  <a:schemeClr val="dk1">
                    <a:alpha val="40000"/>
                  </a:schemeClr>
                </a:outerShdw>
              </a:effectLst>
            </a:endParaRPr>
          </a:p>
        </p:txBody>
      </p:sp>
      <p:sp>
        <p:nvSpPr>
          <p:cNvPr id="9" name="Rectángulo 8">
            <a:extLst>
              <a:ext uri="{FF2B5EF4-FFF2-40B4-BE49-F238E27FC236}">
                <a16:creationId xmlns:a16="http://schemas.microsoft.com/office/drawing/2014/main" id="{4F9AB259-B9AB-1F6C-87DE-719ACDBED92C}"/>
              </a:ext>
            </a:extLst>
          </p:cNvPr>
          <p:cNvSpPr/>
          <p:nvPr/>
        </p:nvSpPr>
        <p:spPr>
          <a:xfrm>
            <a:off x="5662448" y="5520722"/>
            <a:ext cx="5486400" cy="523220"/>
          </a:xfrm>
          <a:prstGeom prst="rect">
            <a:avLst/>
          </a:prstGeom>
          <a:noFill/>
        </p:spPr>
        <p:txBody>
          <a:bodyPr wrap="square" lIns="91440" tIns="45720" rIns="91440" bIns="45720">
            <a:spAutoFit/>
          </a:bodyPr>
          <a:lstStyle/>
          <a:p>
            <a:pPr algn="ctr"/>
            <a:r>
              <a:rPr lang="es-MX" sz="2800" dirty="0">
                <a:ln w="0"/>
                <a:effectLst>
                  <a:outerShdw blurRad="38100" dist="19050" dir="2700000" algn="tl" rotWithShape="0">
                    <a:schemeClr val="dk1">
                      <a:alpha val="40000"/>
                    </a:schemeClr>
                  </a:outerShdw>
                </a:effectLst>
              </a:rPr>
              <a:t>Septiembre de 2025</a:t>
            </a:r>
            <a:endParaRPr lang="es-MX"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37050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651EE-C24D-F0B5-45C8-60C1093483E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E7EE6F6-85AD-375A-2FB5-6F36E228F252}"/>
              </a:ext>
            </a:extLst>
          </p:cNvPr>
          <p:cNvSpPr txBox="1"/>
          <p:nvPr/>
        </p:nvSpPr>
        <p:spPr>
          <a:xfrm>
            <a:off x="1198880" y="1644134"/>
            <a:ext cx="9032240" cy="1323439"/>
          </a:xfrm>
          <a:prstGeom prst="rect">
            <a:avLst/>
          </a:prstGeom>
          <a:noFill/>
        </p:spPr>
        <p:txBody>
          <a:bodyPr wrap="square">
            <a:spAutoFit/>
          </a:bodyPr>
          <a:lstStyle/>
          <a:p>
            <a:pPr algn="ctr"/>
            <a:r>
              <a:rPr lang="es-MX" sz="4000" b="1" dirty="0">
                <a:latin typeface="Arial" panose="020B0604020202020204" pitchFamily="34" charset="0"/>
                <a:cs typeface="Arial" panose="020B0604020202020204" pitchFamily="34" charset="0"/>
              </a:rPr>
              <a:t>Plan de Comunicación con el Cliente</a:t>
            </a:r>
          </a:p>
        </p:txBody>
      </p:sp>
    </p:spTree>
    <p:extLst>
      <p:ext uri="{BB962C8B-B14F-4D97-AF65-F5344CB8AC3E}">
        <p14:creationId xmlns:p14="http://schemas.microsoft.com/office/powerpoint/2010/main" val="1441452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7D76E-C86B-2432-0CB7-3C02A03BEDB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68E55D9-1485-B5F7-EA9D-C704084A03EF}"/>
              </a:ext>
            </a:extLst>
          </p:cNvPr>
          <p:cNvSpPr txBox="1"/>
          <p:nvPr/>
        </p:nvSpPr>
        <p:spPr>
          <a:xfrm>
            <a:off x="1058822" y="537497"/>
            <a:ext cx="10074355" cy="584775"/>
          </a:xfrm>
          <a:prstGeom prst="rect">
            <a:avLst/>
          </a:prstGeom>
          <a:noFill/>
        </p:spPr>
        <p:txBody>
          <a:bodyPr wrap="square">
            <a:spAutoFit/>
          </a:bodyPr>
          <a:lstStyle/>
          <a:p>
            <a:r>
              <a:rPr lang="es-MX" sz="3200" b="1" dirty="0">
                <a:latin typeface="Arial" panose="020B0604020202020204" pitchFamily="34" charset="0"/>
                <a:cs typeface="Arial" panose="020B0604020202020204" pitchFamily="34" charset="0"/>
              </a:rPr>
              <a:t>¿Qué es un plan de comunicación?</a:t>
            </a:r>
          </a:p>
        </p:txBody>
      </p:sp>
      <p:sp>
        <p:nvSpPr>
          <p:cNvPr id="9" name="CuadroTexto 8">
            <a:extLst>
              <a:ext uri="{FF2B5EF4-FFF2-40B4-BE49-F238E27FC236}">
                <a16:creationId xmlns:a16="http://schemas.microsoft.com/office/drawing/2014/main" id="{5DF0EE78-CA66-81C7-6566-2CD11A7AB15A}"/>
              </a:ext>
            </a:extLst>
          </p:cNvPr>
          <p:cNvSpPr txBox="1"/>
          <p:nvPr/>
        </p:nvSpPr>
        <p:spPr>
          <a:xfrm>
            <a:off x="881349" y="1427170"/>
            <a:ext cx="10399923" cy="4674934"/>
          </a:xfrm>
          <a:prstGeom prst="rect">
            <a:avLst/>
          </a:prstGeom>
          <a:noFill/>
        </p:spPr>
        <p:txBody>
          <a:bodyPr wrap="square">
            <a:spAutoFit/>
          </a:bodyPr>
          <a:lstStyle/>
          <a:p>
            <a:pPr algn="l" rtl="0">
              <a:lnSpc>
                <a:spcPts val="2250"/>
              </a:lnSpc>
              <a:spcBef>
                <a:spcPts val="1500"/>
              </a:spcBef>
              <a:buNone/>
            </a:pPr>
            <a:r>
              <a:rPr lang="es-MX" b="0" i="0" dirty="0">
                <a:solidFill>
                  <a:srgbClr val="000000"/>
                </a:solidFill>
                <a:effectLst/>
                <a:latin typeface="Arial" panose="020B0604020202020204" pitchFamily="34" charset="0"/>
                <a:cs typeface="Arial" panose="020B0604020202020204" pitchFamily="34" charset="0"/>
              </a:rPr>
              <a:t>Un plan de comunicación es un </a:t>
            </a:r>
            <a:r>
              <a:rPr lang="es-MX" b="0" i="0" dirty="0">
                <a:solidFill>
                  <a:srgbClr val="0070C0"/>
                </a:solidFill>
                <a:effectLst/>
                <a:latin typeface="Arial" panose="020B0604020202020204" pitchFamily="34" charset="0"/>
                <a:cs typeface="Arial" panose="020B0604020202020204" pitchFamily="34" charset="0"/>
              </a:rPr>
              <a:t>esquema de cómo tu organización comparte información con las partes interesadas para lograr objetivos específicos</a:t>
            </a:r>
            <a:r>
              <a:rPr lang="es-MX" b="0" i="0" dirty="0">
                <a:solidFill>
                  <a:srgbClr val="000000"/>
                </a:solidFill>
                <a:effectLst/>
                <a:latin typeface="Arial" panose="020B0604020202020204" pitchFamily="34" charset="0"/>
                <a:cs typeface="Arial" panose="020B0604020202020204" pitchFamily="34" charset="0"/>
              </a:rPr>
              <a:t>. </a:t>
            </a:r>
          </a:p>
          <a:p>
            <a:pPr algn="l" rtl="0">
              <a:lnSpc>
                <a:spcPts val="2250"/>
              </a:lnSpc>
              <a:spcBef>
                <a:spcPts val="1500"/>
              </a:spcBef>
              <a:buNone/>
            </a:pPr>
            <a:r>
              <a:rPr lang="es-MX" b="0" i="0" dirty="0">
                <a:solidFill>
                  <a:srgbClr val="000000"/>
                </a:solidFill>
                <a:effectLst/>
                <a:latin typeface="Arial" panose="020B0604020202020204" pitchFamily="34" charset="0"/>
                <a:cs typeface="Arial" panose="020B0604020202020204" pitchFamily="34" charset="0"/>
              </a:rPr>
              <a:t>Los propietarios y líderes de negocios utilizan estos planes para determinar los mensajes clave y los plazos de comunicación.</a:t>
            </a:r>
          </a:p>
          <a:p>
            <a:pPr>
              <a:lnSpc>
                <a:spcPts val="2250"/>
              </a:lnSpc>
              <a:spcBef>
                <a:spcPts val="1500"/>
              </a:spcBef>
            </a:pPr>
            <a:r>
              <a:rPr lang="es-MX" dirty="0">
                <a:solidFill>
                  <a:srgbClr val="000000"/>
                </a:solidFill>
                <a:latin typeface="Arial" panose="020B0604020202020204" pitchFamily="34" charset="0"/>
                <a:cs typeface="Arial" panose="020B0604020202020204" pitchFamily="34" charset="0"/>
              </a:rPr>
              <a:t>Hay dos tipos de planes de comunicación:</a:t>
            </a:r>
          </a:p>
          <a:p>
            <a:pPr>
              <a:lnSpc>
                <a:spcPts val="2250"/>
              </a:lnSpc>
              <a:spcBef>
                <a:spcPts val="1500"/>
              </a:spcBef>
            </a:pPr>
            <a:endParaRPr lang="es-MX" b="0" i="0" dirty="0">
              <a:solidFill>
                <a:srgbClr val="000000"/>
              </a:solidFill>
              <a:effectLst/>
              <a:latin typeface="Arial" panose="020B0604020202020204" pitchFamily="34" charset="0"/>
              <a:cs typeface="Arial" panose="020B0604020202020204" pitchFamily="34" charset="0"/>
            </a:endParaRPr>
          </a:p>
          <a:p>
            <a:pPr algn="l" rtl="0">
              <a:lnSpc>
                <a:spcPts val="2250"/>
              </a:lnSpc>
              <a:spcAft>
                <a:spcPts val="1500"/>
              </a:spcAft>
              <a:buFont typeface="+mj-lt"/>
              <a:buAutoNum type="arabicPeriod"/>
            </a:pPr>
            <a:r>
              <a:rPr lang="es-MX" b="1" i="0" dirty="0">
                <a:solidFill>
                  <a:srgbClr val="000000"/>
                </a:solidFill>
                <a:effectLst/>
                <a:latin typeface="Arial" panose="020B0604020202020204" pitchFamily="34" charset="0"/>
                <a:cs typeface="Arial" panose="020B0604020202020204" pitchFamily="34" charset="0"/>
              </a:rPr>
              <a:t>Un plan de comunicación interna</a:t>
            </a:r>
            <a:r>
              <a:rPr lang="es-MX" b="0" i="0" dirty="0">
                <a:solidFill>
                  <a:srgbClr val="000000"/>
                </a:solidFill>
                <a:effectLst/>
                <a:latin typeface="Arial" panose="020B0604020202020204" pitchFamily="34" charset="0"/>
                <a:cs typeface="Arial" panose="020B0604020202020204" pitchFamily="34" charset="0"/>
              </a:rPr>
              <a:t> </a:t>
            </a:r>
            <a:r>
              <a:rPr lang="es-MX" b="0" i="0" dirty="0">
                <a:solidFill>
                  <a:srgbClr val="0070C0"/>
                </a:solidFill>
                <a:effectLst/>
                <a:latin typeface="Arial" panose="020B0604020202020204" pitchFamily="34" charset="0"/>
                <a:cs typeface="Arial" panose="020B0604020202020204" pitchFamily="34" charset="0"/>
              </a:rPr>
              <a:t>se centra en compartir información dentro de la organización</a:t>
            </a:r>
            <a:r>
              <a:rPr lang="es-MX" b="0" i="0" dirty="0">
                <a:solidFill>
                  <a:srgbClr val="000000"/>
                </a:solidFill>
                <a:effectLst/>
                <a:latin typeface="Arial" panose="020B0604020202020204" pitchFamily="34" charset="0"/>
                <a:cs typeface="Arial" panose="020B0604020202020204" pitchFamily="34" charset="0"/>
              </a:rPr>
              <a:t>. Por ejemplo, si estás implementando un modelo de trabajo híbrido, un plan de comunicación interna describe cómo informarás a los empleados sobre las nuevas políticas.</a:t>
            </a:r>
          </a:p>
          <a:p>
            <a:pPr algn="l" rtl="0">
              <a:lnSpc>
                <a:spcPts val="2250"/>
              </a:lnSpc>
              <a:spcAft>
                <a:spcPts val="1500"/>
              </a:spcAft>
              <a:buFont typeface="+mj-lt"/>
              <a:buAutoNum type="arabicPeriod"/>
            </a:pPr>
            <a:r>
              <a:rPr lang="es-MX" b="1" i="0" dirty="0">
                <a:solidFill>
                  <a:srgbClr val="000000"/>
                </a:solidFill>
                <a:effectLst/>
                <a:latin typeface="Arial" panose="020B0604020202020204" pitchFamily="34" charset="0"/>
                <a:cs typeface="Arial" panose="020B0604020202020204" pitchFamily="34" charset="0"/>
              </a:rPr>
              <a:t>Un plan de comunicación externa</a:t>
            </a:r>
            <a:r>
              <a:rPr lang="es-MX" b="0" i="0" dirty="0">
                <a:solidFill>
                  <a:srgbClr val="000000"/>
                </a:solidFill>
                <a:effectLst/>
                <a:latin typeface="Arial" panose="020B0604020202020204" pitchFamily="34" charset="0"/>
                <a:cs typeface="Arial" panose="020B0604020202020204" pitchFamily="34" charset="0"/>
              </a:rPr>
              <a:t> describe </a:t>
            </a:r>
            <a:r>
              <a:rPr lang="es-MX" b="0" i="0" dirty="0">
                <a:solidFill>
                  <a:srgbClr val="0070C0"/>
                </a:solidFill>
                <a:effectLst/>
                <a:latin typeface="Arial" panose="020B0604020202020204" pitchFamily="34" charset="0"/>
                <a:cs typeface="Arial" panose="020B0604020202020204" pitchFamily="34" charset="0"/>
              </a:rPr>
              <a:t>cómo compartirás la información con audiencias externas a la organización, como clientes, inversores, socios y el público</a:t>
            </a:r>
            <a:r>
              <a:rPr lang="es-MX" b="0" i="0" dirty="0">
                <a:solidFill>
                  <a:srgbClr val="000000"/>
                </a:solidFill>
                <a:effectLst/>
                <a:latin typeface="Arial" panose="020B0604020202020204" pitchFamily="34" charset="0"/>
                <a:cs typeface="Arial" panose="020B0604020202020204" pitchFamily="34" charset="0"/>
              </a:rPr>
              <a:t>. Por ejemplo, durante el lanzamiento de un producto, un plan de comunicación externa detalla los planes de publicidad, comunicados de prensa y campañas en las redes sociales.</a:t>
            </a:r>
          </a:p>
        </p:txBody>
      </p:sp>
    </p:spTree>
    <p:extLst>
      <p:ext uri="{BB962C8B-B14F-4D97-AF65-F5344CB8AC3E}">
        <p14:creationId xmlns:p14="http://schemas.microsoft.com/office/powerpoint/2010/main" val="5441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8EA1-C3FD-6522-4D0C-6001977B792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7C2D936-5355-C38F-32F4-4F1BDADA3929}"/>
              </a:ext>
            </a:extLst>
          </p:cNvPr>
          <p:cNvSpPr txBox="1"/>
          <p:nvPr/>
        </p:nvSpPr>
        <p:spPr>
          <a:xfrm>
            <a:off x="1253169" y="994916"/>
            <a:ext cx="9906918" cy="2769989"/>
          </a:xfrm>
          <a:prstGeom prst="rect">
            <a:avLst/>
          </a:prstGeom>
          <a:noFill/>
        </p:spPr>
        <p:txBody>
          <a:bodyPr wrap="square">
            <a:spAutoFit/>
          </a:bodyPr>
          <a:lstStyle/>
          <a:p>
            <a:pPr algn="ctr"/>
            <a:r>
              <a:rPr lang="es-ES" sz="2400" b="1" dirty="0">
                <a:latin typeface="Arial" panose="020B0604020202020204" pitchFamily="34" charset="0"/>
                <a:cs typeface="Arial" panose="020B0604020202020204" pitchFamily="34" charset="0"/>
              </a:rPr>
              <a:t>¿Por qué es importante un plan de comunicación para tu proyecto de software? </a:t>
            </a:r>
          </a:p>
          <a:p>
            <a:endParaRPr lang="es-ES" dirty="0">
              <a:latin typeface="Arial" panose="020B0604020202020204" pitchFamily="34" charset="0"/>
              <a:cs typeface="Arial" panose="020B0604020202020204" pitchFamily="34" charset="0"/>
            </a:endParaRPr>
          </a:p>
          <a:p>
            <a:pPr marL="342900" indent="-342900">
              <a:buAutoNum type="arabicPeriod"/>
            </a:pPr>
            <a:r>
              <a:rPr lang="es-ES" dirty="0">
                <a:latin typeface="Arial" panose="020B0604020202020204" pitchFamily="34" charset="0"/>
                <a:cs typeface="Arial" panose="020B0604020202020204" pitchFamily="34" charset="0"/>
              </a:rPr>
              <a:t>Identificar a las partes interesadas </a:t>
            </a:r>
          </a:p>
          <a:p>
            <a:pPr marL="342900" indent="-342900">
              <a:buAutoNum type="arabicPeriod"/>
            </a:pPr>
            <a:r>
              <a:rPr lang="es-ES" dirty="0">
                <a:latin typeface="Arial" panose="020B0604020202020204" pitchFamily="34" charset="0"/>
                <a:cs typeface="Arial" panose="020B0604020202020204" pitchFamily="34" charset="0"/>
              </a:rPr>
              <a:t>Definir los objetivos de comunicación</a:t>
            </a:r>
          </a:p>
          <a:p>
            <a:pPr marL="342900" indent="-342900">
              <a:buAutoNum type="arabicPeriod"/>
            </a:pPr>
            <a:r>
              <a:rPr lang="es-ES" dirty="0">
                <a:latin typeface="Arial" panose="020B0604020202020204" pitchFamily="34" charset="0"/>
                <a:cs typeface="Arial" panose="020B0604020202020204" pitchFamily="34" charset="0"/>
              </a:rPr>
              <a:t>Elegir los métodos de comunicación </a:t>
            </a:r>
          </a:p>
          <a:p>
            <a:pPr marL="342900" indent="-342900">
              <a:buAutoNum type="arabicPeriod"/>
            </a:pPr>
            <a:r>
              <a:rPr lang="es-ES" dirty="0">
                <a:latin typeface="Arial" panose="020B0604020202020204" pitchFamily="34" charset="0"/>
                <a:cs typeface="Arial" panose="020B0604020202020204" pitchFamily="34" charset="0"/>
              </a:rPr>
              <a:t>Planificar la frecuencia de la comunicación </a:t>
            </a:r>
          </a:p>
          <a:p>
            <a:pPr marL="342900" indent="-342900">
              <a:buAutoNum type="arabicPeriod"/>
            </a:pPr>
            <a:r>
              <a:rPr lang="es-ES" dirty="0">
                <a:latin typeface="Arial" panose="020B0604020202020204" pitchFamily="34" charset="0"/>
                <a:cs typeface="Arial" panose="020B0604020202020204" pitchFamily="34" charset="0"/>
              </a:rPr>
              <a:t>Establecer roles de comunicación </a:t>
            </a:r>
          </a:p>
          <a:p>
            <a:pPr marL="342900" indent="-342900">
              <a:buAutoNum type="arabicPeriod"/>
            </a:pPr>
            <a:r>
              <a:rPr lang="es-ES" dirty="0">
                <a:latin typeface="Arial" panose="020B0604020202020204" pitchFamily="34" charset="0"/>
                <a:cs typeface="Arial" panose="020B0604020202020204" pitchFamily="34" charset="0"/>
              </a:rPr>
              <a:t>Supervisar y evaluar la comunicación</a:t>
            </a:r>
          </a:p>
        </p:txBody>
      </p:sp>
      <p:sp>
        <p:nvSpPr>
          <p:cNvPr id="5" name="CuadroTexto 4">
            <a:extLst>
              <a:ext uri="{FF2B5EF4-FFF2-40B4-BE49-F238E27FC236}">
                <a16:creationId xmlns:a16="http://schemas.microsoft.com/office/drawing/2014/main" id="{21BDA7E5-6FD4-56A1-187F-3D542B3612CA}"/>
              </a:ext>
            </a:extLst>
          </p:cNvPr>
          <p:cNvSpPr txBox="1"/>
          <p:nvPr/>
        </p:nvSpPr>
        <p:spPr>
          <a:xfrm>
            <a:off x="1253169" y="4108757"/>
            <a:ext cx="10193356" cy="1200329"/>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En </a:t>
            </a:r>
            <a:r>
              <a:rPr lang="es-MX" b="1" dirty="0">
                <a:latin typeface="Arial" panose="020B0604020202020204" pitchFamily="34" charset="0"/>
                <a:cs typeface="Arial" panose="020B0604020202020204" pitchFamily="34" charset="0"/>
              </a:rPr>
              <a:t>desarrollo de software</a:t>
            </a:r>
            <a:r>
              <a:rPr lang="es-MX" dirty="0">
                <a:latin typeface="Arial" panose="020B0604020202020204" pitchFamily="34" charset="0"/>
                <a:cs typeface="Arial" panose="020B0604020202020204" pitchFamily="34" charset="0"/>
              </a:rPr>
              <a:t>, un </a:t>
            </a:r>
            <a:r>
              <a:rPr lang="es-MX" b="1" dirty="0">
                <a:latin typeface="Arial" panose="020B0604020202020204" pitchFamily="34" charset="0"/>
                <a:cs typeface="Arial" panose="020B0604020202020204" pitchFamily="34" charset="0"/>
              </a:rPr>
              <a:t>plan de comunicación con el cliente</a:t>
            </a:r>
            <a:r>
              <a:rPr lang="es-MX" dirty="0">
                <a:latin typeface="Arial" panose="020B0604020202020204" pitchFamily="34" charset="0"/>
                <a:cs typeface="Arial" panose="020B0604020202020204" pitchFamily="34" charset="0"/>
              </a:rPr>
              <a:t> es un documento </a:t>
            </a:r>
            <a:r>
              <a:rPr lang="es-MX" dirty="0">
                <a:solidFill>
                  <a:schemeClr val="accent5">
                    <a:lumMod val="60000"/>
                    <a:lumOff val="40000"/>
                  </a:schemeClr>
                </a:solidFill>
                <a:latin typeface="Arial" panose="020B0604020202020204" pitchFamily="34" charset="0"/>
                <a:cs typeface="Arial" panose="020B0604020202020204" pitchFamily="34" charset="0"/>
              </a:rPr>
              <a:t>(o sección dentro del plan de gestión del proyecto)</a:t>
            </a:r>
            <a:r>
              <a:rPr lang="es-MX" dirty="0">
                <a:latin typeface="Arial" panose="020B0604020202020204" pitchFamily="34" charset="0"/>
                <a:cs typeface="Arial" panose="020B0604020202020204" pitchFamily="34" charset="0"/>
              </a:rPr>
              <a:t> que </a:t>
            </a:r>
            <a:r>
              <a:rPr lang="es-MX" b="1" dirty="0">
                <a:solidFill>
                  <a:srgbClr val="00B0F0"/>
                </a:solidFill>
                <a:latin typeface="Arial" panose="020B0604020202020204" pitchFamily="34" charset="0"/>
                <a:cs typeface="Arial" panose="020B0604020202020204" pitchFamily="34" charset="0"/>
              </a:rPr>
              <a:t>define cómo, cuándo, con qué medios y bajo qué responsabilidades se intercambiará la información con el cliente o usuario final</a:t>
            </a:r>
            <a:r>
              <a:rPr lang="es-MX" dirty="0">
                <a:solidFill>
                  <a:srgbClr val="00B0F0"/>
                </a:solidFill>
                <a:latin typeface="Arial" panose="020B0604020202020204" pitchFamily="34" charset="0"/>
                <a:cs typeface="Arial" panose="020B0604020202020204" pitchFamily="34" charset="0"/>
              </a:rPr>
              <a:t> durante todo el ciclo de vida del proyecto.</a:t>
            </a:r>
          </a:p>
        </p:txBody>
      </p:sp>
    </p:spTree>
    <p:extLst>
      <p:ext uri="{BB962C8B-B14F-4D97-AF65-F5344CB8AC3E}">
        <p14:creationId xmlns:p14="http://schemas.microsoft.com/office/powerpoint/2010/main" val="359517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6EB5-CA4C-1E4D-64B6-3D98C2E6458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CE313928-5343-70E3-AE25-1B9A9FEAFBD4}"/>
              </a:ext>
            </a:extLst>
          </p:cNvPr>
          <p:cNvSpPr txBox="1"/>
          <p:nvPr/>
        </p:nvSpPr>
        <p:spPr>
          <a:xfrm>
            <a:off x="1451472" y="1166842"/>
            <a:ext cx="9091670" cy="3539430"/>
          </a:xfrm>
          <a:prstGeom prst="rect">
            <a:avLst/>
          </a:prstGeom>
          <a:noFill/>
        </p:spPr>
        <p:txBody>
          <a:bodyPr wrap="square">
            <a:spAutoFit/>
          </a:bodyPr>
          <a:lstStyle/>
          <a:p>
            <a:pPr>
              <a:buNone/>
            </a:pPr>
            <a:r>
              <a:rPr lang="es-MX" sz="3200" dirty="0">
                <a:latin typeface="Arial" panose="020B0604020202020204" pitchFamily="34" charset="0"/>
                <a:cs typeface="Arial" panose="020B0604020202020204" pitchFamily="34" charset="0"/>
              </a:rPr>
              <a:t>Esto es clave porque en software:</a:t>
            </a:r>
          </a:p>
          <a:p>
            <a:pPr>
              <a:buNone/>
            </a:pPr>
            <a:endParaRPr lang="es-MX" sz="32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3200" dirty="0">
                <a:latin typeface="Arial" panose="020B0604020202020204" pitchFamily="34" charset="0"/>
                <a:cs typeface="Arial" panose="020B0604020202020204" pitchFamily="34" charset="0"/>
              </a:rPr>
              <a:t> Más del </a:t>
            </a:r>
            <a:r>
              <a:rPr lang="es-MX" sz="3200" dirty="0">
                <a:solidFill>
                  <a:srgbClr val="FF0000"/>
                </a:solidFill>
                <a:latin typeface="Arial" panose="020B0604020202020204" pitchFamily="34" charset="0"/>
                <a:cs typeface="Arial" panose="020B0604020202020204" pitchFamily="34" charset="0"/>
              </a:rPr>
              <a:t>50 % de los errores surgen </a:t>
            </a:r>
            <a:r>
              <a:rPr lang="es-MX" sz="3200" dirty="0">
                <a:latin typeface="Arial" panose="020B0604020202020204" pitchFamily="34" charset="0"/>
                <a:cs typeface="Arial" panose="020B0604020202020204" pitchFamily="34" charset="0"/>
              </a:rPr>
              <a:t>en la fase de </a:t>
            </a:r>
            <a:r>
              <a:rPr lang="es-MX" sz="3200" b="1" dirty="0">
                <a:latin typeface="Arial" panose="020B0604020202020204" pitchFamily="34" charset="0"/>
                <a:cs typeface="Arial" panose="020B0604020202020204" pitchFamily="34" charset="0"/>
              </a:rPr>
              <a:t>requerimientos</a:t>
            </a:r>
            <a:r>
              <a:rPr lang="es-MX" sz="3200" dirty="0">
                <a:latin typeface="Arial" panose="020B0604020202020204" pitchFamily="34" charset="0"/>
                <a:cs typeface="Arial" panose="020B0604020202020204" pitchFamily="34" charset="0"/>
              </a:rPr>
              <a:t> </a:t>
            </a:r>
            <a:r>
              <a:rPr lang="es-MX" sz="3200" dirty="0">
                <a:solidFill>
                  <a:srgbClr val="FF0000"/>
                </a:solidFill>
                <a:latin typeface="Arial" panose="020B0604020202020204" pitchFamily="34" charset="0"/>
                <a:cs typeface="Arial" panose="020B0604020202020204" pitchFamily="34" charset="0"/>
              </a:rPr>
              <a:t>(por mala comunicación).</a:t>
            </a:r>
          </a:p>
          <a:p>
            <a:pPr>
              <a:buFont typeface="Arial" panose="020B0604020202020204" pitchFamily="34" charset="0"/>
              <a:buChar char="•"/>
            </a:pPr>
            <a:endParaRPr lang="es-MX" sz="32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3200" dirty="0">
                <a:latin typeface="Arial" panose="020B0604020202020204" pitchFamily="34" charset="0"/>
                <a:cs typeface="Arial" panose="020B0604020202020204" pitchFamily="34" charset="0"/>
              </a:rPr>
              <a:t> Los proyectos suelen involucrar </a:t>
            </a:r>
            <a:r>
              <a:rPr lang="es-MX" sz="3200" b="1" dirty="0">
                <a:latin typeface="Arial" panose="020B0604020202020204" pitchFamily="34" charset="0"/>
                <a:cs typeface="Arial" panose="020B0604020202020204" pitchFamily="34" charset="0"/>
              </a:rPr>
              <a:t>iteraciones, cambios y validaciones constantes</a:t>
            </a:r>
            <a:r>
              <a:rPr lang="es-MX" sz="3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7442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3A2B1-E979-B58D-6007-4A1F1C98EC2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A85DE29-F06E-FCD8-AF63-8BD48856D26F}"/>
              </a:ext>
            </a:extLst>
          </p:cNvPr>
          <p:cNvSpPr txBox="1"/>
          <p:nvPr/>
        </p:nvSpPr>
        <p:spPr>
          <a:xfrm>
            <a:off x="1120966" y="776142"/>
            <a:ext cx="10061154" cy="3970318"/>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Identificar a las partes interesadas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Uno de los primeros pasos para crear un plan de comunicación es </a:t>
            </a:r>
            <a:r>
              <a:rPr lang="es-ES" dirty="0">
                <a:solidFill>
                  <a:srgbClr val="0070C0"/>
                </a:solidFill>
                <a:latin typeface="Arial" panose="020B0604020202020204" pitchFamily="34" charset="0"/>
                <a:cs typeface="Arial" panose="020B0604020202020204" pitchFamily="34" charset="0"/>
              </a:rPr>
              <a:t>identificar a las partes interesadas de su proyecto de software.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Las partes interesadas </a:t>
            </a:r>
            <a:r>
              <a:rPr lang="es-ES" dirty="0">
                <a:solidFill>
                  <a:srgbClr val="0070C0"/>
                </a:solidFill>
                <a:latin typeface="Arial" panose="020B0604020202020204" pitchFamily="34" charset="0"/>
                <a:cs typeface="Arial" panose="020B0604020202020204" pitchFamily="34" charset="0"/>
              </a:rPr>
              <a:t>son las personas o grupos que tienen interés o influencia en el proyecto, como clientes, usuarios, patrocinadores, miembros del equipo, gerentes, proveedores, etc. </a:t>
            </a:r>
          </a:p>
          <a:p>
            <a:pPr marL="285750" indent="-285750">
              <a:buFont typeface="Arial" panose="020B0604020202020204" pitchFamily="34" charset="0"/>
              <a:buChar char="•"/>
            </a:pPr>
            <a:endParaRPr lang="es-ES" dirty="0">
              <a:solidFill>
                <a:srgbClr val="0070C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 necesario saber quiénes son, cuáles son sus roles y responsabilidades, cuáles son sus expectativas y necesidades, y cómo prefieren comunicarse.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Esto le ayudará a adaptar su comunicación a cada grupo de partes interesadas y a evitar malentendidos, conflictos o la pérdida de oportunidades.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2323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EFD28-3A64-107E-3F0E-103E81020A5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03E85F7-7618-7D1F-0464-D61F5A49F48C}"/>
              </a:ext>
            </a:extLst>
          </p:cNvPr>
          <p:cNvSpPr txBox="1"/>
          <p:nvPr/>
        </p:nvSpPr>
        <p:spPr>
          <a:xfrm>
            <a:off x="1087915" y="891032"/>
            <a:ext cx="9697598" cy="4278094"/>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Definir los objetivos de comunicación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siguiente paso es </a:t>
            </a:r>
            <a:r>
              <a:rPr lang="es-ES" b="1" dirty="0">
                <a:solidFill>
                  <a:srgbClr val="0070C0"/>
                </a:solidFill>
                <a:latin typeface="Arial" panose="020B0604020202020204" pitchFamily="34" charset="0"/>
                <a:cs typeface="Arial" panose="020B0604020202020204" pitchFamily="34" charset="0"/>
              </a:rPr>
              <a:t>definir los objetivos de comunicación </a:t>
            </a:r>
            <a:r>
              <a:rPr lang="es-ES" dirty="0">
                <a:latin typeface="Arial" panose="020B0604020202020204" pitchFamily="34" charset="0"/>
                <a:cs typeface="Arial" panose="020B0604020202020204" pitchFamily="34" charset="0"/>
              </a:rPr>
              <a:t>para su proyecto de software.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objetivos de comunicación </a:t>
            </a:r>
            <a:r>
              <a:rPr lang="es-ES" dirty="0">
                <a:solidFill>
                  <a:srgbClr val="0070C0"/>
                </a:solidFill>
                <a:latin typeface="Arial" panose="020B0604020202020204" pitchFamily="34" charset="0"/>
                <a:cs typeface="Arial" panose="020B0604020202020204" pitchFamily="34" charset="0"/>
              </a:rPr>
              <a:t>son los resultados específicos que desea lograr mediante la comunicación, como informar, persuadir, motivar, resolver o colaborar</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solidFill>
                  <a:schemeClr val="accent5">
                    <a:lumMod val="60000"/>
                    <a:lumOff val="40000"/>
                  </a:schemeClr>
                </a:solidFill>
                <a:latin typeface="Arial" panose="020B0604020202020204" pitchFamily="34" charset="0"/>
                <a:cs typeface="Arial" panose="020B0604020202020204" pitchFamily="34" charset="0"/>
              </a:rPr>
              <a:t>Para cada grupo de interesados, debe determinar cuáles son sus objetivos de comunicación y cómo se alinean con los objetivos del proyecto</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Por ejemplo, podría querer informar al cliente sobre el progreso del proyecto, persuadir al patrocinador para que apruebe una solicitud de cambio, motivar al equipo para cumplir con una fecha límite, resolver un problema con un proveedor o colaborar con un usuario en la retroalimentación.</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6836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2F859-30A6-D85B-734B-947DAC008F0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D1E841F-599B-D7BF-130A-6427422D618B}"/>
              </a:ext>
            </a:extLst>
          </p:cNvPr>
          <p:cNvSpPr txBox="1"/>
          <p:nvPr/>
        </p:nvSpPr>
        <p:spPr>
          <a:xfrm>
            <a:off x="1848077" y="1237287"/>
            <a:ext cx="8827268" cy="3416320"/>
          </a:xfrm>
          <a:prstGeom prst="rect">
            <a:avLst/>
          </a:prstGeom>
          <a:noFill/>
        </p:spPr>
        <p:txBody>
          <a:bodyPr wrap="square">
            <a:spAutoFit/>
          </a:bodyPr>
          <a:lstStyle/>
          <a:p>
            <a:pPr>
              <a:buNone/>
            </a:pPr>
            <a:r>
              <a:rPr lang="es-MX" sz="2400" b="1" dirty="0">
                <a:solidFill>
                  <a:schemeClr val="accent5">
                    <a:lumMod val="75000"/>
                  </a:schemeClr>
                </a:solidFill>
                <a:latin typeface="Arial" panose="020B0604020202020204" pitchFamily="34" charset="0"/>
                <a:cs typeface="Arial" panose="020B0604020202020204" pitchFamily="34" charset="0"/>
              </a:rPr>
              <a:t>Objetivos de la comunicación</a:t>
            </a:r>
            <a:endParaRPr lang="es-MX" sz="2400" dirty="0">
              <a:solidFill>
                <a:schemeClr val="accent5">
                  <a:lumMod val="75000"/>
                </a:schemeClr>
              </a:solidFill>
              <a:latin typeface="Arial" panose="020B0604020202020204" pitchFamily="34" charset="0"/>
              <a:cs typeface="Arial" panose="020B0604020202020204" pitchFamily="34" charset="0"/>
            </a:endParaRPr>
          </a:p>
          <a:p>
            <a:endParaRPr lang="es-MX" sz="2400" dirty="0">
              <a:solidFill>
                <a:schemeClr val="accent5">
                  <a:lumMod val="7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solidFill>
                  <a:schemeClr val="accent5">
                    <a:lumMod val="75000"/>
                  </a:schemeClr>
                </a:solidFill>
                <a:latin typeface="Arial" panose="020B0604020202020204" pitchFamily="34" charset="0"/>
                <a:cs typeface="Arial" panose="020B0604020202020204" pitchFamily="34" charset="0"/>
              </a:rPr>
              <a:t> </a:t>
            </a:r>
            <a:r>
              <a:rPr lang="es-MX" sz="2400" dirty="0">
                <a:solidFill>
                  <a:srgbClr val="0070C0"/>
                </a:solidFill>
                <a:latin typeface="Arial" panose="020B0604020202020204" pitchFamily="34" charset="0"/>
                <a:cs typeface="Arial" panose="020B0604020202020204" pitchFamily="34" charset="0"/>
              </a:rPr>
              <a:t>Asegurar que los requerimientos sean entendidos y validados</a:t>
            </a:r>
            <a:r>
              <a:rPr lang="es-MX" sz="2400" dirty="0">
                <a:solidFill>
                  <a:schemeClr val="accent5">
                    <a:lumMod val="75000"/>
                  </a:schemeClr>
                </a:solidFill>
                <a:latin typeface="Arial" panose="020B0604020202020204" pitchFamily="34" charset="0"/>
                <a:cs typeface="Arial" panose="020B0604020202020204" pitchFamily="34" charset="0"/>
              </a:rPr>
              <a:t>.</a:t>
            </a:r>
          </a:p>
          <a:p>
            <a:pPr>
              <a:buFont typeface="Arial" panose="020B0604020202020204" pitchFamily="34" charset="0"/>
              <a:buChar char="•"/>
            </a:pPr>
            <a:endParaRPr lang="es-MX" sz="2400" dirty="0">
              <a:solidFill>
                <a:schemeClr val="accent5">
                  <a:lumMod val="7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solidFill>
                  <a:schemeClr val="accent5">
                    <a:lumMod val="75000"/>
                  </a:schemeClr>
                </a:solidFill>
                <a:latin typeface="Arial" panose="020B0604020202020204" pitchFamily="34" charset="0"/>
                <a:cs typeface="Arial" panose="020B0604020202020204" pitchFamily="34" charset="0"/>
              </a:rPr>
              <a:t> Informar avances, riesgos y cambios de alcance.</a:t>
            </a:r>
          </a:p>
          <a:p>
            <a:pPr>
              <a:buFont typeface="Arial" panose="020B0604020202020204" pitchFamily="34" charset="0"/>
              <a:buChar char="•"/>
            </a:pPr>
            <a:endParaRPr lang="es-MX" sz="2400" dirty="0">
              <a:solidFill>
                <a:schemeClr val="accent5">
                  <a:lumMod val="75000"/>
                </a:schemeClr>
              </a:solidFill>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solidFill>
                  <a:schemeClr val="accent5">
                    <a:lumMod val="75000"/>
                  </a:schemeClr>
                </a:solidFill>
                <a:latin typeface="Arial" panose="020B0604020202020204" pitchFamily="34" charset="0"/>
                <a:cs typeface="Arial" panose="020B0604020202020204" pitchFamily="34" charset="0"/>
              </a:rPr>
              <a:t> </a:t>
            </a:r>
            <a:r>
              <a:rPr lang="es-MX" sz="2400" dirty="0">
                <a:solidFill>
                  <a:srgbClr val="0070C0"/>
                </a:solidFill>
                <a:latin typeface="Arial" panose="020B0604020202020204" pitchFamily="34" charset="0"/>
                <a:cs typeface="Arial" panose="020B0604020202020204" pitchFamily="34" charset="0"/>
              </a:rPr>
              <a:t>Mantener al cliente involucrado en decisiones clave.</a:t>
            </a:r>
          </a:p>
          <a:p>
            <a:endParaRPr lang="es-MX" sz="2400" dirty="0">
              <a:solidFill>
                <a:srgbClr val="0070C0"/>
              </a:solidFill>
              <a:latin typeface="Arial" panose="020B0604020202020204" pitchFamily="34" charset="0"/>
              <a:cs typeface="Arial" panose="020B0604020202020204" pitchFamily="34" charset="0"/>
            </a:endParaRPr>
          </a:p>
          <a:p>
            <a:pPr>
              <a:buFont typeface="Arial" panose="020B0604020202020204" pitchFamily="34" charset="0"/>
              <a:buChar char="•"/>
            </a:pPr>
            <a:r>
              <a:rPr lang="es-MX" sz="2400" dirty="0">
                <a:solidFill>
                  <a:schemeClr val="accent5">
                    <a:lumMod val="75000"/>
                  </a:schemeClr>
                </a:solidFill>
                <a:latin typeface="Arial" panose="020B0604020202020204" pitchFamily="34" charset="0"/>
                <a:cs typeface="Arial" panose="020B0604020202020204" pitchFamily="34" charset="0"/>
              </a:rPr>
              <a:t> Dar transparencia y confianza sobre el progreso del proyecto.</a:t>
            </a:r>
          </a:p>
        </p:txBody>
      </p:sp>
    </p:spTree>
    <p:extLst>
      <p:ext uri="{BB962C8B-B14F-4D97-AF65-F5344CB8AC3E}">
        <p14:creationId xmlns:p14="http://schemas.microsoft.com/office/powerpoint/2010/main" val="96798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F477-F679-E03D-8850-A7B5D8F2E98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815F4B2-AEA1-AE4E-B806-37FA7155ACB7}"/>
              </a:ext>
            </a:extLst>
          </p:cNvPr>
          <p:cNvSpPr txBox="1"/>
          <p:nvPr/>
        </p:nvSpPr>
        <p:spPr>
          <a:xfrm>
            <a:off x="1032831" y="832793"/>
            <a:ext cx="10237424" cy="4524315"/>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Elegir los métodos de comunicación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tercer paso es </a:t>
            </a:r>
            <a:r>
              <a:rPr lang="es-ES" dirty="0">
                <a:solidFill>
                  <a:srgbClr val="0070C0"/>
                </a:solidFill>
                <a:latin typeface="Arial" panose="020B0604020202020204" pitchFamily="34" charset="0"/>
                <a:cs typeface="Arial" panose="020B0604020202020204" pitchFamily="34" charset="0"/>
              </a:rPr>
              <a:t>elegir los métodos de comunicación </a:t>
            </a:r>
            <a:r>
              <a:rPr lang="es-ES" dirty="0">
                <a:latin typeface="Arial" panose="020B0604020202020204" pitchFamily="34" charset="0"/>
                <a:cs typeface="Arial" panose="020B0604020202020204" pitchFamily="34" charset="0"/>
              </a:rPr>
              <a:t>para su proyecto de software.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métodos de comunicación </a:t>
            </a:r>
            <a:r>
              <a:rPr lang="es-ES" dirty="0">
                <a:solidFill>
                  <a:srgbClr val="0070C0"/>
                </a:solidFill>
                <a:latin typeface="Arial" panose="020B0604020202020204" pitchFamily="34" charset="0"/>
                <a:cs typeface="Arial" panose="020B0604020202020204" pitchFamily="34" charset="0"/>
              </a:rPr>
              <a:t>son las herramientas o canales que utiliza para comunicarse con las partes interesadas, como el correo electrónico, el teléfono, la videoconferencia, el chat, los informes, las presentaciones, el panel de control, etc</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Debe </a:t>
            </a:r>
            <a:r>
              <a:rPr lang="es-ES" dirty="0">
                <a:solidFill>
                  <a:schemeClr val="accent5">
                    <a:lumMod val="60000"/>
                    <a:lumOff val="40000"/>
                  </a:schemeClr>
                </a:solidFill>
                <a:latin typeface="Arial" panose="020B0604020202020204" pitchFamily="34" charset="0"/>
                <a:cs typeface="Arial" panose="020B0604020202020204" pitchFamily="34" charset="0"/>
              </a:rPr>
              <a:t>seleccionar los métodos de comunicación más adecuados y eficaces para cada grupo de partes interesadas, en función de sus preferencias, disponibilidad y objetivos de comunicación</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Por ejemplo, puede utilizar el correo electrónico para enviar un informe de estado al cliente, el teléfono para hablar sobre una solicitud de cambio con el patrocinador, la videoconferencia para una reunión de equipo, el chat para comunicarse con un proveedor, un informe para documentar una sesión de retroalimentación con un usuario o una presentación para presentar un entregable.</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8795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8FD4-C41E-899D-98B9-87DBC16C906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FB4ABEB-7E03-C35B-CAD2-D3B5EF29C461}"/>
              </a:ext>
            </a:extLst>
          </p:cNvPr>
          <p:cNvSpPr txBox="1"/>
          <p:nvPr/>
        </p:nvSpPr>
        <p:spPr>
          <a:xfrm>
            <a:off x="977747" y="1084614"/>
            <a:ext cx="10094206" cy="3693319"/>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Planificar la frecuencia de comunicación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cuarto paso es </a:t>
            </a:r>
            <a:r>
              <a:rPr lang="es-ES" b="1" dirty="0">
                <a:solidFill>
                  <a:srgbClr val="0070C0"/>
                </a:solidFill>
                <a:latin typeface="Arial" panose="020B0604020202020204" pitchFamily="34" charset="0"/>
                <a:cs typeface="Arial" panose="020B0604020202020204" pitchFamily="34" charset="0"/>
              </a:rPr>
              <a:t>planificar la frecuencia de comunicación </a:t>
            </a:r>
            <a:r>
              <a:rPr lang="es-ES" dirty="0">
                <a:latin typeface="Arial" panose="020B0604020202020204" pitchFamily="34" charset="0"/>
                <a:cs typeface="Arial" panose="020B0604020202020204" pitchFamily="34" charset="0"/>
              </a:rPr>
              <a:t>para su proyecto de software.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Esta </a:t>
            </a:r>
            <a:r>
              <a:rPr lang="es-ES" dirty="0">
                <a:solidFill>
                  <a:schemeClr val="accent5">
                    <a:lumMod val="60000"/>
                    <a:lumOff val="40000"/>
                  </a:schemeClr>
                </a:solidFill>
                <a:latin typeface="Arial" panose="020B0604020202020204" pitchFamily="34" charset="0"/>
                <a:cs typeface="Arial" panose="020B0604020202020204" pitchFamily="34" charset="0"/>
              </a:rPr>
              <a:t>frecuencia se refiere a la frecuencia con la que se comunica con las partes interesadas, ya sea diaria, semanal, mensual o según sea necesario</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Debe encontrar </a:t>
            </a:r>
            <a:r>
              <a:rPr lang="es-ES" dirty="0">
                <a:solidFill>
                  <a:srgbClr val="0070C0"/>
                </a:solidFill>
                <a:latin typeface="Arial" panose="020B0604020202020204" pitchFamily="34" charset="0"/>
                <a:cs typeface="Arial" panose="020B0604020202020204" pitchFamily="34" charset="0"/>
              </a:rPr>
              <a:t>un equilibrio entre la frecuencia de comunicación excesiva y la insuficiente,</a:t>
            </a:r>
            <a:r>
              <a:rPr lang="es-ES" dirty="0">
                <a:latin typeface="Arial" panose="020B0604020202020204" pitchFamily="34" charset="0"/>
                <a:cs typeface="Arial" panose="020B0604020202020204" pitchFamily="34" charset="0"/>
              </a:rPr>
              <a:t> según el grupo de partes interesadas, el método de comunicación y el objetivo.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Por ejemplo, puede comunicarse diariamente con su equipo por chat, semanalmente con su cliente por correo electrónico, mensualmente con su patrocinador por teléfono o, según sea necesario, con su proveedor por videoconferencia.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571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E473D-87A9-A507-0875-FA195094DE6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02AE2231-D20F-83F2-8ED9-A8E524A2C801}"/>
              </a:ext>
            </a:extLst>
          </p:cNvPr>
          <p:cNvSpPr txBox="1"/>
          <p:nvPr/>
        </p:nvSpPr>
        <p:spPr>
          <a:xfrm>
            <a:off x="1583675" y="1396242"/>
            <a:ext cx="9124720" cy="3046988"/>
          </a:xfrm>
          <a:prstGeom prst="rect">
            <a:avLst/>
          </a:prstGeom>
          <a:noFill/>
        </p:spPr>
        <p:txBody>
          <a:bodyPr wrap="square">
            <a:spAutoFit/>
          </a:bodyPr>
          <a:lstStyle/>
          <a:p>
            <a:r>
              <a:rPr lang="es-MX" sz="2400" b="1" dirty="0"/>
              <a:t>Frecuencia y calendario</a:t>
            </a:r>
            <a:endParaRPr lang="es-MX" sz="2400" dirty="0"/>
          </a:p>
          <a:p>
            <a:endParaRPr lang="es-MX" sz="2400" dirty="0"/>
          </a:p>
          <a:p>
            <a:pPr marL="342900" indent="-342900">
              <a:buFont typeface="Arial" panose="020B0604020202020204" pitchFamily="34" charset="0"/>
              <a:buChar char="•"/>
            </a:pPr>
            <a:r>
              <a:rPr lang="es-MX" sz="2400" dirty="0"/>
              <a:t>Reuniones semanales de seguimiento (status meetings).</a:t>
            </a:r>
          </a:p>
          <a:p>
            <a:pPr marL="342900" indent="-342900">
              <a:buFont typeface="Arial" panose="020B0604020202020204" pitchFamily="34" charset="0"/>
              <a:buChar char="•"/>
            </a:pPr>
            <a:endParaRPr lang="es-MX" sz="2400" dirty="0"/>
          </a:p>
          <a:p>
            <a:pPr marL="342900" indent="-342900">
              <a:buFont typeface="Arial" panose="020B0604020202020204" pitchFamily="34" charset="0"/>
              <a:buChar char="•"/>
            </a:pPr>
            <a:r>
              <a:rPr lang="es-MX" sz="2400" dirty="0"/>
              <a:t>Revisión de hitos clave (por ejemplo, entrega de prototipos, pruebas de aceptación).</a:t>
            </a:r>
          </a:p>
          <a:p>
            <a:pPr marL="342900" indent="-342900">
              <a:buFont typeface="Arial" panose="020B0604020202020204" pitchFamily="34" charset="0"/>
              <a:buChar char="•"/>
            </a:pPr>
            <a:endParaRPr lang="es-MX" sz="2400" dirty="0"/>
          </a:p>
          <a:p>
            <a:pPr marL="342900" indent="-342900">
              <a:buFont typeface="Arial" panose="020B0604020202020204" pitchFamily="34" charset="0"/>
              <a:buChar char="•"/>
            </a:pPr>
            <a:r>
              <a:rPr lang="es-MX" sz="2400" dirty="0"/>
              <a:t>Informes mensuales ejecutivos (en proyectos grandes).</a:t>
            </a:r>
          </a:p>
        </p:txBody>
      </p:sp>
    </p:spTree>
    <p:extLst>
      <p:ext uri="{BB962C8B-B14F-4D97-AF65-F5344CB8AC3E}">
        <p14:creationId xmlns:p14="http://schemas.microsoft.com/office/powerpoint/2010/main" val="2893527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DF0C8-C7AE-56B0-CA99-509277E951F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0023CE8-25D1-F73C-A5C5-2175239635C2}"/>
              </a:ext>
            </a:extLst>
          </p:cNvPr>
          <p:cNvSpPr txBox="1"/>
          <p:nvPr/>
        </p:nvSpPr>
        <p:spPr>
          <a:xfrm>
            <a:off x="1154017" y="784006"/>
            <a:ext cx="10105222" cy="4524315"/>
          </a:xfrm>
          <a:prstGeom prst="rect">
            <a:avLst/>
          </a:prstGeom>
          <a:noFill/>
        </p:spPr>
        <p:txBody>
          <a:bodyPr wrap="square">
            <a:spAutoFit/>
          </a:bodyPr>
          <a:lstStyle/>
          <a:p>
            <a:r>
              <a:rPr lang="es-ES" sz="2000" b="1" dirty="0">
                <a:latin typeface="Arial" panose="020B0604020202020204" pitchFamily="34" charset="0"/>
                <a:cs typeface="Arial" panose="020B0604020202020204" pitchFamily="34" charset="0"/>
              </a:rPr>
              <a:t>Establecer roles de comunicación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quinto paso </a:t>
            </a:r>
            <a:r>
              <a:rPr lang="es-ES" b="1" dirty="0">
                <a:solidFill>
                  <a:srgbClr val="0070C0"/>
                </a:solidFill>
                <a:latin typeface="Arial" panose="020B0604020202020204" pitchFamily="34" charset="0"/>
                <a:cs typeface="Arial" panose="020B0604020202020204" pitchFamily="34" charset="0"/>
              </a:rPr>
              <a:t>es establecer los roles de comunicación </a:t>
            </a:r>
            <a:r>
              <a:rPr lang="es-ES" dirty="0">
                <a:latin typeface="Arial" panose="020B0604020202020204" pitchFamily="34" charset="0"/>
                <a:cs typeface="Arial" panose="020B0604020202020204" pitchFamily="34" charset="0"/>
              </a:rPr>
              <a:t>para su proyecto de software.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roles de comunicación </a:t>
            </a:r>
            <a:r>
              <a:rPr lang="es-ES" dirty="0">
                <a:solidFill>
                  <a:schemeClr val="accent5">
                    <a:lumMod val="60000"/>
                    <a:lumOff val="40000"/>
                  </a:schemeClr>
                </a:solidFill>
                <a:latin typeface="Arial" panose="020B0604020202020204" pitchFamily="34" charset="0"/>
                <a:cs typeface="Arial" panose="020B0604020202020204" pitchFamily="34" charset="0"/>
              </a:rPr>
              <a:t>son las responsabilidades y expectativas que usted y sus partes interesadas se asignan con respecto a la comunicación, como quién inicia, responde, entrega, recibe o escala la comunicación</a:t>
            </a: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Debe </a:t>
            </a:r>
            <a:r>
              <a:rPr lang="es-ES" dirty="0">
                <a:solidFill>
                  <a:srgbClr val="0070C0"/>
                </a:solidFill>
                <a:latin typeface="Arial" panose="020B0604020202020204" pitchFamily="34" charset="0"/>
                <a:cs typeface="Arial" panose="020B0604020202020204" pitchFamily="34" charset="0"/>
              </a:rPr>
              <a:t>aclarar los roles de comunicación para cada grupo de partes interesadas y asegurarse de que todos los comprendan y estén de acuerdo</a:t>
            </a:r>
            <a:r>
              <a:rPr lang="es-ES" dirty="0">
                <a:latin typeface="Arial" panose="020B0604020202020204" pitchFamily="34" charset="0"/>
                <a:cs typeface="Arial" panose="020B0604020202020204" pitchFamily="34" charset="0"/>
              </a:rPr>
              <a:t>. Esto le ayudará a evitar confusiones, duplicaciones u omisiones en la comunicación, y a garantizar la rendición de cuentas y la transparencia.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Por ejemplo, puede asignarse a sí mismo el rol de iniciar y entregar la comunicación al cliente, al cliente el de recibir y responder a su comunicación, al patrocinador el de escalar y aprobar la comunicación suya o del cliente, etc.</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5158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09BC-A4DA-EFB4-063F-0EA352C66EA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B27D9F3-4BB9-C2BD-1440-3A68532A0926}"/>
              </a:ext>
            </a:extLst>
          </p:cNvPr>
          <p:cNvSpPr txBox="1"/>
          <p:nvPr/>
        </p:nvSpPr>
        <p:spPr>
          <a:xfrm>
            <a:off x="1583675" y="1396242"/>
            <a:ext cx="9124720" cy="4277445"/>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Roles y responsabilidades</a:t>
            </a:r>
            <a:endParaRPr lang="es-MX" sz="2400" dirty="0">
              <a:latin typeface="Arial" panose="020B0604020202020204" pitchFamily="34" charset="0"/>
              <a:cs typeface="Arial" panose="020B0604020202020204" pitchFamily="34" charset="0"/>
            </a:endParaRPr>
          </a:p>
          <a:p>
            <a:pPr>
              <a:buFont typeface="Arial" panose="020B0604020202020204" pitchFamily="34" charset="0"/>
              <a:buChar char="•"/>
            </a:pPr>
            <a:endParaRPr lang="es-MX" sz="2400"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b="1" dirty="0">
                <a:latin typeface="Arial" panose="020B0604020202020204" pitchFamily="34" charset="0"/>
                <a:cs typeface="Arial" panose="020B0604020202020204" pitchFamily="34" charset="0"/>
              </a:rPr>
              <a:t> Equipo de desarrollo:</a:t>
            </a:r>
            <a:r>
              <a:rPr lang="es-MX" sz="2400" dirty="0">
                <a:latin typeface="Arial" panose="020B0604020202020204" pitchFamily="34" charset="0"/>
                <a:cs typeface="Arial" panose="020B0604020202020204" pitchFamily="34" charset="0"/>
              </a:rPr>
              <a:t> reportar avances técnicos, aclarar dudas.</a:t>
            </a:r>
          </a:p>
          <a:p>
            <a:pPr>
              <a:buFont typeface="Arial" panose="020B0604020202020204" pitchFamily="34" charset="0"/>
              <a:buChar char="•"/>
            </a:pPr>
            <a:endParaRPr lang="es-MX" sz="2400"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b="1" dirty="0">
                <a:latin typeface="Arial" panose="020B0604020202020204" pitchFamily="34" charset="0"/>
                <a:cs typeface="Arial" panose="020B0604020202020204" pitchFamily="34" charset="0"/>
              </a:rPr>
              <a:t> Gerente de proyecto / Líder de equipo:</a:t>
            </a:r>
            <a:r>
              <a:rPr lang="es-MX" sz="2400" dirty="0">
                <a:latin typeface="Arial" panose="020B0604020202020204" pitchFamily="34" charset="0"/>
                <a:cs typeface="Arial" panose="020B0604020202020204" pitchFamily="34" charset="0"/>
              </a:rPr>
              <a:t> canalizar la comunicación, consolidar informes, manejar escalamiento de problemas.</a:t>
            </a:r>
          </a:p>
          <a:p>
            <a:pPr>
              <a:buFont typeface="Arial" panose="020B0604020202020204" pitchFamily="34" charset="0"/>
              <a:buChar char="•"/>
            </a:pPr>
            <a:endParaRPr lang="es-MX" sz="2400"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sz="2400" b="1" dirty="0">
                <a:latin typeface="Arial" panose="020B0604020202020204" pitchFamily="34" charset="0"/>
                <a:cs typeface="Arial" panose="020B0604020202020204" pitchFamily="34" charset="0"/>
              </a:rPr>
              <a:t> Cliente / Usuario clave:</a:t>
            </a:r>
            <a:r>
              <a:rPr lang="es-MX" sz="2400" dirty="0">
                <a:latin typeface="Arial" panose="020B0604020202020204" pitchFamily="34" charset="0"/>
                <a:cs typeface="Arial" panose="020B0604020202020204" pitchFamily="34" charset="0"/>
              </a:rPr>
              <a:t> proporcionar retroalimentación, aprobar entregables, priorizar cambios.</a:t>
            </a:r>
          </a:p>
        </p:txBody>
      </p:sp>
    </p:spTree>
    <p:extLst>
      <p:ext uri="{BB962C8B-B14F-4D97-AF65-F5344CB8AC3E}">
        <p14:creationId xmlns:p14="http://schemas.microsoft.com/office/powerpoint/2010/main" val="3940436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43286-C2CC-9D4F-2788-9F0E26D2A11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E8DBFDF-877D-6154-88C2-BABDFAC5F131}"/>
              </a:ext>
            </a:extLst>
          </p:cNvPr>
          <p:cNvSpPr txBox="1"/>
          <p:nvPr/>
        </p:nvSpPr>
        <p:spPr>
          <a:xfrm>
            <a:off x="1076899" y="818980"/>
            <a:ext cx="10193356" cy="4370427"/>
          </a:xfrm>
          <a:prstGeom prst="rect">
            <a:avLst/>
          </a:prstGeom>
          <a:noFill/>
        </p:spPr>
        <p:txBody>
          <a:bodyPr wrap="square">
            <a:spAutoFit/>
          </a:bodyPr>
          <a:lstStyle/>
          <a:p>
            <a:pPr fontAlgn="base">
              <a:spcBef>
                <a:spcPts val="1200"/>
              </a:spcBef>
              <a:spcAft>
                <a:spcPts val="1200"/>
              </a:spcAft>
            </a:pPr>
            <a:r>
              <a:rPr lang="es-ES" sz="2000" b="1" dirty="0">
                <a:latin typeface="Arial" panose="020B0604020202020204" pitchFamily="34" charset="0"/>
                <a:cs typeface="Arial" panose="020B0604020202020204" pitchFamily="34" charset="0"/>
              </a:rPr>
              <a:t>Monitorear y evaluar la comunicación </a:t>
            </a:r>
          </a:p>
          <a:p>
            <a:pPr marL="285750" indent="-285750" fontAlgn="base">
              <a:spcBef>
                <a:spcPts val="1200"/>
              </a:spcBef>
              <a:spcAft>
                <a:spcPts val="1200"/>
              </a:spcAft>
              <a:buFont typeface="Arial" panose="020B0604020202020204" pitchFamily="34" charset="0"/>
              <a:buChar char="•"/>
            </a:pPr>
            <a:r>
              <a:rPr lang="es-ES" dirty="0">
                <a:latin typeface="Arial" panose="020B0604020202020204" pitchFamily="34" charset="0"/>
                <a:cs typeface="Arial" panose="020B0604020202020204" pitchFamily="34" charset="0"/>
              </a:rPr>
              <a:t>El último paso es </a:t>
            </a:r>
            <a:r>
              <a:rPr lang="es-ES" dirty="0">
                <a:solidFill>
                  <a:srgbClr val="0070C0"/>
                </a:solidFill>
                <a:latin typeface="Arial" panose="020B0604020202020204" pitchFamily="34" charset="0"/>
                <a:cs typeface="Arial" panose="020B0604020202020204" pitchFamily="34" charset="0"/>
              </a:rPr>
              <a:t>monitorear y evaluar la comunicación de su proyecto de software</a:t>
            </a:r>
            <a:r>
              <a:rPr lang="es-ES" dirty="0">
                <a:latin typeface="Arial" panose="020B0604020202020204" pitchFamily="34" charset="0"/>
                <a:cs typeface="Arial" panose="020B0604020202020204" pitchFamily="34" charset="0"/>
              </a:rPr>
              <a:t>. </a:t>
            </a:r>
          </a:p>
          <a:p>
            <a:pPr marL="285750" indent="-285750" fontAlgn="base">
              <a:spcBef>
                <a:spcPts val="1200"/>
              </a:spcBef>
              <a:spcAft>
                <a:spcPts val="1200"/>
              </a:spcAft>
              <a:buFont typeface="Arial" panose="020B0604020202020204" pitchFamily="34" charset="0"/>
              <a:buChar char="•"/>
            </a:pPr>
            <a:r>
              <a:rPr lang="es-ES" dirty="0">
                <a:latin typeface="Arial" panose="020B0604020202020204" pitchFamily="34" charset="0"/>
                <a:cs typeface="Arial" panose="020B0604020202020204" pitchFamily="34" charset="0"/>
              </a:rPr>
              <a:t>Monitorear y evaluar la comunicación </a:t>
            </a:r>
            <a:r>
              <a:rPr lang="es-ES" dirty="0">
                <a:solidFill>
                  <a:srgbClr val="0070C0"/>
                </a:solidFill>
                <a:latin typeface="Arial" panose="020B0604020202020204" pitchFamily="34" charset="0"/>
                <a:cs typeface="Arial" panose="020B0604020202020204" pitchFamily="34" charset="0"/>
              </a:rPr>
              <a:t>es el proceso de medir y evaluar la efectividad y el impacto de su comunicación, y realizar los ajustes necesarios</a:t>
            </a:r>
            <a:r>
              <a:rPr lang="es-ES" dirty="0">
                <a:latin typeface="Arial" panose="020B0604020202020204" pitchFamily="34" charset="0"/>
                <a:cs typeface="Arial" panose="020B0604020202020204" pitchFamily="34" charset="0"/>
              </a:rPr>
              <a:t>. </a:t>
            </a:r>
          </a:p>
          <a:p>
            <a:pPr marL="285750" indent="-285750" fontAlgn="base">
              <a:spcBef>
                <a:spcPts val="1200"/>
              </a:spcBef>
              <a:spcAft>
                <a:spcPts val="1200"/>
              </a:spcAft>
              <a:buFont typeface="Arial" panose="020B0604020202020204" pitchFamily="34" charset="0"/>
              <a:buChar char="•"/>
            </a:pPr>
            <a:r>
              <a:rPr lang="es-ES" dirty="0">
                <a:latin typeface="Arial" panose="020B0604020202020204" pitchFamily="34" charset="0"/>
                <a:cs typeface="Arial" panose="020B0604020202020204" pitchFamily="34" charset="0"/>
              </a:rPr>
              <a:t>Debe </a:t>
            </a:r>
            <a:r>
              <a:rPr lang="es-ES" dirty="0">
                <a:solidFill>
                  <a:schemeClr val="accent5">
                    <a:lumMod val="60000"/>
                    <a:lumOff val="40000"/>
                  </a:schemeClr>
                </a:solidFill>
                <a:latin typeface="Arial" panose="020B0604020202020204" pitchFamily="34" charset="0"/>
                <a:cs typeface="Arial" panose="020B0604020202020204" pitchFamily="34" charset="0"/>
              </a:rPr>
              <a:t>recopilar y analizar la retroalimentación, los datos y las métricas de las partes interesadas, y compararlos con sus objetivos y expectativas de comunicación</a:t>
            </a:r>
            <a:r>
              <a:rPr lang="es-ES" dirty="0">
                <a:latin typeface="Arial" panose="020B0604020202020204" pitchFamily="34" charset="0"/>
                <a:cs typeface="Arial" panose="020B0604020202020204" pitchFamily="34" charset="0"/>
              </a:rPr>
              <a:t>. </a:t>
            </a:r>
            <a:r>
              <a:rPr lang="es-ES" dirty="0">
                <a:solidFill>
                  <a:srgbClr val="0070C0"/>
                </a:solidFill>
                <a:latin typeface="Arial" panose="020B0604020202020204" pitchFamily="34" charset="0"/>
                <a:cs typeface="Arial" panose="020B0604020202020204" pitchFamily="34" charset="0"/>
              </a:rPr>
              <a:t>Esto le ayudará a identificar y abordar cualquier brecha, problema u oportunidad de comunicación, y a mejorar su plan y rendimiento de comunicación</a:t>
            </a:r>
            <a:r>
              <a:rPr lang="es-ES" dirty="0">
                <a:latin typeface="Arial" panose="020B0604020202020204" pitchFamily="34" charset="0"/>
                <a:cs typeface="Arial" panose="020B0604020202020204" pitchFamily="34" charset="0"/>
              </a:rPr>
              <a:t>. </a:t>
            </a:r>
          </a:p>
          <a:p>
            <a:pPr marL="285750" indent="-285750" fontAlgn="base">
              <a:spcBef>
                <a:spcPts val="1200"/>
              </a:spcBef>
              <a:spcAft>
                <a:spcPts val="1200"/>
              </a:spcAft>
              <a:buFont typeface="Arial" panose="020B0604020202020204" pitchFamily="34" charset="0"/>
              <a:buChar char="•"/>
            </a:pPr>
            <a:r>
              <a:rPr lang="es-ES" dirty="0">
                <a:latin typeface="Arial" panose="020B0604020202020204" pitchFamily="34" charset="0"/>
                <a:cs typeface="Arial" panose="020B0604020202020204" pitchFamily="34" charset="0"/>
              </a:rPr>
              <a:t>Por ejemplo, puede utilizar encuestas, entrevistas o revisiones para recopilar la retroalimentación de las partes interesadas y utilizar indicadores como la satisfacción, el compromiso o la calidad para evaluar su comunicación.</a:t>
            </a:r>
            <a:endParaRPr lang="es-MX"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490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8B35-5A16-5E26-DEE3-F3BAA658191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A2918A2-1261-32A8-7EFA-A2D5D7AE2038}"/>
              </a:ext>
            </a:extLst>
          </p:cNvPr>
          <p:cNvSpPr txBox="1"/>
          <p:nvPr/>
        </p:nvSpPr>
        <p:spPr>
          <a:xfrm>
            <a:off x="1520328" y="1640365"/>
            <a:ext cx="9628742" cy="2677656"/>
          </a:xfrm>
          <a:prstGeom prst="rect">
            <a:avLst/>
          </a:prstGeom>
          <a:noFill/>
        </p:spPr>
        <p:txBody>
          <a:bodyPr wrap="square">
            <a:spAutoFit/>
          </a:bodyPr>
          <a:lstStyle/>
          <a:p>
            <a:pPr algn="l">
              <a:buNone/>
            </a:pPr>
            <a:r>
              <a:rPr lang="es-ES" sz="3200" b="1" dirty="0">
                <a:solidFill>
                  <a:srgbClr val="1F1F1F"/>
                </a:solidFill>
                <a:latin typeface="Arial" panose="020B0604020202020204" pitchFamily="34" charset="0"/>
              </a:rPr>
              <a:t>O</a:t>
            </a:r>
            <a:r>
              <a:rPr lang="es-ES" sz="3200" b="1" i="0" dirty="0">
                <a:solidFill>
                  <a:srgbClr val="1F1F1F"/>
                </a:solidFill>
                <a:effectLst/>
                <a:latin typeface="Arial" panose="020B0604020202020204" pitchFamily="34" charset="0"/>
              </a:rPr>
              <a:t>tros aspectos a considerar </a:t>
            </a:r>
          </a:p>
          <a:p>
            <a:pPr algn="l">
              <a:buNone/>
            </a:pPr>
            <a:endParaRPr lang="es-ES" dirty="0">
              <a:solidFill>
                <a:srgbClr val="1F1F1F"/>
              </a:solidFill>
              <a:latin typeface="Arial" panose="020B0604020202020204" pitchFamily="34" charset="0"/>
            </a:endParaRPr>
          </a:p>
          <a:p>
            <a:pPr algn="l">
              <a:buNone/>
            </a:pPr>
            <a:r>
              <a:rPr lang="es-ES" b="0" i="0" dirty="0">
                <a:solidFill>
                  <a:srgbClr val="1F1F1F"/>
                </a:solidFill>
                <a:effectLst/>
                <a:latin typeface="Arial" panose="020B0604020202020204" pitchFamily="34" charset="0"/>
              </a:rPr>
              <a:t>Este es un espacio para compartir ejemplos, historias o ideas que no se ajusten a ninguna de las secciones anteriores. </a:t>
            </a:r>
          </a:p>
          <a:p>
            <a:pPr algn="l">
              <a:buNone/>
            </a:pPr>
            <a:endParaRPr lang="es-ES" dirty="0">
              <a:solidFill>
                <a:srgbClr val="1F1F1F"/>
              </a:solidFill>
              <a:latin typeface="Arial" panose="020B0604020202020204" pitchFamily="34" charset="0"/>
            </a:endParaRPr>
          </a:p>
          <a:p>
            <a:pPr algn="l">
              <a:buNone/>
            </a:pPr>
            <a:r>
              <a:rPr lang="es-ES" b="0" i="0" dirty="0">
                <a:solidFill>
                  <a:srgbClr val="1F1F1F"/>
                </a:solidFill>
                <a:effectLst/>
                <a:latin typeface="Arial" panose="020B0604020202020204" pitchFamily="34" charset="0"/>
              </a:rPr>
              <a:t>¿Qué más puedes añadir?</a:t>
            </a:r>
          </a:p>
          <a:p>
            <a:pPr algn="l">
              <a:spcBef>
                <a:spcPts val="1200"/>
              </a:spcBef>
              <a:buNone/>
            </a:pPr>
            <a:br>
              <a:rPr lang="es-ES" b="0" i="0" dirty="0">
                <a:solidFill>
                  <a:srgbClr val="1F1F1F"/>
                </a:solidFill>
                <a:effectLst/>
                <a:latin typeface="Arial" panose="020B0604020202020204" pitchFamily="34" charset="0"/>
              </a:rPr>
            </a:br>
            <a:endParaRPr lang="es-ES" b="0" i="0" dirty="0">
              <a:solidFill>
                <a:srgbClr val="1F1F1F"/>
              </a:solidFill>
              <a:effectLst/>
              <a:latin typeface="Arial" panose="020B0604020202020204" pitchFamily="34" charset="0"/>
            </a:endParaRPr>
          </a:p>
        </p:txBody>
      </p:sp>
    </p:spTree>
    <p:extLst>
      <p:ext uri="{BB962C8B-B14F-4D97-AF65-F5344CB8AC3E}">
        <p14:creationId xmlns:p14="http://schemas.microsoft.com/office/powerpoint/2010/main" val="2296425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DB5F4-85BD-705B-3523-8865E82A49F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73FABA9-4A30-87D0-6CC8-3CC75C0A88F6}"/>
              </a:ext>
            </a:extLst>
          </p:cNvPr>
          <p:cNvSpPr txBox="1"/>
          <p:nvPr/>
        </p:nvSpPr>
        <p:spPr>
          <a:xfrm>
            <a:off x="1209102" y="1673241"/>
            <a:ext cx="10226408" cy="2400657"/>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Tipos de comunicación</a:t>
            </a:r>
          </a:p>
          <a:p>
            <a:pPr>
              <a:buNone/>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Formal:</a:t>
            </a:r>
            <a:r>
              <a:rPr lang="es-MX" dirty="0">
                <a:latin typeface="Arial" panose="020B0604020202020204" pitchFamily="34" charset="0"/>
                <a:cs typeface="Arial" panose="020B0604020202020204" pitchFamily="34" charset="0"/>
              </a:rPr>
              <a:t> reuniones de arranque, juntas de revisión, reportes de estatus, minutas de acuerdos, documentación compartida.</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Informal:</a:t>
            </a:r>
            <a:r>
              <a:rPr lang="es-MX" dirty="0">
                <a:latin typeface="Arial" panose="020B0604020202020204" pitchFamily="34" charset="0"/>
                <a:cs typeface="Arial" panose="020B0604020202020204" pitchFamily="34" charset="0"/>
              </a:rPr>
              <a:t> correos electrónicos, chats (Slack, Teams, WhatsApp), llamadas rápidas para resolver dudas.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4894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A3B693-FEA3-8DA6-539B-FF1FC8C2C0D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50518D7A-BFBB-F0F1-B9F3-BC5FBDB4FFDC}"/>
              </a:ext>
            </a:extLst>
          </p:cNvPr>
          <p:cNvPicPr>
            <a:picLocks noChangeAspect="1"/>
          </p:cNvPicPr>
          <p:nvPr/>
        </p:nvPicPr>
        <p:blipFill>
          <a:blip r:embed="rId2"/>
          <a:stretch>
            <a:fillRect/>
          </a:stretch>
        </p:blipFill>
        <p:spPr>
          <a:xfrm>
            <a:off x="2130828" y="643466"/>
            <a:ext cx="7930344" cy="5571067"/>
          </a:xfrm>
          <a:prstGeom prst="rect">
            <a:avLst/>
          </a:prstGeom>
        </p:spPr>
      </p:pic>
    </p:spTree>
    <p:extLst>
      <p:ext uri="{BB962C8B-B14F-4D97-AF65-F5344CB8AC3E}">
        <p14:creationId xmlns:p14="http://schemas.microsoft.com/office/powerpoint/2010/main" val="3060771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DFA4C8-287F-ABA8-D8FF-4165BF1D0EF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AA9A327F-E2DB-E434-3816-E20E32EAE0E5}"/>
              </a:ext>
            </a:extLst>
          </p:cNvPr>
          <p:cNvPicPr>
            <a:picLocks noChangeAspect="1"/>
          </p:cNvPicPr>
          <p:nvPr/>
        </p:nvPicPr>
        <p:blipFill>
          <a:blip r:embed="rId2"/>
          <a:stretch>
            <a:fillRect/>
          </a:stretch>
        </p:blipFill>
        <p:spPr>
          <a:xfrm>
            <a:off x="2957370" y="643466"/>
            <a:ext cx="6704423" cy="5571067"/>
          </a:xfrm>
          <a:prstGeom prst="rect">
            <a:avLst/>
          </a:prstGeom>
        </p:spPr>
      </p:pic>
    </p:spTree>
    <p:extLst>
      <p:ext uri="{BB962C8B-B14F-4D97-AF65-F5344CB8AC3E}">
        <p14:creationId xmlns:p14="http://schemas.microsoft.com/office/powerpoint/2010/main" val="1961416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2AEE2-2A44-E946-F575-BDAB740C33F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B33299B-F5A6-0FE4-AE6A-5C01D111A4BA}"/>
              </a:ext>
            </a:extLst>
          </p:cNvPr>
          <p:cNvSpPr txBox="1"/>
          <p:nvPr/>
        </p:nvSpPr>
        <p:spPr>
          <a:xfrm>
            <a:off x="1143000" y="1045280"/>
            <a:ext cx="10226408" cy="2954655"/>
          </a:xfrm>
          <a:prstGeom prst="rect">
            <a:avLst/>
          </a:prstGeom>
          <a:noFill/>
        </p:spPr>
        <p:txBody>
          <a:bodyPr wrap="square">
            <a:spAutoFit/>
          </a:bodyPr>
          <a:lstStyle/>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Medios y herramientas</a:t>
            </a:r>
          </a:p>
          <a:p>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Gestión documental: Confluence, Google Docs, SharePoint.</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Seguimiento de tareas: Jira, Trello, Azure DevOps.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Comunicación síncrona: Zoom, Teams, Meet.</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Repositorios de código: GitHub, GitLab (con documentación asociada).</a:t>
            </a:r>
          </a:p>
        </p:txBody>
      </p:sp>
    </p:spTree>
    <p:extLst>
      <p:ext uri="{BB962C8B-B14F-4D97-AF65-F5344CB8AC3E}">
        <p14:creationId xmlns:p14="http://schemas.microsoft.com/office/powerpoint/2010/main" val="2657016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EE47-724B-1232-726C-28AEDEAF90F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B1C626B-61C8-9BA1-E159-7D847F28DCCC}"/>
              </a:ext>
            </a:extLst>
          </p:cNvPr>
          <p:cNvSpPr txBox="1"/>
          <p:nvPr/>
        </p:nvSpPr>
        <p:spPr>
          <a:xfrm>
            <a:off x="1142999" y="856416"/>
            <a:ext cx="10303526" cy="4985980"/>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Protocolos y normas de comunicación</a:t>
            </a:r>
            <a:endParaRPr lang="es-MX" sz="2400" dirty="0">
              <a:latin typeface="Arial" panose="020B0604020202020204" pitchFamily="34" charset="0"/>
              <a:cs typeface="Arial" panose="020B0604020202020204" pitchFamily="34" charset="0"/>
            </a:endParaRP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Estándar para reportes (formato, métricas de avance, indicadores).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Registro de acuerdos en minutas oficiales.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Definición de idiomas (ej. inglés en proyectos internacionales).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Manejo de cambios: toda modificación de requerimientos pasa por un registro y aprobación formal.</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r>
              <a:rPr lang="es-MX" sz="2400" b="1" dirty="0">
                <a:latin typeface="Arial" panose="020B0604020202020204" pitchFamily="34" charset="0"/>
                <a:cs typeface="Arial" panose="020B0604020202020204" pitchFamily="34" charset="0"/>
              </a:rPr>
              <a:t>Escalamiento de problemas</a:t>
            </a:r>
          </a:p>
          <a:p>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Rutas claras de escalamiento cuando hay retrasos, bloqueos técnicos o conflictos en prioridades.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Definición de tiempos de respuesta esperados.</a:t>
            </a:r>
          </a:p>
        </p:txBody>
      </p:sp>
    </p:spTree>
    <p:extLst>
      <p:ext uri="{BB962C8B-B14F-4D97-AF65-F5344CB8AC3E}">
        <p14:creationId xmlns:p14="http://schemas.microsoft.com/office/powerpoint/2010/main" val="3998802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046E-D194-5A7C-303A-9A763757D7E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3EA7C35-CCBE-C9FD-1DA5-516809D60290}"/>
              </a:ext>
            </a:extLst>
          </p:cNvPr>
          <p:cNvSpPr txBox="1"/>
          <p:nvPr/>
        </p:nvSpPr>
        <p:spPr>
          <a:xfrm>
            <a:off x="2101467" y="1827477"/>
            <a:ext cx="8254387" cy="2400657"/>
          </a:xfrm>
          <a:prstGeom prst="rect">
            <a:avLst/>
          </a:prstGeom>
          <a:noFill/>
        </p:spPr>
        <p:txBody>
          <a:bodyPr wrap="square">
            <a:spAutoFit/>
          </a:bodyPr>
          <a:lstStyle/>
          <a:p>
            <a:r>
              <a:rPr lang="es-MX" sz="2400" b="1" dirty="0">
                <a:latin typeface="Arial" panose="020B0604020202020204" pitchFamily="34" charset="0"/>
                <a:cs typeface="Arial" panose="020B0604020202020204" pitchFamily="34" charset="0"/>
              </a:rPr>
              <a:t>Control y retroalimentación</a:t>
            </a:r>
          </a:p>
          <a:p>
            <a:endParaRPr lang="es-MX" dirty="0">
              <a:latin typeface="Arial" panose="020B0604020202020204" pitchFamily="34" charset="0"/>
              <a:cs typeface="Arial" panose="020B0604020202020204" pitchFamily="34" charset="0"/>
            </a:endParaRPr>
          </a:p>
          <a:p>
            <a:pPr marL="742950" lvl="1" indent="-285750">
              <a:buFont typeface="+mj-lt"/>
              <a:buAutoNum type="arabicPeriod"/>
            </a:pPr>
            <a:r>
              <a:rPr lang="es-MX" dirty="0">
                <a:latin typeface="Arial" panose="020B0604020202020204" pitchFamily="34" charset="0"/>
                <a:cs typeface="Arial" panose="020B0604020202020204" pitchFamily="34" charset="0"/>
              </a:rPr>
              <a:t>Encuestas periódicas de satisfacción del cliente.</a:t>
            </a:r>
          </a:p>
          <a:p>
            <a:pPr marL="742950" lvl="1" indent="-285750">
              <a:buFont typeface="+mj-lt"/>
              <a:buAutoNum type="arabicPeriod"/>
            </a:pPr>
            <a:endParaRPr lang="es-MX" dirty="0">
              <a:latin typeface="Arial" panose="020B0604020202020204" pitchFamily="34" charset="0"/>
              <a:cs typeface="Arial" panose="020B0604020202020204" pitchFamily="34" charset="0"/>
            </a:endParaRPr>
          </a:p>
          <a:p>
            <a:pPr marL="742950" lvl="1" indent="-285750">
              <a:buFont typeface="+mj-lt"/>
              <a:buAutoNum type="arabicPeriod"/>
            </a:pPr>
            <a:r>
              <a:rPr lang="es-MX" dirty="0">
                <a:latin typeface="Arial" panose="020B0604020202020204" pitchFamily="34" charset="0"/>
                <a:cs typeface="Arial" panose="020B0604020202020204" pitchFamily="34" charset="0"/>
              </a:rPr>
              <a:t>Registro de incidencias comunicativas (ej. malentendidos repetidos).</a:t>
            </a:r>
          </a:p>
          <a:p>
            <a:pPr marL="742950" lvl="1" indent="-285750">
              <a:buFont typeface="+mj-lt"/>
              <a:buAutoNum type="arabicPeriod"/>
            </a:pPr>
            <a:endParaRPr lang="es-MX" dirty="0">
              <a:latin typeface="Arial" panose="020B0604020202020204" pitchFamily="34" charset="0"/>
              <a:cs typeface="Arial" panose="020B0604020202020204" pitchFamily="34" charset="0"/>
            </a:endParaRPr>
          </a:p>
          <a:p>
            <a:pPr marL="742950" lvl="1" indent="-285750">
              <a:buFont typeface="+mj-lt"/>
              <a:buAutoNum type="arabicPeriod"/>
            </a:pPr>
            <a:r>
              <a:rPr lang="es-MX" dirty="0">
                <a:latin typeface="Arial" panose="020B0604020202020204" pitchFamily="34" charset="0"/>
                <a:cs typeface="Arial" panose="020B0604020202020204" pitchFamily="34" charset="0"/>
              </a:rPr>
              <a:t>Ajustes al plan de comunicación si no está funcionando (retroalimentación ágil).</a:t>
            </a:r>
          </a:p>
        </p:txBody>
      </p:sp>
    </p:spTree>
    <p:extLst>
      <p:ext uri="{BB962C8B-B14F-4D97-AF65-F5344CB8AC3E}">
        <p14:creationId xmlns:p14="http://schemas.microsoft.com/office/powerpoint/2010/main" val="2638583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BD2118-B981-EF03-45F9-69F6CE6B1E77}"/>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9C0C8B3-504D-D98F-7D25-C03D96D45DCB}"/>
              </a:ext>
            </a:extLst>
          </p:cNvPr>
          <p:cNvGraphicFramePr>
            <a:graphicFrameLocks noGrp="1"/>
          </p:cNvGraphicFramePr>
          <p:nvPr>
            <p:extLst>
              <p:ext uri="{D42A27DB-BD31-4B8C-83A1-F6EECF244321}">
                <p14:modId xmlns:p14="http://schemas.microsoft.com/office/powerpoint/2010/main" val="3576031050"/>
              </p:ext>
            </p:extLst>
          </p:nvPr>
        </p:nvGraphicFramePr>
        <p:xfrm>
          <a:off x="643467" y="1211706"/>
          <a:ext cx="10905067" cy="5003221"/>
        </p:xfrm>
        <a:graphic>
          <a:graphicData uri="http://schemas.openxmlformats.org/drawingml/2006/table">
            <a:tbl>
              <a:tblPr/>
              <a:tblGrid>
                <a:gridCol w="2628543">
                  <a:extLst>
                    <a:ext uri="{9D8B030D-6E8A-4147-A177-3AD203B41FA5}">
                      <a16:colId xmlns:a16="http://schemas.microsoft.com/office/drawing/2014/main" val="1335317560"/>
                    </a:ext>
                  </a:extLst>
                </a:gridCol>
                <a:gridCol w="8276524">
                  <a:extLst>
                    <a:ext uri="{9D8B030D-6E8A-4147-A177-3AD203B41FA5}">
                      <a16:colId xmlns:a16="http://schemas.microsoft.com/office/drawing/2014/main" val="1855739884"/>
                    </a:ext>
                  </a:extLst>
                </a:gridCol>
              </a:tblGrid>
              <a:tr h="390686">
                <a:tc>
                  <a:txBody>
                    <a:bodyPr/>
                    <a:lstStyle/>
                    <a:p>
                      <a:pPr algn="ctr" rtl="0">
                        <a:lnSpc>
                          <a:spcPts val="2250"/>
                        </a:lnSpc>
                        <a:buNone/>
                      </a:pPr>
                      <a:r>
                        <a:rPr lang="es-MX" sz="1800" b="1">
                          <a:effectLst/>
                          <a:latin typeface="Arial" panose="020B0604020202020204" pitchFamily="34" charset="0"/>
                          <a:cs typeface="Arial" panose="020B0604020202020204" pitchFamily="34" charset="0"/>
                        </a:rPr>
                        <a:t>Componentes clave</a:t>
                      </a:r>
                      <a:endParaRPr lang="es-MX" sz="18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E0C095"/>
                      </a:solidFill>
                      <a:prstDash val="solid"/>
                      <a:round/>
                      <a:headEnd type="none" w="med" len="med"/>
                      <a:tailEnd type="none" w="med" len="med"/>
                    </a:lnL>
                    <a:lnR w="9525" cap="flat" cmpd="sng" algn="ctr">
                      <a:solidFill>
                        <a:srgbClr val="40FC95"/>
                      </a:solidFill>
                      <a:prstDash val="solid"/>
                      <a:round/>
                      <a:headEnd type="none" w="med" len="med"/>
                      <a:tailEnd type="none" w="med" len="med"/>
                    </a:lnR>
                    <a:lnT w="9525" cap="flat" cmpd="sng" algn="ctr">
                      <a:solidFill>
                        <a:srgbClr val="E0C095"/>
                      </a:solidFill>
                      <a:prstDash val="solid"/>
                      <a:round/>
                      <a:headEnd type="none" w="med" len="med"/>
                      <a:tailEnd type="none" w="med" len="med"/>
                    </a:lnT>
                    <a:lnB w="9525" cap="flat" cmpd="sng" algn="ctr">
                      <a:solidFill>
                        <a:srgbClr val="C0D295"/>
                      </a:solidFill>
                      <a:prstDash val="solid"/>
                      <a:round/>
                      <a:headEnd type="none" w="med" len="med"/>
                      <a:tailEnd type="none" w="med" len="med"/>
                    </a:lnB>
                    <a:solidFill>
                      <a:srgbClr val="FFFFFF"/>
                    </a:solidFill>
                  </a:tcPr>
                </a:tc>
                <a:tc>
                  <a:txBody>
                    <a:bodyPr/>
                    <a:lstStyle/>
                    <a:p>
                      <a:pPr algn="ctr" rtl="0">
                        <a:lnSpc>
                          <a:spcPts val="2250"/>
                        </a:lnSpc>
                        <a:buNone/>
                      </a:pPr>
                      <a:r>
                        <a:rPr lang="es-MX" sz="1800" b="1" dirty="0">
                          <a:effectLst/>
                          <a:latin typeface="Arial" panose="020B0604020202020204" pitchFamily="34" charset="0"/>
                          <a:cs typeface="Arial" panose="020B0604020202020204" pitchFamily="34" charset="0"/>
                        </a:rPr>
                        <a:t>Definiciones</a:t>
                      </a:r>
                      <a:endParaRPr lang="es-MX" sz="1800" b="0" dirty="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40FC95"/>
                      </a:solidFill>
                      <a:prstDash val="solid"/>
                      <a:round/>
                      <a:headEnd type="none" w="med" len="med"/>
                      <a:tailEnd type="none" w="med" len="med"/>
                    </a:lnL>
                    <a:lnR w="9525" cap="flat" cmpd="sng" algn="ctr">
                      <a:solidFill>
                        <a:srgbClr val="40FC95"/>
                      </a:solidFill>
                      <a:prstDash val="solid"/>
                      <a:round/>
                      <a:headEnd type="none" w="med" len="med"/>
                      <a:tailEnd type="none" w="med" len="med"/>
                    </a:lnR>
                    <a:lnT w="9525" cap="flat" cmpd="sng" algn="ctr">
                      <a:solidFill>
                        <a:srgbClr val="40FC95"/>
                      </a:solidFill>
                      <a:prstDash val="solid"/>
                      <a:round/>
                      <a:headEnd type="none" w="med" len="med"/>
                      <a:tailEnd type="none" w="med" len="med"/>
                    </a:lnT>
                    <a:lnB w="9525" cap="flat" cmpd="sng" algn="ctr">
                      <a:solidFill>
                        <a:srgbClr val="30F095"/>
                      </a:solidFill>
                      <a:prstDash val="solid"/>
                      <a:round/>
                      <a:headEnd type="none" w="med" len="med"/>
                      <a:tailEnd type="none" w="med" len="med"/>
                    </a:lnB>
                    <a:solidFill>
                      <a:srgbClr val="FFFFFF"/>
                    </a:solidFill>
                  </a:tcPr>
                </a:tc>
                <a:extLst>
                  <a:ext uri="{0D108BD9-81ED-4DB2-BD59-A6C34878D82A}">
                    <a16:rowId xmlns:a16="http://schemas.microsoft.com/office/drawing/2014/main" val="1996422266"/>
                  </a:ext>
                </a:extLst>
              </a:tr>
              <a:tr h="635097">
                <a:tc>
                  <a:txBody>
                    <a:bodyPr/>
                    <a:lstStyle/>
                    <a:p>
                      <a:pPr rtl="0">
                        <a:lnSpc>
                          <a:spcPts val="2250"/>
                        </a:lnSpc>
                        <a:buNone/>
                      </a:pPr>
                      <a:r>
                        <a:rPr lang="es-MX" sz="1400" b="1">
                          <a:effectLst/>
                          <a:latin typeface="Arial" panose="020B0604020202020204" pitchFamily="34" charset="0"/>
                          <a:cs typeface="Arial" panose="020B0604020202020204" pitchFamily="34" charset="0"/>
                        </a:rPr>
                        <a:t>Objetivos</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C0D295"/>
                      </a:solidFill>
                      <a:prstDash val="solid"/>
                      <a:round/>
                      <a:headEnd type="none" w="med" len="med"/>
                      <a:tailEnd type="none" w="med" len="med"/>
                    </a:lnL>
                    <a:lnR w="9525" cap="flat" cmpd="sng" algn="ctr">
                      <a:solidFill>
                        <a:srgbClr val="30F095"/>
                      </a:solidFill>
                      <a:prstDash val="solid"/>
                      <a:round/>
                      <a:headEnd type="none" w="med" len="med"/>
                      <a:tailEnd type="none" w="med" len="med"/>
                    </a:lnR>
                    <a:lnT w="9525" cap="flat" cmpd="sng" algn="ctr">
                      <a:solidFill>
                        <a:srgbClr val="C0D295"/>
                      </a:solidFill>
                      <a:prstDash val="solid"/>
                      <a:round/>
                      <a:headEnd type="none" w="med" len="med"/>
                      <a:tailEnd type="none" w="med" len="med"/>
                    </a:lnT>
                    <a:lnB w="9525" cap="flat" cmpd="sng" algn="ctr">
                      <a:solidFill>
                        <a:srgbClr val="00E395"/>
                      </a:solidFill>
                      <a:prstDash val="solid"/>
                      <a:round/>
                      <a:headEnd type="none" w="med" len="med"/>
                      <a:tailEnd type="none" w="med" len="med"/>
                    </a:lnB>
                    <a:solidFill>
                      <a:srgbClr val="FFFFFF"/>
                    </a:solidFill>
                  </a:tcPr>
                </a:tc>
                <a:tc>
                  <a:txBody>
                    <a:bodyPr/>
                    <a:lstStyle/>
                    <a:p>
                      <a:pPr rtl="0">
                        <a:lnSpc>
                          <a:spcPts val="2250"/>
                        </a:lnSpc>
                        <a:buNone/>
                      </a:pPr>
                      <a:r>
                        <a:rPr lang="es-MX" sz="1400" b="0">
                          <a:effectLst/>
                          <a:latin typeface="Arial" panose="020B0604020202020204" pitchFamily="34" charset="0"/>
                          <a:cs typeface="Arial" panose="020B0604020202020204" pitchFamily="34" charset="0"/>
                        </a:rPr>
                        <a:t>Los objetivos del plan de comunicación, como alinear a las partes interesadas en una nueva iniciativa empresarial.</a:t>
                      </a:r>
                    </a:p>
                  </a:txBody>
                  <a:tcPr marL="72679" marR="72679" marT="72679" marB="72679" anchor="ctr">
                    <a:lnL w="9525" cap="flat" cmpd="sng" algn="ctr">
                      <a:solidFill>
                        <a:srgbClr val="30F095"/>
                      </a:solidFill>
                      <a:prstDash val="solid"/>
                      <a:round/>
                      <a:headEnd type="none" w="med" len="med"/>
                      <a:tailEnd type="none" w="med" len="med"/>
                    </a:lnL>
                    <a:lnR w="9525" cap="flat" cmpd="sng" algn="ctr">
                      <a:solidFill>
                        <a:srgbClr val="30F095"/>
                      </a:solidFill>
                      <a:prstDash val="solid"/>
                      <a:round/>
                      <a:headEnd type="none" w="med" len="med"/>
                      <a:tailEnd type="none" w="med" len="med"/>
                    </a:lnR>
                    <a:lnT w="9525" cap="flat" cmpd="sng" algn="ctr">
                      <a:solidFill>
                        <a:srgbClr val="30F095"/>
                      </a:solidFill>
                      <a:prstDash val="solid"/>
                      <a:round/>
                      <a:headEnd type="none" w="med" len="med"/>
                      <a:tailEnd type="none" w="med" len="med"/>
                    </a:lnT>
                    <a:lnB w="9525" cap="flat" cmpd="sng" algn="ctr">
                      <a:solidFill>
                        <a:srgbClr val="70E195"/>
                      </a:solidFill>
                      <a:prstDash val="solid"/>
                      <a:round/>
                      <a:headEnd type="none" w="med" len="med"/>
                      <a:tailEnd type="none" w="med" len="med"/>
                    </a:lnB>
                    <a:solidFill>
                      <a:srgbClr val="FFFFFF"/>
                    </a:solidFill>
                  </a:tcPr>
                </a:tc>
                <a:extLst>
                  <a:ext uri="{0D108BD9-81ED-4DB2-BD59-A6C34878D82A}">
                    <a16:rowId xmlns:a16="http://schemas.microsoft.com/office/drawing/2014/main" val="3722030677"/>
                  </a:ext>
                </a:extLst>
              </a:tr>
              <a:tr h="663754">
                <a:tc>
                  <a:txBody>
                    <a:bodyPr/>
                    <a:lstStyle/>
                    <a:p>
                      <a:pPr rtl="0">
                        <a:lnSpc>
                          <a:spcPts val="2250"/>
                        </a:lnSpc>
                        <a:buNone/>
                      </a:pPr>
                      <a:r>
                        <a:rPr lang="es-MX" sz="1400" b="1">
                          <a:effectLst/>
                          <a:latin typeface="Arial" panose="020B0604020202020204" pitchFamily="34" charset="0"/>
                          <a:cs typeface="Arial" panose="020B0604020202020204" pitchFamily="34" charset="0"/>
                        </a:rPr>
                        <a:t>Público objetivo/partes interesadas</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00E395"/>
                      </a:solidFill>
                      <a:prstDash val="solid"/>
                      <a:round/>
                      <a:headEnd type="none" w="med" len="med"/>
                      <a:tailEnd type="none" w="med" len="med"/>
                    </a:lnL>
                    <a:lnR w="9525" cap="flat" cmpd="sng" algn="ctr">
                      <a:solidFill>
                        <a:srgbClr val="70E195"/>
                      </a:solidFill>
                      <a:prstDash val="solid"/>
                      <a:round/>
                      <a:headEnd type="none" w="med" len="med"/>
                      <a:tailEnd type="none" w="med" len="med"/>
                    </a:lnR>
                    <a:lnT w="9525" cap="flat" cmpd="sng" algn="ctr">
                      <a:solidFill>
                        <a:srgbClr val="00E395"/>
                      </a:solidFill>
                      <a:prstDash val="solid"/>
                      <a:round/>
                      <a:headEnd type="none" w="med" len="med"/>
                      <a:tailEnd type="none" w="med" len="med"/>
                    </a:lnT>
                    <a:lnB w="9525" cap="flat" cmpd="sng" algn="ctr">
                      <a:solidFill>
                        <a:srgbClr val="E0D795"/>
                      </a:solidFill>
                      <a:prstDash val="solid"/>
                      <a:round/>
                      <a:headEnd type="none" w="med" len="med"/>
                      <a:tailEnd type="none" w="med" len="med"/>
                    </a:lnB>
                    <a:solidFill>
                      <a:schemeClr val="accent3">
                        <a:lumMod val="20000"/>
                        <a:lumOff val="80000"/>
                      </a:schemeClr>
                    </a:solidFill>
                  </a:tcPr>
                </a:tc>
                <a:tc>
                  <a:txBody>
                    <a:bodyPr/>
                    <a:lstStyle/>
                    <a:p>
                      <a:pPr rtl="0">
                        <a:lnSpc>
                          <a:spcPts val="2250"/>
                        </a:lnSpc>
                        <a:buNone/>
                      </a:pPr>
                      <a:r>
                        <a:rPr lang="es-MX" sz="1400" b="0" dirty="0">
                          <a:effectLst/>
                          <a:latin typeface="Arial" panose="020B0604020202020204" pitchFamily="34" charset="0"/>
                          <a:cs typeface="Arial" panose="020B0604020202020204" pitchFamily="34" charset="0"/>
                        </a:rPr>
                        <a:t>Aquellos que recibirán la comunicación, como las partes interesadas internas (por ejemplo, empleados y gerentes) y las partes interesadas externas (por ejemplo, clientes e inversores)</a:t>
                      </a:r>
                    </a:p>
                  </a:txBody>
                  <a:tcPr marL="72679" marR="72679" marT="72679" marB="72679" anchor="ctr">
                    <a:lnL w="9525" cap="flat" cmpd="sng" algn="ctr">
                      <a:solidFill>
                        <a:srgbClr val="70E195"/>
                      </a:solidFill>
                      <a:prstDash val="solid"/>
                      <a:round/>
                      <a:headEnd type="none" w="med" len="med"/>
                      <a:tailEnd type="none" w="med" len="med"/>
                    </a:lnL>
                    <a:lnR w="9525" cap="flat" cmpd="sng" algn="ctr">
                      <a:solidFill>
                        <a:srgbClr val="70E195"/>
                      </a:solidFill>
                      <a:prstDash val="solid"/>
                      <a:round/>
                      <a:headEnd type="none" w="med" len="med"/>
                      <a:tailEnd type="none" w="med" len="med"/>
                    </a:lnR>
                    <a:lnT w="9525" cap="flat" cmpd="sng" algn="ctr">
                      <a:solidFill>
                        <a:srgbClr val="70E195"/>
                      </a:solidFill>
                      <a:prstDash val="solid"/>
                      <a:round/>
                      <a:headEnd type="none" w="med" len="med"/>
                      <a:tailEnd type="none" w="med" len="med"/>
                    </a:lnT>
                    <a:lnB w="9525" cap="flat" cmpd="sng" algn="ctr">
                      <a:solidFill>
                        <a:srgbClr val="40C295"/>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915492488"/>
                  </a:ext>
                </a:extLst>
              </a:tr>
              <a:tr h="390686">
                <a:tc>
                  <a:txBody>
                    <a:bodyPr/>
                    <a:lstStyle/>
                    <a:p>
                      <a:pPr rtl="0">
                        <a:lnSpc>
                          <a:spcPts val="2250"/>
                        </a:lnSpc>
                        <a:buNone/>
                      </a:pPr>
                      <a:r>
                        <a:rPr lang="es-MX" sz="1400" b="1">
                          <a:effectLst/>
                          <a:latin typeface="Arial" panose="020B0604020202020204" pitchFamily="34" charset="0"/>
                          <a:cs typeface="Arial" panose="020B0604020202020204" pitchFamily="34" charset="0"/>
                        </a:rPr>
                        <a:t>Mensajes clave</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E0D795"/>
                      </a:solidFill>
                      <a:prstDash val="solid"/>
                      <a:round/>
                      <a:headEnd type="none" w="med" len="med"/>
                      <a:tailEnd type="none" w="med" len="med"/>
                    </a:lnL>
                    <a:lnR w="9525" cap="flat" cmpd="sng" algn="ctr">
                      <a:solidFill>
                        <a:srgbClr val="40C295"/>
                      </a:solidFill>
                      <a:prstDash val="solid"/>
                      <a:round/>
                      <a:headEnd type="none" w="med" len="med"/>
                      <a:tailEnd type="none" w="med" len="med"/>
                    </a:lnR>
                    <a:lnT w="9525" cap="flat" cmpd="sng" algn="ctr">
                      <a:solidFill>
                        <a:srgbClr val="E0D795"/>
                      </a:solidFill>
                      <a:prstDash val="solid"/>
                      <a:round/>
                      <a:headEnd type="none" w="med" len="med"/>
                      <a:tailEnd type="none" w="med" len="med"/>
                    </a:lnT>
                    <a:lnB w="9525" cap="flat" cmpd="sng" algn="ctr">
                      <a:solidFill>
                        <a:srgbClr val="60F295"/>
                      </a:solidFill>
                      <a:prstDash val="solid"/>
                      <a:round/>
                      <a:headEnd type="none" w="med" len="med"/>
                      <a:tailEnd type="none" w="med" len="med"/>
                    </a:lnB>
                    <a:solidFill>
                      <a:srgbClr val="FFFFFF"/>
                    </a:solidFill>
                  </a:tcPr>
                </a:tc>
                <a:tc>
                  <a:txBody>
                    <a:bodyPr/>
                    <a:lstStyle/>
                    <a:p>
                      <a:pPr rtl="0">
                        <a:lnSpc>
                          <a:spcPts val="2250"/>
                        </a:lnSpc>
                        <a:buNone/>
                      </a:pPr>
                      <a:r>
                        <a:rPr lang="es-MX" sz="1400" b="0">
                          <a:effectLst/>
                          <a:latin typeface="Arial" panose="020B0604020202020204" pitchFamily="34" charset="0"/>
                          <a:cs typeface="Arial" panose="020B0604020202020204" pitchFamily="34" charset="0"/>
                        </a:rPr>
                        <a:t>La información principal que quieres transmitir a tu audiencia</a:t>
                      </a:r>
                    </a:p>
                  </a:txBody>
                  <a:tcPr marL="72679" marR="72679" marT="72679" marB="72679" anchor="ctr">
                    <a:lnL w="9525" cap="flat" cmpd="sng" algn="ctr">
                      <a:solidFill>
                        <a:srgbClr val="40C295"/>
                      </a:solidFill>
                      <a:prstDash val="solid"/>
                      <a:round/>
                      <a:headEnd type="none" w="med" len="med"/>
                      <a:tailEnd type="none" w="med" len="med"/>
                    </a:lnL>
                    <a:lnR w="9525" cap="flat" cmpd="sng" algn="ctr">
                      <a:solidFill>
                        <a:srgbClr val="40C295"/>
                      </a:solidFill>
                      <a:prstDash val="solid"/>
                      <a:round/>
                      <a:headEnd type="none" w="med" len="med"/>
                      <a:tailEnd type="none" w="med" len="med"/>
                    </a:lnR>
                    <a:lnT w="9525" cap="flat" cmpd="sng" algn="ctr">
                      <a:solidFill>
                        <a:srgbClr val="40C295"/>
                      </a:solidFill>
                      <a:prstDash val="solid"/>
                      <a:round/>
                      <a:headEnd type="none" w="med" len="med"/>
                      <a:tailEnd type="none" w="med" len="med"/>
                    </a:lnT>
                    <a:lnB w="9525" cap="flat" cmpd="sng" algn="ctr">
                      <a:solidFill>
                        <a:srgbClr val="40E195"/>
                      </a:solidFill>
                      <a:prstDash val="solid"/>
                      <a:round/>
                      <a:headEnd type="none" w="med" len="med"/>
                      <a:tailEnd type="none" w="med" len="med"/>
                    </a:lnB>
                    <a:solidFill>
                      <a:srgbClr val="FFFFFF"/>
                    </a:solidFill>
                  </a:tcPr>
                </a:tc>
                <a:extLst>
                  <a:ext uri="{0D108BD9-81ED-4DB2-BD59-A6C34878D82A}">
                    <a16:rowId xmlns:a16="http://schemas.microsoft.com/office/drawing/2014/main" val="4016970560"/>
                  </a:ext>
                </a:extLst>
              </a:tr>
              <a:tr h="635097">
                <a:tc>
                  <a:txBody>
                    <a:bodyPr/>
                    <a:lstStyle/>
                    <a:p>
                      <a:pPr rtl="0">
                        <a:lnSpc>
                          <a:spcPts val="2250"/>
                        </a:lnSpc>
                        <a:buNone/>
                      </a:pPr>
                      <a:r>
                        <a:rPr lang="es-MX" sz="1400" b="1" u="none" strike="noStrike">
                          <a:solidFill>
                            <a:srgbClr val="0D68C5"/>
                          </a:solidFill>
                          <a:effectLst/>
                          <a:latin typeface="Arial" panose="020B0604020202020204" pitchFamily="34" charset="0"/>
                          <a:cs typeface="Arial" panose="020B0604020202020204" pitchFamily="34" charset="0"/>
                          <a:hlinkClick r:id="rId2"/>
                        </a:rPr>
                        <a:t>Canales de comunicación</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60F295"/>
                      </a:solidFill>
                      <a:prstDash val="solid"/>
                      <a:round/>
                      <a:headEnd type="none" w="med" len="med"/>
                      <a:tailEnd type="none" w="med" len="med"/>
                    </a:lnL>
                    <a:lnR w="9525" cap="flat" cmpd="sng" algn="ctr">
                      <a:solidFill>
                        <a:srgbClr val="40E195"/>
                      </a:solidFill>
                      <a:prstDash val="solid"/>
                      <a:round/>
                      <a:headEnd type="none" w="med" len="med"/>
                      <a:tailEnd type="none" w="med" len="med"/>
                    </a:lnR>
                    <a:lnT w="9525" cap="flat" cmpd="sng" algn="ctr">
                      <a:solidFill>
                        <a:srgbClr val="60F295"/>
                      </a:solidFill>
                      <a:prstDash val="solid"/>
                      <a:round/>
                      <a:headEnd type="none" w="med" len="med"/>
                      <a:tailEnd type="none" w="med" len="med"/>
                    </a:lnT>
                    <a:lnB w="9525" cap="flat" cmpd="sng" algn="ctr">
                      <a:solidFill>
                        <a:srgbClr val="70E395"/>
                      </a:solidFill>
                      <a:prstDash val="solid"/>
                      <a:round/>
                      <a:headEnd type="none" w="med" len="med"/>
                      <a:tailEnd type="none" w="med" len="med"/>
                    </a:lnB>
                    <a:solidFill>
                      <a:schemeClr val="accent3">
                        <a:lumMod val="20000"/>
                        <a:lumOff val="80000"/>
                      </a:schemeClr>
                    </a:solidFill>
                  </a:tcPr>
                </a:tc>
                <a:tc>
                  <a:txBody>
                    <a:bodyPr/>
                    <a:lstStyle/>
                    <a:p>
                      <a:pPr rtl="0">
                        <a:lnSpc>
                          <a:spcPts val="2250"/>
                        </a:lnSpc>
                        <a:buNone/>
                      </a:pPr>
                      <a:r>
                        <a:rPr lang="es-MX" sz="1400" b="0" dirty="0">
                          <a:effectLst/>
                          <a:latin typeface="Arial" panose="020B0604020202020204" pitchFamily="34" charset="0"/>
                          <a:cs typeface="Arial" panose="020B0604020202020204" pitchFamily="34" charset="0"/>
                        </a:rPr>
                        <a:t>Las plataformas para transmitir la comunicación, como correos electrónicos, redes sociales o </a:t>
                      </a:r>
                      <a:r>
                        <a:rPr lang="es-MX" sz="1400" b="0" u="none" strike="noStrike" dirty="0">
                          <a:solidFill>
                            <a:srgbClr val="0D68C5"/>
                          </a:solidFill>
                          <a:effectLst/>
                          <a:latin typeface="Arial" panose="020B0604020202020204" pitchFamily="34" charset="0"/>
                          <a:cs typeface="Arial" panose="020B0604020202020204" pitchFamily="34" charset="0"/>
                          <a:hlinkClick r:id="rId3"/>
                        </a:rPr>
                        <a:t>reuniones</a:t>
                      </a:r>
                      <a:r>
                        <a:rPr lang="es-MX" sz="1400" b="0" dirty="0">
                          <a:effectLst/>
                          <a:latin typeface="Arial" panose="020B0604020202020204" pitchFamily="34" charset="0"/>
                          <a:cs typeface="Arial" panose="020B0604020202020204" pitchFamily="34" charset="0"/>
                        </a:rPr>
                        <a:t> en persona</a:t>
                      </a:r>
                    </a:p>
                  </a:txBody>
                  <a:tcPr marL="72679" marR="72679" marT="72679" marB="72679" anchor="ctr">
                    <a:lnL w="9525" cap="flat" cmpd="sng" algn="ctr">
                      <a:solidFill>
                        <a:srgbClr val="40E195"/>
                      </a:solidFill>
                      <a:prstDash val="solid"/>
                      <a:round/>
                      <a:headEnd type="none" w="med" len="med"/>
                      <a:tailEnd type="none" w="med" len="med"/>
                    </a:lnL>
                    <a:lnR w="9525" cap="flat" cmpd="sng" algn="ctr">
                      <a:solidFill>
                        <a:srgbClr val="40E195"/>
                      </a:solidFill>
                      <a:prstDash val="solid"/>
                      <a:round/>
                      <a:headEnd type="none" w="med" len="med"/>
                      <a:tailEnd type="none" w="med" len="med"/>
                    </a:lnR>
                    <a:lnT w="9525" cap="flat" cmpd="sng" algn="ctr">
                      <a:solidFill>
                        <a:srgbClr val="40E195"/>
                      </a:solidFill>
                      <a:prstDash val="solid"/>
                      <a:round/>
                      <a:headEnd type="none" w="med" len="med"/>
                      <a:tailEnd type="none" w="med" len="med"/>
                    </a:lnT>
                    <a:lnB w="9525" cap="flat" cmpd="sng" algn="ctr">
                      <a:solidFill>
                        <a:srgbClr val="60D495"/>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768458148"/>
                  </a:ext>
                </a:extLst>
              </a:tr>
              <a:tr h="635097">
                <a:tc>
                  <a:txBody>
                    <a:bodyPr/>
                    <a:lstStyle/>
                    <a:p>
                      <a:pPr rtl="0">
                        <a:lnSpc>
                          <a:spcPts val="2250"/>
                        </a:lnSpc>
                        <a:buNone/>
                      </a:pPr>
                      <a:r>
                        <a:rPr lang="es-MX" sz="1400" b="1">
                          <a:effectLst/>
                          <a:latin typeface="Arial" panose="020B0604020202020204" pitchFamily="34" charset="0"/>
                          <a:cs typeface="Arial" panose="020B0604020202020204" pitchFamily="34" charset="0"/>
                        </a:rPr>
                        <a:t>Calendario de comunicaciones</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70E395"/>
                      </a:solidFill>
                      <a:prstDash val="solid"/>
                      <a:round/>
                      <a:headEnd type="none" w="med" len="med"/>
                      <a:tailEnd type="none" w="med" len="med"/>
                    </a:lnL>
                    <a:lnR w="9525" cap="flat" cmpd="sng" algn="ctr">
                      <a:solidFill>
                        <a:srgbClr val="60D495"/>
                      </a:solidFill>
                      <a:prstDash val="solid"/>
                      <a:round/>
                      <a:headEnd type="none" w="med" len="med"/>
                      <a:tailEnd type="none" w="med" len="med"/>
                    </a:lnR>
                    <a:lnT w="9525" cap="flat" cmpd="sng" algn="ctr">
                      <a:solidFill>
                        <a:srgbClr val="70E395"/>
                      </a:solidFill>
                      <a:prstDash val="solid"/>
                      <a:round/>
                      <a:headEnd type="none" w="med" len="med"/>
                      <a:tailEnd type="none" w="med" len="med"/>
                    </a:lnT>
                    <a:lnB w="9525" cap="flat" cmpd="sng" algn="ctr">
                      <a:solidFill>
                        <a:srgbClr val="C0CD95"/>
                      </a:solidFill>
                      <a:prstDash val="solid"/>
                      <a:round/>
                      <a:headEnd type="none" w="med" len="med"/>
                      <a:tailEnd type="none" w="med" len="med"/>
                    </a:lnB>
                    <a:solidFill>
                      <a:srgbClr val="FFFFFF"/>
                    </a:solidFill>
                  </a:tcPr>
                </a:tc>
                <a:tc>
                  <a:txBody>
                    <a:bodyPr/>
                    <a:lstStyle/>
                    <a:p>
                      <a:pPr rtl="0">
                        <a:lnSpc>
                          <a:spcPts val="2250"/>
                        </a:lnSpc>
                        <a:buNone/>
                      </a:pPr>
                      <a:r>
                        <a:rPr lang="es-MX" sz="1400" b="0">
                          <a:effectLst/>
                          <a:latin typeface="Arial" panose="020B0604020202020204" pitchFamily="34" charset="0"/>
                          <a:cs typeface="Arial" panose="020B0604020202020204" pitchFamily="34" charset="0"/>
                        </a:rPr>
                        <a:t>El </a:t>
                      </a:r>
                      <a:r>
                        <a:rPr lang="es-MX" sz="1400" b="0" u="none" strike="noStrike">
                          <a:solidFill>
                            <a:srgbClr val="0D68C5"/>
                          </a:solidFill>
                          <a:effectLst/>
                          <a:latin typeface="Arial" panose="020B0604020202020204" pitchFamily="34" charset="0"/>
                          <a:cs typeface="Arial" panose="020B0604020202020204" pitchFamily="34" charset="0"/>
                          <a:hlinkClick r:id="rId4"/>
                        </a:rPr>
                        <a:t>cronograma</a:t>
                      </a:r>
                      <a:r>
                        <a:rPr lang="es-MX" sz="1400" b="0">
                          <a:effectLst/>
                          <a:latin typeface="Arial" panose="020B0604020202020204" pitchFamily="34" charset="0"/>
                          <a:cs typeface="Arial" panose="020B0604020202020204" pitchFamily="34" charset="0"/>
                        </a:rPr>
                        <a:t> de cuándo se llevarán a cabo las comunicaciones, incluyendo los hitos clave y los plazos.</a:t>
                      </a:r>
                    </a:p>
                  </a:txBody>
                  <a:tcPr marL="72679" marR="72679" marT="72679" marB="72679" anchor="ctr">
                    <a:lnL w="9525" cap="flat" cmpd="sng" algn="ctr">
                      <a:solidFill>
                        <a:srgbClr val="60D495"/>
                      </a:solidFill>
                      <a:prstDash val="solid"/>
                      <a:round/>
                      <a:headEnd type="none" w="med" len="med"/>
                      <a:tailEnd type="none" w="med" len="med"/>
                    </a:lnL>
                    <a:lnR w="9525" cap="flat" cmpd="sng" algn="ctr">
                      <a:solidFill>
                        <a:srgbClr val="60D495"/>
                      </a:solidFill>
                      <a:prstDash val="solid"/>
                      <a:round/>
                      <a:headEnd type="none" w="med" len="med"/>
                      <a:tailEnd type="none" w="med" len="med"/>
                    </a:lnR>
                    <a:lnT w="9525" cap="flat" cmpd="sng" algn="ctr">
                      <a:solidFill>
                        <a:srgbClr val="60D495"/>
                      </a:solidFill>
                      <a:prstDash val="solid"/>
                      <a:round/>
                      <a:headEnd type="none" w="med" len="med"/>
                      <a:tailEnd type="none" w="med" len="med"/>
                    </a:lnT>
                    <a:lnB w="9525" cap="flat" cmpd="sng" algn="ctr">
                      <a:solidFill>
                        <a:srgbClr val="50CD95"/>
                      </a:solidFill>
                      <a:prstDash val="solid"/>
                      <a:round/>
                      <a:headEnd type="none" w="med" len="med"/>
                      <a:tailEnd type="none" w="med" len="med"/>
                    </a:lnB>
                    <a:solidFill>
                      <a:srgbClr val="FFFFFF"/>
                    </a:solidFill>
                  </a:tcPr>
                </a:tc>
                <a:extLst>
                  <a:ext uri="{0D108BD9-81ED-4DB2-BD59-A6C34878D82A}">
                    <a16:rowId xmlns:a16="http://schemas.microsoft.com/office/drawing/2014/main" val="315639237"/>
                  </a:ext>
                </a:extLst>
              </a:tr>
              <a:tr h="635097">
                <a:tc>
                  <a:txBody>
                    <a:bodyPr/>
                    <a:lstStyle/>
                    <a:p>
                      <a:pPr rtl="0">
                        <a:lnSpc>
                          <a:spcPts val="2250"/>
                        </a:lnSpc>
                        <a:buNone/>
                      </a:pPr>
                      <a:r>
                        <a:rPr lang="es-MX" sz="1400" b="1">
                          <a:effectLst/>
                          <a:latin typeface="Arial" panose="020B0604020202020204" pitchFamily="34" charset="0"/>
                          <a:cs typeface="Arial" panose="020B0604020202020204" pitchFamily="34" charset="0"/>
                        </a:rPr>
                        <a:t>Funciones y responsabilidades</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C0CD95"/>
                      </a:solidFill>
                      <a:prstDash val="solid"/>
                      <a:round/>
                      <a:headEnd type="none" w="med" len="med"/>
                      <a:tailEnd type="none" w="med" len="med"/>
                    </a:lnL>
                    <a:lnR w="9525" cap="flat" cmpd="sng" algn="ctr">
                      <a:solidFill>
                        <a:srgbClr val="50CD95"/>
                      </a:solidFill>
                      <a:prstDash val="solid"/>
                      <a:round/>
                      <a:headEnd type="none" w="med" len="med"/>
                      <a:tailEnd type="none" w="med" len="med"/>
                    </a:lnR>
                    <a:lnT w="9525" cap="flat" cmpd="sng" algn="ctr">
                      <a:solidFill>
                        <a:srgbClr val="C0CD95"/>
                      </a:solidFill>
                      <a:prstDash val="solid"/>
                      <a:round/>
                      <a:headEnd type="none" w="med" len="med"/>
                      <a:tailEnd type="none" w="med" len="med"/>
                    </a:lnT>
                    <a:lnB w="9525" cap="flat" cmpd="sng" algn="ctr">
                      <a:solidFill>
                        <a:srgbClr val="60C595"/>
                      </a:solidFill>
                      <a:prstDash val="solid"/>
                      <a:round/>
                      <a:headEnd type="none" w="med" len="med"/>
                      <a:tailEnd type="none" w="med" len="med"/>
                    </a:lnB>
                    <a:solidFill>
                      <a:schemeClr val="accent3">
                        <a:lumMod val="20000"/>
                        <a:lumOff val="80000"/>
                      </a:schemeClr>
                    </a:solidFill>
                  </a:tcPr>
                </a:tc>
                <a:tc>
                  <a:txBody>
                    <a:bodyPr/>
                    <a:lstStyle/>
                    <a:p>
                      <a:pPr rtl="0">
                        <a:lnSpc>
                          <a:spcPts val="2250"/>
                        </a:lnSpc>
                        <a:buNone/>
                      </a:pPr>
                      <a:r>
                        <a:rPr lang="es-MX" sz="1400" b="0" dirty="0">
                          <a:effectLst/>
                          <a:latin typeface="Arial" panose="020B0604020202020204" pitchFamily="34" charset="0"/>
                          <a:cs typeface="Arial" panose="020B0604020202020204" pitchFamily="34" charset="0"/>
                        </a:rPr>
                        <a:t>Aquellos que son responsables de crear, entregar y monitorear cada parte del plan de comunicación</a:t>
                      </a:r>
                    </a:p>
                  </a:txBody>
                  <a:tcPr marL="72679" marR="72679" marT="72679" marB="72679" anchor="ctr">
                    <a:lnL w="9525" cap="flat" cmpd="sng" algn="ctr">
                      <a:solidFill>
                        <a:srgbClr val="50CD95"/>
                      </a:solidFill>
                      <a:prstDash val="solid"/>
                      <a:round/>
                      <a:headEnd type="none" w="med" len="med"/>
                      <a:tailEnd type="none" w="med" len="med"/>
                    </a:lnL>
                    <a:lnR w="9525" cap="flat" cmpd="sng" algn="ctr">
                      <a:solidFill>
                        <a:srgbClr val="50CD95"/>
                      </a:solidFill>
                      <a:prstDash val="solid"/>
                      <a:round/>
                      <a:headEnd type="none" w="med" len="med"/>
                      <a:tailEnd type="none" w="med" len="med"/>
                    </a:lnR>
                    <a:lnT w="9525" cap="flat" cmpd="sng" algn="ctr">
                      <a:solidFill>
                        <a:srgbClr val="50CD95"/>
                      </a:solidFill>
                      <a:prstDash val="solid"/>
                      <a:round/>
                      <a:headEnd type="none" w="med" len="med"/>
                      <a:tailEnd type="none" w="med" len="med"/>
                    </a:lnT>
                    <a:lnB w="9525" cap="flat" cmpd="sng" algn="ctr">
                      <a:solidFill>
                        <a:srgbClr val="10CE95"/>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1659061"/>
                  </a:ext>
                </a:extLst>
              </a:tr>
              <a:tr h="663754">
                <a:tc>
                  <a:txBody>
                    <a:bodyPr/>
                    <a:lstStyle/>
                    <a:p>
                      <a:pPr rtl="0">
                        <a:lnSpc>
                          <a:spcPts val="2250"/>
                        </a:lnSpc>
                        <a:buNone/>
                      </a:pPr>
                      <a:r>
                        <a:rPr lang="es-MX" sz="1400" b="1" u="none" strike="noStrike">
                          <a:solidFill>
                            <a:srgbClr val="0D68C5"/>
                          </a:solidFill>
                          <a:effectLst/>
                          <a:latin typeface="Arial" panose="020B0604020202020204" pitchFamily="34" charset="0"/>
                          <a:cs typeface="Arial" panose="020B0604020202020204" pitchFamily="34" charset="0"/>
                          <a:hlinkClick r:id="rId5"/>
                        </a:rPr>
                        <a:t>Métricas</a:t>
                      </a:r>
                      <a:r>
                        <a:rPr lang="es-MX" sz="1400" b="1">
                          <a:effectLst/>
                          <a:latin typeface="Arial" panose="020B0604020202020204" pitchFamily="34" charset="0"/>
                          <a:cs typeface="Arial" panose="020B0604020202020204" pitchFamily="34" charset="0"/>
                        </a:rPr>
                        <a:t> de éxito</a:t>
                      </a:r>
                      <a:endParaRPr lang="es-MX" sz="1400" b="0">
                        <a:effectLst/>
                        <a:latin typeface="Arial" panose="020B0604020202020204" pitchFamily="34" charset="0"/>
                        <a:cs typeface="Arial" panose="020B0604020202020204" pitchFamily="34" charset="0"/>
                      </a:endParaRPr>
                    </a:p>
                  </a:txBody>
                  <a:tcPr marL="72679" marR="72679" marT="72679" marB="72679" anchor="ctr">
                    <a:lnL w="9525" cap="flat" cmpd="sng" algn="ctr">
                      <a:solidFill>
                        <a:srgbClr val="60C595"/>
                      </a:solidFill>
                      <a:prstDash val="solid"/>
                      <a:round/>
                      <a:headEnd type="none" w="med" len="med"/>
                      <a:tailEnd type="none" w="med" len="med"/>
                    </a:lnL>
                    <a:lnR w="9525" cap="flat" cmpd="sng" algn="ctr">
                      <a:solidFill>
                        <a:srgbClr val="10CE95"/>
                      </a:solidFill>
                      <a:prstDash val="solid"/>
                      <a:round/>
                      <a:headEnd type="none" w="med" len="med"/>
                      <a:tailEnd type="none" w="med" len="med"/>
                    </a:lnR>
                    <a:lnT w="9525" cap="flat" cmpd="sng" algn="ctr">
                      <a:solidFill>
                        <a:srgbClr val="60C595"/>
                      </a:solidFill>
                      <a:prstDash val="solid"/>
                      <a:round/>
                      <a:headEnd type="none" w="med" len="med"/>
                      <a:tailEnd type="none" w="med" len="med"/>
                    </a:lnT>
                    <a:lnB w="9525" cap="flat" cmpd="sng" algn="ctr">
                      <a:solidFill>
                        <a:srgbClr val="60C595"/>
                      </a:solidFill>
                      <a:prstDash val="solid"/>
                      <a:round/>
                      <a:headEnd type="none" w="med" len="med"/>
                      <a:tailEnd type="none" w="med" len="med"/>
                    </a:lnB>
                    <a:solidFill>
                      <a:srgbClr val="FFFFFF"/>
                    </a:solidFill>
                  </a:tcPr>
                </a:tc>
                <a:tc>
                  <a:txBody>
                    <a:bodyPr/>
                    <a:lstStyle/>
                    <a:p>
                      <a:pPr rtl="0">
                        <a:lnSpc>
                          <a:spcPts val="2250"/>
                        </a:lnSpc>
                        <a:buNone/>
                      </a:pPr>
                      <a:r>
                        <a:rPr lang="es-MX" sz="1400" b="0" dirty="0">
                          <a:effectLst/>
                          <a:latin typeface="Arial" panose="020B0604020202020204" pitchFamily="34" charset="0"/>
                          <a:cs typeface="Arial" panose="020B0604020202020204" pitchFamily="34" charset="0"/>
                        </a:rPr>
                        <a:t>Los criterios para evaluar la efectividad del plan, como las tasas de participación por correo electrónico, los comentarios de las encuestas o los cambios en el comportamiento de las partes interesadas.</a:t>
                      </a:r>
                    </a:p>
                  </a:txBody>
                  <a:tcPr marL="72679" marR="72679" marT="72679" marB="72679" anchor="ctr">
                    <a:lnL w="9525" cap="flat" cmpd="sng" algn="ctr">
                      <a:solidFill>
                        <a:srgbClr val="10CE95"/>
                      </a:solidFill>
                      <a:prstDash val="solid"/>
                      <a:round/>
                      <a:headEnd type="none" w="med" len="med"/>
                      <a:tailEnd type="none" w="med" len="med"/>
                    </a:lnL>
                    <a:lnR w="9525" cap="flat" cmpd="sng" algn="ctr">
                      <a:solidFill>
                        <a:srgbClr val="10CE95"/>
                      </a:solidFill>
                      <a:prstDash val="solid"/>
                      <a:round/>
                      <a:headEnd type="none" w="med" len="med"/>
                      <a:tailEnd type="none" w="med" len="med"/>
                    </a:lnR>
                    <a:lnT w="9525" cap="flat" cmpd="sng" algn="ctr">
                      <a:solidFill>
                        <a:srgbClr val="10CE95"/>
                      </a:solidFill>
                      <a:prstDash val="solid"/>
                      <a:round/>
                      <a:headEnd type="none" w="med" len="med"/>
                      <a:tailEnd type="none" w="med" len="med"/>
                    </a:lnT>
                    <a:lnB w="9525" cap="flat" cmpd="sng" algn="ctr">
                      <a:solidFill>
                        <a:srgbClr val="10CE95"/>
                      </a:solidFill>
                      <a:prstDash val="solid"/>
                      <a:round/>
                      <a:headEnd type="none" w="med" len="med"/>
                      <a:tailEnd type="none" w="med" len="med"/>
                    </a:lnB>
                    <a:solidFill>
                      <a:srgbClr val="FFFFFF"/>
                    </a:solidFill>
                  </a:tcPr>
                </a:tc>
                <a:extLst>
                  <a:ext uri="{0D108BD9-81ED-4DB2-BD59-A6C34878D82A}">
                    <a16:rowId xmlns:a16="http://schemas.microsoft.com/office/drawing/2014/main" val="1398542367"/>
                  </a:ext>
                </a:extLst>
              </a:tr>
            </a:tbl>
          </a:graphicData>
        </a:graphic>
      </p:graphicFrame>
      <p:sp>
        <p:nvSpPr>
          <p:cNvPr id="4" name="CuadroTexto 3">
            <a:extLst>
              <a:ext uri="{FF2B5EF4-FFF2-40B4-BE49-F238E27FC236}">
                <a16:creationId xmlns:a16="http://schemas.microsoft.com/office/drawing/2014/main" id="{7478C9BE-FFB2-5561-47F0-E23CBF9AD46F}"/>
              </a:ext>
            </a:extLst>
          </p:cNvPr>
          <p:cNvSpPr txBox="1"/>
          <p:nvPr/>
        </p:nvSpPr>
        <p:spPr>
          <a:xfrm>
            <a:off x="643467" y="546176"/>
            <a:ext cx="6097836" cy="461024"/>
          </a:xfrm>
          <a:prstGeom prst="rect">
            <a:avLst/>
          </a:prstGeom>
          <a:noFill/>
        </p:spPr>
        <p:txBody>
          <a:bodyPr wrap="square">
            <a:spAutoFit/>
          </a:bodyPr>
          <a:lstStyle/>
          <a:p>
            <a:pPr algn="l" rtl="0">
              <a:lnSpc>
                <a:spcPts val="3225"/>
              </a:lnSpc>
              <a:buNone/>
            </a:pPr>
            <a:r>
              <a:rPr lang="es-MX" sz="2000" b="1" i="0" dirty="0">
                <a:solidFill>
                  <a:srgbClr val="0070C0"/>
                </a:solidFill>
                <a:effectLst/>
                <a:latin typeface="Arial" panose="020B0604020202020204" pitchFamily="34" charset="0"/>
                <a:cs typeface="Arial" panose="020B0604020202020204" pitchFamily="34" charset="0"/>
              </a:rPr>
              <a:t>Componentes clave de un plan de comunicación</a:t>
            </a:r>
          </a:p>
        </p:txBody>
      </p:sp>
    </p:spTree>
    <p:extLst>
      <p:ext uri="{BB962C8B-B14F-4D97-AF65-F5344CB8AC3E}">
        <p14:creationId xmlns:p14="http://schemas.microsoft.com/office/powerpoint/2010/main" val="2779671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12D5-5163-E8E5-364D-3F380197C106}"/>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0D70C3D-EA61-E47C-3951-B7A3AD4530EF}"/>
              </a:ext>
            </a:extLst>
          </p:cNvPr>
          <p:cNvGraphicFramePr>
            <a:graphicFrameLocks noGrp="1"/>
          </p:cNvGraphicFramePr>
          <p:nvPr>
            <p:extLst>
              <p:ext uri="{D42A27DB-BD31-4B8C-83A1-F6EECF244321}">
                <p14:modId xmlns:p14="http://schemas.microsoft.com/office/powerpoint/2010/main" val="1014861258"/>
              </p:ext>
            </p:extLst>
          </p:nvPr>
        </p:nvGraphicFramePr>
        <p:xfrm>
          <a:off x="838200" y="1785251"/>
          <a:ext cx="10515600" cy="3749040"/>
        </p:xfrm>
        <a:graphic>
          <a:graphicData uri="http://schemas.openxmlformats.org/drawingml/2006/table">
            <a:tbl>
              <a:tblPr/>
              <a:tblGrid>
                <a:gridCol w="2103120">
                  <a:extLst>
                    <a:ext uri="{9D8B030D-6E8A-4147-A177-3AD203B41FA5}">
                      <a16:colId xmlns:a16="http://schemas.microsoft.com/office/drawing/2014/main" val="4166817272"/>
                    </a:ext>
                  </a:extLst>
                </a:gridCol>
                <a:gridCol w="2103120">
                  <a:extLst>
                    <a:ext uri="{9D8B030D-6E8A-4147-A177-3AD203B41FA5}">
                      <a16:colId xmlns:a16="http://schemas.microsoft.com/office/drawing/2014/main" val="2788420005"/>
                    </a:ext>
                  </a:extLst>
                </a:gridCol>
                <a:gridCol w="2103120">
                  <a:extLst>
                    <a:ext uri="{9D8B030D-6E8A-4147-A177-3AD203B41FA5}">
                      <a16:colId xmlns:a16="http://schemas.microsoft.com/office/drawing/2014/main" val="216618800"/>
                    </a:ext>
                  </a:extLst>
                </a:gridCol>
                <a:gridCol w="2103120">
                  <a:extLst>
                    <a:ext uri="{9D8B030D-6E8A-4147-A177-3AD203B41FA5}">
                      <a16:colId xmlns:a16="http://schemas.microsoft.com/office/drawing/2014/main" val="1631520183"/>
                    </a:ext>
                  </a:extLst>
                </a:gridCol>
                <a:gridCol w="2103120">
                  <a:extLst>
                    <a:ext uri="{9D8B030D-6E8A-4147-A177-3AD203B41FA5}">
                      <a16:colId xmlns:a16="http://schemas.microsoft.com/office/drawing/2014/main" val="4251551991"/>
                    </a:ext>
                  </a:extLst>
                </a:gridCol>
              </a:tblGrid>
              <a:tr h="0">
                <a:tc>
                  <a:txBody>
                    <a:bodyPr/>
                    <a:lstStyle/>
                    <a:p>
                      <a:pPr>
                        <a:buNone/>
                      </a:pPr>
                      <a:r>
                        <a:rPr lang="es-MX" b="1"/>
                        <a:t>Tipo de comunicación</a:t>
                      </a:r>
                      <a:endParaRPr lang="es-MX"/>
                    </a:p>
                  </a:txBody>
                  <a:tcPr anchor="ctr">
                    <a:lnL>
                      <a:noFill/>
                    </a:lnL>
                    <a:lnR>
                      <a:noFill/>
                    </a:lnR>
                    <a:lnT>
                      <a:noFill/>
                    </a:lnT>
                    <a:lnB>
                      <a:noFill/>
                    </a:lnB>
                    <a:solidFill>
                      <a:schemeClr val="tx2">
                        <a:lumMod val="25000"/>
                        <a:lumOff val="75000"/>
                      </a:schemeClr>
                    </a:solidFill>
                  </a:tcPr>
                </a:tc>
                <a:tc>
                  <a:txBody>
                    <a:bodyPr/>
                    <a:lstStyle/>
                    <a:p>
                      <a:pPr>
                        <a:buNone/>
                      </a:pPr>
                      <a:r>
                        <a:rPr lang="es-MX" b="1"/>
                        <a:t>Frecuencia</a:t>
                      </a:r>
                      <a:endParaRPr lang="es-MX"/>
                    </a:p>
                  </a:txBody>
                  <a:tcPr anchor="ctr">
                    <a:lnL>
                      <a:noFill/>
                    </a:lnL>
                    <a:lnR>
                      <a:noFill/>
                    </a:lnR>
                    <a:lnT>
                      <a:noFill/>
                    </a:lnT>
                    <a:lnB>
                      <a:noFill/>
                    </a:lnB>
                    <a:solidFill>
                      <a:schemeClr val="tx2">
                        <a:lumMod val="25000"/>
                        <a:lumOff val="75000"/>
                      </a:schemeClr>
                    </a:solidFill>
                  </a:tcPr>
                </a:tc>
                <a:tc>
                  <a:txBody>
                    <a:bodyPr/>
                    <a:lstStyle/>
                    <a:p>
                      <a:pPr>
                        <a:buNone/>
                      </a:pPr>
                      <a:r>
                        <a:rPr lang="es-MX" b="1"/>
                        <a:t>Medio</a:t>
                      </a:r>
                      <a:endParaRPr lang="es-MX"/>
                    </a:p>
                  </a:txBody>
                  <a:tcPr anchor="ctr">
                    <a:lnL>
                      <a:noFill/>
                    </a:lnL>
                    <a:lnR>
                      <a:noFill/>
                    </a:lnR>
                    <a:lnT>
                      <a:noFill/>
                    </a:lnT>
                    <a:lnB>
                      <a:noFill/>
                    </a:lnB>
                    <a:solidFill>
                      <a:schemeClr val="tx2">
                        <a:lumMod val="25000"/>
                        <a:lumOff val="75000"/>
                      </a:schemeClr>
                    </a:solidFill>
                  </a:tcPr>
                </a:tc>
                <a:tc>
                  <a:txBody>
                    <a:bodyPr/>
                    <a:lstStyle/>
                    <a:p>
                      <a:pPr>
                        <a:buNone/>
                      </a:pPr>
                      <a:r>
                        <a:rPr lang="es-MX" b="1"/>
                        <a:t>Responsable</a:t>
                      </a:r>
                      <a:endParaRPr lang="es-MX"/>
                    </a:p>
                  </a:txBody>
                  <a:tcPr anchor="ctr">
                    <a:lnL>
                      <a:noFill/>
                    </a:lnL>
                    <a:lnR>
                      <a:noFill/>
                    </a:lnR>
                    <a:lnT>
                      <a:noFill/>
                    </a:lnT>
                    <a:lnB>
                      <a:noFill/>
                    </a:lnB>
                    <a:solidFill>
                      <a:schemeClr val="tx2">
                        <a:lumMod val="25000"/>
                        <a:lumOff val="75000"/>
                      </a:schemeClr>
                    </a:solidFill>
                  </a:tcPr>
                </a:tc>
                <a:tc>
                  <a:txBody>
                    <a:bodyPr/>
                    <a:lstStyle/>
                    <a:p>
                      <a:pPr>
                        <a:buNone/>
                      </a:pPr>
                      <a:r>
                        <a:rPr lang="es-MX" b="1" dirty="0"/>
                        <a:t>Destinatarios</a:t>
                      </a:r>
                      <a:endParaRPr lang="es-MX" dirty="0"/>
                    </a:p>
                  </a:txBody>
                  <a:tcPr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3744913133"/>
                  </a:ext>
                </a:extLst>
              </a:tr>
              <a:tr h="0">
                <a:tc>
                  <a:txBody>
                    <a:bodyPr/>
                    <a:lstStyle/>
                    <a:p>
                      <a:pPr>
                        <a:buNone/>
                      </a:pPr>
                      <a:r>
                        <a:rPr lang="es-MX"/>
                        <a:t>Reunión de seguimiento semanal</a:t>
                      </a:r>
                    </a:p>
                  </a:txBody>
                  <a:tcPr anchor="ctr">
                    <a:lnL>
                      <a:noFill/>
                    </a:lnL>
                    <a:lnR>
                      <a:noFill/>
                    </a:lnR>
                    <a:lnT>
                      <a:noFill/>
                    </a:lnT>
                    <a:lnB>
                      <a:noFill/>
                    </a:lnB>
                    <a:noFill/>
                  </a:tcPr>
                </a:tc>
                <a:tc>
                  <a:txBody>
                    <a:bodyPr/>
                    <a:lstStyle/>
                    <a:p>
                      <a:pPr>
                        <a:buNone/>
                      </a:pPr>
                      <a:r>
                        <a:rPr lang="es-MX"/>
                        <a:t>Cada lunes</a:t>
                      </a:r>
                    </a:p>
                  </a:txBody>
                  <a:tcPr anchor="ctr">
                    <a:lnL>
                      <a:noFill/>
                    </a:lnL>
                    <a:lnR>
                      <a:noFill/>
                    </a:lnR>
                    <a:lnT>
                      <a:noFill/>
                    </a:lnT>
                    <a:lnB>
                      <a:noFill/>
                    </a:lnB>
                    <a:noFill/>
                  </a:tcPr>
                </a:tc>
                <a:tc>
                  <a:txBody>
                    <a:bodyPr/>
                    <a:lstStyle/>
                    <a:p>
                      <a:pPr>
                        <a:buNone/>
                      </a:pPr>
                      <a:r>
                        <a:rPr lang="es-MX"/>
                        <a:t>Zoom + Acta en Confluence</a:t>
                      </a:r>
                    </a:p>
                  </a:txBody>
                  <a:tcPr anchor="ctr">
                    <a:lnL>
                      <a:noFill/>
                    </a:lnL>
                    <a:lnR>
                      <a:noFill/>
                    </a:lnR>
                    <a:lnT>
                      <a:noFill/>
                    </a:lnT>
                    <a:lnB>
                      <a:noFill/>
                    </a:lnB>
                    <a:noFill/>
                  </a:tcPr>
                </a:tc>
                <a:tc>
                  <a:txBody>
                    <a:bodyPr/>
                    <a:lstStyle/>
                    <a:p>
                      <a:pPr>
                        <a:buNone/>
                      </a:pPr>
                      <a:r>
                        <a:rPr lang="es-MX"/>
                        <a:t>Líder de proyecto</a:t>
                      </a:r>
                    </a:p>
                  </a:txBody>
                  <a:tcPr anchor="ctr">
                    <a:lnL>
                      <a:noFill/>
                    </a:lnL>
                    <a:lnR>
                      <a:noFill/>
                    </a:lnR>
                    <a:lnT>
                      <a:noFill/>
                    </a:lnT>
                    <a:lnB>
                      <a:noFill/>
                    </a:lnB>
                    <a:noFill/>
                  </a:tcPr>
                </a:tc>
                <a:tc>
                  <a:txBody>
                    <a:bodyPr/>
                    <a:lstStyle/>
                    <a:p>
                      <a:pPr>
                        <a:buNone/>
                      </a:pPr>
                      <a:r>
                        <a:rPr lang="es-MX"/>
                        <a:t>Cliente, equipo de desarrollo</a:t>
                      </a:r>
                    </a:p>
                  </a:txBody>
                  <a:tcPr anchor="ctr">
                    <a:lnL>
                      <a:noFill/>
                    </a:lnL>
                    <a:lnR>
                      <a:noFill/>
                    </a:lnR>
                    <a:lnT>
                      <a:noFill/>
                    </a:lnT>
                    <a:lnB>
                      <a:noFill/>
                    </a:lnB>
                    <a:noFill/>
                  </a:tcPr>
                </a:tc>
                <a:extLst>
                  <a:ext uri="{0D108BD9-81ED-4DB2-BD59-A6C34878D82A}">
                    <a16:rowId xmlns:a16="http://schemas.microsoft.com/office/drawing/2014/main" val="2735399671"/>
                  </a:ext>
                </a:extLst>
              </a:tr>
              <a:tr h="0">
                <a:tc>
                  <a:txBody>
                    <a:bodyPr/>
                    <a:lstStyle/>
                    <a:p>
                      <a:pPr>
                        <a:buNone/>
                      </a:pPr>
                      <a:r>
                        <a:rPr lang="es-MX"/>
                        <a:t>Informe de estatus</a:t>
                      </a:r>
                    </a:p>
                  </a:txBody>
                  <a:tcPr anchor="ctr">
                    <a:lnL>
                      <a:noFill/>
                    </a:lnL>
                    <a:lnR>
                      <a:noFill/>
                    </a:lnR>
                    <a:lnT>
                      <a:noFill/>
                    </a:lnT>
                    <a:lnB>
                      <a:noFill/>
                    </a:lnB>
                    <a:solidFill>
                      <a:schemeClr val="accent2">
                        <a:lumMod val="20000"/>
                        <a:lumOff val="80000"/>
                      </a:schemeClr>
                    </a:solidFill>
                  </a:tcPr>
                </a:tc>
                <a:tc>
                  <a:txBody>
                    <a:bodyPr/>
                    <a:lstStyle/>
                    <a:p>
                      <a:pPr>
                        <a:buNone/>
                      </a:pPr>
                      <a:r>
                        <a:rPr lang="es-MX"/>
                        <a:t>Mensual</a:t>
                      </a:r>
                    </a:p>
                  </a:txBody>
                  <a:tcPr anchor="ctr">
                    <a:lnL>
                      <a:noFill/>
                    </a:lnL>
                    <a:lnR>
                      <a:noFill/>
                    </a:lnR>
                    <a:lnT>
                      <a:noFill/>
                    </a:lnT>
                    <a:lnB>
                      <a:noFill/>
                    </a:lnB>
                    <a:solidFill>
                      <a:schemeClr val="accent2">
                        <a:lumMod val="20000"/>
                        <a:lumOff val="80000"/>
                      </a:schemeClr>
                    </a:solidFill>
                  </a:tcPr>
                </a:tc>
                <a:tc>
                  <a:txBody>
                    <a:bodyPr/>
                    <a:lstStyle/>
                    <a:p>
                      <a:pPr>
                        <a:buNone/>
                      </a:pPr>
                      <a:r>
                        <a:rPr lang="es-MX"/>
                        <a:t>PDF + Jira Dashboard</a:t>
                      </a:r>
                    </a:p>
                  </a:txBody>
                  <a:tcPr anchor="ctr">
                    <a:lnL>
                      <a:noFill/>
                    </a:lnL>
                    <a:lnR>
                      <a:noFill/>
                    </a:lnR>
                    <a:lnT>
                      <a:noFill/>
                    </a:lnT>
                    <a:lnB>
                      <a:noFill/>
                    </a:lnB>
                    <a:solidFill>
                      <a:schemeClr val="accent2">
                        <a:lumMod val="20000"/>
                        <a:lumOff val="80000"/>
                      </a:schemeClr>
                    </a:solidFill>
                  </a:tcPr>
                </a:tc>
                <a:tc>
                  <a:txBody>
                    <a:bodyPr/>
                    <a:lstStyle/>
                    <a:p>
                      <a:pPr>
                        <a:buNone/>
                      </a:pPr>
                      <a:r>
                        <a:rPr lang="es-MX"/>
                        <a:t>PM</a:t>
                      </a:r>
                    </a:p>
                  </a:txBody>
                  <a:tcPr anchor="ctr">
                    <a:lnL>
                      <a:noFill/>
                    </a:lnL>
                    <a:lnR>
                      <a:noFill/>
                    </a:lnR>
                    <a:lnT>
                      <a:noFill/>
                    </a:lnT>
                    <a:lnB>
                      <a:noFill/>
                    </a:lnB>
                    <a:solidFill>
                      <a:schemeClr val="accent2">
                        <a:lumMod val="20000"/>
                        <a:lumOff val="80000"/>
                      </a:schemeClr>
                    </a:solidFill>
                  </a:tcPr>
                </a:tc>
                <a:tc>
                  <a:txBody>
                    <a:bodyPr/>
                    <a:lstStyle/>
                    <a:p>
                      <a:pPr>
                        <a:buNone/>
                      </a:pPr>
                      <a:r>
                        <a:rPr lang="es-MX" dirty="0"/>
                        <a:t>Dirección cliente</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006154671"/>
                  </a:ext>
                </a:extLst>
              </a:tr>
              <a:tr h="0">
                <a:tc>
                  <a:txBody>
                    <a:bodyPr/>
                    <a:lstStyle/>
                    <a:p>
                      <a:pPr>
                        <a:buNone/>
                      </a:pPr>
                      <a:r>
                        <a:rPr lang="es-MX"/>
                        <a:t>Validación de prototipo</a:t>
                      </a:r>
                    </a:p>
                  </a:txBody>
                  <a:tcPr anchor="ctr">
                    <a:lnL>
                      <a:noFill/>
                    </a:lnL>
                    <a:lnR>
                      <a:noFill/>
                    </a:lnR>
                    <a:lnT>
                      <a:noFill/>
                    </a:lnT>
                    <a:lnB>
                      <a:noFill/>
                    </a:lnB>
                    <a:noFill/>
                  </a:tcPr>
                </a:tc>
                <a:tc>
                  <a:txBody>
                    <a:bodyPr/>
                    <a:lstStyle/>
                    <a:p>
                      <a:pPr>
                        <a:buNone/>
                      </a:pPr>
                      <a:r>
                        <a:rPr lang="es-MX"/>
                        <a:t>Según entregables</a:t>
                      </a:r>
                    </a:p>
                  </a:txBody>
                  <a:tcPr anchor="ctr">
                    <a:lnL>
                      <a:noFill/>
                    </a:lnL>
                    <a:lnR>
                      <a:noFill/>
                    </a:lnR>
                    <a:lnT>
                      <a:noFill/>
                    </a:lnT>
                    <a:lnB>
                      <a:noFill/>
                    </a:lnB>
                    <a:noFill/>
                  </a:tcPr>
                </a:tc>
                <a:tc>
                  <a:txBody>
                    <a:bodyPr/>
                    <a:lstStyle/>
                    <a:p>
                      <a:pPr>
                        <a:buNone/>
                      </a:pPr>
                      <a:r>
                        <a:rPr lang="es-MX"/>
                        <a:t>Revisión interactiva en Figma/Entorno demo</a:t>
                      </a:r>
                    </a:p>
                  </a:txBody>
                  <a:tcPr anchor="ctr">
                    <a:lnL>
                      <a:noFill/>
                    </a:lnL>
                    <a:lnR>
                      <a:noFill/>
                    </a:lnR>
                    <a:lnT>
                      <a:noFill/>
                    </a:lnT>
                    <a:lnB>
                      <a:noFill/>
                    </a:lnB>
                    <a:noFill/>
                  </a:tcPr>
                </a:tc>
                <a:tc>
                  <a:txBody>
                    <a:bodyPr/>
                    <a:lstStyle/>
                    <a:p>
                      <a:pPr>
                        <a:buNone/>
                      </a:pPr>
                      <a:r>
                        <a:rPr lang="es-MX"/>
                        <a:t>UX Lead</a:t>
                      </a:r>
                    </a:p>
                  </a:txBody>
                  <a:tcPr anchor="ctr">
                    <a:lnL>
                      <a:noFill/>
                    </a:lnL>
                    <a:lnR>
                      <a:noFill/>
                    </a:lnR>
                    <a:lnT>
                      <a:noFill/>
                    </a:lnT>
                    <a:lnB>
                      <a:noFill/>
                    </a:lnB>
                    <a:noFill/>
                  </a:tcPr>
                </a:tc>
                <a:tc>
                  <a:txBody>
                    <a:bodyPr/>
                    <a:lstStyle/>
                    <a:p>
                      <a:pPr>
                        <a:buNone/>
                      </a:pPr>
                      <a:r>
                        <a:rPr lang="es-MX"/>
                        <a:t>Usuario clave</a:t>
                      </a:r>
                    </a:p>
                  </a:txBody>
                  <a:tcPr anchor="ctr">
                    <a:lnL>
                      <a:noFill/>
                    </a:lnL>
                    <a:lnR>
                      <a:noFill/>
                    </a:lnR>
                    <a:lnT>
                      <a:noFill/>
                    </a:lnT>
                    <a:lnB>
                      <a:noFill/>
                    </a:lnB>
                    <a:noFill/>
                  </a:tcPr>
                </a:tc>
                <a:extLst>
                  <a:ext uri="{0D108BD9-81ED-4DB2-BD59-A6C34878D82A}">
                    <a16:rowId xmlns:a16="http://schemas.microsoft.com/office/drawing/2014/main" val="151449546"/>
                  </a:ext>
                </a:extLst>
              </a:tr>
              <a:tr h="0">
                <a:tc>
                  <a:txBody>
                    <a:bodyPr/>
                    <a:lstStyle/>
                    <a:p>
                      <a:pPr>
                        <a:buNone/>
                      </a:pPr>
                      <a:r>
                        <a:rPr lang="es-MX"/>
                        <a:t>Gestión de incidencias</a:t>
                      </a:r>
                    </a:p>
                  </a:txBody>
                  <a:tcPr anchor="ctr">
                    <a:lnL>
                      <a:noFill/>
                    </a:lnL>
                    <a:lnR>
                      <a:noFill/>
                    </a:lnR>
                    <a:lnT>
                      <a:noFill/>
                    </a:lnT>
                    <a:lnB>
                      <a:noFill/>
                    </a:lnB>
                    <a:solidFill>
                      <a:schemeClr val="accent2">
                        <a:lumMod val="20000"/>
                        <a:lumOff val="80000"/>
                      </a:schemeClr>
                    </a:solidFill>
                  </a:tcPr>
                </a:tc>
                <a:tc>
                  <a:txBody>
                    <a:bodyPr/>
                    <a:lstStyle/>
                    <a:p>
                      <a:pPr>
                        <a:buNone/>
                      </a:pPr>
                      <a:r>
                        <a:rPr lang="es-MX" dirty="0"/>
                        <a:t>Diario</a:t>
                      </a:r>
                    </a:p>
                  </a:txBody>
                  <a:tcPr anchor="ctr">
                    <a:lnL>
                      <a:noFill/>
                    </a:lnL>
                    <a:lnR>
                      <a:noFill/>
                    </a:lnR>
                    <a:lnT>
                      <a:noFill/>
                    </a:lnT>
                    <a:lnB>
                      <a:noFill/>
                    </a:lnB>
                    <a:solidFill>
                      <a:schemeClr val="accent2">
                        <a:lumMod val="20000"/>
                        <a:lumOff val="80000"/>
                      </a:schemeClr>
                    </a:solidFill>
                  </a:tcPr>
                </a:tc>
                <a:tc>
                  <a:txBody>
                    <a:bodyPr/>
                    <a:lstStyle/>
                    <a:p>
                      <a:pPr>
                        <a:buNone/>
                      </a:pPr>
                      <a:r>
                        <a:rPr lang="es-MX"/>
                        <a:t>Jira + Slack</a:t>
                      </a:r>
                    </a:p>
                  </a:txBody>
                  <a:tcPr anchor="ctr">
                    <a:lnL>
                      <a:noFill/>
                    </a:lnL>
                    <a:lnR>
                      <a:noFill/>
                    </a:lnR>
                    <a:lnT>
                      <a:noFill/>
                    </a:lnT>
                    <a:lnB>
                      <a:noFill/>
                    </a:lnB>
                    <a:solidFill>
                      <a:schemeClr val="accent2">
                        <a:lumMod val="20000"/>
                        <a:lumOff val="80000"/>
                      </a:schemeClr>
                    </a:solidFill>
                  </a:tcPr>
                </a:tc>
                <a:tc>
                  <a:txBody>
                    <a:bodyPr/>
                    <a:lstStyle/>
                    <a:p>
                      <a:pPr>
                        <a:buNone/>
                      </a:pPr>
                      <a:r>
                        <a:rPr lang="es-MX"/>
                        <a:t>Desarrollador asignado</a:t>
                      </a:r>
                    </a:p>
                  </a:txBody>
                  <a:tcPr anchor="ctr">
                    <a:lnL>
                      <a:noFill/>
                    </a:lnL>
                    <a:lnR>
                      <a:noFill/>
                    </a:lnR>
                    <a:lnT>
                      <a:noFill/>
                    </a:lnT>
                    <a:lnB>
                      <a:noFill/>
                    </a:lnB>
                    <a:solidFill>
                      <a:schemeClr val="accent2">
                        <a:lumMod val="20000"/>
                        <a:lumOff val="80000"/>
                      </a:schemeClr>
                    </a:solidFill>
                  </a:tcPr>
                </a:tc>
                <a:tc>
                  <a:txBody>
                    <a:bodyPr/>
                    <a:lstStyle/>
                    <a:p>
                      <a:pPr>
                        <a:buNone/>
                      </a:pPr>
                      <a:r>
                        <a:rPr lang="es-MX" dirty="0"/>
                        <a:t>Cliente (Product Owner)</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967900516"/>
                  </a:ext>
                </a:extLst>
              </a:tr>
            </a:tbl>
          </a:graphicData>
        </a:graphic>
      </p:graphicFrame>
      <p:sp>
        <p:nvSpPr>
          <p:cNvPr id="4" name="CuadroTexto 3">
            <a:extLst>
              <a:ext uri="{FF2B5EF4-FFF2-40B4-BE49-F238E27FC236}">
                <a16:creationId xmlns:a16="http://schemas.microsoft.com/office/drawing/2014/main" id="{87728498-4A4D-6597-3CBF-6D8519441D01}"/>
              </a:ext>
            </a:extLst>
          </p:cNvPr>
          <p:cNvSpPr txBox="1"/>
          <p:nvPr/>
        </p:nvSpPr>
        <p:spPr>
          <a:xfrm>
            <a:off x="838200" y="1139043"/>
            <a:ext cx="6097836" cy="369332"/>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Ejemplo sencillo (extracto de plan de comunicación)</a:t>
            </a:r>
          </a:p>
        </p:txBody>
      </p:sp>
    </p:spTree>
    <p:extLst>
      <p:ext uri="{BB962C8B-B14F-4D97-AF65-F5344CB8AC3E}">
        <p14:creationId xmlns:p14="http://schemas.microsoft.com/office/powerpoint/2010/main" val="3806681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663CF-F626-6366-A046-158AE0F5CB7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BBE94D37-7C3C-773E-3FD2-0D33A8B6AE02}"/>
              </a:ext>
            </a:extLst>
          </p:cNvPr>
          <p:cNvSpPr/>
          <p:nvPr/>
        </p:nvSpPr>
        <p:spPr>
          <a:xfrm>
            <a:off x="1226425" y="1931749"/>
            <a:ext cx="9739149" cy="2585323"/>
          </a:xfrm>
          <a:prstGeom prst="rect">
            <a:avLst/>
          </a:prstGeom>
          <a:noFill/>
        </p:spPr>
        <p:txBody>
          <a:bodyPr wrap="squar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Ejemplo de un Plan de Comunicación con el Cliente:</a:t>
            </a:r>
          </a:p>
          <a:p>
            <a:pPr algn="ctr"/>
            <a:r>
              <a:rPr lang="es-MX" sz="5400" dirty="0">
                <a:ln w="0"/>
                <a:effectLst>
                  <a:outerShdw blurRad="38100" dist="19050" dir="2700000" algn="tl" rotWithShape="0">
                    <a:schemeClr val="dk1">
                      <a:alpha val="40000"/>
                    </a:schemeClr>
                  </a:outerShdw>
                </a:effectLst>
              </a:rPr>
              <a:t>Desarrollo de Software</a:t>
            </a:r>
            <a:endParaRPr lang="es-MX"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67540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F2A0E-F38E-32DE-9038-942EDAF2C60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55046C0-5F4E-D818-3035-AA89C5FEF922}"/>
              </a:ext>
            </a:extLst>
          </p:cNvPr>
          <p:cNvSpPr txBox="1"/>
          <p:nvPr/>
        </p:nvSpPr>
        <p:spPr>
          <a:xfrm>
            <a:off x="1837062" y="1869968"/>
            <a:ext cx="8750148" cy="3139321"/>
          </a:xfrm>
          <a:prstGeom prst="rect">
            <a:avLst/>
          </a:prstGeom>
          <a:noFill/>
        </p:spPr>
        <p:txBody>
          <a:bodyPr wrap="square">
            <a:spAutoFit/>
          </a:bodyPr>
          <a:lstStyle/>
          <a:p>
            <a:pPr>
              <a:buNone/>
            </a:pPr>
            <a:r>
              <a:rPr lang="es-MX" b="1" dirty="0">
                <a:latin typeface="Arial" panose="020B0604020202020204" pitchFamily="34" charset="0"/>
                <a:cs typeface="Arial" panose="020B0604020202020204" pitchFamily="34" charset="0"/>
              </a:rPr>
              <a:t>Plan de Comunicación con el Cliente – Desarrollo de Software</a:t>
            </a:r>
          </a:p>
          <a:p>
            <a:pPr>
              <a:buNone/>
            </a:pPr>
            <a:endParaRPr lang="es-MX" b="1" dirty="0">
              <a:latin typeface="Arial" panose="020B0604020202020204" pitchFamily="34" charset="0"/>
              <a:cs typeface="Arial" panose="020B0604020202020204" pitchFamily="34" charset="0"/>
            </a:endParaRPr>
          </a:p>
          <a:p>
            <a:pPr marL="342900" indent="-342900">
              <a:buAutoNum type="arabicPeriod"/>
            </a:pPr>
            <a:r>
              <a:rPr lang="es-MX" b="1" dirty="0">
                <a:latin typeface="Arial" panose="020B0604020202020204" pitchFamily="34" charset="0"/>
                <a:cs typeface="Arial" panose="020B0604020202020204" pitchFamily="34" charset="0"/>
              </a:rPr>
              <a:t>Objetivos de Comunicación</a:t>
            </a:r>
          </a:p>
          <a:p>
            <a:pPr marL="342900" indent="-342900">
              <a:buAutoNum type="arabicPeriod"/>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Garantizar entendimiento y validación de requerimientos.</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Informar avances, riesgos y cambios de alcance.</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Mantener al cliente involucrado en decisiones clave.</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Asegurar transparencia y satisfacción del cliente durante todo el ciclo de vida.</a:t>
            </a:r>
          </a:p>
        </p:txBody>
      </p:sp>
    </p:spTree>
    <p:extLst>
      <p:ext uri="{BB962C8B-B14F-4D97-AF65-F5344CB8AC3E}">
        <p14:creationId xmlns:p14="http://schemas.microsoft.com/office/powerpoint/2010/main" val="2965829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9DF8-6D1F-82E9-2086-5AF72C50EAF7}"/>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8152F9D7-29B3-37F0-7A35-0F6D87C12EAE}"/>
              </a:ext>
            </a:extLst>
          </p:cNvPr>
          <p:cNvGraphicFramePr>
            <a:graphicFrameLocks noGrp="1"/>
          </p:cNvGraphicFramePr>
          <p:nvPr>
            <p:extLst>
              <p:ext uri="{D42A27DB-BD31-4B8C-83A1-F6EECF244321}">
                <p14:modId xmlns:p14="http://schemas.microsoft.com/office/powerpoint/2010/main" val="285479245"/>
              </p:ext>
            </p:extLst>
          </p:nvPr>
        </p:nvGraphicFramePr>
        <p:xfrm>
          <a:off x="1674563" y="2185163"/>
          <a:ext cx="9150428" cy="3566160"/>
        </p:xfrm>
        <a:graphic>
          <a:graphicData uri="http://schemas.openxmlformats.org/drawingml/2006/table">
            <a:tbl>
              <a:tblPr/>
              <a:tblGrid>
                <a:gridCol w="3183876">
                  <a:extLst>
                    <a:ext uri="{9D8B030D-6E8A-4147-A177-3AD203B41FA5}">
                      <a16:colId xmlns:a16="http://schemas.microsoft.com/office/drawing/2014/main" val="468996158"/>
                    </a:ext>
                  </a:extLst>
                </a:gridCol>
                <a:gridCol w="5966552">
                  <a:extLst>
                    <a:ext uri="{9D8B030D-6E8A-4147-A177-3AD203B41FA5}">
                      <a16:colId xmlns:a16="http://schemas.microsoft.com/office/drawing/2014/main" val="2115421505"/>
                    </a:ext>
                  </a:extLst>
                </a:gridCol>
              </a:tblGrid>
              <a:tr h="0">
                <a:tc>
                  <a:txBody>
                    <a:bodyPr/>
                    <a:lstStyle/>
                    <a:p>
                      <a:pPr>
                        <a:buNone/>
                      </a:pPr>
                      <a:r>
                        <a:rPr lang="es-MX" b="1"/>
                        <a:t>Rol</a:t>
                      </a:r>
                      <a:endParaRPr lang="es-MX"/>
                    </a:p>
                  </a:txBody>
                  <a:tcPr anchor="ctr">
                    <a:lnL>
                      <a:noFill/>
                    </a:lnL>
                    <a:lnR>
                      <a:noFill/>
                    </a:lnR>
                    <a:lnT>
                      <a:noFill/>
                    </a:lnT>
                    <a:lnB>
                      <a:noFill/>
                    </a:lnB>
                    <a:solidFill>
                      <a:schemeClr val="tx2">
                        <a:lumMod val="25000"/>
                        <a:lumOff val="75000"/>
                      </a:schemeClr>
                    </a:solidFill>
                  </a:tcPr>
                </a:tc>
                <a:tc>
                  <a:txBody>
                    <a:bodyPr/>
                    <a:lstStyle/>
                    <a:p>
                      <a:pPr>
                        <a:buNone/>
                      </a:pPr>
                      <a:r>
                        <a:rPr lang="es-MX" b="1" dirty="0"/>
                        <a:t>Responsabilidades de Comunicación</a:t>
                      </a:r>
                      <a:endParaRPr lang="es-MX" dirty="0"/>
                    </a:p>
                  </a:txBody>
                  <a:tcPr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679892741"/>
                  </a:ext>
                </a:extLst>
              </a:tr>
              <a:tr h="0">
                <a:tc>
                  <a:txBody>
                    <a:bodyPr/>
                    <a:lstStyle/>
                    <a:p>
                      <a:pPr>
                        <a:buNone/>
                      </a:pPr>
                      <a:r>
                        <a:rPr lang="es-MX"/>
                        <a:t>Gerente de Proyecto</a:t>
                      </a:r>
                    </a:p>
                  </a:txBody>
                  <a:tcPr anchor="ctr">
                    <a:lnL>
                      <a:noFill/>
                    </a:lnL>
                    <a:lnR>
                      <a:noFill/>
                    </a:lnR>
                    <a:lnT>
                      <a:noFill/>
                    </a:lnT>
                    <a:lnB>
                      <a:noFill/>
                    </a:lnB>
                    <a:noFill/>
                  </a:tcPr>
                </a:tc>
                <a:tc>
                  <a:txBody>
                    <a:bodyPr/>
                    <a:lstStyle/>
                    <a:p>
                      <a:pPr>
                        <a:buNone/>
                      </a:pPr>
                      <a:r>
                        <a:rPr lang="es-MX" dirty="0"/>
                        <a:t>Centraliza la comunicación, prepara reportes, organiza reuniones, gestiona escalamiento.</a:t>
                      </a:r>
                    </a:p>
                  </a:txBody>
                  <a:tcPr anchor="ctr">
                    <a:lnL>
                      <a:noFill/>
                    </a:lnL>
                    <a:lnR>
                      <a:noFill/>
                    </a:lnR>
                    <a:lnT>
                      <a:noFill/>
                    </a:lnT>
                    <a:lnB>
                      <a:noFill/>
                    </a:lnB>
                    <a:noFill/>
                  </a:tcPr>
                </a:tc>
                <a:extLst>
                  <a:ext uri="{0D108BD9-81ED-4DB2-BD59-A6C34878D82A}">
                    <a16:rowId xmlns:a16="http://schemas.microsoft.com/office/drawing/2014/main" val="3896364880"/>
                  </a:ext>
                </a:extLst>
              </a:tr>
              <a:tr h="0">
                <a:tc>
                  <a:txBody>
                    <a:bodyPr/>
                    <a:lstStyle/>
                    <a:p>
                      <a:pPr>
                        <a:buNone/>
                      </a:pPr>
                      <a:r>
                        <a:rPr lang="es-MX"/>
                        <a:t>Líder Técnico</a:t>
                      </a:r>
                    </a:p>
                  </a:txBody>
                  <a:tcPr anchor="ctr">
                    <a:lnL>
                      <a:noFill/>
                    </a:lnL>
                    <a:lnR>
                      <a:noFill/>
                    </a:lnR>
                    <a:lnT>
                      <a:noFill/>
                    </a:lnT>
                    <a:lnB>
                      <a:noFill/>
                    </a:lnB>
                    <a:solidFill>
                      <a:schemeClr val="accent2">
                        <a:lumMod val="20000"/>
                        <a:lumOff val="80000"/>
                      </a:schemeClr>
                    </a:solidFill>
                  </a:tcPr>
                </a:tc>
                <a:tc>
                  <a:txBody>
                    <a:bodyPr/>
                    <a:lstStyle/>
                    <a:p>
                      <a:pPr>
                        <a:buNone/>
                      </a:pPr>
                      <a:r>
                        <a:rPr lang="es-MX" dirty="0"/>
                        <a:t>Explica decisiones de diseño, dependencias técnicas y riesgos.</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764939010"/>
                  </a:ext>
                </a:extLst>
              </a:tr>
              <a:tr h="0">
                <a:tc>
                  <a:txBody>
                    <a:bodyPr/>
                    <a:lstStyle/>
                    <a:p>
                      <a:pPr>
                        <a:buNone/>
                      </a:pPr>
                      <a:r>
                        <a:rPr lang="es-MX"/>
                        <a:t>Desarrolladores</a:t>
                      </a:r>
                    </a:p>
                  </a:txBody>
                  <a:tcPr anchor="ctr">
                    <a:lnL>
                      <a:noFill/>
                    </a:lnL>
                    <a:lnR>
                      <a:noFill/>
                    </a:lnR>
                    <a:lnT>
                      <a:noFill/>
                    </a:lnT>
                    <a:lnB>
                      <a:noFill/>
                    </a:lnB>
                    <a:noFill/>
                  </a:tcPr>
                </a:tc>
                <a:tc>
                  <a:txBody>
                    <a:bodyPr/>
                    <a:lstStyle/>
                    <a:p>
                      <a:pPr>
                        <a:buNone/>
                      </a:pPr>
                      <a:r>
                        <a:rPr lang="es-MX"/>
                        <a:t>Informan avances en tareas asignadas, registran incidencias.</a:t>
                      </a:r>
                    </a:p>
                  </a:txBody>
                  <a:tcPr anchor="ctr">
                    <a:lnL>
                      <a:noFill/>
                    </a:lnL>
                    <a:lnR>
                      <a:noFill/>
                    </a:lnR>
                    <a:lnT>
                      <a:noFill/>
                    </a:lnT>
                    <a:lnB>
                      <a:noFill/>
                    </a:lnB>
                    <a:noFill/>
                  </a:tcPr>
                </a:tc>
                <a:extLst>
                  <a:ext uri="{0D108BD9-81ED-4DB2-BD59-A6C34878D82A}">
                    <a16:rowId xmlns:a16="http://schemas.microsoft.com/office/drawing/2014/main" val="2934088516"/>
                  </a:ext>
                </a:extLst>
              </a:tr>
              <a:tr h="0">
                <a:tc>
                  <a:txBody>
                    <a:bodyPr/>
                    <a:lstStyle/>
                    <a:p>
                      <a:pPr>
                        <a:buNone/>
                      </a:pPr>
                      <a:r>
                        <a:rPr lang="es-MX"/>
                        <a:t>Cliente / Product Owner</a:t>
                      </a:r>
                    </a:p>
                  </a:txBody>
                  <a:tcPr anchor="ctr">
                    <a:lnL>
                      <a:noFill/>
                    </a:lnL>
                    <a:lnR>
                      <a:noFill/>
                    </a:lnR>
                    <a:lnT>
                      <a:noFill/>
                    </a:lnT>
                    <a:lnB>
                      <a:noFill/>
                    </a:lnB>
                    <a:solidFill>
                      <a:schemeClr val="accent2">
                        <a:lumMod val="20000"/>
                        <a:lumOff val="80000"/>
                      </a:schemeClr>
                    </a:solidFill>
                  </a:tcPr>
                </a:tc>
                <a:tc>
                  <a:txBody>
                    <a:bodyPr/>
                    <a:lstStyle/>
                    <a:p>
                      <a:pPr>
                        <a:buNone/>
                      </a:pPr>
                      <a:r>
                        <a:rPr lang="es-MX" dirty="0"/>
                        <a:t>Proporciona retroalimentación, valida entregables, prioriza requerimientos.</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843260574"/>
                  </a:ext>
                </a:extLst>
              </a:tr>
              <a:tr h="0">
                <a:tc>
                  <a:txBody>
                    <a:bodyPr/>
                    <a:lstStyle/>
                    <a:p>
                      <a:pPr>
                        <a:buNone/>
                      </a:pPr>
                      <a:r>
                        <a:rPr lang="es-MX"/>
                        <a:t>Usuario Final Clave</a:t>
                      </a:r>
                    </a:p>
                  </a:txBody>
                  <a:tcPr anchor="ctr">
                    <a:lnL>
                      <a:noFill/>
                    </a:lnL>
                    <a:lnR>
                      <a:noFill/>
                    </a:lnR>
                    <a:lnT>
                      <a:noFill/>
                    </a:lnT>
                    <a:lnB>
                      <a:noFill/>
                    </a:lnB>
                    <a:noFill/>
                  </a:tcPr>
                </a:tc>
                <a:tc>
                  <a:txBody>
                    <a:bodyPr/>
                    <a:lstStyle/>
                    <a:p>
                      <a:pPr>
                        <a:buNone/>
                      </a:pPr>
                      <a:r>
                        <a:rPr lang="es-MX" dirty="0"/>
                        <a:t>Participa en pruebas de aceptación y sesiones de validación.</a:t>
                      </a:r>
                    </a:p>
                  </a:txBody>
                  <a:tcPr anchor="ctr">
                    <a:lnL>
                      <a:noFill/>
                    </a:lnL>
                    <a:lnR>
                      <a:noFill/>
                    </a:lnR>
                    <a:lnT>
                      <a:noFill/>
                    </a:lnT>
                    <a:lnB>
                      <a:noFill/>
                    </a:lnB>
                    <a:noFill/>
                  </a:tcPr>
                </a:tc>
                <a:extLst>
                  <a:ext uri="{0D108BD9-81ED-4DB2-BD59-A6C34878D82A}">
                    <a16:rowId xmlns:a16="http://schemas.microsoft.com/office/drawing/2014/main" val="3637313249"/>
                  </a:ext>
                </a:extLst>
              </a:tr>
            </a:tbl>
          </a:graphicData>
        </a:graphic>
      </p:graphicFrame>
      <p:sp>
        <p:nvSpPr>
          <p:cNvPr id="4" name="CuadroTexto 3">
            <a:extLst>
              <a:ext uri="{FF2B5EF4-FFF2-40B4-BE49-F238E27FC236}">
                <a16:creationId xmlns:a16="http://schemas.microsoft.com/office/drawing/2014/main" id="{BBA986C8-1465-6333-7269-14A75A281337}"/>
              </a:ext>
            </a:extLst>
          </p:cNvPr>
          <p:cNvSpPr txBox="1"/>
          <p:nvPr/>
        </p:nvSpPr>
        <p:spPr>
          <a:xfrm>
            <a:off x="1674563" y="1396254"/>
            <a:ext cx="6097836" cy="523220"/>
          </a:xfrm>
          <a:prstGeom prst="rect">
            <a:avLst/>
          </a:prstGeom>
          <a:noFill/>
        </p:spPr>
        <p:txBody>
          <a:bodyPr wrap="square">
            <a:spAutoFit/>
          </a:bodyPr>
          <a:lstStyle/>
          <a:p>
            <a:r>
              <a:rPr lang="es-MX" sz="2800" b="1" dirty="0">
                <a:latin typeface="Arial" panose="020B0604020202020204" pitchFamily="34" charset="0"/>
                <a:cs typeface="Arial" panose="020B0604020202020204" pitchFamily="34" charset="0"/>
              </a:rPr>
              <a:t>Roles y Responsabilidades</a:t>
            </a:r>
          </a:p>
        </p:txBody>
      </p:sp>
    </p:spTree>
    <p:extLst>
      <p:ext uri="{BB962C8B-B14F-4D97-AF65-F5344CB8AC3E}">
        <p14:creationId xmlns:p14="http://schemas.microsoft.com/office/powerpoint/2010/main" val="1134436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B5EC-DCEB-31EB-E4FF-B4F195E8B8B5}"/>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75B01079-1A09-DAA1-90D0-DBDE7F5E0DAD}"/>
              </a:ext>
            </a:extLst>
          </p:cNvPr>
          <p:cNvGraphicFramePr>
            <a:graphicFrameLocks noGrp="1"/>
          </p:cNvGraphicFramePr>
          <p:nvPr>
            <p:extLst>
              <p:ext uri="{D42A27DB-BD31-4B8C-83A1-F6EECF244321}">
                <p14:modId xmlns:p14="http://schemas.microsoft.com/office/powerpoint/2010/main" val="3397476660"/>
              </p:ext>
            </p:extLst>
          </p:nvPr>
        </p:nvGraphicFramePr>
        <p:xfrm>
          <a:off x="989820" y="1319432"/>
          <a:ext cx="10212360" cy="4888458"/>
        </p:xfrm>
        <a:graphic>
          <a:graphicData uri="http://schemas.openxmlformats.org/drawingml/2006/table">
            <a:tbl>
              <a:tblPr/>
              <a:tblGrid>
                <a:gridCol w="1702060">
                  <a:extLst>
                    <a:ext uri="{9D8B030D-6E8A-4147-A177-3AD203B41FA5}">
                      <a16:colId xmlns:a16="http://schemas.microsoft.com/office/drawing/2014/main" val="2020703289"/>
                    </a:ext>
                  </a:extLst>
                </a:gridCol>
                <a:gridCol w="1702060">
                  <a:extLst>
                    <a:ext uri="{9D8B030D-6E8A-4147-A177-3AD203B41FA5}">
                      <a16:colId xmlns:a16="http://schemas.microsoft.com/office/drawing/2014/main" val="825606228"/>
                    </a:ext>
                  </a:extLst>
                </a:gridCol>
                <a:gridCol w="1702060">
                  <a:extLst>
                    <a:ext uri="{9D8B030D-6E8A-4147-A177-3AD203B41FA5}">
                      <a16:colId xmlns:a16="http://schemas.microsoft.com/office/drawing/2014/main" val="3001177046"/>
                    </a:ext>
                  </a:extLst>
                </a:gridCol>
                <a:gridCol w="1702060">
                  <a:extLst>
                    <a:ext uri="{9D8B030D-6E8A-4147-A177-3AD203B41FA5}">
                      <a16:colId xmlns:a16="http://schemas.microsoft.com/office/drawing/2014/main" val="2475743608"/>
                    </a:ext>
                  </a:extLst>
                </a:gridCol>
                <a:gridCol w="1702060">
                  <a:extLst>
                    <a:ext uri="{9D8B030D-6E8A-4147-A177-3AD203B41FA5}">
                      <a16:colId xmlns:a16="http://schemas.microsoft.com/office/drawing/2014/main" val="2484443950"/>
                    </a:ext>
                  </a:extLst>
                </a:gridCol>
                <a:gridCol w="1702060">
                  <a:extLst>
                    <a:ext uri="{9D8B030D-6E8A-4147-A177-3AD203B41FA5}">
                      <a16:colId xmlns:a16="http://schemas.microsoft.com/office/drawing/2014/main" val="2071893991"/>
                    </a:ext>
                  </a:extLst>
                </a:gridCol>
              </a:tblGrid>
              <a:tr h="499334">
                <a:tc>
                  <a:txBody>
                    <a:bodyPr/>
                    <a:lstStyle/>
                    <a:p>
                      <a:pPr>
                        <a:buNone/>
                      </a:pPr>
                      <a:r>
                        <a:rPr lang="es-MX" sz="1600" b="1">
                          <a:latin typeface="Arial" panose="020B0604020202020204" pitchFamily="34" charset="0"/>
                          <a:cs typeface="Arial" panose="020B0604020202020204" pitchFamily="34" charset="0"/>
                        </a:rPr>
                        <a:t>Tipo de Comunicación</a:t>
                      </a:r>
                      <a:endParaRPr lang="es-MX" sz="160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tc>
                  <a:txBody>
                    <a:bodyPr/>
                    <a:lstStyle/>
                    <a:p>
                      <a:pPr>
                        <a:buNone/>
                      </a:pPr>
                      <a:r>
                        <a:rPr lang="es-MX" sz="1600" b="1">
                          <a:latin typeface="Arial" panose="020B0604020202020204" pitchFamily="34" charset="0"/>
                          <a:cs typeface="Arial" panose="020B0604020202020204" pitchFamily="34" charset="0"/>
                        </a:rPr>
                        <a:t>Frecuencia</a:t>
                      </a:r>
                      <a:endParaRPr lang="es-MX" sz="160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tc>
                  <a:txBody>
                    <a:bodyPr/>
                    <a:lstStyle/>
                    <a:p>
                      <a:pPr>
                        <a:buNone/>
                      </a:pPr>
                      <a:r>
                        <a:rPr lang="es-MX" sz="1600" b="1">
                          <a:latin typeface="Arial" panose="020B0604020202020204" pitchFamily="34" charset="0"/>
                          <a:cs typeface="Arial" panose="020B0604020202020204" pitchFamily="34" charset="0"/>
                        </a:rPr>
                        <a:t>Medio / Herramienta</a:t>
                      </a:r>
                      <a:endParaRPr lang="es-MX" sz="160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tc>
                  <a:txBody>
                    <a:bodyPr/>
                    <a:lstStyle/>
                    <a:p>
                      <a:pPr>
                        <a:buNone/>
                      </a:pPr>
                      <a:r>
                        <a:rPr lang="es-MX" sz="1600" b="1">
                          <a:latin typeface="Arial" panose="020B0604020202020204" pitchFamily="34" charset="0"/>
                          <a:cs typeface="Arial" panose="020B0604020202020204" pitchFamily="34" charset="0"/>
                        </a:rPr>
                        <a:t>Responsable</a:t>
                      </a:r>
                      <a:endParaRPr lang="es-MX" sz="160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tc>
                  <a:txBody>
                    <a:bodyPr/>
                    <a:lstStyle/>
                    <a:p>
                      <a:pPr>
                        <a:buNone/>
                      </a:pPr>
                      <a:r>
                        <a:rPr lang="es-MX" sz="1600" b="1">
                          <a:latin typeface="Arial" panose="020B0604020202020204" pitchFamily="34" charset="0"/>
                          <a:cs typeface="Arial" panose="020B0604020202020204" pitchFamily="34" charset="0"/>
                        </a:rPr>
                        <a:t>Destinatarios</a:t>
                      </a:r>
                      <a:endParaRPr lang="es-MX" sz="160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tc>
                  <a:txBody>
                    <a:bodyPr/>
                    <a:lstStyle/>
                    <a:p>
                      <a:pPr>
                        <a:buNone/>
                      </a:pPr>
                      <a:r>
                        <a:rPr lang="es-MX" sz="1600" b="1" dirty="0">
                          <a:latin typeface="Arial" panose="020B0604020202020204" pitchFamily="34" charset="0"/>
                          <a:cs typeface="Arial" panose="020B0604020202020204" pitchFamily="34" charset="0"/>
                        </a:rPr>
                        <a:t>Formato de Entrega</a:t>
                      </a:r>
                      <a:endParaRPr lang="es-MX" sz="1600" dirty="0">
                        <a:latin typeface="Arial" panose="020B0604020202020204" pitchFamily="34" charset="0"/>
                        <a:cs typeface="Arial" panose="020B0604020202020204" pitchFamily="34" charset="0"/>
                      </a:endParaRPr>
                    </a:p>
                  </a:txBody>
                  <a:tcPr marL="71333" marR="71333" marT="35667" marB="35667"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4104257035"/>
                  </a:ext>
                </a:extLst>
              </a:tr>
              <a:tr h="499334">
                <a:tc>
                  <a:txBody>
                    <a:bodyPr/>
                    <a:lstStyle/>
                    <a:p>
                      <a:pPr>
                        <a:buNone/>
                      </a:pPr>
                      <a:r>
                        <a:rPr lang="es-MX" sz="1600">
                          <a:latin typeface="Arial" panose="020B0604020202020204" pitchFamily="34" charset="0"/>
                          <a:cs typeface="Arial" panose="020B0604020202020204" pitchFamily="34" charset="0"/>
                        </a:rPr>
                        <a:t>Reunión de arranque</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1 vez (inicio proyecto)</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Zoom / Presencial</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PM</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Cliente + Equipo</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Minuta con acuerdos</a:t>
                      </a:r>
                    </a:p>
                  </a:txBody>
                  <a:tcPr marL="71333" marR="71333" marT="35667" marB="35667" anchor="ctr">
                    <a:lnL>
                      <a:noFill/>
                    </a:lnL>
                    <a:lnR>
                      <a:noFill/>
                    </a:lnR>
                    <a:lnT>
                      <a:noFill/>
                    </a:lnT>
                    <a:lnB>
                      <a:noFill/>
                    </a:lnB>
                    <a:noFill/>
                  </a:tcPr>
                </a:tc>
                <a:extLst>
                  <a:ext uri="{0D108BD9-81ED-4DB2-BD59-A6C34878D82A}">
                    <a16:rowId xmlns:a16="http://schemas.microsoft.com/office/drawing/2014/main" val="543319345"/>
                  </a:ext>
                </a:extLst>
              </a:tr>
              <a:tr h="927334">
                <a:tc>
                  <a:txBody>
                    <a:bodyPr/>
                    <a:lstStyle/>
                    <a:p>
                      <a:pPr>
                        <a:buNone/>
                      </a:pPr>
                      <a:r>
                        <a:rPr lang="es-MX" sz="1600">
                          <a:latin typeface="Arial" panose="020B0604020202020204" pitchFamily="34" charset="0"/>
                          <a:cs typeface="Arial" panose="020B0604020202020204" pitchFamily="34" charset="0"/>
                        </a:rPr>
                        <a:t>Seguimiento semanal</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Cada lunes</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Zoom + Acta en Confluence</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PM</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Cliente + Equipo</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dirty="0">
                          <a:latin typeface="Arial" panose="020B0604020202020204" pitchFamily="34" charset="0"/>
                          <a:cs typeface="Arial" panose="020B0604020202020204" pitchFamily="34" charset="0"/>
                        </a:rPr>
                        <a:t>Lista de avances, riesgos, pendientes</a:t>
                      </a:r>
                    </a:p>
                  </a:txBody>
                  <a:tcPr marL="71333" marR="71333" marT="35667" marB="35667"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564265391"/>
                  </a:ext>
                </a:extLst>
              </a:tr>
              <a:tr h="713334">
                <a:tc>
                  <a:txBody>
                    <a:bodyPr/>
                    <a:lstStyle/>
                    <a:p>
                      <a:pPr>
                        <a:buNone/>
                      </a:pPr>
                      <a:r>
                        <a:rPr lang="es-MX" sz="1600">
                          <a:latin typeface="Arial" panose="020B0604020202020204" pitchFamily="34" charset="0"/>
                          <a:cs typeface="Arial" panose="020B0604020202020204" pitchFamily="34" charset="0"/>
                        </a:rPr>
                        <a:t>Informe de estatus</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Mensual</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PDF + Dashboard (Jira)</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PM</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Cliente, Dirección</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Resumen ejecutivo + métricas</a:t>
                      </a:r>
                    </a:p>
                  </a:txBody>
                  <a:tcPr marL="71333" marR="71333" marT="35667" marB="35667" anchor="ctr">
                    <a:lnL>
                      <a:noFill/>
                    </a:lnL>
                    <a:lnR>
                      <a:noFill/>
                    </a:lnR>
                    <a:lnT>
                      <a:noFill/>
                    </a:lnT>
                    <a:lnB>
                      <a:noFill/>
                    </a:lnB>
                    <a:noFill/>
                  </a:tcPr>
                </a:tc>
                <a:extLst>
                  <a:ext uri="{0D108BD9-81ED-4DB2-BD59-A6C34878D82A}">
                    <a16:rowId xmlns:a16="http://schemas.microsoft.com/office/drawing/2014/main" val="3131540256"/>
                  </a:ext>
                </a:extLst>
              </a:tr>
              <a:tr h="499334">
                <a:tc>
                  <a:txBody>
                    <a:bodyPr/>
                    <a:lstStyle/>
                    <a:p>
                      <a:pPr>
                        <a:buNone/>
                      </a:pPr>
                      <a:r>
                        <a:rPr lang="es-MX" sz="1600">
                          <a:latin typeface="Arial" panose="020B0604020202020204" pitchFamily="34" charset="0"/>
                          <a:cs typeface="Arial" panose="020B0604020202020204" pitchFamily="34" charset="0"/>
                        </a:rPr>
                        <a:t>Validación de prototipos</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Según entregables</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Figma / Entorno demo</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UX Lead</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Cliente, Usuario Clave</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dirty="0">
                          <a:latin typeface="Arial" panose="020B0604020202020204" pitchFamily="34" charset="0"/>
                          <a:cs typeface="Arial" panose="020B0604020202020204" pitchFamily="34" charset="0"/>
                        </a:rPr>
                        <a:t>Registro de observaciones</a:t>
                      </a:r>
                    </a:p>
                  </a:txBody>
                  <a:tcPr marL="71333" marR="71333" marT="35667" marB="35667"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885580862"/>
                  </a:ext>
                </a:extLst>
              </a:tr>
              <a:tr h="499334">
                <a:tc>
                  <a:txBody>
                    <a:bodyPr/>
                    <a:lstStyle/>
                    <a:p>
                      <a:pPr>
                        <a:buNone/>
                      </a:pPr>
                      <a:r>
                        <a:rPr lang="es-MX" sz="1600">
                          <a:latin typeface="Arial" panose="020B0604020202020204" pitchFamily="34" charset="0"/>
                          <a:cs typeface="Arial" panose="020B0604020202020204" pitchFamily="34" charset="0"/>
                        </a:rPr>
                        <a:t>Gestión de incidencias</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Diario (según ocurrencia)</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Jira + Slack</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Dev asignado</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Cliente, QA</a:t>
                      </a:r>
                    </a:p>
                  </a:txBody>
                  <a:tcPr marL="71333" marR="71333" marT="35667" marB="35667" anchor="ctr">
                    <a:lnL>
                      <a:noFill/>
                    </a:lnL>
                    <a:lnR>
                      <a:noFill/>
                    </a:lnR>
                    <a:lnT>
                      <a:noFill/>
                    </a:lnT>
                    <a:lnB>
                      <a:noFill/>
                    </a:lnB>
                    <a:noFill/>
                  </a:tcPr>
                </a:tc>
                <a:tc>
                  <a:txBody>
                    <a:bodyPr/>
                    <a:lstStyle/>
                    <a:p>
                      <a:pPr>
                        <a:buNone/>
                      </a:pPr>
                      <a:r>
                        <a:rPr lang="es-MX" sz="1600">
                          <a:latin typeface="Arial" panose="020B0604020202020204" pitchFamily="34" charset="0"/>
                          <a:cs typeface="Arial" panose="020B0604020202020204" pitchFamily="34" charset="0"/>
                        </a:rPr>
                        <a:t>Ticket con detalle de error</a:t>
                      </a:r>
                    </a:p>
                  </a:txBody>
                  <a:tcPr marL="71333" marR="71333" marT="35667" marB="35667" anchor="ctr">
                    <a:lnL>
                      <a:noFill/>
                    </a:lnL>
                    <a:lnR>
                      <a:noFill/>
                    </a:lnR>
                    <a:lnT>
                      <a:noFill/>
                    </a:lnT>
                    <a:lnB>
                      <a:noFill/>
                    </a:lnB>
                    <a:noFill/>
                  </a:tcPr>
                </a:tc>
                <a:extLst>
                  <a:ext uri="{0D108BD9-81ED-4DB2-BD59-A6C34878D82A}">
                    <a16:rowId xmlns:a16="http://schemas.microsoft.com/office/drawing/2014/main" val="629344706"/>
                  </a:ext>
                </a:extLst>
              </a:tr>
              <a:tr h="713334">
                <a:tc>
                  <a:txBody>
                    <a:bodyPr/>
                    <a:lstStyle/>
                    <a:p>
                      <a:pPr>
                        <a:buNone/>
                      </a:pPr>
                      <a:r>
                        <a:rPr lang="es-MX" sz="1600">
                          <a:latin typeface="Arial" panose="020B0604020202020204" pitchFamily="34" charset="0"/>
                          <a:cs typeface="Arial" panose="020B0604020202020204" pitchFamily="34" charset="0"/>
                        </a:rPr>
                        <a:t>Revisión de entregables</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Cada hito</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Teams / Repositorio (GitHub)</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Líder Técnico</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a:latin typeface="Arial" panose="020B0604020202020204" pitchFamily="34" charset="0"/>
                          <a:cs typeface="Arial" panose="020B0604020202020204" pitchFamily="34" charset="0"/>
                        </a:rPr>
                        <a:t>Cliente</a:t>
                      </a:r>
                    </a:p>
                  </a:txBody>
                  <a:tcPr marL="71333" marR="71333" marT="35667" marB="35667" anchor="ctr">
                    <a:lnL>
                      <a:noFill/>
                    </a:lnL>
                    <a:lnR>
                      <a:noFill/>
                    </a:lnR>
                    <a:lnT>
                      <a:noFill/>
                    </a:lnT>
                    <a:lnB>
                      <a:noFill/>
                    </a:lnB>
                    <a:solidFill>
                      <a:schemeClr val="accent2">
                        <a:lumMod val="20000"/>
                        <a:lumOff val="80000"/>
                      </a:schemeClr>
                    </a:solidFill>
                  </a:tcPr>
                </a:tc>
                <a:tc>
                  <a:txBody>
                    <a:bodyPr/>
                    <a:lstStyle/>
                    <a:p>
                      <a:pPr>
                        <a:buNone/>
                      </a:pPr>
                      <a:r>
                        <a:rPr lang="es-MX" sz="1600" dirty="0">
                          <a:latin typeface="Arial" panose="020B0604020202020204" pitchFamily="34" charset="0"/>
                          <a:cs typeface="Arial" panose="020B0604020202020204" pitchFamily="34" charset="0"/>
                        </a:rPr>
                        <a:t>Acta de aceptación</a:t>
                      </a:r>
                    </a:p>
                  </a:txBody>
                  <a:tcPr marL="71333" marR="71333" marT="35667" marB="35667"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837689873"/>
                  </a:ext>
                </a:extLst>
              </a:tr>
            </a:tbl>
          </a:graphicData>
        </a:graphic>
      </p:graphicFrame>
      <p:sp>
        <p:nvSpPr>
          <p:cNvPr id="4" name="CuadroTexto 3">
            <a:extLst>
              <a:ext uri="{FF2B5EF4-FFF2-40B4-BE49-F238E27FC236}">
                <a16:creationId xmlns:a16="http://schemas.microsoft.com/office/drawing/2014/main" id="{CA856E83-9346-0737-8B83-EC7CBF145E32}"/>
              </a:ext>
            </a:extLst>
          </p:cNvPr>
          <p:cNvSpPr txBox="1"/>
          <p:nvPr/>
        </p:nvSpPr>
        <p:spPr>
          <a:xfrm>
            <a:off x="889613" y="779310"/>
            <a:ext cx="6097836" cy="461665"/>
          </a:xfrm>
          <a:prstGeom prst="rect">
            <a:avLst/>
          </a:prstGeom>
          <a:noFill/>
        </p:spPr>
        <p:txBody>
          <a:bodyPr wrap="square">
            <a:spAutoFit/>
          </a:bodyPr>
          <a:lstStyle/>
          <a:p>
            <a:r>
              <a:rPr lang="es-MX" sz="2400" b="1" dirty="0">
                <a:latin typeface="Arial" panose="020B0604020202020204" pitchFamily="34" charset="0"/>
                <a:cs typeface="Arial" panose="020B0604020202020204" pitchFamily="34" charset="0"/>
              </a:rPr>
              <a:t>Estrategia de Comunicación</a:t>
            </a:r>
          </a:p>
        </p:txBody>
      </p:sp>
    </p:spTree>
    <p:extLst>
      <p:ext uri="{BB962C8B-B14F-4D97-AF65-F5344CB8AC3E}">
        <p14:creationId xmlns:p14="http://schemas.microsoft.com/office/powerpoint/2010/main" val="2615361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72316-43DB-DCA4-6B92-A7E30E66371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B6182C0-1D0F-C654-2668-AEBD060BB855}"/>
              </a:ext>
            </a:extLst>
          </p:cNvPr>
          <p:cNvSpPr txBox="1"/>
          <p:nvPr/>
        </p:nvSpPr>
        <p:spPr>
          <a:xfrm>
            <a:off x="1605709" y="1378929"/>
            <a:ext cx="9334040" cy="2954655"/>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Protocolos de Comunicación</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Documentación:</a:t>
            </a:r>
            <a:r>
              <a:rPr lang="es-MX" dirty="0">
                <a:latin typeface="Arial" panose="020B0604020202020204" pitchFamily="34" charset="0"/>
                <a:cs typeface="Arial" panose="020B0604020202020204" pitchFamily="34" charset="0"/>
              </a:rPr>
              <a:t> todos los acuerdos se registran en minutas.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Lenguaje:</a:t>
            </a:r>
            <a:r>
              <a:rPr lang="es-MX" dirty="0">
                <a:latin typeface="Arial" panose="020B0604020202020204" pitchFamily="34" charset="0"/>
                <a:cs typeface="Arial" panose="020B0604020202020204" pitchFamily="34" charset="0"/>
              </a:rPr>
              <a:t> se establece español/inglés según proyecto.</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Tiempos de respuesta:</a:t>
            </a:r>
            <a:r>
              <a:rPr lang="es-MX" dirty="0">
                <a:latin typeface="Arial" panose="020B0604020202020204" pitchFamily="34" charset="0"/>
                <a:cs typeface="Arial" panose="020B0604020202020204" pitchFamily="34" charset="0"/>
              </a:rPr>
              <a:t> máximo 48 horas para correos, 24 horas en tickets críticos.</a:t>
            </a:r>
          </a:p>
          <a:p>
            <a:pPr>
              <a:buFont typeface="Arial" panose="020B0604020202020204" pitchFamily="34" charset="0"/>
              <a:buChar char="•"/>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Manejo de cambios:</a:t>
            </a:r>
            <a:r>
              <a:rPr lang="es-MX" dirty="0">
                <a:latin typeface="Arial" panose="020B0604020202020204" pitchFamily="34" charset="0"/>
                <a:cs typeface="Arial" panose="020B0604020202020204" pitchFamily="34" charset="0"/>
              </a:rPr>
              <a:t> todo cambio de requerimientos se registra en el </a:t>
            </a:r>
            <a:r>
              <a:rPr lang="es-MX" i="1" dirty="0">
                <a:latin typeface="Arial" panose="020B0604020202020204" pitchFamily="34" charset="0"/>
                <a:cs typeface="Arial" panose="020B0604020202020204" pitchFamily="34" charset="0"/>
              </a:rPr>
              <a:t>Log de Cambios</a:t>
            </a:r>
            <a:r>
              <a:rPr lang="es-MX" dirty="0">
                <a:latin typeface="Arial" panose="020B0604020202020204" pitchFamily="34" charset="0"/>
                <a:cs typeface="Arial" panose="020B0604020202020204" pitchFamily="34" charset="0"/>
              </a:rPr>
              <a:t> y requiere aprobación del cliente.</a:t>
            </a:r>
          </a:p>
        </p:txBody>
      </p:sp>
    </p:spTree>
    <p:extLst>
      <p:ext uri="{BB962C8B-B14F-4D97-AF65-F5344CB8AC3E}">
        <p14:creationId xmlns:p14="http://schemas.microsoft.com/office/powerpoint/2010/main" val="1563388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A62D6-6A43-D202-4231-E075F4F929B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CF213DF-997E-7723-CC5A-9C99F9F7BF6C}"/>
              </a:ext>
            </a:extLst>
          </p:cNvPr>
          <p:cNvSpPr txBox="1"/>
          <p:nvPr/>
        </p:nvSpPr>
        <p:spPr>
          <a:xfrm>
            <a:off x="1473506" y="1500114"/>
            <a:ext cx="9653530" cy="3323987"/>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Escalamiento de Problemas</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b="1" dirty="0">
                <a:latin typeface="Arial" panose="020B0604020202020204" pitchFamily="34" charset="0"/>
                <a:cs typeface="Arial" panose="020B0604020202020204" pitchFamily="34" charset="0"/>
              </a:rPr>
              <a:t> Nivel 1:</a:t>
            </a:r>
            <a:r>
              <a:rPr lang="es-MX" dirty="0">
                <a:latin typeface="Arial" panose="020B0604020202020204" pitchFamily="34" charset="0"/>
                <a:cs typeface="Arial" panose="020B0604020202020204" pitchFamily="34" charset="0"/>
              </a:rPr>
              <a:t> Desarrollador ↔ Cliente (resolución en ≤ 24h).</a:t>
            </a:r>
          </a:p>
          <a:p>
            <a:pPr>
              <a:buFont typeface="Arial" panose="020B0604020202020204" pitchFamily="34" charset="0"/>
              <a:buChar char="•"/>
            </a:pPr>
            <a:r>
              <a:rPr lang="es-MX" b="1" dirty="0">
                <a:latin typeface="Arial" panose="020B0604020202020204" pitchFamily="34" charset="0"/>
                <a:cs typeface="Arial" panose="020B0604020202020204" pitchFamily="34" charset="0"/>
              </a:rPr>
              <a:t> Nivel 2:</a:t>
            </a:r>
            <a:r>
              <a:rPr lang="es-MX" dirty="0">
                <a:latin typeface="Arial" panose="020B0604020202020204" pitchFamily="34" charset="0"/>
                <a:cs typeface="Arial" panose="020B0604020202020204" pitchFamily="34" charset="0"/>
              </a:rPr>
              <a:t> Líder Técnico ↔ Cliente (resolución en ≤ 48h).</a:t>
            </a:r>
          </a:p>
          <a:p>
            <a:pPr>
              <a:buFont typeface="Arial" panose="020B0604020202020204" pitchFamily="34" charset="0"/>
              <a:buChar char="•"/>
            </a:pPr>
            <a:r>
              <a:rPr lang="es-MX" b="1" dirty="0">
                <a:latin typeface="Arial" panose="020B0604020202020204" pitchFamily="34" charset="0"/>
                <a:cs typeface="Arial" panose="020B0604020202020204" pitchFamily="34" charset="0"/>
              </a:rPr>
              <a:t> Nivel 3:</a:t>
            </a:r>
            <a:r>
              <a:rPr lang="es-MX" dirty="0">
                <a:latin typeface="Arial" panose="020B0604020202020204" pitchFamily="34" charset="0"/>
                <a:cs typeface="Arial" panose="020B0604020202020204" pitchFamily="34" charset="0"/>
              </a:rPr>
              <a:t> PM ↔ Dirección Cliente (resolución en ≤ 72h).</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None/>
            </a:pPr>
            <a:r>
              <a:rPr lang="es-MX" sz="2400" b="1" dirty="0">
                <a:latin typeface="Arial" panose="020B0604020202020204" pitchFamily="34" charset="0"/>
                <a:cs typeface="Arial" panose="020B0604020202020204" pitchFamily="34" charset="0"/>
              </a:rPr>
              <a:t>Control y Retroalimentación</a:t>
            </a:r>
          </a:p>
          <a:p>
            <a:pPr>
              <a:buNone/>
            </a:pPr>
            <a:endParaRPr lang="es-MX" b="1"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Encuestas de satisfacción del cliente cada 2 meses.</a:t>
            </a:r>
          </a:p>
          <a:p>
            <a:pPr>
              <a:buFont typeface="Arial" panose="020B0604020202020204" pitchFamily="34" charset="0"/>
              <a:buChar char="•"/>
            </a:pPr>
            <a:r>
              <a:rPr lang="es-MX" dirty="0">
                <a:latin typeface="Arial" panose="020B0604020202020204" pitchFamily="34" charset="0"/>
                <a:cs typeface="Arial" panose="020B0604020202020204" pitchFamily="34" charset="0"/>
              </a:rPr>
              <a:t> Registro de malentendidos de comunicación en cada retrospectiva.</a:t>
            </a:r>
          </a:p>
          <a:p>
            <a:pPr>
              <a:buFont typeface="Arial" panose="020B0604020202020204" pitchFamily="34" charset="0"/>
              <a:buChar char="•"/>
            </a:pPr>
            <a:r>
              <a:rPr lang="es-MX" dirty="0">
                <a:latin typeface="Arial" panose="020B0604020202020204" pitchFamily="34" charset="0"/>
                <a:cs typeface="Arial" panose="020B0604020202020204" pitchFamily="34" charset="0"/>
              </a:rPr>
              <a:t> Ajustes al plan según necesidades del cliente o del equipo.</a:t>
            </a:r>
          </a:p>
        </p:txBody>
      </p:sp>
    </p:spTree>
    <p:extLst>
      <p:ext uri="{BB962C8B-B14F-4D97-AF65-F5344CB8AC3E}">
        <p14:creationId xmlns:p14="http://schemas.microsoft.com/office/powerpoint/2010/main" val="1111965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346EA-B4F3-A7E1-8284-373FA2E715A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F296FB3-99BF-0B58-A947-E9AE05B4C5B3}"/>
              </a:ext>
            </a:extLst>
          </p:cNvPr>
          <p:cNvSpPr txBox="1"/>
          <p:nvPr/>
        </p:nvSpPr>
        <p:spPr>
          <a:xfrm>
            <a:off x="1704860" y="2228670"/>
            <a:ext cx="9345058" cy="923330"/>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Esta plantilla está pensada para cumplir con </a:t>
            </a:r>
            <a:r>
              <a:rPr lang="es-MX" b="1" dirty="0">
                <a:latin typeface="Arial" panose="020B0604020202020204" pitchFamily="34" charset="0"/>
                <a:cs typeface="Arial" panose="020B0604020202020204" pitchFamily="34" charset="0"/>
              </a:rPr>
              <a:t>buenas prácticas de gestión de proyectos de software (</a:t>
            </a:r>
            <a:r>
              <a:rPr lang="es-MX" b="1" dirty="0">
                <a:solidFill>
                  <a:srgbClr val="0070C0"/>
                </a:solidFill>
                <a:latin typeface="Arial" panose="020B0604020202020204" pitchFamily="34" charset="0"/>
                <a:cs typeface="Arial" panose="020B0604020202020204" pitchFamily="34" charset="0"/>
              </a:rPr>
              <a:t>PMBOK, Agile, CMMI, ISO/IEC 12207</a:t>
            </a:r>
            <a:r>
              <a:rPr lang="es-MX" b="1" dirty="0">
                <a:latin typeface="Arial" panose="020B0604020202020204" pitchFamily="34" charset="0"/>
                <a:cs typeface="Arial" panose="020B0604020202020204" pitchFamily="34" charset="0"/>
              </a:rPr>
              <a:t>)</a:t>
            </a:r>
            <a:r>
              <a:rPr lang="es-MX" dirty="0">
                <a:latin typeface="Arial" panose="020B0604020202020204" pitchFamily="34" charset="0"/>
                <a:cs typeface="Arial" panose="020B0604020202020204" pitchFamily="34" charset="0"/>
              </a:rPr>
              <a:t> y puede adaptarse a proyectos universitarios, tesis o entornos reales.</a:t>
            </a:r>
          </a:p>
        </p:txBody>
      </p:sp>
    </p:spTree>
    <p:extLst>
      <p:ext uri="{BB962C8B-B14F-4D97-AF65-F5344CB8AC3E}">
        <p14:creationId xmlns:p14="http://schemas.microsoft.com/office/powerpoint/2010/main" val="1443556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538F-808F-0156-40F9-A2E6618D13A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E69EE32-3DDB-91F8-5AEC-FEFD4FB14E00}"/>
              </a:ext>
            </a:extLst>
          </p:cNvPr>
          <p:cNvSpPr txBox="1"/>
          <p:nvPr/>
        </p:nvSpPr>
        <p:spPr>
          <a:xfrm>
            <a:off x="2398922" y="1814895"/>
            <a:ext cx="8320490" cy="2585323"/>
          </a:xfrm>
          <a:prstGeom prst="rect">
            <a:avLst/>
          </a:prstGeom>
          <a:noFill/>
        </p:spPr>
        <p:txBody>
          <a:bodyPr wrap="square">
            <a:spAutoFit/>
          </a:bodyPr>
          <a:lstStyle/>
          <a:p>
            <a:pPr algn="ctr">
              <a:buNone/>
            </a:pPr>
            <a:r>
              <a:rPr lang="es-MX" sz="5400" b="1" dirty="0">
                <a:solidFill>
                  <a:srgbClr val="292D34"/>
                </a:solidFill>
                <a:latin typeface="Arial" panose="020B0604020202020204" pitchFamily="34" charset="0"/>
                <a:cs typeface="Arial" panose="020B0604020202020204" pitchFamily="34" charset="0"/>
              </a:rPr>
              <a:t>C</a:t>
            </a:r>
            <a:r>
              <a:rPr lang="es-MX" sz="5400" b="1" i="0" dirty="0">
                <a:solidFill>
                  <a:srgbClr val="292D34"/>
                </a:solidFill>
                <a:effectLst/>
                <a:latin typeface="Arial" panose="020B0604020202020204" pitchFamily="34" charset="0"/>
                <a:cs typeface="Arial" panose="020B0604020202020204" pitchFamily="34" charset="0"/>
              </a:rPr>
              <a:t>onsejos de comunicación con el cliente</a:t>
            </a:r>
          </a:p>
        </p:txBody>
      </p:sp>
    </p:spTree>
    <p:extLst>
      <p:ext uri="{BB962C8B-B14F-4D97-AF65-F5344CB8AC3E}">
        <p14:creationId xmlns:p14="http://schemas.microsoft.com/office/powerpoint/2010/main" val="2251192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EEE10-4C1F-ACF5-2A24-06C22F03304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FBB3798-8462-672E-FF99-384774415E7D}"/>
              </a:ext>
            </a:extLst>
          </p:cNvPr>
          <p:cNvSpPr txBox="1"/>
          <p:nvPr/>
        </p:nvSpPr>
        <p:spPr>
          <a:xfrm>
            <a:off x="980501" y="1021669"/>
            <a:ext cx="10146536" cy="4801314"/>
          </a:xfrm>
          <a:prstGeom prst="rect">
            <a:avLst/>
          </a:prstGeom>
          <a:noFill/>
        </p:spPr>
        <p:txBody>
          <a:bodyPr wrap="square">
            <a:spAutoFit/>
          </a:bodyPr>
          <a:lstStyle/>
          <a:p>
            <a:pPr algn="l">
              <a:buNone/>
            </a:pPr>
            <a:r>
              <a:rPr lang="es-MX" b="1" i="0" dirty="0">
                <a:solidFill>
                  <a:srgbClr val="292D34"/>
                </a:solidFill>
                <a:effectLst/>
                <a:latin typeface="-apple-system"/>
              </a:rPr>
              <a:t>Reforzar el compromiso con el cliente con un plan de comunicación a medida</a:t>
            </a:r>
          </a:p>
          <a:p>
            <a:pPr algn="l">
              <a:buNone/>
            </a:pPr>
            <a:endParaRPr lang="es-MX" b="1" i="0" dirty="0">
              <a:solidFill>
                <a:srgbClr val="292D34"/>
              </a:solidFill>
              <a:effectLst/>
              <a:latin typeface="-apple-system"/>
            </a:endParaRPr>
          </a:p>
          <a:p>
            <a:pPr marL="285750" indent="-285750" algn="l">
              <a:buFont typeface="Arial" panose="020B0604020202020204" pitchFamily="34" charset="0"/>
              <a:buChar char="•"/>
            </a:pPr>
            <a:r>
              <a:rPr lang="es-MX" b="0" i="0" dirty="0">
                <a:solidFill>
                  <a:srgbClr val="292D34"/>
                </a:solidFill>
                <a:effectLst/>
                <a:latin typeface="-apple-system"/>
              </a:rPr>
              <a:t>Con herramientas de comunicación con el cliente, hay menos posibilidades de errores de comunicación y una mejor alineación de principio a fin. Un cliente </a:t>
            </a:r>
            <a:r>
              <a:rPr lang="es-MX" b="0" i="0" u="none" strike="noStrike" dirty="0">
                <a:solidFill>
                  <a:srgbClr val="7B68EE"/>
                </a:solidFill>
                <a:effectLst/>
                <a:latin typeface="-apple-system"/>
                <a:hlinkClick r:id="rId2"/>
              </a:rPr>
              <a:t>plan de comunicación</a:t>
            </a:r>
            <a:r>
              <a:rPr lang="es-MX" b="0" i="0" dirty="0">
                <a:solidFill>
                  <a:srgbClr val="292D34"/>
                </a:solidFill>
                <a:effectLst/>
                <a:latin typeface="-apple-system"/>
              </a:rPr>
              <a:t> le permite </a:t>
            </a:r>
            <a:r>
              <a:rPr lang="es-MX" b="0" i="0" u="none" strike="noStrike" dirty="0">
                <a:solidFill>
                  <a:srgbClr val="7B68EE"/>
                </a:solidFill>
                <a:effectLst/>
                <a:latin typeface="-apple-system"/>
                <a:hlinkClick r:id="rId3"/>
              </a:rPr>
              <a:t>identificar a las partes interesadas clave</a:t>
            </a:r>
            <a:r>
              <a:rPr lang="es-MX" b="0" i="0" dirty="0">
                <a:solidFill>
                  <a:srgbClr val="292D34"/>
                </a:solidFill>
                <a:effectLst/>
                <a:latin typeface="-apple-system"/>
              </a:rPr>
              <a:t> decide qué comunicarás a cada uno de ellos y con qué frecuencia compartirás las actualizaciones con ellos.</a:t>
            </a:r>
          </a:p>
          <a:p>
            <a:pPr marL="285750" indent="-285750">
              <a:buFont typeface="Arial" panose="020B0604020202020204" pitchFamily="34" charset="0"/>
              <a:buChar char="•"/>
            </a:pPr>
            <a:r>
              <a:rPr lang="es-MX" dirty="0"/>
              <a:t>Delegar roles personalizados a otros roles de administrador o clientes externos en ClickUp para mantener privado un trabajo específico</a:t>
            </a:r>
          </a:p>
          <a:p>
            <a:pPr marL="285750" indent="-285750">
              <a:buFont typeface="Arial" panose="020B0604020202020204" pitchFamily="34" charset="0"/>
              <a:buChar char="•"/>
            </a:pPr>
            <a:r>
              <a:rPr lang="es-MX" dirty="0"/>
              <a:t>Comenzar por establecer su </a:t>
            </a:r>
            <a:r>
              <a:rPr lang="es-MX" dirty="0">
                <a:hlinkClick r:id="rId4"/>
              </a:rPr>
              <a:t>metas de comunicación</a:t>
            </a:r>
            <a:r>
              <a:rPr lang="es-MX" dirty="0"/>
              <a:t> e identificar a los clientes. A continuación, decide qué canales y métodos utilizarás: actualizaciones en redes sociales, mensajes de texto, llamadas telefónicas o reuniones en persona, en función de las preferencias del cliente.</a:t>
            </a:r>
          </a:p>
          <a:p>
            <a:pPr marL="285750" indent="-285750">
              <a:buFont typeface="Arial" panose="020B0604020202020204" pitchFamily="34" charset="0"/>
              <a:buChar char="•"/>
            </a:pPr>
            <a:r>
              <a:rPr lang="es-MX" dirty="0"/>
              <a:t>Por último, supervisar el </a:t>
            </a:r>
            <a:r>
              <a:rPr lang="es-MX" dirty="0">
                <a:hlinkClick r:id="rId2"/>
              </a:rPr>
              <a:t>plan de comunicación</a:t>
            </a:r>
            <a:r>
              <a:rPr lang="es-MX" dirty="0"/>
              <a:t> e introduzca los cambios necesarios. Escuche las opiniones de los clientes y modifíquelas si desean que las comunicaciones se realicen de otra manera.</a:t>
            </a:r>
          </a:p>
          <a:p>
            <a:pPr marL="285750" indent="-285750">
              <a:buFont typeface="Arial" panose="020B0604020202020204" pitchFamily="34" charset="0"/>
              <a:buChar char="•"/>
            </a:pPr>
            <a:r>
              <a:rPr lang="es-MX" dirty="0"/>
              <a:t>Un buen software de comunicación con el cliente te permite segmentar a los distintos clientes en función de cómo prefieran recibir las actualizaciones y de la frecuencia con la que debas mantenerlos informados.</a:t>
            </a:r>
          </a:p>
        </p:txBody>
      </p:sp>
    </p:spTree>
    <p:extLst>
      <p:ext uri="{BB962C8B-B14F-4D97-AF65-F5344CB8AC3E}">
        <p14:creationId xmlns:p14="http://schemas.microsoft.com/office/powerpoint/2010/main" val="1124451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4E4E8-5E65-5563-3D02-E0D7B2CA03A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BCAF372-C536-F87B-6A17-9267833031C0}"/>
              </a:ext>
            </a:extLst>
          </p:cNvPr>
          <p:cNvSpPr txBox="1"/>
          <p:nvPr/>
        </p:nvSpPr>
        <p:spPr>
          <a:xfrm>
            <a:off x="925416" y="1028343"/>
            <a:ext cx="10543143" cy="4985980"/>
          </a:xfrm>
          <a:prstGeom prst="rect">
            <a:avLst/>
          </a:prstGeom>
          <a:noFill/>
        </p:spPr>
        <p:txBody>
          <a:bodyPr wrap="square">
            <a:spAutoFit/>
          </a:bodyPr>
          <a:lstStyle/>
          <a:p>
            <a:pPr algn="l">
              <a:buNone/>
            </a:pPr>
            <a:r>
              <a:rPr lang="es-MX" sz="2400" b="1" i="0" dirty="0">
                <a:solidFill>
                  <a:srgbClr val="292D34"/>
                </a:solidFill>
                <a:effectLst/>
                <a:latin typeface="Arial" panose="020B0604020202020204" pitchFamily="34" charset="0"/>
                <a:cs typeface="Arial" panose="020B0604020202020204" pitchFamily="34" charset="0"/>
              </a:rPr>
              <a:t>Definir metas cuantificables que se ajusten a las necesidades de sus clientes y a los objetivos de su empresa</a:t>
            </a:r>
          </a:p>
          <a:p>
            <a:pPr algn="l">
              <a:buNone/>
            </a:pPr>
            <a:endParaRPr lang="es-MX" b="1" i="0" dirty="0">
              <a:solidFill>
                <a:srgbClr val="292D34"/>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Las comunicaciones deben tener </a:t>
            </a:r>
            <a:r>
              <a:rPr lang="es-MX" b="0" i="0" u="none" strike="noStrike" dirty="0">
                <a:solidFill>
                  <a:srgbClr val="7B68EE"/>
                </a:solidFill>
                <a:effectLst/>
                <a:latin typeface="Arial" panose="020B0604020202020204" pitchFamily="34" charset="0"/>
                <a:cs typeface="Arial" panose="020B0604020202020204" pitchFamily="34" charset="0"/>
                <a:hlinkClick r:id="rId2"/>
              </a:rPr>
              <a:t>objetivos claros</a:t>
            </a:r>
            <a:r>
              <a:rPr lang="es-MX" b="0" i="0" dirty="0">
                <a:solidFill>
                  <a:srgbClr val="292D34"/>
                </a:solidFill>
                <a:effectLst/>
                <a:latin typeface="Arial" panose="020B0604020202020204" pitchFamily="34" charset="0"/>
                <a:cs typeface="Arial" panose="020B0604020202020204" pitchFamily="34" charset="0"/>
              </a:rPr>
              <a:t>. Tanto si se trata de mantener informado al cliente sobre los cambios que se produzcan como de obtener información para desarrollar mejores productos, hay que establecer metas claras desde el principio.</a:t>
            </a:r>
          </a:p>
          <a:p>
            <a:pPr marL="285750" indent="-285750" algn="l">
              <a:buFont typeface="Arial" panose="020B0604020202020204" pitchFamily="34" charset="0"/>
              <a:buChar char="•"/>
            </a:pPr>
            <a:endParaRPr lang="es-MX" b="0" i="0" dirty="0">
              <a:solidFill>
                <a:srgbClr val="292D34"/>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Mantenerse en el buen camino para alcanzar sus objetivos y a sus clientes con cronogramas claros, metas cuantificables y un seguimiento automático del progreso.</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Utilizar Metas de ClickUp para establecer objetivos medibles, realizar un seguimiento de los hitos y ceñirse a cronogramas claros. Cree Campos personalizados para las diferentes estrategias de comunicación con el cliente y asigne estados para el seguimiento del progreso de cada una de ellas.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Establecer prioridades para destacar las comunicaciones más urgentes y configure notificaciones para que nunca se pierda una actualización importante.</a:t>
            </a:r>
          </a:p>
        </p:txBody>
      </p:sp>
    </p:spTree>
    <p:extLst>
      <p:ext uri="{BB962C8B-B14F-4D97-AF65-F5344CB8AC3E}">
        <p14:creationId xmlns:p14="http://schemas.microsoft.com/office/powerpoint/2010/main" val="1471252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060D-2294-9B5C-D2F4-40C8B3A4465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26BDFD6-AB82-578E-7CE5-0BBBB877877A}"/>
              </a:ext>
            </a:extLst>
          </p:cNvPr>
          <p:cNvSpPr txBox="1"/>
          <p:nvPr/>
        </p:nvSpPr>
        <p:spPr>
          <a:xfrm>
            <a:off x="1002534" y="974446"/>
            <a:ext cx="10477041" cy="4431983"/>
          </a:xfrm>
          <a:prstGeom prst="rect">
            <a:avLst/>
          </a:prstGeom>
          <a:noFill/>
        </p:spPr>
        <p:txBody>
          <a:bodyPr wrap="square">
            <a:spAutoFit/>
          </a:bodyPr>
          <a:lstStyle/>
          <a:p>
            <a:pPr algn="l">
              <a:buNone/>
            </a:pPr>
            <a:r>
              <a:rPr lang="es-MX" sz="2400" b="1" i="0" dirty="0">
                <a:solidFill>
                  <a:srgbClr val="292D34"/>
                </a:solidFill>
                <a:effectLst/>
                <a:latin typeface="Arial" panose="020B0604020202020204" pitchFamily="34" charset="0"/>
                <a:cs typeface="Arial" panose="020B0604020202020204" pitchFamily="34" charset="0"/>
              </a:rPr>
              <a:t>Comuníquese con frecuencia y transparencia para mantener a su cliente informado y comprometido</a:t>
            </a:r>
          </a:p>
          <a:p>
            <a:pPr algn="l">
              <a:buNone/>
            </a:pPr>
            <a:endParaRPr lang="es-MX" b="1" i="0" dirty="0">
              <a:solidFill>
                <a:srgbClr val="292D34"/>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Una de las claves de la satisfacción del cliente es la transparencia y unas expectativas claras. Desde el inicio hasta el final del proyecto, sea sincero en cuestiones como precios y ofertas.</a:t>
            </a: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Esto le permite generar confianza y ajustar las expectativas del cliente desde el principio. Explique claramente sus flujos de trabajo y cómo sus productos o servicios servirán al cliente.</a:t>
            </a: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Responder a las preguntas de los clientes con claridad y sinceridad. No es el momento de hacer predicciones o promesas exageradas.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Utilizar un ClickUp Docs para mantener informados a clientes y miembros del equipo mediante notificaciones instantáneas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Utilizar un software de gestión de proyectos como ClickUp para comunicarse con los clientes y ponerles al día sobre el proceso.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Los comentarios y menciones de ClickUp envían notificaciones instantáneas cuando se comparten nuevos debates o cuando se etiquetan en una tarea.</a:t>
            </a:r>
          </a:p>
        </p:txBody>
      </p:sp>
    </p:spTree>
    <p:extLst>
      <p:ext uri="{BB962C8B-B14F-4D97-AF65-F5344CB8AC3E}">
        <p14:creationId xmlns:p14="http://schemas.microsoft.com/office/powerpoint/2010/main" val="1087965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155D4-9D44-7B6B-8752-0B59E667690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49C0386-0CCD-23CE-6BE4-01467733AABF}"/>
              </a:ext>
            </a:extLst>
          </p:cNvPr>
          <p:cNvSpPr txBox="1"/>
          <p:nvPr/>
        </p:nvSpPr>
        <p:spPr>
          <a:xfrm>
            <a:off x="936434" y="813913"/>
            <a:ext cx="10410939" cy="4893647"/>
          </a:xfrm>
          <a:prstGeom prst="rect">
            <a:avLst/>
          </a:prstGeom>
          <a:noFill/>
        </p:spPr>
        <p:txBody>
          <a:bodyPr wrap="square">
            <a:spAutoFit/>
          </a:bodyPr>
          <a:lstStyle/>
          <a:p>
            <a:pPr algn="l">
              <a:buNone/>
            </a:pPr>
            <a:r>
              <a:rPr lang="es-MX" sz="2400" b="1" i="0" dirty="0">
                <a:solidFill>
                  <a:srgbClr val="292D34"/>
                </a:solidFill>
                <a:effectLst/>
                <a:latin typeface="Arial" panose="020B0604020202020204" pitchFamily="34" charset="0"/>
                <a:cs typeface="Arial" panose="020B0604020202020204" pitchFamily="34" charset="0"/>
              </a:rPr>
              <a:t>Ser considerado con el tiempo del cliente siendo eficiente y receptivo</a:t>
            </a:r>
          </a:p>
          <a:p>
            <a:pPr algn="l">
              <a:buNone/>
            </a:pPr>
            <a:endParaRPr lang="es-MX" b="1" i="0" dirty="0">
              <a:solidFill>
                <a:srgbClr val="292D34"/>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Todo es cuestión de tiempo cuando se trata de comunicarse con el cliente. Al principio, puede que los clientes quieran recibir actualizaciones frecuentes para asegurarse de que todo va según lo planeado. Otros clientes a largo plazo o profesionales muy ocupados pueden querer actualizaciones menos frecuentes.</a:t>
            </a:r>
          </a:p>
          <a:p>
            <a:pPr marL="285750" indent="-285750" algn="l">
              <a:buFont typeface="Arial" panose="020B0604020202020204" pitchFamily="34" charset="0"/>
              <a:buChar char="•"/>
            </a:pPr>
            <a:r>
              <a:rPr lang="es-MX" b="0" i="0" dirty="0">
                <a:solidFill>
                  <a:srgbClr val="292D34"/>
                </a:solidFill>
                <a:effectLst/>
                <a:latin typeface="Arial" panose="020B0604020202020204" pitchFamily="34" charset="0"/>
                <a:cs typeface="Arial" panose="020B0604020202020204" pitchFamily="34" charset="0"/>
              </a:rPr>
              <a:t>Hablar con el cliente para determinar la frecuencia con la que le gustaría comunicarse y decida cuáles son los mejores canales de comunicación. La comunicación verbal, como las llamadas telefónicas, puede resultar más intrusiva para algunos clientes que las comunicaciones automatizadas por correo electrónico.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Ajustar tareas periódicas para las comunicaciones con los clientes para mantener su alcance organizado y eficiente</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Otra forma práctica de agilizar las comunicaciones con los clientes es utilizar Tareas de ClickUp.</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Ajustar tareas periódicas para que le avisen cuando llegue el momento de enviar comunicaciones a los clientes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ClickUp también permite desencadenar notificaciones una vez completada una tarea. De este modo, un cliente recibirá un correo electrónico cuando se alcance un hito importante.</a:t>
            </a:r>
          </a:p>
        </p:txBody>
      </p:sp>
    </p:spTree>
    <p:extLst>
      <p:ext uri="{BB962C8B-B14F-4D97-AF65-F5344CB8AC3E}">
        <p14:creationId xmlns:p14="http://schemas.microsoft.com/office/powerpoint/2010/main" val="2749507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DACA-D593-8EA0-94B8-29D4843FC30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D7CAB48-8530-D8E2-4573-F6ED92C6344A}"/>
              </a:ext>
            </a:extLst>
          </p:cNvPr>
          <p:cNvSpPr txBox="1"/>
          <p:nvPr/>
        </p:nvSpPr>
        <p:spPr>
          <a:xfrm>
            <a:off x="1068637" y="1100352"/>
            <a:ext cx="10410939" cy="4247317"/>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Practicar la escucha activa para guiar conversaciones significativas</a:t>
            </a:r>
          </a:p>
          <a:p>
            <a:endParaRPr lang="es-MX"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Una de las mejores habilidades de comunicación es la escucha activa, es decir, no limitarse a escuchar lo que dice el cliente. En lugar de eso, </a:t>
            </a:r>
            <a:r>
              <a:rPr lang="es-MX" dirty="0">
                <a:solidFill>
                  <a:srgbClr val="0070C0"/>
                </a:solidFill>
                <a:latin typeface="Arial" panose="020B0604020202020204" pitchFamily="34" charset="0"/>
                <a:cs typeface="Arial" panose="020B0604020202020204" pitchFamily="34" charset="0"/>
              </a:rPr>
              <a:t>prestar atención al lenguaje corporal y a las señales sociales, y céntrate en la meta de encontrar soluciones y mejorar la relación con el cliente </a:t>
            </a:r>
            <a:r>
              <a:rPr lang="es-MX" dirty="0">
                <a:latin typeface="Arial" panose="020B0604020202020204" pitchFamily="34" charset="0"/>
                <a:cs typeface="Arial" panose="020B0604020202020204" pitchFamily="34" charset="0"/>
                <a:hlinkClick r:id="rId2"/>
              </a:rPr>
              <a:t>recorrido del cliente</a:t>
            </a:r>
            <a:r>
              <a:rPr lang="es-MX"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Eso significa </a:t>
            </a:r>
            <a:r>
              <a:rPr lang="es-MX" dirty="0">
                <a:solidFill>
                  <a:schemeClr val="accent5">
                    <a:lumMod val="60000"/>
                    <a:lumOff val="40000"/>
                  </a:schemeClr>
                </a:solidFill>
                <a:latin typeface="Arial" panose="020B0604020202020204" pitchFamily="34" charset="0"/>
                <a:cs typeface="Arial" panose="020B0604020202020204" pitchFamily="34" charset="0"/>
              </a:rPr>
              <a:t>escuchar la perspectiva del cliente y sintonizar con sus necesidades. Pendiente de ello, hay que hacer preguntas abiertas para que el cliente pueda dar todos los detalles posibles</a:t>
            </a:r>
            <a:r>
              <a:rPr lang="es-MX"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Concéntrarse </a:t>
            </a:r>
            <a:r>
              <a:rPr lang="es-MX" dirty="0">
                <a:solidFill>
                  <a:srgbClr val="00B0F0"/>
                </a:solidFill>
                <a:latin typeface="Arial" panose="020B0604020202020204" pitchFamily="34" charset="0"/>
                <a:cs typeface="Arial" panose="020B0604020202020204" pitchFamily="34" charset="0"/>
              </a:rPr>
              <a:t>en llegar a la raíz del problema y en cómo se siente el cliente</a:t>
            </a:r>
            <a:r>
              <a:rPr lang="es-MX" dirty="0">
                <a:latin typeface="Arial" panose="020B0604020202020204" pitchFamily="34" charset="0"/>
                <a:cs typeface="Arial" panose="020B0604020202020204" pitchFamily="34" charset="0"/>
              </a:rPr>
              <a:t>. Durante la conversación, mantente presente -apaga todas las posibles distracciones-, presta atención a las señales no verbales y repite lo que el cliente ha compartido para asegurarte de que entiendes lo que dice</a:t>
            </a:r>
          </a:p>
          <a:p>
            <a:pPr algn="l">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8825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15245-476A-9982-7B8B-52C7B2A56944}"/>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F13AA125-2E76-82D0-2C55-FF0050B26159}"/>
              </a:ext>
            </a:extLst>
          </p:cNvPr>
          <p:cNvSpPr txBox="1"/>
          <p:nvPr/>
        </p:nvSpPr>
        <p:spPr>
          <a:xfrm>
            <a:off x="936434" y="813913"/>
            <a:ext cx="10410939" cy="5355312"/>
          </a:xfrm>
          <a:prstGeom prst="rect">
            <a:avLst/>
          </a:prstGeom>
          <a:noFill/>
        </p:spPr>
        <p:txBody>
          <a:bodyPr wrap="square">
            <a:spAutoFit/>
          </a:bodyPr>
          <a:lstStyle/>
          <a:p>
            <a:r>
              <a:rPr lang="es-MX" sz="2000" b="1" dirty="0">
                <a:latin typeface="Arial" panose="020B0604020202020204" pitchFamily="34" charset="0"/>
                <a:cs typeface="Arial" panose="020B0604020202020204" pitchFamily="34" charset="0"/>
              </a:rPr>
              <a:t>Impartir formación al equipo para ofrecer una experiencia de cliente coherente</a:t>
            </a:r>
          </a:p>
          <a:p>
            <a:endParaRPr lang="es-MX"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La comunicación con los clientes solo es eficaz si se practica en todos los ámbitos. Desde el desarrollo de software y el soporte al cliente hasta la gestión de cuentas, ponga en práctica una clara </a:t>
            </a:r>
            <a:r>
              <a:rPr lang="es-MX" dirty="0">
                <a:latin typeface="Arial" panose="020B0604020202020204" pitchFamily="34" charset="0"/>
                <a:cs typeface="Arial" panose="020B0604020202020204" pitchFamily="34" charset="0"/>
                <a:hlinkClick r:id="rId2"/>
              </a:rPr>
              <a:t>estrategias de comunicación</a:t>
            </a:r>
            <a:r>
              <a:rPr lang="es-MX" dirty="0">
                <a:latin typeface="Arial" panose="020B0604020202020204" pitchFamily="34" charset="0"/>
                <a:cs typeface="Arial" panose="020B0604020202020204" pitchFamily="34" charset="0"/>
              </a:rPr>
              <a:t> en sus procedimientos de formación e incorporación. </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Imparta formación a todos los miembros del equipo y cree planes de comunicación claros para cada proveedor de servicios de su empresa. Asegúrate de comprobar los procesos y recaba la opinión de tus empleados y clientes para mejorar los procedimientos.</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He aquí algunas ideas para la formación en comunicación con los clientes:</a:t>
            </a:r>
          </a:p>
          <a:p>
            <a:pPr marL="285750" indent="-285750">
              <a:buFont typeface="Courier New" panose="02070309020205020404" pitchFamily="49" charset="0"/>
              <a:buChar char="o"/>
            </a:pPr>
            <a:r>
              <a:rPr lang="es-MX" b="1" dirty="0">
                <a:latin typeface="Arial" panose="020B0604020202020204" pitchFamily="34" charset="0"/>
                <a:cs typeface="Arial" panose="020B0604020202020204" pitchFamily="34" charset="0"/>
              </a:rPr>
              <a:t>Practique el rol</a:t>
            </a:r>
            <a:r>
              <a:rPr lang="es-MX" dirty="0">
                <a:latin typeface="Arial" panose="020B0604020202020204" pitchFamily="34" charset="0"/>
                <a:cs typeface="Arial" panose="020B0604020202020204" pitchFamily="34" charset="0"/>
              </a:rPr>
              <a:t>: Pida a los miembros del equipo que se turnen en el papel del cliente y trabajen en una situación de la vida real. Trate problemas comunes, como clientes que hacen montones de preguntas o una situación en la que el cliente está disgustado con los resultados</a:t>
            </a:r>
          </a:p>
          <a:p>
            <a:pPr marL="285750" indent="-285750">
              <a:buFont typeface="Courier New" panose="02070309020205020404" pitchFamily="49" charset="0"/>
              <a:buChar char="o"/>
            </a:pPr>
            <a:r>
              <a:rPr lang="es-MX" b="1" dirty="0">
                <a:latin typeface="Arial" panose="020B0604020202020204" pitchFamily="34" charset="0"/>
                <a:cs typeface="Arial" panose="020B0604020202020204" pitchFamily="34" charset="0"/>
              </a:rPr>
              <a:t>Utiliza el método LAST</a:t>
            </a:r>
            <a:r>
              <a:rPr lang="es-MX" dirty="0">
                <a:latin typeface="Arial" panose="020B0604020202020204" pitchFamily="34" charset="0"/>
                <a:cs typeface="Arial" panose="020B0604020202020204" pitchFamily="34" charset="0"/>
              </a:rPr>
              <a:t>: Este acrónimo significa Escuchar, Reconocer, Resolver y Agradecer, un método que enseña a los empleados a seguir un proceso paso a paso cuando tratan con un cliente insatisfecho</a:t>
            </a:r>
          </a:p>
          <a:p>
            <a:pPr marL="285750" indent="-285750">
              <a:buFont typeface="Courier New" panose="02070309020205020404" pitchFamily="49" charset="0"/>
              <a:buChar char="o"/>
            </a:pPr>
            <a:r>
              <a:rPr lang="es-MX" b="1" dirty="0">
                <a:latin typeface="Arial" panose="020B0604020202020204" pitchFamily="34" charset="0"/>
                <a:cs typeface="Arial" panose="020B0604020202020204" pitchFamily="34" charset="0"/>
              </a:rPr>
              <a:t>Crear programas de tutoría</a:t>
            </a:r>
            <a:r>
              <a:rPr lang="es-MX" dirty="0">
                <a:latin typeface="Arial" panose="020B0604020202020204" pitchFamily="34" charset="0"/>
                <a:cs typeface="Arial" panose="020B0604020202020204" pitchFamily="34" charset="0"/>
              </a:rPr>
              <a:t>: Para los recién contratados, manejar una situación delicada puede ser intimidante. Empareje al empleado con un mentor o compañero que le ayude en el proceso</a:t>
            </a:r>
          </a:p>
        </p:txBody>
      </p:sp>
    </p:spTree>
    <p:extLst>
      <p:ext uri="{BB962C8B-B14F-4D97-AF65-F5344CB8AC3E}">
        <p14:creationId xmlns:p14="http://schemas.microsoft.com/office/powerpoint/2010/main" val="460970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44563-4EF9-8592-B097-29ED983B65A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D511F8D0-6E65-2F66-C4B1-B382149375C8}"/>
              </a:ext>
            </a:extLst>
          </p:cNvPr>
          <p:cNvSpPr txBox="1"/>
          <p:nvPr/>
        </p:nvSpPr>
        <p:spPr>
          <a:xfrm>
            <a:off x="1057619" y="740475"/>
            <a:ext cx="10344839" cy="4453720"/>
          </a:xfrm>
          <a:prstGeom prst="rect">
            <a:avLst/>
          </a:prstGeom>
          <a:noFill/>
        </p:spPr>
        <p:txBody>
          <a:bodyPr wrap="square">
            <a:spAutoFit/>
          </a:bodyPr>
          <a:lstStyle/>
          <a:p>
            <a:pPr algn="l">
              <a:lnSpc>
                <a:spcPts val="2400"/>
              </a:lnSpc>
              <a:buNone/>
            </a:pPr>
            <a:r>
              <a:rPr lang="es-MX" sz="2000" b="1" i="0" dirty="0">
                <a:solidFill>
                  <a:srgbClr val="181F38"/>
                </a:solidFill>
                <a:effectLst/>
                <a:latin typeface="Arial" panose="020B0604020202020204" pitchFamily="34" charset="0"/>
                <a:cs typeface="Arial" panose="020B0604020202020204" pitchFamily="34" charset="0"/>
              </a:rPr>
              <a:t>Puntos clave:</a:t>
            </a:r>
          </a:p>
          <a:p>
            <a:pPr algn="l">
              <a:lnSpc>
                <a:spcPts val="2400"/>
              </a:lnSpc>
              <a:buNone/>
            </a:pPr>
            <a:endParaRPr lang="es-MX" b="1" i="0" dirty="0">
              <a:solidFill>
                <a:srgbClr val="181F38"/>
              </a:solidFill>
              <a:effectLst/>
              <a:latin typeface="Arial" panose="020B0604020202020204" pitchFamily="34" charset="0"/>
              <a:cs typeface="Arial" panose="020B0604020202020204" pitchFamily="34" charset="0"/>
            </a:endParaRPr>
          </a:p>
          <a:p>
            <a:pPr algn="l">
              <a:lnSpc>
                <a:spcPts val="2400"/>
              </a:lnSpc>
              <a:spcAft>
                <a:spcPts val="1800"/>
              </a:spcAft>
              <a:buFont typeface="Arial" panose="020B0604020202020204" pitchFamily="34" charset="0"/>
              <a:buChar char="•"/>
            </a:pPr>
            <a:r>
              <a:rPr lang="es-MX" b="1" i="0" dirty="0">
                <a:solidFill>
                  <a:srgbClr val="2B3857"/>
                </a:solidFill>
                <a:effectLst/>
                <a:latin typeface="Arial" panose="020B0604020202020204" pitchFamily="34" charset="0"/>
                <a:cs typeface="Arial" panose="020B0604020202020204" pitchFamily="34" charset="0"/>
              </a:rPr>
              <a:t> ¿Qué es un plan de comunicación de proyecto?</a:t>
            </a:r>
            <a:r>
              <a:rPr lang="es-MX" b="0" i="0" dirty="0">
                <a:solidFill>
                  <a:srgbClr val="2B3857"/>
                </a:solidFill>
                <a:effectLst/>
                <a:latin typeface="Arial" panose="020B0604020202020204" pitchFamily="34" charset="0"/>
                <a:cs typeface="Arial" panose="020B0604020202020204" pitchFamily="34" charset="0"/>
              </a:rPr>
              <a:t> Es una guía escrita que describe qué, cuándo y cómo se compartirá la información entre las partes interesadas.</a:t>
            </a:r>
          </a:p>
          <a:p>
            <a:pPr algn="l">
              <a:lnSpc>
                <a:spcPts val="2400"/>
              </a:lnSpc>
              <a:spcAft>
                <a:spcPts val="1800"/>
              </a:spcAft>
              <a:buFont typeface="Arial" panose="020B0604020202020204" pitchFamily="34" charset="0"/>
              <a:buChar char="•"/>
            </a:pPr>
            <a:r>
              <a:rPr lang="es-MX" b="1" i="0" dirty="0">
                <a:solidFill>
                  <a:srgbClr val="2B3857"/>
                </a:solidFill>
                <a:effectLst/>
                <a:latin typeface="Arial" panose="020B0604020202020204" pitchFamily="34" charset="0"/>
                <a:cs typeface="Arial" panose="020B0604020202020204" pitchFamily="34" charset="0"/>
              </a:rPr>
              <a:t> ¿Por qué es crucial la comunicación efectiva?</a:t>
            </a:r>
            <a:r>
              <a:rPr lang="es-MX" b="0" i="0" dirty="0">
                <a:solidFill>
                  <a:srgbClr val="2B3857"/>
                </a:solidFill>
                <a:effectLst/>
                <a:latin typeface="Arial" panose="020B0604020202020204" pitchFamily="34" charset="0"/>
                <a:cs typeface="Arial" panose="020B0604020202020204" pitchFamily="34" charset="0"/>
              </a:rPr>
              <a:t> Previene fallos en el proyecto, alinea objetivos y genera confianza, ya que una comunicación deficiente puede causar malentendidos y retrasos.</a:t>
            </a:r>
          </a:p>
          <a:p>
            <a:pPr algn="l">
              <a:lnSpc>
                <a:spcPts val="2400"/>
              </a:lnSpc>
              <a:spcAft>
                <a:spcPts val="1800"/>
              </a:spcAft>
              <a:buFont typeface="Arial" panose="020B0604020202020204" pitchFamily="34" charset="0"/>
              <a:buChar char="•"/>
            </a:pPr>
            <a:r>
              <a:rPr lang="es-MX" b="1" i="0" dirty="0">
                <a:solidFill>
                  <a:srgbClr val="2B3857"/>
                </a:solidFill>
                <a:effectLst/>
                <a:latin typeface="Arial" panose="020B0604020202020204" pitchFamily="34" charset="0"/>
                <a:cs typeface="Arial" panose="020B0604020202020204" pitchFamily="34" charset="0"/>
              </a:rPr>
              <a:t> ¿Qué componentes clave debe incluir un plan de comunicación?</a:t>
            </a:r>
            <a:r>
              <a:rPr lang="es-MX" b="0" i="0" dirty="0">
                <a:solidFill>
                  <a:srgbClr val="2B3857"/>
                </a:solidFill>
                <a:effectLst/>
                <a:latin typeface="Arial" panose="020B0604020202020204" pitchFamily="34" charset="0"/>
                <a:cs typeface="Arial" panose="020B0604020202020204" pitchFamily="34" charset="0"/>
              </a:rPr>
              <a:t> Objetivos, identificación de partes interesadas, cronogramas, protocolos de comentarios y roles asignados para optimizar la comunicación.</a:t>
            </a:r>
          </a:p>
          <a:p>
            <a:pPr algn="l">
              <a:lnSpc>
                <a:spcPts val="2400"/>
              </a:lnSpc>
              <a:spcAft>
                <a:spcPts val="1800"/>
              </a:spcAft>
              <a:buFont typeface="Arial" panose="020B0604020202020204" pitchFamily="34" charset="0"/>
              <a:buChar char="•"/>
            </a:pPr>
            <a:r>
              <a:rPr lang="es-MX" b="1" i="0" dirty="0">
                <a:solidFill>
                  <a:srgbClr val="2B3857"/>
                </a:solidFill>
                <a:effectLst/>
                <a:latin typeface="Arial" panose="020B0604020202020204" pitchFamily="34" charset="0"/>
                <a:cs typeface="Arial" panose="020B0604020202020204" pitchFamily="34" charset="0"/>
              </a:rPr>
              <a:t> ¿Cómo puede un plan de comunicación mejorar la productividad?</a:t>
            </a:r>
            <a:r>
              <a:rPr lang="es-MX" b="0" i="0" dirty="0">
                <a:solidFill>
                  <a:srgbClr val="2B3857"/>
                </a:solidFill>
                <a:effectLst/>
                <a:latin typeface="Arial" panose="020B0604020202020204" pitchFamily="34" charset="0"/>
                <a:cs typeface="Arial" panose="020B0604020202020204" pitchFamily="34" charset="0"/>
              </a:rPr>
              <a:t> Mediante herramientas modernas y métodos de comunicación claros, los equipos pueden aumentar la productividad en un 20-25 %.</a:t>
            </a:r>
          </a:p>
        </p:txBody>
      </p:sp>
    </p:spTree>
    <p:extLst>
      <p:ext uri="{BB962C8B-B14F-4D97-AF65-F5344CB8AC3E}">
        <p14:creationId xmlns:p14="http://schemas.microsoft.com/office/powerpoint/2010/main" val="2180394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DDBF-FCB7-F2B9-899A-0E5281EC47A3}"/>
            </a:ext>
          </a:extLst>
        </p:cNvPr>
        <p:cNvGrpSpPr/>
        <p:nvPr/>
      </p:nvGrpSpPr>
      <p:grpSpPr>
        <a:xfrm>
          <a:off x="0" y="0"/>
          <a:ext cx="0" cy="0"/>
          <a:chOff x="0" y="0"/>
          <a:chExt cx="0" cy="0"/>
        </a:xfrm>
      </p:grpSpPr>
      <p:sp>
        <p:nvSpPr>
          <p:cNvPr id="9" name="CuadroTexto 8">
            <a:extLst>
              <a:ext uri="{FF2B5EF4-FFF2-40B4-BE49-F238E27FC236}">
                <a16:creationId xmlns:a16="http://schemas.microsoft.com/office/drawing/2014/main" id="{FD2DD989-47B6-7176-442D-AA1330F9E6C5}"/>
              </a:ext>
            </a:extLst>
          </p:cNvPr>
          <p:cNvSpPr txBox="1"/>
          <p:nvPr/>
        </p:nvSpPr>
        <p:spPr>
          <a:xfrm>
            <a:off x="1008927" y="1545479"/>
            <a:ext cx="10627360" cy="3046988"/>
          </a:xfrm>
          <a:prstGeom prst="rect">
            <a:avLst/>
          </a:prstGeom>
          <a:noFill/>
        </p:spPr>
        <p:txBody>
          <a:bodyPr wrap="square">
            <a:spAutoFit/>
          </a:bodyPr>
          <a:lstStyle/>
          <a:p>
            <a:r>
              <a:rPr lang="es-MX" sz="1600" i="1" dirty="0">
                <a:latin typeface="Courier New" panose="02070309020205020404" pitchFamily="49" charset="0"/>
                <a:cs typeface="Courier New" panose="02070309020205020404" pitchFamily="49" charset="0"/>
              </a:rPr>
              <a:t>Communicating Projects: An End-to-End Guide to Planning, Implementing</a:t>
            </a:r>
            <a:r>
              <a:rPr lang="es-MX" sz="1600" dirty="0">
                <a:latin typeface="Courier New" panose="02070309020205020404" pitchFamily="49" charset="0"/>
                <a:cs typeface="Courier New" panose="02070309020205020404" pitchFamily="49" charset="0"/>
              </a:rPr>
              <a:t> — Ann Pilkington. Taylor &amp; Francis, 2025.</a:t>
            </a:r>
          </a:p>
          <a:p>
            <a:endParaRPr lang="es-MX" sz="1600" dirty="0">
              <a:latin typeface="Courier New" panose="02070309020205020404" pitchFamily="49" charset="0"/>
              <a:cs typeface="Courier New" panose="02070309020205020404" pitchFamily="49" charset="0"/>
            </a:endParaRPr>
          </a:p>
          <a:p>
            <a:r>
              <a:rPr lang="es-MX" sz="1600" i="1" dirty="0">
                <a:latin typeface="Courier New" panose="02070309020205020404" pitchFamily="49" charset="0"/>
                <a:cs typeface="Courier New" panose="02070309020205020404" pitchFamily="49" charset="0"/>
              </a:rPr>
              <a:t>Project Communications: A Critical Factor for Project Success</a:t>
            </a:r>
            <a:r>
              <a:rPr lang="es-MX" sz="1600" dirty="0">
                <a:latin typeface="Courier New" panose="02070309020205020404" pitchFamily="49" charset="0"/>
                <a:cs typeface="Courier New" panose="02070309020205020404" pitchFamily="49" charset="0"/>
              </a:rPr>
              <a:t> — Connie Plowman y Jill Diffendal. Business Expert Press, 2020. </a:t>
            </a:r>
          </a:p>
          <a:p>
            <a:endParaRPr lang="es-MX" sz="1600" dirty="0">
              <a:latin typeface="Courier New" panose="02070309020205020404" pitchFamily="49" charset="0"/>
              <a:cs typeface="Courier New" panose="02070309020205020404" pitchFamily="49" charset="0"/>
            </a:endParaRPr>
          </a:p>
          <a:p>
            <a:r>
              <a:rPr lang="es-MX" sz="1600" i="1" dirty="0">
                <a:latin typeface="Courier New" panose="02070309020205020404" pitchFamily="49" charset="0"/>
                <a:cs typeface="Courier New" panose="02070309020205020404" pitchFamily="49" charset="0"/>
              </a:rPr>
              <a:t>The Project Manager’s Communication Toolkit</a:t>
            </a:r>
            <a:r>
              <a:rPr lang="es-MX" sz="1600" dirty="0">
                <a:latin typeface="Courier New" panose="02070309020205020404" pitchFamily="49" charset="0"/>
                <a:cs typeface="Courier New" panose="02070309020205020404" pitchFamily="49" charset="0"/>
              </a:rPr>
              <a:t> — Shankar Jha. CRC Press, 2010. (Clásico)</a:t>
            </a:r>
          </a:p>
          <a:p>
            <a:endParaRPr lang="es-MX" sz="1600" dirty="0">
              <a:latin typeface="Courier New" panose="02070309020205020404" pitchFamily="49" charset="0"/>
              <a:cs typeface="Courier New" panose="02070309020205020404" pitchFamily="49" charset="0"/>
            </a:endParaRPr>
          </a:p>
          <a:p>
            <a:r>
              <a:rPr lang="es-MX" sz="1600" b="1" dirty="0">
                <a:latin typeface="Courier New" panose="02070309020205020404" pitchFamily="49" charset="0"/>
                <a:cs typeface="Courier New" panose="02070309020205020404" pitchFamily="49" charset="0"/>
              </a:rPr>
              <a:t>PMBOK® Guide</a:t>
            </a:r>
            <a:r>
              <a:rPr lang="es-MX" sz="1600" dirty="0">
                <a:latin typeface="Courier New" panose="02070309020205020404" pitchFamily="49" charset="0"/>
                <a:cs typeface="Courier New" panose="02070309020205020404" pitchFamily="49" charset="0"/>
              </a:rPr>
              <a:t> (Project Management Institute) — Área de conocimiento </a:t>
            </a:r>
            <a:r>
              <a:rPr lang="es-MX" sz="1600" i="1" dirty="0">
                <a:latin typeface="Courier New" panose="02070309020205020404" pitchFamily="49" charset="0"/>
                <a:cs typeface="Courier New" panose="02070309020205020404" pitchFamily="49" charset="0"/>
              </a:rPr>
              <a:t>Project Communications Management</a:t>
            </a:r>
            <a:r>
              <a:rPr lang="es-MX" sz="1600" dirty="0">
                <a:latin typeface="Courier New" panose="02070309020205020404" pitchFamily="49" charset="0"/>
                <a:cs typeface="Courier New" panose="02070309020205020404" pitchFamily="49" charset="0"/>
              </a:rPr>
              <a:t> / proceso </a:t>
            </a:r>
            <a:r>
              <a:rPr lang="es-MX" sz="1600" i="1" dirty="0">
                <a:latin typeface="Courier New" panose="02070309020205020404" pitchFamily="49" charset="0"/>
                <a:cs typeface="Courier New" panose="02070309020205020404" pitchFamily="49" charset="0"/>
              </a:rPr>
              <a:t>Plan Communications Management</a:t>
            </a:r>
            <a:r>
              <a:rPr lang="es-MX" sz="1600" dirty="0">
                <a:latin typeface="Courier New" panose="02070309020205020404" pitchFamily="49" charset="0"/>
                <a:cs typeface="Courier New" panose="02070309020205020404" pitchFamily="49" charset="0"/>
              </a:rPr>
              <a:t>.</a:t>
            </a:r>
          </a:p>
          <a:p>
            <a:endParaRPr lang="es-MX" sz="1600" dirty="0">
              <a:latin typeface="Courier New" panose="02070309020205020404" pitchFamily="49" charset="0"/>
              <a:cs typeface="Courier New" panose="02070309020205020404" pitchFamily="49" charset="0"/>
            </a:endParaRPr>
          </a:p>
          <a:p>
            <a:endParaRPr lang="es-MX" sz="1600" dirty="0">
              <a:latin typeface="Courier New" panose="02070309020205020404" pitchFamily="49" charset="0"/>
              <a:cs typeface="Courier New" panose="02070309020205020404" pitchFamily="49" charset="0"/>
            </a:endParaRPr>
          </a:p>
        </p:txBody>
      </p:sp>
      <p:sp>
        <p:nvSpPr>
          <p:cNvPr id="2" name="Rectángulo 1">
            <a:extLst>
              <a:ext uri="{FF2B5EF4-FFF2-40B4-BE49-F238E27FC236}">
                <a16:creationId xmlns:a16="http://schemas.microsoft.com/office/drawing/2014/main" id="{90AEA2E6-B8F9-F46C-7C18-8053FDE18877}"/>
              </a:ext>
            </a:extLst>
          </p:cNvPr>
          <p:cNvSpPr/>
          <p:nvPr/>
        </p:nvSpPr>
        <p:spPr>
          <a:xfrm>
            <a:off x="893180" y="559801"/>
            <a:ext cx="2814488" cy="707886"/>
          </a:xfrm>
          <a:prstGeom prst="rect">
            <a:avLst/>
          </a:prstGeom>
          <a:noFill/>
        </p:spPr>
        <p:txBody>
          <a:bodyPr wrap="none" lIns="91440" tIns="45720" rIns="91440" bIns="45720">
            <a:spAutoFit/>
          </a:bodyPr>
          <a:lstStyle/>
          <a:p>
            <a:pPr algn="ctr"/>
            <a:r>
              <a:rPr lang="es-MX" sz="4000" b="0" cap="none" spc="0" dirty="0">
                <a:ln w="0"/>
                <a:solidFill>
                  <a:schemeClr val="tx1"/>
                </a:solidFill>
                <a:effectLst>
                  <a:outerShdw blurRad="38100" dist="19050" dir="2700000" algn="tl" rotWithShape="0">
                    <a:schemeClr val="dk1">
                      <a:alpha val="40000"/>
                    </a:schemeClr>
                  </a:outerShdw>
                </a:effectLst>
              </a:rPr>
              <a:t>Referencias</a:t>
            </a:r>
          </a:p>
        </p:txBody>
      </p:sp>
    </p:spTree>
    <p:extLst>
      <p:ext uri="{BB962C8B-B14F-4D97-AF65-F5344CB8AC3E}">
        <p14:creationId xmlns:p14="http://schemas.microsoft.com/office/powerpoint/2010/main" val="30559266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46123</TotalTime>
  <Words>3505</Words>
  <Application>Microsoft Macintosh PowerPoint</Application>
  <PresentationFormat>Panorámica</PresentationFormat>
  <Paragraphs>342</Paragraphs>
  <Slides>39</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39</vt:i4>
      </vt:variant>
    </vt:vector>
  </HeadingPairs>
  <TitlesOfParts>
    <vt:vector size="45" baseType="lpstr">
      <vt:lpstr>-apple-system</vt:lpstr>
      <vt:lpstr>Aptos</vt:lpstr>
      <vt:lpstr>Aptos Display</vt:lpstr>
      <vt:lpstr>Arial</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reyes juarez</dc:creator>
  <cp:lastModifiedBy>reyes juarez</cp:lastModifiedBy>
  <cp:revision>123</cp:revision>
  <dcterms:created xsi:type="dcterms:W3CDTF">2025-08-09T18:38:38Z</dcterms:created>
  <dcterms:modified xsi:type="dcterms:W3CDTF">2025-09-30T15:23:04Z</dcterms:modified>
</cp:coreProperties>
</file>