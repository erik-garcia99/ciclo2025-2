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303" r:id="rId3"/>
    <p:sldId id="321" r:id="rId4"/>
    <p:sldId id="320" r:id="rId5"/>
    <p:sldId id="301" r:id="rId6"/>
    <p:sldId id="323" r:id="rId7"/>
    <p:sldId id="306" r:id="rId8"/>
    <p:sldId id="322" r:id="rId9"/>
    <p:sldId id="324" r:id="rId10"/>
    <p:sldId id="325" r:id="rId11"/>
    <p:sldId id="326" r:id="rId12"/>
    <p:sldId id="327" r:id="rId13"/>
    <p:sldId id="330" r:id="rId14"/>
    <p:sldId id="332" r:id="rId15"/>
    <p:sldId id="333" r:id="rId16"/>
    <p:sldId id="331" r:id="rId17"/>
    <p:sldId id="335" r:id="rId18"/>
    <p:sldId id="334" r:id="rId19"/>
    <p:sldId id="329" r:id="rId20"/>
    <p:sldId id="336" r:id="rId21"/>
    <p:sldId id="328" r:id="rId22"/>
    <p:sldId id="337" r:id="rId23"/>
    <p:sldId id="338" r:id="rId24"/>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93"/>
    <p:restoredTop sz="96006"/>
  </p:normalViewPr>
  <p:slideViewPr>
    <p:cSldViewPr snapToGrid="0" snapToObjects="1">
      <p:cViewPr>
        <p:scale>
          <a:sx n="100" d="100"/>
          <a:sy n="100" d="100"/>
        </p:scale>
        <p:origin x="1376" y="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F211-8E4A-9241-AE1E-BE29BE8BA8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85D77E2F-F369-6F4F-93FB-408F500BD2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AC3AC0C9-43C3-C545-A716-D09512ACEEB9}"/>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5" name="Footer Placeholder 4">
            <a:extLst>
              <a:ext uri="{FF2B5EF4-FFF2-40B4-BE49-F238E27FC236}">
                <a16:creationId xmlns:a16="http://schemas.microsoft.com/office/drawing/2014/main" id="{E8ABFAFA-753C-874E-B48F-251623A1F290}"/>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3DB47510-CDC3-A44D-B691-9290FB2F39C6}"/>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1465467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1C00-19A7-DB4A-9C91-2C17C43E0705}"/>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495266B2-AC08-0449-B262-C0FEE69B09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688875D9-AE4C-774E-BC8F-8BA1050FE720}"/>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5" name="Footer Placeholder 4">
            <a:extLst>
              <a:ext uri="{FF2B5EF4-FFF2-40B4-BE49-F238E27FC236}">
                <a16:creationId xmlns:a16="http://schemas.microsoft.com/office/drawing/2014/main" id="{E99D3BC1-2510-5C43-A79F-E2AA8A76234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CAF81BE-FF58-B646-8E9D-EAB98FC05B8E}"/>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889702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F4BCD-4F2E-5D4A-95D1-B4BEA18627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29A14FE8-D886-944B-8AA8-F5F634125D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1BCAA1-CA9C-9B4D-B4AF-9E29886FC483}"/>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5" name="Footer Placeholder 4">
            <a:extLst>
              <a:ext uri="{FF2B5EF4-FFF2-40B4-BE49-F238E27FC236}">
                <a16:creationId xmlns:a16="http://schemas.microsoft.com/office/drawing/2014/main" id="{38E85B34-06CA-924A-9A05-A11B121F900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DA1F8685-70B0-B84C-A315-CC28E05921FB}"/>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396930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960A2-4B00-AD41-B191-3A6B10C98B94}"/>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EE384442-CB30-734B-8EA7-480B82C9DF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70CF6F85-EBEA-4A4F-8DF3-E8E06272E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AD02D108-FDFC-D440-ABEB-05C02AC07FDF}"/>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6" name="Footer Placeholder 5">
            <a:extLst>
              <a:ext uri="{FF2B5EF4-FFF2-40B4-BE49-F238E27FC236}">
                <a16:creationId xmlns:a16="http://schemas.microsoft.com/office/drawing/2014/main" id="{AE906A47-E44C-F746-9D62-80DF2F28C570}"/>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4708CA44-6414-C646-8713-2566F070FC41}"/>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2137545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2A37-90A9-0E4C-8A63-0CB794DFF715}"/>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E851C03B-573E-0E4B-B96E-4B138ED831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39FA6E-8EEE-614A-9724-D5A08C70D7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9BC1F68A-381C-3E4C-865A-EB1F931439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0B95F8-D2E6-F14A-8BD2-95C9886EC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F8D52880-2E28-8E43-8233-D38D8E0D5153}"/>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8" name="Footer Placeholder 7">
            <a:extLst>
              <a:ext uri="{FF2B5EF4-FFF2-40B4-BE49-F238E27FC236}">
                <a16:creationId xmlns:a16="http://schemas.microsoft.com/office/drawing/2014/main" id="{E33DADDC-33E9-784A-88D4-2B7F98005E37}"/>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381C1195-AB0C-1447-9C35-37993618D1D1}"/>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1009689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BB23-9270-054F-9371-DFF36DFB8B5E}"/>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2CD069AA-7755-F746-95D4-2F3D7E782D19}"/>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4" name="Footer Placeholder 3">
            <a:extLst>
              <a:ext uri="{FF2B5EF4-FFF2-40B4-BE49-F238E27FC236}">
                <a16:creationId xmlns:a16="http://schemas.microsoft.com/office/drawing/2014/main" id="{BB4FA925-3761-1E4A-AF0F-42FFABBB9B44}"/>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3A0ED572-C3EC-8845-8880-30C3F27D332F}"/>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316415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7E14B-D7AB-A94C-9FE0-DB8A2980A009}"/>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3" name="Footer Placeholder 2">
            <a:extLst>
              <a:ext uri="{FF2B5EF4-FFF2-40B4-BE49-F238E27FC236}">
                <a16:creationId xmlns:a16="http://schemas.microsoft.com/office/drawing/2014/main" id="{1EA5C5DE-7CBF-5440-A01B-18773659FDE5}"/>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D8733757-E5AD-0E45-B930-F5086D3A2FFB}"/>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2854139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7F656-559C-494B-8C02-6AD7B8B5B5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70E6D92C-DE7B-3547-A14B-B7D755E2E2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05170EB7-0050-9A48-8013-43B626A44A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43B4F9-9C83-8941-80AB-7D3FFC7D8B27}"/>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6" name="Footer Placeholder 5">
            <a:extLst>
              <a:ext uri="{FF2B5EF4-FFF2-40B4-BE49-F238E27FC236}">
                <a16:creationId xmlns:a16="http://schemas.microsoft.com/office/drawing/2014/main" id="{C8937701-4C33-2D4C-991E-1E5E384A7D7E}"/>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5A1CF7D4-C961-CE47-969E-3C78CD54EFFF}"/>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3982938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D63CF-6E31-D945-93F8-7A43C56BC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17A4FADD-EE0A-6542-9C89-01751B132A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8AE7761E-91BE-804D-9614-512EF2A3D2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66B6E-75CB-FF43-8B14-32C631ECBEFF}"/>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6" name="Footer Placeholder 5">
            <a:extLst>
              <a:ext uri="{FF2B5EF4-FFF2-40B4-BE49-F238E27FC236}">
                <a16:creationId xmlns:a16="http://schemas.microsoft.com/office/drawing/2014/main" id="{F0E16199-347D-BC46-AB78-7E4CE03A31DC}"/>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B73E1221-6DC3-EA48-B866-A0CC3DE8B90E}"/>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1309917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E8563-FF14-B54C-BE18-F85C54826755}"/>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416EC499-CD15-1448-885F-F6EB4AEA4C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150C4A87-152C-A54F-8F18-2F9001427361}"/>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5" name="Footer Placeholder 4">
            <a:extLst>
              <a:ext uri="{FF2B5EF4-FFF2-40B4-BE49-F238E27FC236}">
                <a16:creationId xmlns:a16="http://schemas.microsoft.com/office/drawing/2014/main" id="{AA72D2E9-96BB-7943-996E-CA8A66C9BE28}"/>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E936A0AC-04C0-9641-9FC2-CCC9740B824A}"/>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1847334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04C596-C7E5-C649-84AF-C9A7B0F5C6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BC93C15C-20FD-F14E-91F1-6165AF7B9D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BBC6F5CC-6166-F647-9F4F-7957283A35CC}"/>
              </a:ext>
            </a:extLst>
          </p:cNvPr>
          <p:cNvSpPr>
            <a:spLocks noGrp="1"/>
          </p:cNvSpPr>
          <p:nvPr>
            <p:ph type="dt" sz="half" idx="10"/>
          </p:nvPr>
        </p:nvSpPr>
        <p:spPr/>
        <p:txBody>
          <a:bodyPr/>
          <a:lstStyle/>
          <a:p>
            <a:fld id="{CB7365C2-ECBC-004F-B39F-8D3617712F22}" type="datetimeFigureOut">
              <a:rPr lang="en-MX" smtClean="0"/>
              <a:t>9/14/25</a:t>
            </a:fld>
            <a:endParaRPr lang="en-MX"/>
          </a:p>
        </p:txBody>
      </p:sp>
      <p:sp>
        <p:nvSpPr>
          <p:cNvPr id="5" name="Footer Placeholder 4">
            <a:extLst>
              <a:ext uri="{FF2B5EF4-FFF2-40B4-BE49-F238E27FC236}">
                <a16:creationId xmlns:a16="http://schemas.microsoft.com/office/drawing/2014/main" id="{1B5D5A01-7F4C-FB43-B806-814ECB204B50}"/>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E88F88E6-DC88-684E-8316-52F796531921}"/>
              </a:ext>
            </a:extLst>
          </p:cNvPr>
          <p:cNvSpPr>
            <a:spLocks noGrp="1"/>
          </p:cNvSpPr>
          <p:nvPr>
            <p:ph type="sldNum" sz="quarter" idx="12"/>
          </p:nvPr>
        </p:nvSpPr>
        <p:spPr/>
        <p:txBody>
          <a:bodyPr/>
          <a:lstStyle/>
          <a:p>
            <a:fld id="{B8920E12-2933-CC4B-BBB8-6A37BBA7EA1C}" type="slidenum">
              <a:rPr lang="en-MX" smtClean="0"/>
              <a:t>‹Nº›</a:t>
            </a:fld>
            <a:endParaRPr lang="en-MX"/>
          </a:p>
        </p:txBody>
      </p:sp>
    </p:spTree>
    <p:extLst>
      <p:ext uri="{BB962C8B-B14F-4D97-AF65-F5344CB8AC3E}">
        <p14:creationId xmlns:p14="http://schemas.microsoft.com/office/powerpoint/2010/main" val="1911542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F78FB4-3523-8440-AC55-6066318016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9FCEAED0-9AF2-2345-9E28-820E01772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992E5BC3-287C-3441-A60A-4CC3B3CE22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365C2-ECBC-004F-B39F-8D3617712F22}" type="datetimeFigureOut">
              <a:rPr lang="en-MX" smtClean="0"/>
              <a:t>9/14/25</a:t>
            </a:fld>
            <a:endParaRPr lang="en-MX"/>
          </a:p>
        </p:txBody>
      </p:sp>
      <p:sp>
        <p:nvSpPr>
          <p:cNvPr id="5" name="Footer Placeholder 4">
            <a:extLst>
              <a:ext uri="{FF2B5EF4-FFF2-40B4-BE49-F238E27FC236}">
                <a16:creationId xmlns:a16="http://schemas.microsoft.com/office/drawing/2014/main" id="{20B39514-F740-8E45-A408-B78127AF65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X"/>
          </a:p>
        </p:txBody>
      </p:sp>
      <p:sp>
        <p:nvSpPr>
          <p:cNvPr id="6" name="Slide Number Placeholder 5">
            <a:extLst>
              <a:ext uri="{FF2B5EF4-FFF2-40B4-BE49-F238E27FC236}">
                <a16:creationId xmlns:a16="http://schemas.microsoft.com/office/drawing/2014/main" id="{E75D7DAD-4017-134B-B3D4-8107428DB8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920E12-2933-CC4B-BBB8-6A37BBA7EA1C}" type="slidenum">
              <a:rPr lang="en-MX" smtClean="0"/>
              <a:t>‹Nº›</a:t>
            </a:fld>
            <a:endParaRPr lang="en-MX"/>
          </a:p>
        </p:txBody>
      </p:sp>
    </p:spTree>
    <p:extLst>
      <p:ext uri="{BB962C8B-B14F-4D97-AF65-F5344CB8AC3E}">
        <p14:creationId xmlns:p14="http://schemas.microsoft.com/office/powerpoint/2010/main" val="2661837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resources.scrumalliance.org/Article/facilitate-powerful-working-agreements" TargetMode="External"/><Relationship Id="rId2" Type="http://schemas.openxmlformats.org/officeDocument/2006/relationships/hyperlink" Target="https://www.scrum.org/resources/creating-team-working-agreement" TargetMode="External"/><Relationship Id="rId1" Type="http://schemas.openxmlformats.org/officeDocument/2006/relationships/slideLayout" Target="../slideLayouts/slideLayout1.xml"/><Relationship Id="rId6" Type="http://schemas.openxmlformats.org/officeDocument/2006/relationships/hyperlink" Target="https://asana.com/es/resources/team-charter-template" TargetMode="External"/><Relationship Id="rId5" Type="http://schemas.openxmlformats.org/officeDocument/2006/relationships/hyperlink" Target="https://www.youtube.com/watch?v=Wp8TH165DrU" TargetMode="External"/><Relationship Id="rId4" Type="http://schemas.openxmlformats.org/officeDocument/2006/relationships/hyperlink" Target="https://www.mural.co/blog/team-agreement-gui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E3B675-23D5-BA48-B591-BE9EF0D0E525}"/>
              </a:ext>
            </a:extLst>
          </p:cNvPr>
          <p:cNvSpPr/>
          <p:nvPr/>
        </p:nvSpPr>
        <p:spPr>
          <a:xfrm>
            <a:off x="2150719" y="429875"/>
            <a:ext cx="8713539"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Universidad </a:t>
            </a:r>
            <a:r>
              <a:rPr lang="en-US" sz="4000" b="0" cap="none" spc="0" dirty="0" err="1">
                <a:ln w="0"/>
                <a:solidFill>
                  <a:schemeClr val="tx1"/>
                </a:solidFill>
                <a:effectLst>
                  <a:outerShdw blurRad="38100" dist="19050" dir="2700000" algn="tl" rotWithShape="0">
                    <a:schemeClr val="dk1">
                      <a:alpha val="40000"/>
                    </a:schemeClr>
                  </a:outerShdw>
                </a:effectLst>
              </a:rPr>
              <a:t>Autónoma</a:t>
            </a:r>
            <a:r>
              <a:rPr lang="en-US" sz="4000" b="0" cap="none" spc="0" dirty="0">
                <a:ln w="0"/>
                <a:solidFill>
                  <a:schemeClr val="tx1"/>
                </a:solidFill>
                <a:effectLst>
                  <a:outerShdw blurRad="38100" dist="19050" dir="2700000" algn="tl" rotWithShape="0">
                    <a:schemeClr val="dk1">
                      <a:alpha val="40000"/>
                    </a:schemeClr>
                  </a:outerShdw>
                </a:effectLst>
              </a:rPr>
              <a:t> de Baja California</a:t>
            </a:r>
          </a:p>
        </p:txBody>
      </p:sp>
      <p:sp>
        <p:nvSpPr>
          <p:cNvPr id="3" name="Rectangle 2">
            <a:extLst>
              <a:ext uri="{FF2B5EF4-FFF2-40B4-BE49-F238E27FC236}">
                <a16:creationId xmlns:a16="http://schemas.microsoft.com/office/drawing/2014/main" id="{753A317C-CB07-A545-8736-C46097322C00}"/>
              </a:ext>
            </a:extLst>
          </p:cNvPr>
          <p:cNvSpPr/>
          <p:nvPr/>
        </p:nvSpPr>
        <p:spPr>
          <a:xfrm>
            <a:off x="2455770" y="1000601"/>
            <a:ext cx="8103436" cy="646331"/>
          </a:xfrm>
          <a:prstGeom prst="rect">
            <a:avLst/>
          </a:prstGeom>
          <a:noFill/>
        </p:spPr>
        <p:txBody>
          <a:bodyPr wrap="none" lIns="91440" tIns="45720" rIns="91440" bIns="45720">
            <a:spAutoFit/>
          </a:bodyPr>
          <a:lstStyle/>
          <a:p>
            <a:pPr algn="ctr"/>
            <a:r>
              <a:rPr lang="en-US" sz="3600" b="0" cap="none" spc="0" dirty="0" err="1">
                <a:ln w="0"/>
                <a:solidFill>
                  <a:schemeClr val="tx1"/>
                </a:solidFill>
                <a:effectLst>
                  <a:outerShdw blurRad="38100" dist="19050" dir="2700000" algn="tl" rotWithShape="0">
                    <a:schemeClr val="dk1">
                      <a:alpha val="40000"/>
                    </a:schemeClr>
                  </a:outerShdw>
                </a:effectLst>
              </a:rPr>
              <a:t>Facultad</a:t>
            </a:r>
            <a:r>
              <a:rPr lang="en-US" sz="3600" b="0" cap="none" spc="0" dirty="0">
                <a:ln w="0"/>
                <a:solidFill>
                  <a:schemeClr val="tx1"/>
                </a:solidFill>
                <a:effectLst>
                  <a:outerShdw blurRad="38100" dist="19050" dir="2700000" algn="tl" rotWithShape="0">
                    <a:schemeClr val="dk1">
                      <a:alpha val="40000"/>
                    </a:schemeClr>
                  </a:outerShdw>
                </a:effectLst>
              </a:rPr>
              <a:t> de </a:t>
            </a:r>
            <a:r>
              <a:rPr lang="en-US" sz="3600" b="0" cap="none" spc="0" dirty="0" err="1">
                <a:ln w="0"/>
                <a:solidFill>
                  <a:schemeClr val="tx1"/>
                </a:solidFill>
                <a:effectLst>
                  <a:outerShdw blurRad="38100" dist="19050" dir="2700000" algn="tl" rotWithShape="0">
                    <a:schemeClr val="dk1">
                      <a:alpha val="40000"/>
                    </a:schemeClr>
                  </a:outerShdw>
                </a:effectLst>
              </a:rPr>
              <a:t>Ciencias</a:t>
            </a:r>
            <a:r>
              <a:rPr lang="en-US" sz="3600" b="0" cap="none" spc="0" dirty="0">
                <a:ln w="0"/>
                <a:solidFill>
                  <a:schemeClr val="tx1"/>
                </a:solidFill>
                <a:effectLst>
                  <a:outerShdw blurRad="38100" dist="19050" dir="2700000" algn="tl" rotWithShape="0">
                    <a:schemeClr val="dk1">
                      <a:alpha val="40000"/>
                    </a:schemeClr>
                  </a:outerShdw>
                </a:effectLst>
              </a:rPr>
              <a:t> </a:t>
            </a:r>
            <a:r>
              <a:rPr lang="en-US" sz="3600" b="0" cap="none" spc="0" dirty="0" err="1">
                <a:ln w="0"/>
                <a:solidFill>
                  <a:schemeClr val="tx1"/>
                </a:solidFill>
                <a:effectLst>
                  <a:outerShdw blurRad="38100" dist="19050" dir="2700000" algn="tl" rotWithShape="0">
                    <a:schemeClr val="dk1">
                      <a:alpha val="40000"/>
                    </a:schemeClr>
                  </a:outerShdw>
                </a:effectLst>
              </a:rPr>
              <a:t>Químicas</a:t>
            </a:r>
            <a:r>
              <a:rPr lang="en-US" sz="3600" b="0" cap="none" spc="0" dirty="0">
                <a:ln w="0"/>
                <a:solidFill>
                  <a:schemeClr val="tx1"/>
                </a:solidFill>
                <a:effectLst>
                  <a:outerShdw blurRad="38100" dist="19050" dir="2700000" algn="tl" rotWithShape="0">
                    <a:schemeClr val="dk1">
                      <a:alpha val="40000"/>
                    </a:schemeClr>
                  </a:outerShdw>
                </a:effectLst>
              </a:rPr>
              <a:t> e </a:t>
            </a:r>
            <a:r>
              <a:rPr lang="en-US" sz="3600" b="0" cap="none" spc="0" dirty="0" err="1">
                <a:ln w="0"/>
                <a:solidFill>
                  <a:schemeClr val="tx1"/>
                </a:solidFill>
                <a:effectLst>
                  <a:outerShdw blurRad="38100" dist="19050" dir="2700000" algn="tl" rotWithShape="0">
                    <a:schemeClr val="dk1">
                      <a:alpha val="40000"/>
                    </a:schemeClr>
                  </a:outerShdw>
                </a:effectLst>
              </a:rPr>
              <a:t>Ingeniería</a:t>
            </a:r>
            <a:endParaRPr lang="en-US" sz="36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211426C9-0A2D-A24C-A00E-0E87E9BBC72E}"/>
              </a:ext>
            </a:extLst>
          </p:cNvPr>
          <p:cNvPicPr>
            <a:picLocks noChangeAspect="1"/>
          </p:cNvPicPr>
          <p:nvPr/>
        </p:nvPicPr>
        <p:blipFill>
          <a:blip r:embed="rId2"/>
          <a:stretch>
            <a:fillRect/>
          </a:stretch>
        </p:blipFill>
        <p:spPr>
          <a:xfrm>
            <a:off x="833101" y="542002"/>
            <a:ext cx="1424424" cy="1943100"/>
          </a:xfrm>
          <a:prstGeom prst="rect">
            <a:avLst/>
          </a:prstGeom>
        </p:spPr>
      </p:pic>
      <p:sp>
        <p:nvSpPr>
          <p:cNvPr id="6" name="Rectangle 5">
            <a:extLst>
              <a:ext uri="{FF2B5EF4-FFF2-40B4-BE49-F238E27FC236}">
                <a16:creationId xmlns:a16="http://schemas.microsoft.com/office/drawing/2014/main" id="{6F7A7D4F-70EA-7D4C-BEE9-CAC6CAB524FB}"/>
              </a:ext>
            </a:extLst>
          </p:cNvPr>
          <p:cNvSpPr/>
          <p:nvPr/>
        </p:nvSpPr>
        <p:spPr>
          <a:xfrm>
            <a:off x="2770506" y="4759666"/>
            <a:ext cx="6650987" cy="646331"/>
          </a:xfrm>
          <a:prstGeom prst="rect">
            <a:avLst/>
          </a:prstGeom>
          <a:noFill/>
        </p:spPr>
        <p:txBody>
          <a:bodyPr wrap="none" lIns="91440" tIns="45720" rIns="91440" bIns="45720">
            <a:spAutoFit/>
          </a:bodyPr>
          <a:lstStyle/>
          <a:p>
            <a:pPr algn="ctr"/>
            <a:r>
              <a:rPr lang="en-US" sz="3600" b="0" cap="none" spc="0" dirty="0" err="1">
                <a:ln w="0"/>
                <a:solidFill>
                  <a:schemeClr val="tx1"/>
                </a:solidFill>
                <a:effectLst>
                  <a:outerShdw blurRad="38100" dist="19050" dir="2700000" algn="tl" rotWithShape="0">
                    <a:schemeClr val="dk1">
                      <a:alpha val="40000"/>
                    </a:schemeClr>
                  </a:outerShdw>
                </a:effectLst>
              </a:rPr>
              <a:t>Diseño</a:t>
            </a:r>
            <a:r>
              <a:rPr lang="en-US" sz="3600" b="0" cap="none" spc="0" dirty="0">
                <a:ln w="0"/>
                <a:solidFill>
                  <a:schemeClr val="tx1"/>
                </a:solidFill>
                <a:effectLst>
                  <a:outerShdw blurRad="38100" dist="19050" dir="2700000" algn="tl" rotWithShape="0">
                    <a:schemeClr val="dk1">
                      <a:alpha val="40000"/>
                    </a:schemeClr>
                  </a:outerShdw>
                </a:effectLst>
              </a:rPr>
              <a:t>: Dr. J. Reyes Juárez Ramírez</a:t>
            </a:r>
          </a:p>
        </p:txBody>
      </p:sp>
      <p:sp>
        <p:nvSpPr>
          <p:cNvPr id="7" name="Rectangle 6">
            <a:extLst>
              <a:ext uri="{FF2B5EF4-FFF2-40B4-BE49-F238E27FC236}">
                <a16:creationId xmlns:a16="http://schemas.microsoft.com/office/drawing/2014/main" id="{63055600-F7CC-2F4A-B09F-B6D683707C09}"/>
              </a:ext>
            </a:extLst>
          </p:cNvPr>
          <p:cNvSpPr/>
          <p:nvPr/>
        </p:nvSpPr>
        <p:spPr>
          <a:xfrm>
            <a:off x="6719406" y="5857399"/>
            <a:ext cx="431413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Tijuana, B.C. </a:t>
            </a:r>
            <a:r>
              <a:rPr lang="en-US" sz="2400" dirty="0" err="1">
                <a:ln w="0"/>
                <a:effectLst>
                  <a:outerShdw blurRad="38100" dist="19050" dir="2700000" algn="tl" rotWithShape="0">
                    <a:schemeClr val="dk1">
                      <a:alpha val="40000"/>
                    </a:schemeClr>
                  </a:outerShdw>
                </a:effectLst>
              </a:rPr>
              <a:t>Septiembre</a:t>
            </a:r>
            <a:r>
              <a:rPr lang="en-US" sz="2400" dirty="0">
                <a:ln w="0"/>
                <a:effectLst>
                  <a:outerShdw blurRad="38100" dist="19050" dir="2700000" algn="tl" rotWithShape="0">
                    <a:schemeClr val="dk1">
                      <a:alpha val="40000"/>
                    </a:schemeClr>
                  </a:outerShdw>
                </a:effectLst>
              </a:rPr>
              <a:t> de 2025</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9" name="TextBox 8">
            <a:extLst>
              <a:ext uri="{FF2B5EF4-FFF2-40B4-BE49-F238E27FC236}">
                <a16:creationId xmlns:a16="http://schemas.microsoft.com/office/drawing/2014/main" id="{5BEA9F39-1740-7643-B16F-3139940BA220}"/>
              </a:ext>
            </a:extLst>
          </p:cNvPr>
          <p:cNvSpPr txBox="1"/>
          <p:nvPr/>
        </p:nvSpPr>
        <p:spPr>
          <a:xfrm>
            <a:off x="1809608" y="2365831"/>
            <a:ext cx="9395760" cy="1754326"/>
          </a:xfrm>
          <a:prstGeom prst="rect">
            <a:avLst/>
          </a:prstGeom>
          <a:noFill/>
        </p:spPr>
        <p:txBody>
          <a:bodyPr wrap="square">
            <a:spAutoFit/>
          </a:bodyPr>
          <a:lstStyle/>
          <a:p>
            <a:pPr algn="ctr"/>
            <a:r>
              <a:rPr lang="es-ES" sz="3600" b="1" dirty="0">
                <a:solidFill>
                  <a:srgbClr val="7030A0"/>
                </a:solidFill>
                <a:latin typeface="Arial" panose="020B0604020202020204" pitchFamily="34" charset="0"/>
                <a:cs typeface="Arial" panose="020B0604020202020204" pitchFamily="34" charset="0"/>
              </a:rPr>
              <a:t>Gestión de Proyectos:</a:t>
            </a:r>
          </a:p>
          <a:p>
            <a:pPr algn="ctr"/>
            <a:r>
              <a:rPr lang="es-ES" sz="3600" b="1" dirty="0" err="1">
                <a:solidFill>
                  <a:srgbClr val="00B0F0"/>
                </a:solidFill>
                <a:latin typeface="Arial" panose="020B0604020202020204" pitchFamily="34" charset="0"/>
                <a:cs typeface="Arial" panose="020B0604020202020204" pitchFamily="34" charset="0"/>
              </a:rPr>
              <a:t>Team</a:t>
            </a:r>
            <a:r>
              <a:rPr lang="es-ES" sz="3600" b="1" dirty="0">
                <a:solidFill>
                  <a:srgbClr val="00B0F0"/>
                </a:solidFill>
                <a:latin typeface="Arial" panose="020B0604020202020204" pitchFamily="34" charset="0"/>
                <a:cs typeface="Arial" panose="020B0604020202020204" pitchFamily="34" charset="0"/>
              </a:rPr>
              <a:t> </a:t>
            </a:r>
            <a:r>
              <a:rPr lang="es-ES" sz="3600" b="1" dirty="0" err="1">
                <a:solidFill>
                  <a:srgbClr val="00B0F0"/>
                </a:solidFill>
                <a:latin typeface="Arial" panose="020B0604020202020204" pitchFamily="34" charset="0"/>
                <a:cs typeface="Arial" panose="020B0604020202020204" pitchFamily="34" charset="0"/>
              </a:rPr>
              <a:t>Agreement</a:t>
            </a:r>
            <a:r>
              <a:rPr lang="es-ES" sz="3600" b="1" dirty="0">
                <a:solidFill>
                  <a:srgbClr val="00B0F0"/>
                </a:solidFill>
                <a:latin typeface="Arial" panose="020B0604020202020204" pitchFamily="34" charset="0"/>
                <a:cs typeface="Arial" panose="020B0604020202020204" pitchFamily="34" charset="0"/>
              </a:rPr>
              <a:t> </a:t>
            </a:r>
          </a:p>
          <a:p>
            <a:pPr algn="ctr"/>
            <a:r>
              <a:rPr lang="es-ES" sz="3600" b="1" dirty="0">
                <a:solidFill>
                  <a:srgbClr val="00B0F0"/>
                </a:solidFill>
                <a:latin typeface="Arial" panose="020B0604020202020204" pitchFamily="34" charset="0"/>
                <a:cs typeface="Arial" panose="020B0604020202020204" pitchFamily="34" charset="0"/>
              </a:rPr>
              <a:t>(“Acuerdo de trabajo en equipo”)</a:t>
            </a:r>
            <a:endParaRPr lang="en-US" sz="3600" b="1" dirty="0">
              <a:solidFill>
                <a:srgbClr val="00B0F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9556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98C80-57B9-78A9-FF27-3BC274FEF06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E7B7547-2927-69B1-279E-5F208E927D9C}"/>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7B722A87-1F54-4ACA-C28A-285814D36F21}"/>
              </a:ext>
            </a:extLst>
          </p:cNvPr>
          <p:cNvSpPr txBox="1"/>
          <p:nvPr/>
        </p:nvSpPr>
        <p:spPr>
          <a:xfrm>
            <a:off x="1425211" y="1982450"/>
            <a:ext cx="9398000" cy="1446550"/>
          </a:xfrm>
          <a:prstGeom prst="rect">
            <a:avLst/>
          </a:prstGeom>
          <a:noFill/>
        </p:spPr>
        <p:txBody>
          <a:bodyPr wrap="square">
            <a:spAutoFit/>
          </a:bodyPr>
          <a:lstStyle/>
          <a:p>
            <a:pPr algn="ctr"/>
            <a:r>
              <a:rPr lang="es-ES" sz="4400" b="1" dirty="0" err="1">
                <a:solidFill>
                  <a:srgbClr val="7030A0"/>
                </a:solidFill>
                <a:latin typeface="Arial" panose="020B0604020202020204" pitchFamily="34" charset="0"/>
                <a:cs typeface="Arial" panose="020B0604020202020204" pitchFamily="34" charset="0"/>
              </a:rPr>
              <a:t>Team</a:t>
            </a:r>
            <a:r>
              <a:rPr lang="es-ES" sz="4400" b="1" dirty="0">
                <a:solidFill>
                  <a:srgbClr val="7030A0"/>
                </a:solidFill>
                <a:latin typeface="Arial" panose="020B0604020202020204" pitchFamily="34" charset="0"/>
                <a:cs typeface="Arial" panose="020B0604020202020204" pitchFamily="34" charset="0"/>
              </a:rPr>
              <a:t> </a:t>
            </a:r>
            <a:r>
              <a:rPr lang="es-ES" sz="4400" b="1" dirty="0" err="1">
                <a:solidFill>
                  <a:srgbClr val="7030A0"/>
                </a:solidFill>
                <a:latin typeface="Arial" panose="020B0604020202020204" pitchFamily="34" charset="0"/>
                <a:cs typeface="Arial" panose="020B0604020202020204" pitchFamily="34" charset="0"/>
              </a:rPr>
              <a:t>Agreement</a:t>
            </a:r>
            <a:r>
              <a:rPr lang="es-ES" sz="4400" b="1" dirty="0">
                <a:solidFill>
                  <a:srgbClr val="7030A0"/>
                </a:solidFill>
                <a:latin typeface="Arial" panose="020B0604020202020204" pitchFamily="34" charset="0"/>
                <a:cs typeface="Arial" panose="020B0604020202020204" pitchFamily="34" charset="0"/>
              </a:rPr>
              <a:t> </a:t>
            </a:r>
          </a:p>
          <a:p>
            <a:pPr algn="ctr"/>
            <a:r>
              <a:rPr lang="es-ES" sz="4400" b="1" dirty="0">
                <a:solidFill>
                  <a:srgbClr val="7030A0"/>
                </a:solidFill>
                <a:latin typeface="Arial" panose="020B0604020202020204" pitchFamily="34" charset="0"/>
                <a:cs typeface="Arial" panose="020B0604020202020204" pitchFamily="34" charset="0"/>
              </a:rPr>
              <a:t>(“Acuerdo de trabajo en equipo”)</a:t>
            </a:r>
            <a:endParaRPr lang="es-MX" sz="4400" dirty="0"/>
          </a:p>
        </p:txBody>
      </p:sp>
    </p:spTree>
    <p:extLst>
      <p:ext uri="{BB962C8B-B14F-4D97-AF65-F5344CB8AC3E}">
        <p14:creationId xmlns:p14="http://schemas.microsoft.com/office/powerpoint/2010/main" val="3882411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7F76-CA25-7860-EBFA-73D809EC654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DD4B0558-9354-8235-FB9E-D274EDEC9EC4}"/>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8317C559-D78B-144A-0413-2D42E0384411}"/>
              </a:ext>
            </a:extLst>
          </p:cNvPr>
          <p:cNvSpPr txBox="1"/>
          <p:nvPr/>
        </p:nvSpPr>
        <p:spPr>
          <a:xfrm>
            <a:off x="1101142" y="1007001"/>
            <a:ext cx="9833558" cy="5016758"/>
          </a:xfrm>
          <a:prstGeom prst="rect">
            <a:avLst/>
          </a:prstGeom>
          <a:noFill/>
        </p:spPr>
        <p:txBody>
          <a:bodyPr wrap="square">
            <a:spAutoFit/>
          </a:bodyPr>
          <a:lstStyle/>
          <a:p>
            <a:r>
              <a:rPr lang="es-MX" sz="3200" b="1" dirty="0">
                <a:latin typeface="Arial" panose="020B0604020202020204" pitchFamily="34" charset="0"/>
                <a:cs typeface="Arial" panose="020B0604020202020204" pitchFamily="34" charset="0"/>
              </a:rPr>
              <a:t>¿Qué es un acuerdo de equipo?</a:t>
            </a:r>
          </a:p>
          <a:p>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Los acuerdos de equipo </a:t>
            </a:r>
            <a:r>
              <a:rPr lang="es-MX" dirty="0">
                <a:solidFill>
                  <a:srgbClr val="7030A0"/>
                </a:solidFill>
                <a:latin typeface="Arial" panose="020B0604020202020204" pitchFamily="34" charset="0"/>
                <a:cs typeface="Arial" panose="020B0604020202020204" pitchFamily="34" charset="0"/>
              </a:rPr>
              <a:t>son directrices o principios que los miembros del equipo acuerdan y respetan para </a:t>
            </a:r>
            <a:r>
              <a:rPr lang="es-MX" b="1" u="sng" dirty="0">
                <a:solidFill>
                  <a:srgbClr val="7030A0"/>
                </a:solidFill>
                <a:latin typeface="Arial" panose="020B0604020202020204" pitchFamily="34" charset="0"/>
                <a:cs typeface="Arial" panose="020B0604020202020204" pitchFamily="34" charset="0"/>
              </a:rPr>
              <a:t>facilitar la colaboración, la comunicación y la productividad dentro del equipo</a:t>
            </a:r>
            <a:r>
              <a:rPr lang="es-MX" dirty="0">
                <a:latin typeface="Arial" panose="020B0604020202020204" pitchFamily="34" charset="0"/>
                <a:cs typeface="Arial" panose="020B0604020202020204" pitchFamily="34" charset="0"/>
              </a:rPr>
              <a:t>.</a:t>
            </a:r>
          </a:p>
          <a:p>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Estos acuerdos de trabajo </a:t>
            </a:r>
            <a:r>
              <a:rPr lang="es-MX" dirty="0">
                <a:solidFill>
                  <a:srgbClr val="0070C0"/>
                </a:solidFill>
                <a:latin typeface="Arial" panose="020B0604020202020204" pitchFamily="34" charset="0"/>
                <a:cs typeface="Arial" panose="020B0604020202020204" pitchFamily="34" charset="0"/>
              </a:rPr>
              <a:t>establecen un entendimiento común sobre cómo los miembros del equipo interactuarán, tomarán decisiones y gestionarán conjuntamente diversos aspectos de su trabajo.</a:t>
            </a:r>
          </a:p>
          <a:p>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A continuación, se muestra un ejemplo de la aplicación de un acuerdo de equipo:</a:t>
            </a:r>
          </a:p>
          <a:p>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Acordamos utilizar Slack como nuestro canal de comunicación principal para actualizaciones diarias, preguntas rápidas y compartir el progreso. </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Realizaremos reuniones semanales para hablar sobre el estado del proyecto y cualquier obstáculo.</a:t>
            </a:r>
          </a:p>
        </p:txBody>
      </p:sp>
    </p:spTree>
    <p:extLst>
      <p:ext uri="{BB962C8B-B14F-4D97-AF65-F5344CB8AC3E}">
        <p14:creationId xmlns:p14="http://schemas.microsoft.com/office/powerpoint/2010/main" val="2059063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D3B07-7D07-53E4-A2D5-80E00D5D6463}"/>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6C493554-8901-56D1-99EE-DB383BD13BD2}"/>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8C6F1006-5CA7-B548-D0A4-384A46453D6A}"/>
              </a:ext>
            </a:extLst>
          </p:cNvPr>
          <p:cNvSpPr txBox="1"/>
          <p:nvPr/>
        </p:nvSpPr>
        <p:spPr>
          <a:xfrm>
            <a:off x="1003300" y="1011346"/>
            <a:ext cx="10185400" cy="4462760"/>
          </a:xfrm>
          <a:prstGeom prst="rect">
            <a:avLst/>
          </a:prstGeom>
          <a:noFill/>
        </p:spPr>
        <p:txBody>
          <a:bodyPr wrap="square">
            <a:spAutoFit/>
          </a:bodyPr>
          <a:lstStyle/>
          <a:p>
            <a:r>
              <a:rPr lang="es-MX" sz="3200" b="1" dirty="0">
                <a:latin typeface="Arial" panose="020B0604020202020204" pitchFamily="34" charset="0"/>
                <a:cs typeface="Arial" panose="020B0604020202020204" pitchFamily="34" charset="0"/>
              </a:rPr>
              <a:t>Tipos de acuerdos de equipo</a:t>
            </a:r>
          </a:p>
          <a:p>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Los acuerdos de equipo pueden abarcar una amplia gama de temas, incluyendo, entre otros:</a:t>
            </a:r>
          </a:p>
          <a:p>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Normas de comunicación</a:t>
            </a:r>
            <a:r>
              <a:rPr lang="es-MX" dirty="0">
                <a:latin typeface="Arial" panose="020B0604020202020204" pitchFamily="34" charset="0"/>
                <a:cs typeface="Arial" panose="020B0604020202020204" pitchFamily="34" charset="0"/>
              </a:rPr>
              <a:t>: Establecer los canales de comunicación preferidos, los tiempos de respuesta y las directrices para una comunicación respetuosa y eficaz.</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Protocolos de reuniones</a:t>
            </a:r>
            <a:r>
              <a:rPr lang="es-MX" dirty="0">
                <a:latin typeface="Arial" panose="020B0604020202020204" pitchFamily="34" charset="0"/>
                <a:cs typeface="Arial" panose="020B0604020202020204" pitchFamily="34" charset="0"/>
              </a:rPr>
              <a:t>: Definir las expectativas sobre las agendas, la participación, los horarios y los procesos de toma de decisiones de las reuniones.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Roles y responsabilidades</a:t>
            </a:r>
            <a:r>
              <a:rPr lang="es-MX" dirty="0">
                <a:latin typeface="Arial" panose="020B0604020202020204" pitchFamily="34" charset="0"/>
                <a:cs typeface="Arial" panose="020B0604020202020204" pitchFamily="34" charset="0"/>
              </a:rPr>
              <a:t>: Aclarar </a:t>
            </a:r>
            <a:r>
              <a:rPr lang="es-MX" u="sng" dirty="0">
                <a:solidFill>
                  <a:srgbClr val="0070C0"/>
                </a:solidFill>
                <a:latin typeface="Arial" panose="020B0604020202020204" pitchFamily="34" charset="0"/>
                <a:cs typeface="Arial" panose="020B0604020202020204" pitchFamily="34" charset="0"/>
              </a:rPr>
              <a:t>el rol, las tareas y las áreas de especialización </a:t>
            </a:r>
            <a:r>
              <a:rPr lang="es-MX" dirty="0">
                <a:latin typeface="Arial" panose="020B0604020202020204" pitchFamily="34" charset="0"/>
                <a:cs typeface="Arial" panose="020B0604020202020204" pitchFamily="34" charset="0"/>
              </a:rPr>
              <a:t>de cada miembro del equipo para evitar confusiones y garantizar la rendición de cuentas.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Procesos de trabajo</a:t>
            </a:r>
            <a:r>
              <a:rPr lang="es-MX" dirty="0">
                <a:latin typeface="Arial" panose="020B0604020202020204" pitchFamily="34" charset="0"/>
                <a:cs typeface="Arial" panose="020B0604020202020204" pitchFamily="34" charset="0"/>
              </a:rPr>
              <a:t>: Describir cómo se asignarán las tareas, se establecerán los plazos y se hará un seguimiento del progreso para mantener la eficiencia y la transparencia.</a:t>
            </a:r>
          </a:p>
        </p:txBody>
      </p:sp>
    </p:spTree>
    <p:extLst>
      <p:ext uri="{BB962C8B-B14F-4D97-AF65-F5344CB8AC3E}">
        <p14:creationId xmlns:p14="http://schemas.microsoft.com/office/powerpoint/2010/main" val="4037427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FF664-0FCA-A16E-925A-C51A10281F5C}"/>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1A3F50C0-93E6-78AC-567A-7A10AE9A4F32}"/>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DCA9186B-DD49-F7D0-2C4D-0B0146E40304}"/>
              </a:ext>
            </a:extLst>
          </p:cNvPr>
          <p:cNvSpPr txBox="1"/>
          <p:nvPr/>
        </p:nvSpPr>
        <p:spPr>
          <a:xfrm>
            <a:off x="774700" y="719246"/>
            <a:ext cx="10185400" cy="5355312"/>
          </a:xfrm>
          <a:prstGeom prst="rect">
            <a:avLst/>
          </a:prstGeom>
          <a:noFill/>
        </p:spPr>
        <p:txBody>
          <a:bodyPr wrap="square">
            <a:spAutoFit/>
          </a:bodyPr>
          <a:lstStyle/>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Resolución de conflictos</a:t>
            </a:r>
            <a:r>
              <a:rPr lang="es-MX" dirty="0">
                <a:latin typeface="Arial" panose="020B0604020202020204" pitchFamily="34" charset="0"/>
                <a:cs typeface="Arial" panose="020B0604020202020204" pitchFamily="34" charset="0"/>
              </a:rPr>
              <a:t>: Proporcionar estrategias y protocolos para abordar conflictos y desacuerdos de forma constructiva y mantener una dinámica de equipo positiva.</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Respeto e inclusión</a:t>
            </a:r>
            <a:r>
              <a:rPr lang="es-MX" dirty="0">
                <a:latin typeface="Arial" panose="020B0604020202020204" pitchFamily="34" charset="0"/>
                <a:cs typeface="Arial" panose="020B0604020202020204" pitchFamily="34" charset="0"/>
              </a:rPr>
              <a:t>: Promover una cultura de respeto, diversidad e inclusión mediante el establecimiento de directrices para tratar a todos los miembros del equipo con dignidad y valorar sus perspectivas.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b="1" dirty="0"/>
              <a:t>Retroalimentación y mejora continua</a:t>
            </a:r>
            <a:r>
              <a:rPr lang="es-ES" dirty="0"/>
              <a:t>: Fomentar la retroalimentación abierta y honesta, tanto al dar como al recibir, para fomentar el crecimiento personal y del equipo.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b="1" dirty="0"/>
              <a:t>Confidencialidad y confianza</a:t>
            </a:r>
            <a:r>
              <a:rPr lang="es-ES" dirty="0"/>
              <a:t>: Establecer límites en torno a la información sensible y fomentar un ambiente de confianza y confidencialidad entre los miembros del equipo. </a:t>
            </a:r>
          </a:p>
          <a:p>
            <a:pPr marL="285750" indent="-285750">
              <a:buFont typeface="Arial" panose="020B0604020202020204" pitchFamily="34" charset="0"/>
              <a:buChar char="•"/>
            </a:pPr>
            <a:endParaRPr lang="es-ES" dirty="0"/>
          </a:p>
          <a:p>
            <a:r>
              <a:rPr lang="es-ES" dirty="0"/>
              <a:t>Los acuerdos de equipo suelen crearse de forma colaborativa, con la participación de todos los miembros, y se revisan periódicamente para garantizar que sigan siendo relevantes y eficaces a medida que el equipo evoluciona y surgen nuevos desafíos. </a:t>
            </a:r>
          </a:p>
          <a:p>
            <a:endParaRPr lang="es-ES" dirty="0"/>
          </a:p>
          <a:p>
            <a:r>
              <a:rPr lang="es-ES" dirty="0"/>
              <a:t>Al establecer expectativas y directrices claras, se ayuda a los equipos a trabajar de forma más cohesionada, minimizar los malentendidos y, en última instancia, alcanzar sus objetivos con mayor eficacia.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94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E083-2CA2-2008-B1A3-49672B6F5C6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51DE1088-F341-F879-305A-17DE9D29148C}"/>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7FFB38C3-40B4-5FFC-9DF6-F5F18804C6AF}"/>
              </a:ext>
            </a:extLst>
          </p:cNvPr>
          <p:cNvSpPr/>
          <p:nvPr/>
        </p:nvSpPr>
        <p:spPr>
          <a:xfrm>
            <a:off x="1887257" y="1925935"/>
            <a:ext cx="8149837" cy="1754326"/>
          </a:xfrm>
          <a:prstGeom prst="rect">
            <a:avLst/>
          </a:prstGeom>
          <a:noFill/>
        </p:spPr>
        <p:txBody>
          <a:bodyPr wrap="squar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Beneficios de tener un acuerdo de equipo</a:t>
            </a:r>
          </a:p>
        </p:txBody>
      </p:sp>
    </p:spTree>
    <p:extLst>
      <p:ext uri="{BB962C8B-B14F-4D97-AF65-F5344CB8AC3E}">
        <p14:creationId xmlns:p14="http://schemas.microsoft.com/office/powerpoint/2010/main" val="75828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0AB0-08BF-B80E-C196-573E90BDC31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F137F428-606A-B2C1-AC48-A8FB5B63B11E}"/>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79D830F3-DC24-E3F3-02DF-7A65E802B89C}"/>
              </a:ext>
            </a:extLst>
          </p:cNvPr>
          <p:cNvSpPr txBox="1"/>
          <p:nvPr/>
        </p:nvSpPr>
        <p:spPr>
          <a:xfrm>
            <a:off x="927100" y="843677"/>
            <a:ext cx="10642600" cy="5170646"/>
          </a:xfrm>
          <a:prstGeom prst="rect">
            <a:avLst/>
          </a:prstGeom>
          <a:noFill/>
        </p:spPr>
        <p:txBody>
          <a:bodyPr wrap="square">
            <a:spAutoFit/>
          </a:bodyPr>
          <a:lstStyle/>
          <a:p>
            <a:r>
              <a:rPr lang="es-MX" sz="2400" b="1" dirty="0">
                <a:latin typeface="Arial" panose="020B0604020202020204" pitchFamily="34" charset="0"/>
                <a:cs typeface="Arial" panose="020B0604020202020204" pitchFamily="34" charset="0"/>
              </a:rPr>
              <a:t>Beneficios de tener un acuerdo de equipo</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1. Claridad y alineación</a:t>
            </a:r>
          </a:p>
          <a:p>
            <a:r>
              <a:rPr lang="es-MX" dirty="0">
                <a:latin typeface="Arial" panose="020B0604020202020204" pitchFamily="34" charset="0"/>
                <a:cs typeface="Arial" panose="020B0604020202020204" pitchFamily="34" charset="0"/>
              </a:rPr>
              <a:t>Los acuerdos de equipo aclaran las expectativas, roles y responsabilidades, garantizando que todos los miembros del equipo estén alineados y trabajen hacia objetivos comunes.</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2. Mejora de la comunicación</a:t>
            </a:r>
          </a:p>
          <a:p>
            <a:r>
              <a:rPr lang="es-MX" dirty="0">
                <a:latin typeface="Arial" panose="020B0604020202020204" pitchFamily="34" charset="0"/>
                <a:cs typeface="Arial" panose="020B0604020202020204" pitchFamily="34" charset="0"/>
              </a:rPr>
              <a:t>Al establecer normas y protocolos de comunicación, los acuerdos de trabajo en equipo facilitan una comunicación más efectiva y respetuosa entre los miembros, reduciendo malentendidos y conflictos.</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3. Mejora de la colaboración</a:t>
            </a:r>
          </a:p>
          <a:p>
            <a:r>
              <a:rPr lang="es-MX" dirty="0">
                <a:latin typeface="Arial" panose="020B0604020202020204" pitchFamily="34" charset="0"/>
                <a:cs typeface="Arial" panose="020B0604020202020204" pitchFamily="34" charset="0"/>
              </a:rPr>
              <a:t>Unas directrices claras para la colaboración, la asignación de tareas y la toma de decisiones promueven un entorno de equipo más colaborativo y cooperativo, donde los miembros se apoyan mutuamente y trabajan juntos para alcanzar objetivos comunes.</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4. Mayor responsabilidad</a:t>
            </a:r>
          </a:p>
          <a:p>
            <a:r>
              <a:rPr lang="es-MX" dirty="0">
                <a:latin typeface="Arial" panose="020B0604020202020204" pitchFamily="34" charset="0"/>
                <a:cs typeface="Arial" panose="020B0604020202020204" pitchFamily="34" charset="0"/>
              </a:rPr>
              <a:t>Los acuerdos de equipo ayudan a que los miembros rindan cuentas de sus acciones y compromisos, ya que las expectativas están claramente definidas y acordadas por todos los miembros.</a:t>
            </a:r>
          </a:p>
        </p:txBody>
      </p:sp>
    </p:spTree>
    <p:extLst>
      <p:ext uri="{BB962C8B-B14F-4D97-AF65-F5344CB8AC3E}">
        <p14:creationId xmlns:p14="http://schemas.microsoft.com/office/powerpoint/2010/main" val="425456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081D-8CCD-943B-870A-0707756D3727}"/>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A969E33C-C5D0-1477-8F54-C8F2F5A8F917}"/>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F63F5A29-798C-A2B1-DF2F-35CD3EC0D6C7}"/>
              </a:ext>
            </a:extLst>
          </p:cNvPr>
          <p:cNvSpPr txBox="1"/>
          <p:nvPr/>
        </p:nvSpPr>
        <p:spPr>
          <a:xfrm>
            <a:off x="889000" y="889843"/>
            <a:ext cx="10642600" cy="5078313"/>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5. Resolución de conflictos. </a:t>
            </a:r>
            <a:r>
              <a:rPr lang="es-ES" dirty="0">
                <a:latin typeface="Arial" panose="020B0604020202020204" pitchFamily="34" charset="0"/>
                <a:cs typeface="Arial" panose="020B0604020202020204" pitchFamily="34" charset="0"/>
              </a:rPr>
              <a:t>Al definir procesos para abordar conflictos y desacuerdos, los acuerdos de equipo permiten a los equipos resolver problemas de forma constructiva y oportuna, manteniendo relaciones positivas y una mayor productividad.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6. Fomento de la confianza y el respeto. </a:t>
            </a:r>
            <a:r>
              <a:rPr lang="es-ES" dirty="0">
                <a:latin typeface="Arial" panose="020B0604020202020204" pitchFamily="34" charset="0"/>
                <a:cs typeface="Arial" panose="020B0604020202020204" pitchFamily="34" charset="0"/>
              </a:rPr>
              <a:t>Establecer normas de respeto, inclusión y confidencialidad fomenta una cultura de confianza y respeto dentro del equipo, donde los miembros se sienten valorados y apoyados.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7. Mayor productividad. </a:t>
            </a:r>
            <a:r>
              <a:rPr lang="es-ES" dirty="0">
                <a:latin typeface="Arial" panose="020B0604020202020204" pitchFamily="34" charset="0"/>
                <a:cs typeface="Arial" panose="020B0604020202020204" pitchFamily="34" charset="0"/>
              </a:rPr>
              <a:t>Con directrices y procesos claros, los equipos pueden trabajar de forma más eficiente y productiva, minimizando el tiempo perdido en malentendidos o interacciones improductivas.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8. Mejora continua. </a:t>
            </a:r>
            <a:r>
              <a:rPr lang="es-ES" dirty="0">
                <a:latin typeface="Arial" panose="020B0604020202020204" pitchFamily="34" charset="0"/>
                <a:cs typeface="Arial" panose="020B0604020202020204" pitchFamily="34" charset="0"/>
              </a:rPr>
              <a:t>Los acuerdos de equipo fomentan una cultura de retroalimentación y reflexión, lo que permite a los equipos evaluar continuamente su desempeño, identificar áreas de mejora y realizar los ajustes necesarios para aumentar su eficacia.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En general, los acuerdos de equipo contribuyen a una dinámica de equipo positiva, un mejor rendimiento y una mayor satisfacción entre los miembros, lo que en última instancia conduce a un mayor éxito en el logro de los objetivos del equipo.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986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2AC5-B7C9-8035-D0FC-EB35D12562EE}"/>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AF6AEE14-6E55-C20E-0B6C-26F77397C98D}"/>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EC3E7022-18D9-F5AB-ADD7-21F282A26508}"/>
              </a:ext>
            </a:extLst>
          </p:cNvPr>
          <p:cNvSpPr/>
          <p:nvPr/>
        </p:nvSpPr>
        <p:spPr>
          <a:xfrm>
            <a:off x="1887257" y="1925935"/>
            <a:ext cx="8149837" cy="2585323"/>
          </a:xfrm>
          <a:prstGeom prst="rect">
            <a:avLst/>
          </a:prstGeom>
          <a:noFill/>
        </p:spPr>
        <p:txBody>
          <a:bodyPr wrap="squar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Cómo se integra el acuerdo de equipo? Con qué frecuencia se actualiza?</a:t>
            </a:r>
          </a:p>
        </p:txBody>
      </p:sp>
    </p:spTree>
    <p:extLst>
      <p:ext uri="{BB962C8B-B14F-4D97-AF65-F5344CB8AC3E}">
        <p14:creationId xmlns:p14="http://schemas.microsoft.com/office/powerpoint/2010/main" val="2319850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DB22-21E7-7542-8397-48788D4ACBF1}"/>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BEB234A7-2F3C-E947-EC84-6EC538338052}"/>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4075857A-85EA-E325-1E1B-B0815F736CEA}"/>
              </a:ext>
            </a:extLst>
          </p:cNvPr>
          <p:cNvSpPr txBox="1"/>
          <p:nvPr/>
        </p:nvSpPr>
        <p:spPr>
          <a:xfrm>
            <a:off x="1101142" y="1153686"/>
            <a:ext cx="9989716" cy="3570208"/>
          </a:xfrm>
          <a:prstGeom prst="rect">
            <a:avLst/>
          </a:prstGeom>
          <a:noFill/>
        </p:spPr>
        <p:txBody>
          <a:bodyPr wrap="square">
            <a:spAutoFit/>
          </a:bodyPr>
          <a:lstStyle/>
          <a:p>
            <a:r>
              <a:rPr lang="es-ES" sz="2800" b="1" dirty="0">
                <a:latin typeface="Arial" panose="020B0604020202020204" pitchFamily="34" charset="0"/>
                <a:cs typeface="Arial" panose="020B0604020202020204" pitchFamily="34" charset="0"/>
              </a:rPr>
              <a:t>Cómo crear un acuerdo de equipo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Ahora que conocemos los tipos y beneficios, es hora de empezar a crear nuestro primer acuerdo de equipo. Aquí tienes una guía paso a paso.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Iniciar el proceso. </a:t>
            </a:r>
            <a:r>
              <a:rPr lang="es-ES" dirty="0">
                <a:latin typeface="Arial" panose="020B0604020202020204" pitchFamily="34" charset="0"/>
                <a:cs typeface="Arial" panose="020B0604020202020204" pitchFamily="34" charset="0"/>
              </a:rPr>
              <a:t>Comienza explicando el propósito y la importancia de establecer un acuerdo de equipo. Enfatiza que ayudará a mejorar la comunicación, la colaboración y la productividad dentro del equipo.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Invitar a la participación. </a:t>
            </a:r>
            <a:r>
              <a:rPr lang="es-ES" dirty="0">
                <a:latin typeface="Arial" panose="020B0604020202020204" pitchFamily="34" charset="0"/>
                <a:cs typeface="Arial" panose="020B0604020202020204" pitchFamily="34" charset="0"/>
              </a:rPr>
              <a:t>Anima a todos los miembros del equipo a participar activamente en la creación del acuerdo de equipo. Deja claro que las aportaciones de todos son valiosas y contribuirán al éxito del equipo.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137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13416-DD6F-A744-92A3-EE1A5972B6D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B4E82407-360D-7104-6BBB-D531171CFDB0}"/>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4673361C-406C-83B2-410F-54FE6EDB4FF4}"/>
              </a:ext>
            </a:extLst>
          </p:cNvPr>
          <p:cNvSpPr txBox="1"/>
          <p:nvPr/>
        </p:nvSpPr>
        <p:spPr>
          <a:xfrm>
            <a:off x="1101142" y="1153686"/>
            <a:ext cx="9989716" cy="4154984"/>
          </a:xfrm>
          <a:prstGeom prst="rect">
            <a:avLst/>
          </a:prstGeom>
          <a:noFill/>
        </p:spPr>
        <p:txBody>
          <a:bodyPr wrap="square">
            <a:spAutoFit/>
          </a:bodyPr>
          <a:lstStyle/>
          <a:p>
            <a:pPr algn="ctr"/>
            <a:r>
              <a:rPr lang="es-MX" sz="2800" b="1" dirty="0">
                <a:latin typeface="Arial" panose="020B0604020202020204" pitchFamily="34" charset="0"/>
                <a:cs typeface="Arial" panose="020B0604020202020204" pitchFamily="34" charset="0"/>
              </a:rPr>
              <a:t>¿Con qué frecuencia debe un equipo revisar y modificar el acuerdo de equipo? </a:t>
            </a:r>
          </a:p>
          <a:p>
            <a:endParaRPr lang="es-MX"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La revisión de un acuerdo de equipo debe ser un proceso dinámico que refleje la naturaleza evolutiva del equipo y sus proyectos. </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Los equipos deben programar revisiones periódicas, quizás trimestrales o semestrales, para evaluar la relevancia y eficacia del acuerdo. </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Estas revisiones permiten realizar ajustes en función de la incorporación de nuevos miembros, cambios en el alcance del proyecto o cambios en el entorno laboral del equipo, garantizando así que el acuerdo se mantenga alineado con las necesidades y objetivos actuales del equipo.</a:t>
            </a:r>
          </a:p>
        </p:txBody>
      </p:sp>
    </p:spTree>
    <p:extLst>
      <p:ext uri="{BB962C8B-B14F-4D97-AF65-F5344CB8AC3E}">
        <p14:creationId xmlns:p14="http://schemas.microsoft.com/office/powerpoint/2010/main" val="2251366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1131-DED9-13EB-B12C-235B91912D72}"/>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1C1B9C05-0EA9-5627-CA36-857DD6B8D33A}"/>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4A092CDA-6282-689E-5EC3-F8973548396F}"/>
              </a:ext>
            </a:extLst>
          </p:cNvPr>
          <p:cNvSpPr/>
          <p:nvPr/>
        </p:nvSpPr>
        <p:spPr>
          <a:xfrm>
            <a:off x="1887257" y="1925935"/>
            <a:ext cx="8149837" cy="923330"/>
          </a:xfrm>
          <a:prstGeom prst="rect">
            <a:avLst/>
          </a:prstGeom>
          <a:noFill/>
        </p:spPr>
        <p:txBody>
          <a:bodyPr wrap="squar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Caso SCRUM</a:t>
            </a:r>
          </a:p>
        </p:txBody>
      </p:sp>
      <p:sp>
        <p:nvSpPr>
          <p:cNvPr id="5" name="CuadroTexto 4">
            <a:extLst>
              <a:ext uri="{FF2B5EF4-FFF2-40B4-BE49-F238E27FC236}">
                <a16:creationId xmlns:a16="http://schemas.microsoft.com/office/drawing/2014/main" id="{C0F2FD93-2DB9-23C3-3DFE-CE217E4845B1}"/>
              </a:ext>
            </a:extLst>
          </p:cNvPr>
          <p:cNvSpPr txBox="1"/>
          <p:nvPr/>
        </p:nvSpPr>
        <p:spPr>
          <a:xfrm>
            <a:off x="2578100" y="3311605"/>
            <a:ext cx="7458994" cy="369332"/>
          </a:xfrm>
          <a:prstGeom prst="rect">
            <a:avLst/>
          </a:prstGeom>
          <a:noFill/>
        </p:spPr>
        <p:txBody>
          <a:bodyPr wrap="square">
            <a:spAutoFit/>
          </a:bodyPr>
          <a:lstStyle/>
          <a:p>
            <a:r>
              <a:rPr lang="es-MX" dirty="0"/>
              <a:t>https://www.scrum.org/resources/creating-team-working-agreement</a:t>
            </a:r>
          </a:p>
        </p:txBody>
      </p:sp>
    </p:spTree>
    <p:extLst>
      <p:ext uri="{BB962C8B-B14F-4D97-AF65-F5344CB8AC3E}">
        <p14:creationId xmlns:p14="http://schemas.microsoft.com/office/powerpoint/2010/main" val="3491711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49560-D4AD-3789-4A90-251C2E901B0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72BD8865-CC71-2DC0-1EB1-7CFA27068954}"/>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25FD0799-9AC1-BA58-B918-5E781C59A62E}"/>
              </a:ext>
            </a:extLst>
          </p:cNvPr>
          <p:cNvSpPr txBox="1"/>
          <p:nvPr/>
        </p:nvSpPr>
        <p:spPr>
          <a:xfrm>
            <a:off x="1101142" y="1605340"/>
            <a:ext cx="10290758" cy="3693319"/>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¿Por qué crear un acuerdo de trabajo en equipo?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Un acuerdo de trabajo en equipo proporciona un conjunto de directrices acordadas que un equipo Scrum debe seguir, de modo que todos comprendan las expectativas mientras trabajan juntos para generar valor.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Un equipo puede usar un acuerdo de trabajo para impulsar la autogestión.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Un equipo Scrum crea el acuerdo de trabajo en equipo de forma colaborativa.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Si eres Scrum Master, puedes apoyar la creación y el desarrollo del acuerdo de trabajo en equipo, pero no debes decidir su contenido en nombre del equipo. Por supuesto, puedes contribuir como compañero.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5563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4ECE5-9DA8-B8EA-407D-1D244E9B6E87}"/>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C596F7EE-AD6A-7FA7-BA33-2415B679CFFB}"/>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B3F9F6C4-3EE8-63AF-83BD-991B69B5C4D3}"/>
              </a:ext>
            </a:extLst>
          </p:cNvPr>
          <p:cNvSpPr/>
          <p:nvPr/>
        </p:nvSpPr>
        <p:spPr>
          <a:xfrm>
            <a:off x="2809680" y="730493"/>
            <a:ext cx="6107955" cy="584775"/>
          </a:xfrm>
          <a:prstGeom prst="rect">
            <a:avLst/>
          </a:prstGeom>
          <a:noFill/>
        </p:spPr>
        <p:txBody>
          <a:bodyPr wrap="non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¿Cómo crear el acuerdo de equipo?</a:t>
            </a:r>
          </a:p>
        </p:txBody>
      </p:sp>
      <p:sp>
        <p:nvSpPr>
          <p:cNvPr id="6" name="CuadroTexto 5">
            <a:extLst>
              <a:ext uri="{FF2B5EF4-FFF2-40B4-BE49-F238E27FC236}">
                <a16:creationId xmlns:a16="http://schemas.microsoft.com/office/drawing/2014/main" id="{0859928F-5353-534A-CA55-09BA91D27013}"/>
              </a:ext>
            </a:extLst>
          </p:cNvPr>
          <p:cNvSpPr txBox="1"/>
          <p:nvPr/>
        </p:nvSpPr>
        <p:spPr>
          <a:xfrm>
            <a:off x="952500" y="2413337"/>
            <a:ext cx="10257363" cy="2031325"/>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Una forma de facilitar la creación del acuerdo de trabajo del Equipo Scrum es mediante un proceso de divergencia y convergencia, que consta de dos etapas: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la etapa de divergencia, en la que los miembros del equipo piensan ideas individualmente,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y la etapa de convergencia, donde discuten las ideas de la fase de divergencia en grupo para llegar a un entendimiento común.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Esto permite al equipo generar una amplia gama de ideas y explorar sus diferentes perspectivas.</a:t>
            </a:r>
            <a:endParaRPr lang="es-MX"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0BBECAB-A5D7-A439-5515-556DC2AAFE78}"/>
              </a:ext>
            </a:extLst>
          </p:cNvPr>
          <p:cNvSpPr txBox="1"/>
          <p:nvPr/>
        </p:nvSpPr>
        <p:spPr>
          <a:xfrm>
            <a:off x="952500" y="1806020"/>
            <a:ext cx="8216900" cy="461665"/>
          </a:xfrm>
          <a:prstGeom prst="rect">
            <a:avLst/>
          </a:prstGeom>
          <a:noFill/>
        </p:spPr>
        <p:txBody>
          <a:bodyPr wrap="square">
            <a:spAutoFit/>
          </a:bodyPr>
          <a:lstStyle/>
          <a:p>
            <a:r>
              <a:rPr lang="es-MX" sz="2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Actividad: D</a:t>
            </a:r>
            <a:r>
              <a:rPr lang="es-MX" sz="24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ivergencia y Convergencia</a:t>
            </a:r>
            <a:endParaRPr lang="es-MX"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384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4A6C-8D19-B45C-49E9-12DC3421AB46}"/>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66171E24-F8D9-73F9-71E8-6C45EB5FFD42}"/>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3C561668-DC13-97F1-F2F8-FD2D359297C7}"/>
              </a:ext>
            </a:extLst>
          </p:cNvPr>
          <p:cNvSpPr txBox="1"/>
          <p:nvPr/>
        </p:nvSpPr>
        <p:spPr>
          <a:xfrm>
            <a:off x="932044" y="1476851"/>
            <a:ext cx="10548756" cy="4524315"/>
          </a:xfrm>
          <a:prstGeom prst="rect">
            <a:avLst/>
          </a:prstGeom>
          <a:noFill/>
        </p:spPr>
        <p:txBody>
          <a:bodyPr wrap="square">
            <a:spAutoFit/>
          </a:bodyPr>
          <a:lstStyle/>
          <a:p>
            <a:r>
              <a:rPr lang="es-ES" dirty="0"/>
              <a:t>1. Primero, anima a todos los miembros del Equipo Scrum a generar individualmente ideas y sugerencias que consideren que deberían formar parte del acuerdo de trabajo en equipo. </a:t>
            </a:r>
          </a:p>
          <a:p>
            <a:r>
              <a:rPr lang="es-ES" dirty="0"/>
              <a:t>Algunos ejemplos que podrían considerar son: </a:t>
            </a:r>
          </a:p>
          <a:p>
            <a:pPr marL="285750" indent="-285750">
              <a:buFont typeface="Arial" panose="020B0604020202020204" pitchFamily="34" charset="0"/>
              <a:buChar char="•"/>
            </a:pPr>
            <a:r>
              <a:rPr lang="es-ES" dirty="0"/>
              <a:t>La hora y el lugar de los eventos de Scrum. </a:t>
            </a:r>
          </a:p>
          <a:p>
            <a:pPr marL="285750" indent="-285750">
              <a:buFont typeface="Arial" panose="020B0604020202020204" pitchFamily="34" charset="0"/>
              <a:buChar char="•"/>
            </a:pPr>
            <a:r>
              <a:rPr lang="es-ES" dirty="0"/>
              <a:t>La definición de "Terminado”.. </a:t>
            </a:r>
          </a:p>
          <a:p>
            <a:pPr marL="285750" indent="-285750">
              <a:buFont typeface="Arial" panose="020B0604020202020204" pitchFamily="34" charset="0"/>
              <a:buChar char="•"/>
            </a:pPr>
            <a:r>
              <a:rPr lang="es-ES" dirty="0"/>
              <a:t>Los canales de comunicación que utiliza el equipo.</a:t>
            </a:r>
          </a:p>
          <a:p>
            <a:pPr marL="285750" indent="-285750">
              <a:buFont typeface="Arial" panose="020B0604020202020204" pitchFamily="34" charset="0"/>
              <a:buChar char="•"/>
            </a:pPr>
            <a:r>
              <a:rPr lang="es-ES" dirty="0"/>
              <a:t>Cómo aborda el trabajo el equipo (p. ej., emparejamiento, trabajo en equipo, enjambre, etc.).</a:t>
            </a:r>
          </a:p>
          <a:p>
            <a:pPr marL="285750" indent="-285750">
              <a:buFont typeface="Arial" panose="020B0604020202020204" pitchFamily="34" charset="0"/>
              <a:buChar char="•"/>
            </a:pPr>
            <a:r>
              <a:rPr lang="es-ES" dirty="0"/>
              <a:t>Cómo puede el equipo concentrarse en el trabajo y evitar distracciones. </a:t>
            </a:r>
          </a:p>
          <a:p>
            <a:pPr marL="285750" indent="-285750">
              <a:buFont typeface="Arial" panose="020B0604020202020204" pitchFamily="34" charset="0"/>
              <a:buChar char="•"/>
            </a:pPr>
            <a:r>
              <a:rPr lang="es-ES" dirty="0"/>
              <a:t>Las herramientas que el equipo se compromete a utilizar. </a:t>
            </a:r>
          </a:p>
          <a:p>
            <a:pPr marL="285750" indent="-285750">
              <a:buFont typeface="Arial" panose="020B0604020202020204" pitchFamily="34" charset="0"/>
              <a:buChar char="•"/>
            </a:pPr>
            <a:r>
              <a:rPr lang="es-ES" dirty="0"/>
              <a:t>Dónde se almacenará la documentación y los artefactos.</a:t>
            </a:r>
          </a:p>
          <a:p>
            <a:pPr marL="285750" indent="-285750">
              <a:buFont typeface="Arial" panose="020B0604020202020204" pitchFamily="34" charset="0"/>
              <a:buChar char="•"/>
            </a:pPr>
            <a:r>
              <a:rPr lang="es-ES" dirty="0"/>
              <a:t>Cómo se hará transparente el Backlog del Producto y el Backlog del Sprint.</a:t>
            </a:r>
          </a:p>
          <a:p>
            <a:pPr marL="285750" indent="-285750">
              <a:buFont typeface="Arial" panose="020B0604020202020204" pitchFamily="34" charset="0"/>
              <a:buChar char="•"/>
            </a:pPr>
            <a:r>
              <a:rPr lang="es-ES" dirty="0"/>
              <a:t>Cómo se organiza el entorno de trabajo, ya sea virtual o físico.</a:t>
            </a:r>
          </a:p>
          <a:p>
            <a:endParaRPr lang="es-ES" dirty="0"/>
          </a:p>
          <a:p>
            <a:r>
              <a:rPr lang="es-ES" dirty="0"/>
              <a:t>2. Después de que el equipo termine de anotar sus sugerencias, dales la oportunidad de revisar y comprender el resultado de la generación de ideas mediante técnicas como el mapeo de afinidad o el recorrido por la galería.</a:t>
            </a:r>
            <a:endParaRPr lang="es-MX" dirty="0"/>
          </a:p>
        </p:txBody>
      </p:sp>
      <p:sp>
        <p:nvSpPr>
          <p:cNvPr id="5" name="Rectángulo 4">
            <a:extLst>
              <a:ext uri="{FF2B5EF4-FFF2-40B4-BE49-F238E27FC236}">
                <a16:creationId xmlns:a16="http://schemas.microsoft.com/office/drawing/2014/main" id="{01EA1814-298C-78FA-C449-8566E985E804}"/>
              </a:ext>
            </a:extLst>
          </p:cNvPr>
          <p:cNvSpPr/>
          <p:nvPr/>
        </p:nvSpPr>
        <p:spPr>
          <a:xfrm>
            <a:off x="860470" y="730493"/>
            <a:ext cx="10006394" cy="584775"/>
          </a:xfrm>
          <a:prstGeom prst="rect">
            <a:avLst/>
          </a:prstGeom>
          <a:noFill/>
        </p:spPr>
        <p:txBody>
          <a:bodyPr wrap="non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Convergencia y divergencia: Guías para facilitar la actividad</a:t>
            </a:r>
          </a:p>
        </p:txBody>
      </p:sp>
    </p:spTree>
    <p:extLst>
      <p:ext uri="{BB962C8B-B14F-4D97-AF65-F5344CB8AC3E}">
        <p14:creationId xmlns:p14="http://schemas.microsoft.com/office/powerpoint/2010/main" val="145412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48070-CEB4-B7C5-F6E6-86F68192D49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CE7F4FD9-1892-A080-A054-E7DB2F2BF047}"/>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8A363B2E-621F-78C2-5822-65A2468FAAC2}"/>
              </a:ext>
            </a:extLst>
          </p:cNvPr>
          <p:cNvSpPr txBox="1"/>
          <p:nvPr/>
        </p:nvSpPr>
        <p:spPr>
          <a:xfrm>
            <a:off x="1101142" y="1055450"/>
            <a:ext cx="10477500" cy="313932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3. A continuación, el Equipo Scrum debe comprender qué sugerencias se hicieron. Lee cada elemento o grupo de elementos en voz alta, uno por uno, para que todos lo comprendan.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4. Decida qué ideas se incluirán en el acuerdo de trabajo utilizando técnicas (véase la entrada del blog "Cinco maneras de generar consenso") como el voto de puño y letra, la votación romana o la votación por puntos para comprender los niveles de acuerdo individuales sobre cada punto o conjunto de puntos. </a:t>
            </a:r>
          </a:p>
          <a:p>
            <a:endParaRPr lang="es-ES" dirty="0">
              <a:latin typeface="Arial" panose="020B0604020202020204" pitchFamily="34" charset="0"/>
              <a:cs typeface="Arial" panose="020B0604020202020204" pitchFamily="34" charset="0"/>
            </a:endParaRPr>
          </a:p>
          <a:p>
            <a:r>
              <a:rPr lang="es-ES" b="1" dirty="0">
                <a:solidFill>
                  <a:srgbClr val="7030A0"/>
                </a:solidFill>
                <a:latin typeface="Arial" panose="020B0604020202020204" pitchFamily="34" charset="0"/>
                <a:cs typeface="Arial" panose="020B0604020202020204" pitchFamily="34" charset="0"/>
              </a:rPr>
              <a:t>(Dado que este es el acuerdo de trabajo colectivo del equipo, el equipo debe decidir conjuntamente el nivel de consenso que desea para que una sugerencia se incluya en su acuerdo de trabajo. ¿Todos de acuerdo? ¿La mayoría de acuerdo?)</a:t>
            </a:r>
            <a:endParaRPr lang="es-MX" b="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4757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FF2A-7075-26C1-7D08-7FA90383E36E}"/>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8350F9C9-E9D9-1D74-EE42-93EC2EB04674}"/>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D2B7A9E-2E03-DECF-EB5D-D48DFCCD4FFD}"/>
              </a:ext>
            </a:extLst>
          </p:cNvPr>
          <p:cNvSpPr/>
          <p:nvPr/>
        </p:nvSpPr>
        <p:spPr>
          <a:xfrm>
            <a:off x="3221764" y="730493"/>
            <a:ext cx="5283819" cy="584775"/>
          </a:xfrm>
          <a:prstGeom prst="rect">
            <a:avLst/>
          </a:prstGeom>
          <a:noFill/>
        </p:spPr>
        <p:txBody>
          <a:bodyPr wrap="non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Actividad: La peor idea posible</a:t>
            </a:r>
          </a:p>
        </p:txBody>
      </p:sp>
      <p:sp>
        <p:nvSpPr>
          <p:cNvPr id="6" name="CuadroTexto 5">
            <a:extLst>
              <a:ext uri="{FF2B5EF4-FFF2-40B4-BE49-F238E27FC236}">
                <a16:creationId xmlns:a16="http://schemas.microsoft.com/office/drawing/2014/main" id="{0B27D1FF-312A-0EC9-B247-68DF6A09EFF4}"/>
              </a:ext>
            </a:extLst>
          </p:cNvPr>
          <p:cNvSpPr txBox="1"/>
          <p:nvPr/>
        </p:nvSpPr>
        <p:spPr>
          <a:xfrm>
            <a:off x="887120" y="1800017"/>
            <a:ext cx="10644479" cy="1200329"/>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Otra técnica para crear un acuerdo de trabajo colaborativo es similar a la de </a:t>
            </a:r>
            <a:r>
              <a:rPr lang="es-ES" dirty="0" err="1">
                <a:latin typeface="Arial" panose="020B0604020202020204" pitchFamily="34" charset="0"/>
                <a:cs typeface="Arial" panose="020B0604020202020204" pitchFamily="34" charset="0"/>
              </a:rPr>
              <a:t>Triz</a:t>
            </a:r>
            <a:r>
              <a:rPr lang="es-ES" dirty="0">
                <a:latin typeface="Arial" panose="020B0604020202020204" pitchFamily="34" charset="0"/>
                <a:cs typeface="Arial" panose="020B0604020202020204" pitchFamily="34" charset="0"/>
              </a:rPr>
              <a:t>, de “</a:t>
            </a:r>
            <a:r>
              <a:rPr lang="es-ES" dirty="0" err="1">
                <a:latin typeface="Arial" panose="020B0604020202020204" pitchFamily="34" charset="0"/>
                <a:cs typeface="Arial" panose="020B0604020202020204" pitchFamily="34" charset="0"/>
              </a:rPr>
              <a:t>Liberating</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Structures</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Esta es otra excelente manera de facilitar la creación de un acuerdo de trabajo, especialmente con equipos que tienen dificultades para generar ideas y sugerencias.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1790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26862-F8CF-4108-D9FB-371F3091F080}"/>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3E6525B5-322A-AB85-F090-F21241213C1C}"/>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69AF1DC6-85E7-2B9C-A7F1-A2BEB5813BD8}"/>
              </a:ext>
            </a:extLst>
          </p:cNvPr>
          <p:cNvSpPr txBox="1"/>
          <p:nvPr/>
        </p:nvSpPr>
        <p:spPr>
          <a:xfrm>
            <a:off x="932044" y="1476851"/>
            <a:ext cx="10548756" cy="4524315"/>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Generar una primera lista de las peores cosas que un equipo Scrum puede hacer al trabajar en equipo.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Individualmente, los participantes pueden enumerar sus ideas, agruparlas y decidir cuáles son las peores, como se describe en el Paso 4 de Divergir y Convergir, o pueden usar la siguiente estructura…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la Estructura Liberadora 1-2-4- Todos para generar una lista inicial de las peores cosas que un equipo Scrum puede hacer al trabajar en equipo. </a:t>
            </a:r>
          </a:p>
          <a:p>
            <a:pPr marL="742950" lvl="1" indent="-285750">
              <a:buFont typeface="Courier New" panose="02070309020205020404" pitchFamily="49" charset="0"/>
              <a:buChar char="o"/>
            </a:pPr>
            <a:r>
              <a:rPr lang="es-ES" dirty="0">
                <a:latin typeface="Arial" panose="020B0604020202020204" pitchFamily="34" charset="0"/>
                <a:cs typeface="Arial" panose="020B0604020202020204" pitchFamily="34" charset="0"/>
              </a:rPr>
              <a:t>Individualmente: los miembros del equipo reflexionan y crean una lista de las peores cosas que un equipo Scrum puede hacer al trabajar en equipo (1 min). </a:t>
            </a:r>
          </a:p>
          <a:p>
            <a:pPr marL="742950" lvl="1" indent="-285750">
              <a:buFont typeface="Courier New" panose="02070309020205020404" pitchFamily="49" charset="0"/>
              <a:buChar char="o"/>
            </a:pPr>
            <a:r>
              <a:rPr lang="es-ES" dirty="0">
                <a:latin typeface="Arial" panose="020B0604020202020204" pitchFamily="34" charset="0"/>
                <a:cs typeface="Arial" panose="020B0604020202020204" pitchFamily="34" charset="0"/>
              </a:rPr>
              <a:t>En parejas: los miembros del equipo comparten sus resultados y desarrollan los de la ronda individual (2 min). </a:t>
            </a:r>
          </a:p>
          <a:p>
            <a:pPr marL="742950" lvl="1" indent="-285750">
              <a:buFont typeface="Courier New" panose="02070309020205020404" pitchFamily="49" charset="0"/>
              <a:buChar char="o"/>
            </a:pPr>
            <a:r>
              <a:rPr lang="es-ES" dirty="0">
                <a:latin typeface="Arial" panose="020B0604020202020204" pitchFamily="34" charset="0"/>
                <a:cs typeface="Arial" panose="020B0604020202020204" pitchFamily="34" charset="0"/>
              </a:rPr>
              <a:t>En grupos de cuatro: los miembros del equipo comparten y desarrollan los resultados de la ronda anterior (4 min). Los grupos se preguntan qué es lo que más les llama la atención de la lista (5 min). </a:t>
            </a:r>
          </a:p>
          <a:p>
            <a:pPr marL="742950" lvl="1" indent="-285750">
              <a:buFont typeface="Courier New" panose="02070309020205020404" pitchFamily="49" charset="0"/>
              <a:buChar char="o"/>
            </a:pPr>
            <a:r>
              <a:rPr lang="es-ES" dirty="0">
                <a:latin typeface="Arial" panose="020B0604020202020204" pitchFamily="34" charset="0"/>
                <a:cs typeface="Arial" panose="020B0604020202020204" pitchFamily="34" charset="0"/>
              </a:rPr>
              <a:t>Grupo completo: Cada grupo de cuatro comparte con todo el grupo una de las peores cosas que un equipo Scrum puede hacer al trabajar en equipo (5 min).</a:t>
            </a:r>
            <a:endParaRPr lang="es-MX"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3DF8222-73C8-8B4D-DC4C-C47903D21775}"/>
              </a:ext>
            </a:extLst>
          </p:cNvPr>
          <p:cNvSpPr/>
          <p:nvPr/>
        </p:nvSpPr>
        <p:spPr>
          <a:xfrm>
            <a:off x="1451534" y="730493"/>
            <a:ext cx="8824275" cy="584775"/>
          </a:xfrm>
          <a:prstGeom prst="rect">
            <a:avLst/>
          </a:prstGeom>
          <a:noFill/>
        </p:spPr>
        <p:txBody>
          <a:bodyPr wrap="non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La peor idea posible: Guías para facilitar la actividad</a:t>
            </a:r>
          </a:p>
        </p:txBody>
      </p:sp>
    </p:spTree>
    <p:extLst>
      <p:ext uri="{BB962C8B-B14F-4D97-AF65-F5344CB8AC3E}">
        <p14:creationId xmlns:p14="http://schemas.microsoft.com/office/powerpoint/2010/main" val="1305699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445C-52DB-81DC-DC5A-873C7DC6C338}"/>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D9D8DFE8-AC87-6DB5-0AB7-EDAC0A35591C}"/>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D95694D8-E274-7D8C-69DD-97B09C3BB0FA}"/>
              </a:ext>
            </a:extLst>
          </p:cNvPr>
          <p:cNvSpPr txBox="1"/>
          <p:nvPr/>
        </p:nvSpPr>
        <p:spPr>
          <a:xfrm>
            <a:off x="1045870" y="1153686"/>
            <a:ext cx="10371429" cy="341632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2. Genera una segunda lista de todos los comportamientos y acciones que el equipo Scrum está realizando actualmente y que se asemejan a los elementos de la primera lista. Pídeles que reflexionen y debatan.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3. Genera ideas sobre cómo prevenir o detener estas acciones contraproducentes. Los miembros del equipo pueden enumerar ideas individualmente, agruparse, debatir y decidir qué elementos quieren incorporar a su acuerdo de trabajo, o bien, usar el método 1-2-4-All.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4. Añadir las ideas generadas en el paso 3 como base para construir el acuerdo de trabajo.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Usar esta estructura y preguntarse "¿qué NO debemos hacer?" ayuda a las personas a pensar creativamente y a reflexionar sobre su forma de trabajar.</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9561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81B0C-D764-15D6-6631-8BC7D1C9F74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99892477-9BC1-CCAE-B27F-9DB77F4AC0E7}"/>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0EEB0963-43B4-CD11-7CA1-4EEB0DDC8D33}"/>
              </a:ext>
            </a:extLst>
          </p:cNvPr>
          <p:cNvSpPr txBox="1"/>
          <p:nvPr/>
        </p:nvSpPr>
        <p:spPr>
          <a:xfrm>
            <a:off x="1368788" y="969138"/>
            <a:ext cx="9722069" cy="3077766"/>
          </a:xfrm>
          <a:prstGeom prst="rect">
            <a:avLst/>
          </a:prstGeom>
          <a:noFill/>
        </p:spPr>
        <p:txBody>
          <a:bodyPr wrap="square">
            <a:spAutoFit/>
          </a:bodyPr>
          <a:lstStyle/>
          <a:p>
            <a:r>
              <a:rPr lang="es-ES" sz="3200" b="1" dirty="0">
                <a:latin typeface="Arial" panose="020B0604020202020204" pitchFamily="34" charset="0"/>
                <a:cs typeface="Arial" panose="020B0604020202020204" pitchFamily="34" charset="0"/>
              </a:rPr>
              <a:t>Revisar el Acuerdo de Trabajo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Independientemente del enfoque que su equipo decida utilizar para crear su acuerdo de trabajo, es importante que no olviden que existe. El Equipo Scrum debe regirse por el acuerdo que crearon colaborativamente y revisarlo y adaptarlo según sea necesario.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Para que el equipo aprecie y acepte el acuerdo de trabajo como un elemento en evolución y vivo, debe ser transparente y accesible para todo el equipo. Visualice el acuerdo de trabajo, ya sea física o virtualmente. Podría ser útil clasificar los elementos en diferentes temas, como en el ejemplo.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832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5060-313F-543C-EC3A-DC808779D1B8}"/>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A42EF6C4-65A5-2825-07C7-AACF780B50F4}"/>
              </a:ext>
            </a:extLst>
          </p:cNvPr>
          <p:cNvSpPr txBox="1"/>
          <p:nvPr/>
        </p:nvSpPr>
        <p:spPr>
          <a:xfrm>
            <a:off x="1101142" y="1153686"/>
            <a:ext cx="9722069" cy="646331"/>
          </a:xfrm>
          <a:prstGeom prst="rect">
            <a:avLst/>
          </a:prstGeom>
          <a:noFill/>
        </p:spPr>
        <p:txBody>
          <a:bodyPr wrap="square">
            <a:spAutoFit/>
          </a:bodyPr>
          <a:lstStyle/>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pic>
        <p:nvPicPr>
          <p:cNvPr id="9218" name="Picture 2" descr="Working Agreement Template">
            <a:extLst>
              <a:ext uri="{FF2B5EF4-FFF2-40B4-BE49-F238E27FC236}">
                <a16:creationId xmlns:a16="http://schemas.microsoft.com/office/drawing/2014/main" id="{2DE2B52A-01CC-3D1C-C587-DCD5E3C9B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6219" y="1153686"/>
            <a:ext cx="9199562" cy="526874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3B19935-3D7D-D7E1-C035-643E44E6032E}"/>
              </a:ext>
            </a:extLst>
          </p:cNvPr>
          <p:cNvSpPr txBox="1"/>
          <p:nvPr/>
        </p:nvSpPr>
        <p:spPr>
          <a:xfrm>
            <a:off x="1615496" y="754320"/>
            <a:ext cx="8290504" cy="369332"/>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Ejemplo de plantilla de acuerdo de trabajo creada en una pizarra virtual</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684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716F2-BB48-A0A6-A3CF-FEB2DDE322FA}"/>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3C1B2AB1-BCB0-8FCD-4C34-CC332D4AE2EF}"/>
              </a:ext>
            </a:extLst>
          </p:cNvPr>
          <p:cNvSpPr/>
          <p:nvPr/>
        </p:nvSpPr>
        <p:spPr>
          <a:xfrm>
            <a:off x="1142140" y="820221"/>
            <a:ext cx="3086999" cy="646331"/>
          </a:xfrm>
          <a:prstGeom prst="rect">
            <a:avLst/>
          </a:prstGeom>
          <a:noFill/>
        </p:spPr>
        <p:txBody>
          <a:bodyPr wrap="none" lIns="91440" tIns="45720" rIns="91440" bIns="45720">
            <a:spAutoFit/>
          </a:bodyPr>
          <a:lstStyle/>
          <a:p>
            <a:pPr algn="ctr"/>
            <a:r>
              <a:rPr lang="es-MX" sz="3600" b="0" cap="none" spc="0" dirty="0">
                <a:ln w="0"/>
                <a:solidFill>
                  <a:schemeClr val="tx1"/>
                </a:solidFill>
                <a:effectLst>
                  <a:outerShdw blurRad="38100" dist="19050" dir="2700000" algn="tl" rotWithShape="0">
                    <a:schemeClr val="dk1">
                      <a:alpha val="40000"/>
                    </a:schemeClr>
                  </a:outerShdw>
                </a:effectLst>
              </a:rPr>
              <a:t>Recursos extras</a:t>
            </a:r>
          </a:p>
        </p:txBody>
      </p:sp>
      <p:sp>
        <p:nvSpPr>
          <p:cNvPr id="4" name="CuadroTexto 3">
            <a:extLst>
              <a:ext uri="{FF2B5EF4-FFF2-40B4-BE49-F238E27FC236}">
                <a16:creationId xmlns:a16="http://schemas.microsoft.com/office/drawing/2014/main" id="{482A93CC-9D22-CDDB-45BF-EB220A487A74}"/>
              </a:ext>
            </a:extLst>
          </p:cNvPr>
          <p:cNvSpPr txBox="1"/>
          <p:nvPr/>
        </p:nvSpPr>
        <p:spPr>
          <a:xfrm>
            <a:off x="1142140" y="1595760"/>
            <a:ext cx="8369261" cy="369332"/>
          </a:xfrm>
          <a:prstGeom prst="rect">
            <a:avLst/>
          </a:prstGeom>
          <a:noFill/>
        </p:spPr>
        <p:txBody>
          <a:bodyPr wrap="square">
            <a:spAutoFit/>
          </a:bodyPr>
          <a:lstStyle/>
          <a:p>
            <a:pPr algn="l">
              <a:buNone/>
            </a:pPr>
            <a:r>
              <a:rPr lang="es-MX" b="1" i="0" dirty="0">
                <a:solidFill>
                  <a:srgbClr val="0F0F0F"/>
                </a:solidFill>
                <a:effectLst/>
                <a:latin typeface="Roboto" panose="02000000000000000000" pitchFamily="2" charset="0"/>
              </a:rPr>
              <a:t>VIDEO: How to run the Working Agreement Play | Atlassian University Training</a:t>
            </a:r>
          </a:p>
        </p:txBody>
      </p:sp>
      <p:pic>
        <p:nvPicPr>
          <p:cNvPr id="7" name="Imagen 6">
            <a:extLst>
              <a:ext uri="{FF2B5EF4-FFF2-40B4-BE49-F238E27FC236}">
                <a16:creationId xmlns:a16="http://schemas.microsoft.com/office/drawing/2014/main" id="{DBDB7109-9C45-AF8E-F615-2EE5884BD2D7}"/>
              </a:ext>
            </a:extLst>
          </p:cNvPr>
          <p:cNvPicPr>
            <a:picLocks noChangeAspect="1"/>
          </p:cNvPicPr>
          <p:nvPr/>
        </p:nvPicPr>
        <p:blipFill>
          <a:blip r:embed="rId2"/>
          <a:stretch>
            <a:fillRect/>
          </a:stretch>
        </p:blipFill>
        <p:spPr>
          <a:xfrm>
            <a:off x="2801772" y="2094300"/>
            <a:ext cx="5338928" cy="3029791"/>
          </a:xfrm>
          <a:prstGeom prst="rect">
            <a:avLst/>
          </a:prstGeom>
        </p:spPr>
      </p:pic>
      <p:sp>
        <p:nvSpPr>
          <p:cNvPr id="9" name="CuadroTexto 8">
            <a:extLst>
              <a:ext uri="{FF2B5EF4-FFF2-40B4-BE49-F238E27FC236}">
                <a16:creationId xmlns:a16="http://schemas.microsoft.com/office/drawing/2014/main" id="{09BE9D03-9CAE-9609-E4F9-88A51CF86D91}"/>
              </a:ext>
            </a:extLst>
          </p:cNvPr>
          <p:cNvSpPr txBox="1"/>
          <p:nvPr/>
        </p:nvSpPr>
        <p:spPr>
          <a:xfrm>
            <a:off x="1282700" y="5338440"/>
            <a:ext cx="6096000" cy="369332"/>
          </a:xfrm>
          <a:prstGeom prst="rect">
            <a:avLst/>
          </a:prstGeom>
          <a:noFill/>
        </p:spPr>
        <p:txBody>
          <a:bodyPr wrap="square">
            <a:spAutoFit/>
          </a:bodyPr>
          <a:lstStyle/>
          <a:p>
            <a:r>
              <a:rPr lang="es-MX" dirty="0"/>
              <a:t>https://www.youtube.com/watch?v=Z4yB6XsjXqc</a:t>
            </a:r>
          </a:p>
        </p:txBody>
      </p:sp>
    </p:spTree>
    <p:extLst>
      <p:ext uri="{BB962C8B-B14F-4D97-AF65-F5344CB8AC3E}">
        <p14:creationId xmlns:p14="http://schemas.microsoft.com/office/powerpoint/2010/main" val="4247737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B999C-0B0D-174E-13EC-74F3722BA1E1}"/>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BA846F55-9BF0-D3EB-F8F7-6FE5107CE722}"/>
              </a:ext>
            </a:extLst>
          </p:cNvPr>
          <p:cNvSpPr/>
          <p:nvPr/>
        </p:nvSpPr>
        <p:spPr>
          <a:xfrm>
            <a:off x="1376032" y="744021"/>
            <a:ext cx="2339808" cy="646331"/>
          </a:xfrm>
          <a:prstGeom prst="rect">
            <a:avLst/>
          </a:prstGeom>
          <a:noFill/>
        </p:spPr>
        <p:txBody>
          <a:bodyPr wrap="none" lIns="91440" tIns="45720" rIns="91440" bIns="45720">
            <a:spAutoFit/>
          </a:bodyPr>
          <a:lstStyle/>
          <a:p>
            <a:pPr algn="ctr"/>
            <a:r>
              <a:rPr lang="es-MX" sz="3600" b="0" cap="none" spc="0" dirty="0">
                <a:ln w="0"/>
                <a:solidFill>
                  <a:schemeClr val="tx1"/>
                </a:solidFill>
                <a:effectLst>
                  <a:outerShdw blurRad="38100" dist="19050" dir="2700000" algn="tl" rotWithShape="0">
                    <a:schemeClr val="dk1">
                      <a:alpha val="40000"/>
                    </a:schemeClr>
                  </a:outerShdw>
                </a:effectLst>
              </a:rPr>
              <a:t>Referencias</a:t>
            </a:r>
          </a:p>
        </p:txBody>
      </p:sp>
      <p:sp>
        <p:nvSpPr>
          <p:cNvPr id="6" name="CuadroTexto 5">
            <a:extLst>
              <a:ext uri="{FF2B5EF4-FFF2-40B4-BE49-F238E27FC236}">
                <a16:creationId xmlns:a16="http://schemas.microsoft.com/office/drawing/2014/main" id="{0CED9EEA-E8FA-440D-C824-63767E93D8F1}"/>
              </a:ext>
            </a:extLst>
          </p:cNvPr>
          <p:cNvSpPr txBox="1"/>
          <p:nvPr/>
        </p:nvSpPr>
        <p:spPr>
          <a:xfrm>
            <a:off x="660400" y="1723241"/>
            <a:ext cx="11239500" cy="3693319"/>
          </a:xfrm>
          <a:prstGeom prst="rect">
            <a:avLst/>
          </a:prstGeom>
          <a:noFill/>
        </p:spPr>
        <p:txBody>
          <a:bodyPr wrap="square">
            <a:spAutoFit/>
          </a:bodyPr>
          <a:lstStyle/>
          <a:p>
            <a:r>
              <a:rPr lang="es-MX" b="1" dirty="0"/>
              <a:t>Creating a Team Working Agreement. </a:t>
            </a:r>
            <a:r>
              <a:rPr lang="es-MX" dirty="0">
                <a:hlinkClick r:id="rId2"/>
              </a:rPr>
              <a:t>https://www.scrum.org/resources/creating-team-working-agreement</a:t>
            </a:r>
            <a:endParaRPr lang="es-MX" dirty="0"/>
          </a:p>
          <a:p>
            <a:endParaRPr lang="es-MX" dirty="0"/>
          </a:p>
          <a:p>
            <a:r>
              <a:rPr lang="es-MX" b="1" dirty="0"/>
              <a:t>How to Facilitate Powerful Working Agreements</a:t>
            </a:r>
            <a:r>
              <a:rPr lang="es-MX" dirty="0"/>
              <a:t>. </a:t>
            </a:r>
            <a:r>
              <a:rPr lang="es-MX" dirty="0">
                <a:hlinkClick r:id="rId3"/>
              </a:rPr>
              <a:t>https://resources.scrumalliance.org/Article/facilitate-powerful-working-agreements</a:t>
            </a:r>
            <a:r>
              <a:rPr lang="es-MX" dirty="0"/>
              <a:t> </a:t>
            </a:r>
          </a:p>
          <a:p>
            <a:endParaRPr lang="es-MX" dirty="0"/>
          </a:p>
          <a:p>
            <a:r>
              <a:rPr lang="es-MX" dirty="0"/>
              <a:t>How to create a team working agreement. </a:t>
            </a:r>
            <a:r>
              <a:rPr lang="es-MX" dirty="0">
                <a:hlinkClick r:id="rId4"/>
              </a:rPr>
              <a:t>https://www.mural.co/blog/team-agreement-guide</a:t>
            </a:r>
            <a:r>
              <a:rPr lang="es-MX" dirty="0"/>
              <a:t> </a:t>
            </a:r>
          </a:p>
          <a:p>
            <a:endParaRPr lang="es-MX" dirty="0"/>
          </a:p>
          <a:p>
            <a:r>
              <a:rPr lang="es-MX" b="1" dirty="0"/>
              <a:t>[Q&amp;A] How do you develop good team working agreements? </a:t>
            </a:r>
            <a:r>
              <a:rPr lang="es-MX" dirty="0">
                <a:hlinkClick r:id="rId5"/>
              </a:rPr>
              <a:t>https://www.youtube.com/watch?v=Wp8TH165DrU</a:t>
            </a:r>
            <a:endParaRPr lang="es-MX" dirty="0"/>
          </a:p>
          <a:p>
            <a:endParaRPr lang="es-MX" dirty="0"/>
          </a:p>
          <a:p>
            <a:r>
              <a:rPr lang="es-MX" dirty="0"/>
              <a:t>Plantilla para Team Charter: una guía para el éxito del equipo (incluye ejemplos). </a:t>
            </a:r>
            <a:r>
              <a:rPr lang="es-MX" dirty="0">
                <a:hlinkClick r:id="rId6"/>
              </a:rPr>
              <a:t>https://asana.com/es/resources/team-charter-template</a:t>
            </a:r>
            <a:endParaRPr lang="es-MX" dirty="0"/>
          </a:p>
          <a:p>
            <a:endParaRPr lang="es-MX" dirty="0"/>
          </a:p>
          <a:p>
            <a:r>
              <a:rPr lang="es-MX" dirty="0"/>
              <a:t> </a:t>
            </a:r>
          </a:p>
        </p:txBody>
      </p:sp>
    </p:spTree>
    <p:extLst>
      <p:ext uri="{BB962C8B-B14F-4D97-AF65-F5344CB8AC3E}">
        <p14:creationId xmlns:p14="http://schemas.microsoft.com/office/powerpoint/2010/main" val="1522070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20222</TotalTime>
  <Words>2275</Words>
  <Application>Microsoft Macintosh PowerPoint</Application>
  <PresentationFormat>Panorámica</PresentationFormat>
  <Paragraphs>156</Paragraphs>
  <Slides>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Arial</vt:lpstr>
      <vt:lpstr>Calibri</vt:lpstr>
      <vt:lpstr>Calibri Light</vt:lpstr>
      <vt:lpstr>Courier New</vt:lpstr>
      <vt:lpstr>Roboto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 REYES JUAREZ RAMIREZ</dc:creator>
  <cp:lastModifiedBy>reyes juarez</cp:lastModifiedBy>
  <cp:revision>33</cp:revision>
  <dcterms:created xsi:type="dcterms:W3CDTF">2024-03-16T11:41:36Z</dcterms:created>
  <dcterms:modified xsi:type="dcterms:W3CDTF">2025-09-25T17:52:49Z</dcterms:modified>
</cp:coreProperties>
</file>