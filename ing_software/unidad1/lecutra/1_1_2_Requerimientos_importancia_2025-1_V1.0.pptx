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61" r:id="rId3"/>
    <p:sldId id="259" r:id="rId4"/>
    <p:sldId id="260" r:id="rId5"/>
    <p:sldId id="256" r:id="rId6"/>
    <p:sldId id="257" r:id="rId7"/>
    <p:sldId id="258" r:id="rId8"/>
    <p:sldId id="277" r:id="rId9"/>
    <p:sldId id="276" r:id="rId10"/>
    <p:sldId id="278" r:id="rId11"/>
    <p:sldId id="264" r:id="rId12"/>
    <p:sldId id="279" r:id="rId13"/>
    <p:sldId id="280" r:id="rId14"/>
    <p:sldId id="281" r:id="rId15"/>
    <p:sldId id="282" r:id="rId16"/>
    <p:sldId id="283" r:id="rId17"/>
    <p:sldId id="284" r:id="rId18"/>
    <p:sldId id="285" r:id="rId19"/>
    <p:sldId id="266" r:id="rId20"/>
    <p:sldId id="286" r:id="rId21"/>
    <p:sldId id="265" r:id="rId22"/>
    <p:sldId id="262" r:id="rId23"/>
    <p:sldId id="263" r:id="rId24"/>
    <p:sldId id="267" r:id="rId25"/>
    <p:sldId id="268" r:id="rId26"/>
    <p:sldId id="270" r:id="rId27"/>
    <p:sldId id="269" r:id="rId28"/>
    <p:sldId id="272" r:id="rId29"/>
    <p:sldId id="27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4" autoAdjust="0"/>
    <p:restoredTop sz="94660"/>
  </p:normalViewPr>
  <p:slideViewPr>
    <p:cSldViewPr snapToGrid="0">
      <p:cViewPr varScale="1">
        <p:scale>
          <a:sx n="96" d="100"/>
          <a:sy n="96" d="100"/>
        </p:scale>
        <p:origin x="90" y="6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1D5BC-9E02-994B-3D8F-D42DCBBF39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BC7BC2-29EC-8407-2F3E-7C2E616FF8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3DD544-02EC-5747-3EB8-8B8808D9AA21}"/>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341E73ED-05C4-B828-4876-A25711C5F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528E1B-B604-7B62-98E5-6D1A1DF0C05F}"/>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3333782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55D6-853F-7B8A-2908-0C3E7C22C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73BD12-9789-E754-BC39-19C1B86E70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61583-2716-320B-0C1B-07CEC1B0B2F3}"/>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5BB6F7A9-B560-9D5B-C257-788A2F12F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74824-D1C1-FDC9-D03C-9C692789E1AA}"/>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386176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E458-C7D6-58C8-913E-429A4EFD6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752FA9-2D64-7497-A465-CAF3DC21E7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A95233-67AF-C5B9-AD2D-DA7D2CEFF725}"/>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99D8AD64-2E3B-74FD-7C0C-6A98C9CCD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46EC8-6306-3F70-7610-5CC05D1CEDF4}"/>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1194783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C91A-B56E-BAF0-767C-C0855C0EC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FE9FD0-D7FD-C4E3-B973-B30842A551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4359B1-828A-C1F0-3688-6ED24133A5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EEC60D-9686-5E49-E010-92FF9BA65317}"/>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6" name="Footer Placeholder 5">
            <a:extLst>
              <a:ext uri="{FF2B5EF4-FFF2-40B4-BE49-F238E27FC236}">
                <a16:creationId xmlns:a16="http://schemas.microsoft.com/office/drawing/2014/main" id="{2AF1E1F7-BD80-40E5-89C4-35D204C46C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AFCA61-982D-75E2-3147-B7023661F1C3}"/>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109159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E1942-59CE-BE50-F430-D493AFE409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4DA97-8177-D639-62F2-9A42EFDDB9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A8907D-76C6-134D-9B41-41096A8A8D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3B95FA-102C-E1A4-9433-2C20A7235B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EE0425-9AAF-4658-9057-7D5D4079E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E35565-F981-DD94-F94F-6D65A36A2F32}"/>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8" name="Footer Placeholder 7">
            <a:extLst>
              <a:ext uri="{FF2B5EF4-FFF2-40B4-BE49-F238E27FC236}">
                <a16:creationId xmlns:a16="http://schemas.microsoft.com/office/drawing/2014/main" id="{A09EDB00-4324-6C96-095A-E7099C024D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190E0-FBC6-BBBD-5632-507158E97D4E}"/>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1852669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05FC1-D993-A2E4-78C5-E1F90A2C31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A0F86A-331A-B1A8-805E-501F1792ACD7}"/>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4" name="Footer Placeholder 3">
            <a:extLst>
              <a:ext uri="{FF2B5EF4-FFF2-40B4-BE49-F238E27FC236}">
                <a16:creationId xmlns:a16="http://schemas.microsoft.com/office/drawing/2014/main" id="{DF7DA790-EE58-9A65-B4CD-BC4F3C9517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3B82B3-3236-830E-B5F1-70599242FC80}"/>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62853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CDD17-1582-2D4E-8DF7-73C08D412B80}"/>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3" name="Footer Placeholder 2">
            <a:extLst>
              <a:ext uri="{FF2B5EF4-FFF2-40B4-BE49-F238E27FC236}">
                <a16:creationId xmlns:a16="http://schemas.microsoft.com/office/drawing/2014/main" id="{A4EE84DF-AC73-E10D-BA82-11D902BFFF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FD874B-5C06-AE2B-B1BD-A4E750B66BCE}"/>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2168530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A3BF-D315-4BC5-48AD-A88E41826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ADC9F2-57D3-3E55-9095-9E740710B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63E204-181E-9835-D58A-81D4FE19DE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21617-5136-5932-8E0B-1162952238A6}"/>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6" name="Footer Placeholder 5">
            <a:extLst>
              <a:ext uri="{FF2B5EF4-FFF2-40B4-BE49-F238E27FC236}">
                <a16:creationId xmlns:a16="http://schemas.microsoft.com/office/drawing/2014/main" id="{342FBA38-08BB-10C3-3C8F-39E33F0B0E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0D7F96-2392-4863-E1C0-D7A0AAB3E197}"/>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251888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67B7-E376-7061-B0B0-686645852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4FB1F2-969C-EEB8-F902-F505D5350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6B4B44-D7BA-80CC-EF46-B75BF097D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E7B88B-BB16-CD84-1CA9-DB2E99CEDE2A}"/>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6" name="Footer Placeholder 5">
            <a:extLst>
              <a:ext uri="{FF2B5EF4-FFF2-40B4-BE49-F238E27FC236}">
                <a16:creationId xmlns:a16="http://schemas.microsoft.com/office/drawing/2014/main" id="{6B02FF5C-BA86-A64A-3A66-6F946E46AB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F06B2-F80B-54FB-6573-EFBF5C695CEF}"/>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2212393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F39FD-A266-3EE0-0D70-DF97108530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F3C45A-D840-7FB3-8B16-ACAED189E4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AC1567-6B5C-5116-0BE3-D7231DCB5484}"/>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F3F3FAC8-2B9B-48EF-91E3-3A1A9BD3DF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9C69E-DBDE-54D5-304A-A1D95E6B3D3F}"/>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1105862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FC2681-9FD0-6A2D-C9CD-EA53AAA5A6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55D8B1-1302-204C-7714-3314D4CDDD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96EE7A-508A-0C07-8A1A-07ED6A022E2C}"/>
              </a:ext>
            </a:extLst>
          </p:cNvPr>
          <p:cNvSpPr>
            <a:spLocks noGrp="1"/>
          </p:cNvSpPr>
          <p:nvPr>
            <p:ph type="dt" sz="half" idx="10"/>
          </p:nvPr>
        </p:nvSpPr>
        <p:spPr/>
        <p:txBody>
          <a:body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954E4BB9-BD42-B9C2-DB4B-5D6144C39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7F3D3-AACE-6AB7-7A21-B59D3CC73171}"/>
              </a:ext>
            </a:extLst>
          </p:cNvPr>
          <p:cNvSpPr>
            <a:spLocks noGrp="1"/>
          </p:cNvSpPr>
          <p:nvPr>
            <p:ph type="sldNum" sz="quarter" idx="12"/>
          </p:nvPr>
        </p:nvSpPr>
        <p:spPr/>
        <p:txBody>
          <a:bodyPr/>
          <a:lstStyle/>
          <a:p>
            <a:fld id="{BCA5CB9B-D71A-473D-94A3-59A43E51062F}" type="slidenum">
              <a:rPr lang="en-US" smtClean="0"/>
              <a:t>‹#›</a:t>
            </a:fld>
            <a:endParaRPr lang="en-US"/>
          </a:p>
        </p:txBody>
      </p:sp>
    </p:spTree>
    <p:extLst>
      <p:ext uri="{BB962C8B-B14F-4D97-AF65-F5344CB8AC3E}">
        <p14:creationId xmlns:p14="http://schemas.microsoft.com/office/powerpoint/2010/main" val="265702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E3E8C-64B8-723D-D83C-A47CAD684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BAE1BE-5FFE-9108-39C7-8B9F5EC4E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AAD3F-42C1-F05C-F139-EB4ABA14B8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4F7C50-CA8B-45F5-83FA-0704023160F4}" type="datetimeFigureOut">
              <a:rPr lang="en-US" smtClean="0"/>
              <a:t>8/24/2025</a:t>
            </a:fld>
            <a:endParaRPr lang="en-US"/>
          </a:p>
        </p:txBody>
      </p:sp>
      <p:sp>
        <p:nvSpPr>
          <p:cNvPr id="5" name="Footer Placeholder 4">
            <a:extLst>
              <a:ext uri="{FF2B5EF4-FFF2-40B4-BE49-F238E27FC236}">
                <a16:creationId xmlns:a16="http://schemas.microsoft.com/office/drawing/2014/main" id="{C4DD2DA6-BB87-FA57-D3E1-BDEC089C14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2913B4-A5BD-D4E1-E1BA-CB6841B58B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A5CB9B-D71A-473D-94A3-59A43E51062F}" type="slidenum">
              <a:rPr lang="en-US" smtClean="0"/>
              <a:t>‹#›</a:t>
            </a:fld>
            <a:endParaRPr lang="en-US"/>
          </a:p>
        </p:txBody>
      </p:sp>
    </p:spTree>
    <p:extLst>
      <p:ext uri="{BB962C8B-B14F-4D97-AF65-F5344CB8AC3E}">
        <p14:creationId xmlns:p14="http://schemas.microsoft.com/office/powerpoint/2010/main" val="4042411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hyperlink" Target="https://en.wikipedia.org/wiki/Verification_and_validation" TargetMode="External"/><Relationship Id="rId3" Type="http://schemas.openxmlformats.org/officeDocument/2006/relationships/hyperlink" Target="https://en.wikipedia.org/wiki/Atomicity_(database_systems)" TargetMode="External"/><Relationship Id="rId7" Type="http://schemas.openxmlformats.org/officeDocument/2006/relationships/hyperlink" Target="https://en.wikipedia.org/wiki/Acronym" TargetMode="External"/><Relationship Id="rId2" Type="http://schemas.openxmlformats.org/officeDocument/2006/relationships/hyperlink" Target="https://en.wikipedia.org/wiki/Consistency" TargetMode="External"/><Relationship Id="rId1" Type="http://schemas.openxmlformats.org/officeDocument/2006/relationships/slideLayout" Target="../slideLayouts/slideLayout1.xml"/><Relationship Id="rId6" Type="http://schemas.openxmlformats.org/officeDocument/2006/relationships/hyperlink" Target="https://en.wikipedia.org/wiki/Technical_jargon" TargetMode="External"/><Relationship Id="rId5" Type="http://schemas.openxmlformats.org/officeDocument/2006/relationships/hyperlink" Target="https://en.wikipedia.org/wiki/Unambiguous" TargetMode="External"/><Relationship Id="rId4" Type="http://schemas.openxmlformats.org/officeDocument/2006/relationships/hyperlink" Target="https://en.wikipedia.org/wiki/Traceabilit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F8F3A-8435-77EF-5647-1E10342F0A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B57462-949D-92F5-D775-DC99878609C4}"/>
              </a:ext>
            </a:extLst>
          </p:cNvPr>
          <p:cNvSpPr/>
          <p:nvPr/>
        </p:nvSpPr>
        <p:spPr>
          <a:xfrm>
            <a:off x="1719641" y="1563838"/>
            <a:ext cx="9071714" cy="1077218"/>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rPr>
              <a:t>REQUISITOS DE SOFTWARE:</a:t>
            </a:r>
          </a:p>
          <a:p>
            <a:pPr algn="ctr"/>
            <a:r>
              <a:rPr lang="en-US" sz="3200" b="0" cap="none" spc="0" dirty="0">
                <a:ln w="0"/>
                <a:solidFill>
                  <a:schemeClr val="accent1"/>
                </a:solidFill>
                <a:effectLst>
                  <a:outerShdw blurRad="38100" dist="25400" dir="5400000" algn="ctr" rotWithShape="0">
                    <a:srgbClr val="6E747A">
                      <a:alpha val="43000"/>
                    </a:srgbClr>
                  </a:outerShdw>
                </a:effectLst>
              </a:rPr>
              <a:t>La clave para </a:t>
            </a:r>
            <a:r>
              <a:rPr lang="en-US" sz="3200" b="0" cap="none" spc="0" dirty="0" err="1">
                <a:ln w="0"/>
                <a:solidFill>
                  <a:schemeClr val="accent1"/>
                </a:solidFill>
                <a:effectLst>
                  <a:outerShdw blurRad="38100" dist="25400" dir="5400000" algn="ctr" rotWithShape="0">
                    <a:srgbClr val="6E747A">
                      <a:alpha val="43000"/>
                    </a:srgbClr>
                  </a:outerShdw>
                </a:effectLst>
              </a:rPr>
              <a:t>éxito</a:t>
            </a:r>
            <a:r>
              <a:rPr lang="en-US" sz="3200" b="0" cap="none" spc="0" dirty="0">
                <a:ln w="0"/>
                <a:solidFill>
                  <a:schemeClr val="accent1"/>
                </a:solidFill>
                <a:effectLst>
                  <a:outerShdw blurRad="38100" dist="25400" dir="5400000" algn="ctr" rotWithShape="0">
                    <a:srgbClr val="6E747A">
                      <a:alpha val="43000"/>
                    </a:srgbClr>
                  </a:outerShdw>
                </a:effectLst>
              </a:rPr>
              <a:t> de </a:t>
            </a:r>
            <a:r>
              <a:rPr lang="en-US" sz="3200" b="0" cap="none" spc="0" dirty="0" err="1">
                <a:ln w="0"/>
                <a:solidFill>
                  <a:schemeClr val="accent1"/>
                </a:solidFill>
                <a:effectLst>
                  <a:outerShdw blurRad="38100" dist="25400" dir="5400000" algn="ctr" rotWithShape="0">
                    <a:srgbClr val="6E747A">
                      <a:alpha val="43000"/>
                    </a:srgbClr>
                  </a:outerShdw>
                </a:effectLst>
              </a:rPr>
              <a:t>los</a:t>
            </a:r>
            <a:r>
              <a:rPr lang="en-US" sz="3200" b="0" cap="none" spc="0" dirty="0">
                <a:ln w="0"/>
                <a:solidFill>
                  <a:schemeClr val="accent1"/>
                </a:solidFill>
                <a:effectLst>
                  <a:outerShdw blurRad="38100" dist="25400" dir="5400000" algn="ctr" rotWithShape="0">
                    <a:srgbClr val="6E747A">
                      <a:alpha val="43000"/>
                    </a:srgbClr>
                  </a:outerShdw>
                </a:effectLst>
              </a:rPr>
              <a:t> </a:t>
            </a:r>
            <a:r>
              <a:rPr lang="en-US" sz="3200" b="0" cap="none" spc="0" dirty="0" err="1">
                <a:ln w="0"/>
                <a:solidFill>
                  <a:schemeClr val="accent1"/>
                </a:solidFill>
                <a:effectLst>
                  <a:outerShdw blurRad="38100" dist="25400" dir="5400000" algn="ctr" rotWithShape="0">
                    <a:srgbClr val="6E747A">
                      <a:alpha val="43000"/>
                    </a:srgbClr>
                  </a:outerShdw>
                </a:effectLst>
              </a:rPr>
              <a:t>proyectos</a:t>
            </a:r>
            <a:endParaRPr lang="en-US" sz="3200" b="0" cap="none" spc="0" dirty="0">
              <a:ln w="0"/>
              <a:solidFill>
                <a:schemeClr val="accent1"/>
              </a:solidFill>
              <a:effectLst>
                <a:outerShdw blurRad="38100" dist="25400" dir="5400000" algn="ctr" rotWithShape="0">
                  <a:srgbClr val="6E747A">
                    <a:alpha val="43000"/>
                  </a:srgbClr>
                </a:outerShdw>
              </a:effectLst>
            </a:endParaRPr>
          </a:p>
        </p:txBody>
      </p:sp>
      <p:sp>
        <p:nvSpPr>
          <p:cNvPr id="3" name="Rectangle 2">
            <a:extLst>
              <a:ext uri="{FF2B5EF4-FFF2-40B4-BE49-F238E27FC236}">
                <a16:creationId xmlns:a16="http://schemas.microsoft.com/office/drawing/2014/main" id="{F32E4B48-7ADC-F42C-090D-15E7CC5083C5}"/>
              </a:ext>
            </a:extLst>
          </p:cNvPr>
          <p:cNvSpPr/>
          <p:nvPr/>
        </p:nvSpPr>
        <p:spPr>
          <a:xfrm>
            <a:off x="3728271" y="3847613"/>
            <a:ext cx="5458482"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Dr. J. Reyes Juárez Ramírez</a:t>
            </a:r>
          </a:p>
        </p:txBody>
      </p:sp>
    </p:spTree>
    <p:extLst>
      <p:ext uri="{BB962C8B-B14F-4D97-AF65-F5344CB8AC3E}">
        <p14:creationId xmlns:p14="http://schemas.microsoft.com/office/powerpoint/2010/main" val="2632361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8AAF3-B4D2-B8BA-E718-DF9744FA6D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BC6E4C-02B4-D5D5-CFA3-884CFB4F4F41}"/>
              </a:ext>
            </a:extLst>
          </p:cNvPr>
          <p:cNvSpPr txBox="1"/>
          <p:nvPr/>
        </p:nvSpPr>
        <p:spPr>
          <a:xfrm>
            <a:off x="1028700" y="844023"/>
            <a:ext cx="272459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b="1" dirty="0">
                <a:latin typeface="Arial Narrow" panose="020B0606020202030204" pitchFamily="34" charset="0"/>
              </a:rPr>
              <a:t>Types of requirements</a:t>
            </a:r>
          </a:p>
        </p:txBody>
      </p:sp>
      <p:sp>
        <p:nvSpPr>
          <p:cNvPr id="6" name="TextBox 5">
            <a:extLst>
              <a:ext uri="{FF2B5EF4-FFF2-40B4-BE49-F238E27FC236}">
                <a16:creationId xmlns:a16="http://schemas.microsoft.com/office/drawing/2014/main" id="{F1BD8BE4-0C0D-69E8-43D3-882A84408015}"/>
              </a:ext>
            </a:extLst>
          </p:cNvPr>
          <p:cNvSpPr txBox="1"/>
          <p:nvPr/>
        </p:nvSpPr>
        <p:spPr>
          <a:xfrm>
            <a:off x="943639" y="1443841"/>
            <a:ext cx="10699012" cy="4524315"/>
          </a:xfrm>
          <a:prstGeom prst="rect">
            <a:avLst/>
          </a:prstGeom>
          <a:noFill/>
        </p:spPr>
        <p:txBody>
          <a:bodyPr wrap="square">
            <a:spAutoFit/>
          </a:bodyPr>
          <a:lstStyle/>
          <a:p>
            <a:r>
              <a:rPr lang="en-US" sz="1600" dirty="0">
                <a:latin typeface="Arial Narrow" panose="020B0606020202030204" pitchFamily="34" charset="0"/>
              </a:rPr>
              <a:t>Requirements are typically classified into types produced at different stages in a development progression, with the taxonomy depending on the overall model being used. For example, the following scheme was devised by the International Institute of Business Analysis in their Business Analysis Body of Knowledge[5] (see also FURPS and Types of requirements).</a:t>
            </a:r>
          </a:p>
          <a:p>
            <a:endParaRPr lang="en-US" sz="1600" dirty="0">
              <a:latin typeface="Arial Narrow" panose="020B0606020202030204" pitchFamily="34" charset="0"/>
            </a:endParaRPr>
          </a:p>
          <a:p>
            <a:r>
              <a:rPr lang="en-US" sz="1600" b="1" dirty="0">
                <a:latin typeface="Arial Narrow" panose="020B0606020202030204" pitchFamily="34" charset="0"/>
              </a:rPr>
              <a:t>Architectural requirements</a:t>
            </a:r>
          </a:p>
          <a:p>
            <a:r>
              <a:rPr lang="en-US" sz="1600" dirty="0">
                <a:latin typeface="Arial Narrow" panose="020B0606020202030204" pitchFamily="34" charset="0"/>
              </a:rPr>
              <a:t>Architectural requirements explain what has to be done by identifying the necessary integration of system structure and system behavior, i.e., system architecture of a system.</a:t>
            </a:r>
          </a:p>
          <a:p>
            <a:endParaRPr lang="en-US" sz="1600" dirty="0">
              <a:latin typeface="Arial Narrow" panose="020B0606020202030204" pitchFamily="34" charset="0"/>
            </a:endParaRPr>
          </a:p>
          <a:p>
            <a:r>
              <a:rPr lang="en-US" sz="1600" dirty="0">
                <a:latin typeface="Arial Narrow" panose="020B0606020202030204" pitchFamily="34" charset="0"/>
              </a:rPr>
              <a:t>In software engineering, they are called architecturally significant requirements, which is defined as those requirements that have a measurable impact on a software system’s architecture.[6]</a:t>
            </a:r>
          </a:p>
          <a:p>
            <a:endParaRPr lang="en-US" sz="1600" dirty="0">
              <a:latin typeface="Arial Narrow" panose="020B0606020202030204" pitchFamily="34" charset="0"/>
            </a:endParaRPr>
          </a:p>
          <a:p>
            <a:r>
              <a:rPr lang="en-US" sz="1600" b="1" dirty="0">
                <a:latin typeface="Arial Narrow" panose="020B0606020202030204" pitchFamily="34" charset="0"/>
              </a:rPr>
              <a:t>Business requirements</a:t>
            </a:r>
          </a:p>
          <a:p>
            <a:r>
              <a:rPr lang="en-US" sz="1600" dirty="0">
                <a:latin typeface="Arial Narrow" panose="020B0606020202030204" pitchFamily="34" charset="0"/>
              </a:rPr>
              <a:t>High-level statements of the goals, objectives, or needs of an organization. They usually describe opportunities that an organization wants to realize or problems that they want to solve. Often stated in a business case.</a:t>
            </a:r>
          </a:p>
          <a:p>
            <a:endParaRPr lang="en-US" sz="1600" dirty="0">
              <a:latin typeface="Arial Narrow" panose="020B0606020202030204" pitchFamily="34" charset="0"/>
            </a:endParaRPr>
          </a:p>
          <a:p>
            <a:r>
              <a:rPr lang="en-US" sz="1600" b="1" dirty="0">
                <a:latin typeface="Arial Narrow" panose="020B0606020202030204" pitchFamily="34" charset="0"/>
              </a:rPr>
              <a:t>User (stakeholder) requirements</a:t>
            </a:r>
          </a:p>
          <a:p>
            <a:r>
              <a:rPr lang="en-US" sz="1600" dirty="0">
                <a:latin typeface="Arial Narrow" panose="020B0606020202030204" pitchFamily="34" charset="0"/>
              </a:rPr>
              <a:t>Mid-level statements of the needs of a particular stakeholder or group of stakeholders. They usually describe how someone wants to interact with the intended solution. Often acting as a mid-point between the high-level business requirements and more detailed solution requirements.</a:t>
            </a:r>
          </a:p>
        </p:txBody>
      </p:sp>
      <p:sp>
        <p:nvSpPr>
          <p:cNvPr id="2" name="TextBox 1">
            <a:extLst>
              <a:ext uri="{FF2B5EF4-FFF2-40B4-BE49-F238E27FC236}">
                <a16:creationId xmlns:a16="http://schemas.microsoft.com/office/drawing/2014/main" id="{AD3E7F87-CF7B-9D17-7089-F37CFF048E68}"/>
              </a:ext>
            </a:extLst>
          </p:cNvPr>
          <p:cNvSpPr txBox="1"/>
          <p:nvPr/>
        </p:nvSpPr>
        <p:spPr>
          <a:xfrm>
            <a:off x="1368941" y="6211669"/>
            <a:ext cx="9540063" cy="307777"/>
          </a:xfrm>
          <a:prstGeom prst="rect">
            <a:avLst/>
          </a:prstGeom>
          <a:noFill/>
        </p:spPr>
        <p:txBody>
          <a:bodyPr wrap="square">
            <a:spAutoFit/>
          </a:bodyPr>
          <a:lstStyle/>
          <a:p>
            <a:r>
              <a:rPr lang="en-US" sz="1400" dirty="0">
                <a:solidFill>
                  <a:srgbClr val="0070C0"/>
                </a:solidFill>
              </a:rPr>
              <a:t>https://en.wikipedia.org/wiki/Requirement#Types_of_requirements</a:t>
            </a:r>
          </a:p>
        </p:txBody>
      </p:sp>
    </p:spTree>
    <p:extLst>
      <p:ext uri="{BB962C8B-B14F-4D97-AF65-F5344CB8AC3E}">
        <p14:creationId xmlns:p14="http://schemas.microsoft.com/office/powerpoint/2010/main" val="2871876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69CDE-C1C9-899D-F955-10ED5A735E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73F223-F528-8863-60AD-CAE909C77643}"/>
              </a:ext>
            </a:extLst>
          </p:cNvPr>
          <p:cNvSpPr txBox="1"/>
          <p:nvPr/>
        </p:nvSpPr>
        <p:spPr>
          <a:xfrm>
            <a:off x="893135" y="1292499"/>
            <a:ext cx="9888279" cy="4278094"/>
          </a:xfrm>
          <a:prstGeom prst="rect">
            <a:avLst/>
          </a:prstGeom>
          <a:noFill/>
        </p:spPr>
        <p:txBody>
          <a:bodyPr wrap="square">
            <a:spAutoFit/>
          </a:bodyPr>
          <a:lstStyle/>
          <a:p>
            <a:r>
              <a:rPr lang="en-US" sz="1600" b="1" dirty="0">
                <a:latin typeface="Arial Narrow" panose="020B0606020202030204" pitchFamily="34" charset="0"/>
              </a:rPr>
              <a:t>Functional (solution) requirements</a:t>
            </a:r>
          </a:p>
          <a:p>
            <a:r>
              <a:rPr lang="en-US" sz="1600" dirty="0">
                <a:latin typeface="Arial Narrow" panose="020B0606020202030204" pitchFamily="34" charset="0"/>
              </a:rPr>
              <a:t>Usually detailed statements of capabilities, behavior, and information that the solution will need. Examples include formatting text, calculating a number, modulating a signal. They are also sometimes known as capabilities.</a:t>
            </a:r>
          </a:p>
          <a:p>
            <a:endParaRPr lang="en-US" sz="1600" dirty="0">
              <a:latin typeface="Arial Narrow" panose="020B0606020202030204" pitchFamily="34" charset="0"/>
            </a:endParaRPr>
          </a:p>
          <a:p>
            <a:r>
              <a:rPr lang="en-US" sz="1600" b="1" dirty="0">
                <a:latin typeface="Arial Narrow" panose="020B0606020202030204" pitchFamily="34" charset="0"/>
              </a:rPr>
              <a:t>Quality-of-service (non-functional) requirements</a:t>
            </a:r>
          </a:p>
          <a:p>
            <a:r>
              <a:rPr lang="en-US" sz="1600" dirty="0">
                <a:latin typeface="Arial Narrow" panose="020B0606020202030204" pitchFamily="34" charset="0"/>
              </a:rPr>
              <a:t>Usually, detailed statements of the conditions under which the solution must remain effective, qualities that the solution must have, or constraints within which it must operate.[7] Examples include reliability, testability, maintainability, availability. They are also known as characteristics, constraints or the </a:t>
            </a:r>
            <a:r>
              <a:rPr lang="en-US" sz="1600" dirty="0" err="1">
                <a:latin typeface="Arial Narrow" panose="020B0606020202030204" pitchFamily="34" charset="0"/>
              </a:rPr>
              <a:t>ilities</a:t>
            </a:r>
            <a:r>
              <a:rPr lang="en-US" sz="1600" dirty="0">
                <a:latin typeface="Arial Narrow" panose="020B0606020202030204" pitchFamily="34" charset="0"/>
              </a:rPr>
              <a:t>.</a:t>
            </a:r>
          </a:p>
          <a:p>
            <a:endParaRPr lang="en-US" sz="1600" dirty="0">
              <a:latin typeface="Arial Narrow" panose="020B0606020202030204" pitchFamily="34" charset="0"/>
            </a:endParaRPr>
          </a:p>
          <a:p>
            <a:r>
              <a:rPr lang="en-US" sz="1600" b="1" dirty="0">
                <a:latin typeface="Arial Narrow" panose="020B0606020202030204" pitchFamily="34" charset="0"/>
              </a:rPr>
              <a:t>Implementation (transition) requirements</a:t>
            </a:r>
          </a:p>
          <a:p>
            <a:r>
              <a:rPr lang="en-US" sz="1600" dirty="0">
                <a:latin typeface="Arial Narrow" panose="020B0606020202030204" pitchFamily="34" charset="0"/>
              </a:rPr>
              <a:t>Usually, detailed statements of capabilities or behavior required only to enable the transition from the current state of the enterprise to the desired future state, but that will thereafter no longer be required. Examples include recruitment, role changes, education, migration of data from one system to another.</a:t>
            </a:r>
          </a:p>
          <a:p>
            <a:endParaRPr lang="en-US" sz="1600" dirty="0">
              <a:latin typeface="Arial Narrow" panose="020B0606020202030204" pitchFamily="34" charset="0"/>
            </a:endParaRPr>
          </a:p>
          <a:p>
            <a:r>
              <a:rPr lang="en-US" sz="1600" b="1" dirty="0">
                <a:latin typeface="Arial Narrow" panose="020B0606020202030204" pitchFamily="34" charset="0"/>
              </a:rPr>
              <a:t>Regulatory requirements</a:t>
            </a:r>
          </a:p>
          <a:p>
            <a:r>
              <a:rPr lang="en-US" sz="1600" dirty="0">
                <a:latin typeface="Arial Narrow" panose="020B0606020202030204" pitchFamily="34" charset="0"/>
              </a:rPr>
              <a:t>Requirements defined by laws (Federal, State, Municipal, or Regional), contracts (terms and conditions), or policies (company, departmental, or project-level).</a:t>
            </a:r>
          </a:p>
        </p:txBody>
      </p:sp>
      <p:sp>
        <p:nvSpPr>
          <p:cNvPr id="2" name="TextBox 1">
            <a:extLst>
              <a:ext uri="{FF2B5EF4-FFF2-40B4-BE49-F238E27FC236}">
                <a16:creationId xmlns:a16="http://schemas.microsoft.com/office/drawing/2014/main" id="{AF8BDB1A-BCDA-98BA-6D62-3527E3BFA597}"/>
              </a:ext>
            </a:extLst>
          </p:cNvPr>
          <p:cNvSpPr txBox="1"/>
          <p:nvPr/>
        </p:nvSpPr>
        <p:spPr>
          <a:xfrm>
            <a:off x="1368941" y="6211669"/>
            <a:ext cx="9540063" cy="307777"/>
          </a:xfrm>
          <a:prstGeom prst="rect">
            <a:avLst/>
          </a:prstGeom>
          <a:noFill/>
        </p:spPr>
        <p:txBody>
          <a:bodyPr wrap="square">
            <a:spAutoFit/>
          </a:bodyPr>
          <a:lstStyle/>
          <a:p>
            <a:r>
              <a:rPr lang="en-US" sz="1400" dirty="0">
                <a:solidFill>
                  <a:srgbClr val="0070C0"/>
                </a:solidFill>
              </a:rPr>
              <a:t>https://en.wikipedia.org/wiki/Requirement#Types_of_requirements</a:t>
            </a:r>
          </a:p>
        </p:txBody>
      </p:sp>
    </p:spTree>
    <p:extLst>
      <p:ext uri="{BB962C8B-B14F-4D97-AF65-F5344CB8AC3E}">
        <p14:creationId xmlns:p14="http://schemas.microsoft.com/office/powerpoint/2010/main" val="375803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08F8-3FB5-2D0D-E5AF-17825954B1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804055-74B0-CC0E-3439-F04B6408DED3}"/>
              </a:ext>
            </a:extLst>
          </p:cNvPr>
          <p:cNvSpPr/>
          <p:nvPr/>
        </p:nvSpPr>
        <p:spPr>
          <a:xfrm>
            <a:off x="4610659" y="2967335"/>
            <a:ext cx="2970685"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FURPS++</a:t>
            </a:r>
          </a:p>
        </p:txBody>
      </p:sp>
    </p:spTree>
    <p:extLst>
      <p:ext uri="{BB962C8B-B14F-4D97-AF65-F5344CB8AC3E}">
        <p14:creationId xmlns:p14="http://schemas.microsoft.com/office/powerpoint/2010/main" val="354932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C0B707-F3B9-4028-DF89-37C7602A291F}"/>
              </a:ext>
            </a:extLst>
          </p:cNvPr>
          <p:cNvSpPr txBox="1"/>
          <p:nvPr/>
        </p:nvSpPr>
        <p:spPr>
          <a:xfrm>
            <a:off x="7394712" y="650221"/>
            <a:ext cx="4333461" cy="369332"/>
          </a:xfrm>
          <a:prstGeom prst="rect">
            <a:avLst/>
          </a:prstGeom>
          <a:noFill/>
        </p:spPr>
        <p:txBody>
          <a:bodyPr wrap="square">
            <a:spAutoFit/>
          </a:bodyPr>
          <a:lstStyle/>
          <a:p>
            <a:r>
              <a:rPr lang="en-US" dirty="0"/>
              <a:t>Hewlett-Packard (Grady, 1987).</a:t>
            </a:r>
          </a:p>
        </p:txBody>
      </p:sp>
      <p:sp>
        <p:nvSpPr>
          <p:cNvPr id="7" name="TextBox 6">
            <a:extLst>
              <a:ext uri="{FF2B5EF4-FFF2-40B4-BE49-F238E27FC236}">
                <a16:creationId xmlns:a16="http://schemas.microsoft.com/office/drawing/2014/main" id="{D5AB9099-DF56-254C-C390-0637A5271A8E}"/>
              </a:ext>
            </a:extLst>
          </p:cNvPr>
          <p:cNvSpPr txBox="1"/>
          <p:nvPr/>
        </p:nvSpPr>
        <p:spPr>
          <a:xfrm>
            <a:off x="954156" y="1289953"/>
            <a:ext cx="10575233" cy="4278094"/>
          </a:xfrm>
          <a:prstGeom prst="rect">
            <a:avLst/>
          </a:prstGeom>
          <a:noFill/>
        </p:spPr>
        <p:txBody>
          <a:bodyPr wrap="square">
            <a:spAutoFit/>
          </a:bodyPr>
          <a:lstStyle/>
          <a:p>
            <a:r>
              <a:rPr lang="en-US" sz="1600" b="1" dirty="0">
                <a:latin typeface="Arial Narrow" panose="020B0606020202030204" pitchFamily="34" charset="0"/>
              </a:rPr>
              <a:t>FURPS</a:t>
            </a:r>
            <a:r>
              <a:rPr lang="en-US" sz="1600" dirty="0">
                <a:latin typeface="Arial Narrow" panose="020B0606020202030204" pitchFamily="34" charset="0"/>
              </a:rPr>
              <a:t> is an acronym representing a model for classifying software quality attributes (functional and non-functional requirements):</a:t>
            </a:r>
          </a:p>
          <a:p>
            <a:endParaRPr lang="en-US" sz="1600" dirty="0">
              <a:latin typeface="Arial Narrow" panose="020B0606020202030204" pitchFamily="34" charset="0"/>
            </a:endParaRPr>
          </a:p>
          <a:p>
            <a:r>
              <a:rPr lang="en-US" sz="1600" b="1" dirty="0">
                <a:latin typeface="Arial Narrow" panose="020B0606020202030204" pitchFamily="34" charset="0"/>
              </a:rPr>
              <a:t>Functionality</a:t>
            </a:r>
            <a:r>
              <a:rPr lang="en-US" sz="1600" dirty="0">
                <a:latin typeface="Arial Narrow" panose="020B0606020202030204" pitchFamily="34" charset="0"/>
              </a:rPr>
              <a:t> - capability (size and generality of feature set), reusability (compatibility, interoperability, portability), security (safety and exploitability)</a:t>
            </a:r>
          </a:p>
          <a:p>
            <a:endParaRPr lang="en-US" sz="1600" dirty="0">
              <a:latin typeface="Arial Narrow" panose="020B0606020202030204" pitchFamily="34" charset="0"/>
            </a:endParaRPr>
          </a:p>
          <a:p>
            <a:r>
              <a:rPr lang="en-US" sz="1600" b="1" dirty="0">
                <a:latin typeface="Arial Narrow" panose="020B0606020202030204" pitchFamily="34" charset="0"/>
              </a:rPr>
              <a:t>Usability (UX) </a:t>
            </a:r>
            <a:r>
              <a:rPr lang="en-US" sz="1600" dirty="0">
                <a:latin typeface="Arial Narrow" panose="020B0606020202030204" pitchFamily="34" charset="0"/>
              </a:rPr>
              <a:t>- human factors, aesthetics, consistency, documentation, responsiveness</a:t>
            </a:r>
          </a:p>
          <a:p>
            <a:endParaRPr lang="en-US" sz="1600" b="1" dirty="0">
              <a:latin typeface="Arial Narrow" panose="020B0606020202030204" pitchFamily="34" charset="0"/>
            </a:endParaRPr>
          </a:p>
          <a:p>
            <a:r>
              <a:rPr lang="en-US" sz="1600" b="1" dirty="0">
                <a:latin typeface="Arial Narrow" panose="020B0606020202030204" pitchFamily="34" charset="0"/>
              </a:rPr>
              <a:t>Reliability </a:t>
            </a:r>
            <a:r>
              <a:rPr lang="en-US" sz="1600" dirty="0">
                <a:latin typeface="Arial Narrow" panose="020B0606020202030204" pitchFamily="34" charset="0"/>
              </a:rPr>
              <a:t>- availability (failure frequency (robustness/durability/resilience), failure extent and time-length (recoverability/survivability)), predictability (stability), accuracy (frequency/severity of error)</a:t>
            </a:r>
          </a:p>
          <a:p>
            <a:endParaRPr lang="en-US" sz="1600" dirty="0">
              <a:latin typeface="Arial Narrow" panose="020B0606020202030204" pitchFamily="34" charset="0"/>
            </a:endParaRPr>
          </a:p>
          <a:p>
            <a:r>
              <a:rPr lang="en-US" sz="1600" b="1" dirty="0">
                <a:latin typeface="Arial Narrow" panose="020B0606020202030204" pitchFamily="34" charset="0"/>
              </a:rPr>
              <a:t>Performance - </a:t>
            </a:r>
            <a:r>
              <a:rPr lang="en-US" sz="1600" dirty="0">
                <a:latin typeface="Arial Narrow" panose="020B0606020202030204" pitchFamily="34" charset="0"/>
              </a:rPr>
              <a:t>speed, efficiency, resource consumption (power, ram, cache, etc.), throughput, capacity, scalability</a:t>
            </a:r>
          </a:p>
          <a:p>
            <a:endParaRPr lang="en-US" sz="1600" dirty="0">
              <a:latin typeface="Arial Narrow" panose="020B0606020202030204" pitchFamily="34" charset="0"/>
            </a:endParaRPr>
          </a:p>
          <a:p>
            <a:r>
              <a:rPr lang="en-US" sz="1600" b="1" dirty="0">
                <a:latin typeface="Arial Narrow" panose="020B0606020202030204" pitchFamily="34" charset="0"/>
              </a:rPr>
              <a:t>Supportability</a:t>
            </a:r>
            <a:r>
              <a:rPr lang="en-US" sz="1600" dirty="0">
                <a:latin typeface="Arial Narrow" panose="020B0606020202030204" pitchFamily="34" charset="0"/>
              </a:rPr>
              <a:t> (serviceability, maintainability, sustainability, repair speed) - testability, flexibility (modifiability, configurability, adaptability, extensibility, modularity), </a:t>
            </a:r>
            <a:r>
              <a:rPr lang="en-US" sz="1600" dirty="0" err="1">
                <a:latin typeface="Arial Narrow" panose="020B0606020202030204" pitchFamily="34" charset="0"/>
              </a:rPr>
              <a:t>installability</a:t>
            </a:r>
            <a:r>
              <a:rPr lang="en-US" sz="1600" dirty="0">
                <a:latin typeface="Arial Narrow" panose="020B0606020202030204" pitchFamily="34" charset="0"/>
              </a:rPr>
              <a:t>, localizability</a:t>
            </a:r>
          </a:p>
          <a:p>
            <a:endParaRPr lang="en-US" sz="1600" dirty="0">
              <a:latin typeface="Arial Narrow" panose="020B0606020202030204" pitchFamily="34" charset="0"/>
            </a:endParaRPr>
          </a:p>
          <a:p>
            <a:r>
              <a:rPr lang="en-US" sz="1600" dirty="0">
                <a:latin typeface="Arial Narrow" panose="020B0606020202030204" pitchFamily="34" charset="0"/>
              </a:rPr>
              <a:t>The model, developed at Hewlett-Packard was first publicly elaborated by Grady and Caswell. FURPS+ is now widely used in the software industry. The + was later added to the model after various campaigns at HP to extend the acronym to emphasize various attributes.</a:t>
            </a:r>
          </a:p>
        </p:txBody>
      </p:sp>
    </p:spTree>
    <p:extLst>
      <p:ext uri="{BB962C8B-B14F-4D97-AF65-F5344CB8AC3E}">
        <p14:creationId xmlns:p14="http://schemas.microsoft.com/office/powerpoint/2010/main" val="1798309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CD18-96BC-AC1A-9732-C04DAD5E26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D66379-35BF-C2DA-52B3-785ED5FA2E9A}"/>
              </a:ext>
            </a:extLst>
          </p:cNvPr>
          <p:cNvPicPr>
            <a:picLocks noChangeAspect="1"/>
          </p:cNvPicPr>
          <p:nvPr/>
        </p:nvPicPr>
        <p:blipFill>
          <a:blip r:embed="rId2"/>
          <a:stretch>
            <a:fillRect/>
          </a:stretch>
        </p:blipFill>
        <p:spPr>
          <a:xfrm>
            <a:off x="3324225" y="1033462"/>
            <a:ext cx="5543550" cy="4791075"/>
          </a:xfrm>
          <a:prstGeom prst="rect">
            <a:avLst/>
          </a:prstGeom>
        </p:spPr>
      </p:pic>
    </p:spTree>
    <p:extLst>
      <p:ext uri="{BB962C8B-B14F-4D97-AF65-F5344CB8AC3E}">
        <p14:creationId xmlns:p14="http://schemas.microsoft.com/office/powerpoint/2010/main" val="450362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1986-280D-7780-8A22-179720CC4C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947C25-21D6-6BD4-C949-A62AE0EB3D0D}"/>
              </a:ext>
            </a:extLst>
          </p:cNvPr>
          <p:cNvSpPr txBox="1"/>
          <p:nvPr/>
        </p:nvSpPr>
        <p:spPr>
          <a:xfrm>
            <a:off x="1384852" y="1278260"/>
            <a:ext cx="9422296" cy="3785652"/>
          </a:xfrm>
          <a:prstGeom prst="rect">
            <a:avLst/>
          </a:prstGeom>
          <a:noFill/>
        </p:spPr>
        <p:txBody>
          <a:bodyPr wrap="square">
            <a:spAutoFit/>
          </a:bodyPr>
          <a:lstStyle/>
          <a:p>
            <a:pPr marL="285750" indent="-285750">
              <a:buFont typeface="Arial" panose="020B0604020202020204" pitchFamily="34" charset="0"/>
              <a:buChar char="•"/>
            </a:pPr>
            <a:r>
              <a:rPr lang="es-ES" sz="2400" dirty="0">
                <a:latin typeface="Arial Narrow" panose="020B0606020202030204" pitchFamily="34" charset="0"/>
              </a:rPr>
              <a:t>Las restricciones de diseño especifican o restringen el diseño del sistema.  </a:t>
            </a:r>
          </a:p>
          <a:p>
            <a:pPr marL="285750" indent="-285750">
              <a:buFont typeface="Arial" panose="020B0604020202020204" pitchFamily="34" charset="0"/>
              <a:buChar char="•"/>
            </a:pPr>
            <a:endParaRPr lang="es-ES" sz="2400" dirty="0">
              <a:latin typeface="Arial Narrow" panose="020B0606020202030204" pitchFamily="34" charset="0"/>
            </a:endParaRPr>
          </a:p>
          <a:p>
            <a:pPr marL="285750" indent="-285750">
              <a:buFont typeface="Arial" panose="020B0604020202020204" pitchFamily="34" charset="0"/>
              <a:buChar char="•"/>
            </a:pPr>
            <a:r>
              <a:rPr lang="es-ES" sz="2400" dirty="0">
                <a:latin typeface="Arial Narrow" panose="020B0606020202030204" pitchFamily="34" charset="0"/>
              </a:rPr>
              <a:t>Las restricciones de implementación especifican o restringen la codificación o construcción de un sistema.  </a:t>
            </a:r>
          </a:p>
          <a:p>
            <a:pPr marL="285750" indent="-285750">
              <a:buFont typeface="Arial" panose="020B0604020202020204" pitchFamily="34" charset="0"/>
              <a:buChar char="•"/>
            </a:pPr>
            <a:endParaRPr lang="es-ES" sz="2400" dirty="0">
              <a:latin typeface="Arial Narrow" panose="020B0606020202030204" pitchFamily="34" charset="0"/>
            </a:endParaRPr>
          </a:p>
          <a:p>
            <a:pPr marL="285750" indent="-285750">
              <a:buFont typeface="Arial" panose="020B0604020202020204" pitchFamily="34" charset="0"/>
              <a:buChar char="•"/>
            </a:pPr>
            <a:r>
              <a:rPr lang="es-ES" sz="2400" dirty="0">
                <a:latin typeface="Arial Narrow" panose="020B0606020202030204" pitchFamily="34" charset="0"/>
              </a:rPr>
              <a:t>Por su parte, las restricciones de interfaz especifican el comportamiento de los elementos externos con los que el sistema debe interactuar. </a:t>
            </a:r>
          </a:p>
          <a:p>
            <a:pPr marL="285750" indent="-285750">
              <a:buFont typeface="Arial" panose="020B0604020202020204" pitchFamily="34" charset="0"/>
              <a:buChar char="•"/>
            </a:pPr>
            <a:endParaRPr lang="es-ES" sz="2400" dirty="0">
              <a:latin typeface="Arial Narrow" panose="020B0606020202030204" pitchFamily="34" charset="0"/>
            </a:endParaRPr>
          </a:p>
          <a:p>
            <a:pPr marL="285750" indent="-285750">
              <a:buFont typeface="Arial" panose="020B0604020202020204" pitchFamily="34" charset="0"/>
              <a:buChar char="•"/>
            </a:pPr>
            <a:r>
              <a:rPr lang="es-ES" sz="2400" dirty="0">
                <a:latin typeface="Arial Narrow" panose="020B0606020202030204" pitchFamily="34" charset="0"/>
              </a:rPr>
              <a:t>Por último, las restricciones físicas especifican ciertas propiedades que el sistema debe poseer, en términos de materiales, forma, peso, tamaño.</a:t>
            </a:r>
            <a:endParaRPr lang="en-US" sz="2400" dirty="0">
              <a:latin typeface="Arial Narrow" panose="020B0606020202030204" pitchFamily="34" charset="0"/>
            </a:endParaRPr>
          </a:p>
        </p:txBody>
      </p:sp>
    </p:spTree>
    <p:extLst>
      <p:ext uri="{BB962C8B-B14F-4D97-AF65-F5344CB8AC3E}">
        <p14:creationId xmlns:p14="http://schemas.microsoft.com/office/powerpoint/2010/main" val="206057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20D0-7FBD-2C73-6218-9AD997607E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39569C-5E1E-4AD9-F99A-CD902231E051}"/>
              </a:ext>
            </a:extLst>
          </p:cNvPr>
          <p:cNvPicPr>
            <a:picLocks noChangeAspect="1"/>
          </p:cNvPicPr>
          <p:nvPr/>
        </p:nvPicPr>
        <p:blipFill>
          <a:blip r:embed="rId2"/>
          <a:stretch>
            <a:fillRect/>
          </a:stretch>
        </p:blipFill>
        <p:spPr>
          <a:xfrm>
            <a:off x="2249450" y="1781175"/>
            <a:ext cx="8820150" cy="3295650"/>
          </a:xfrm>
          <a:prstGeom prst="rect">
            <a:avLst/>
          </a:prstGeom>
        </p:spPr>
      </p:pic>
    </p:spTree>
    <p:extLst>
      <p:ext uri="{BB962C8B-B14F-4D97-AF65-F5344CB8AC3E}">
        <p14:creationId xmlns:p14="http://schemas.microsoft.com/office/powerpoint/2010/main" val="117841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0C4AD3-C820-7234-BCB0-82F4B9AF4FC0}"/>
            </a:ext>
          </a:extLst>
        </p:cNvPr>
        <p:cNvGrpSpPr/>
        <p:nvPr/>
      </p:nvGrpSpPr>
      <p:grpSpPr>
        <a:xfrm>
          <a:off x="0" y="0"/>
          <a:ext cx="0" cy="0"/>
          <a:chOff x="0" y="0"/>
          <a:chExt cx="0" cy="0"/>
        </a:xfrm>
      </p:grpSpPr>
      <p:pic>
        <p:nvPicPr>
          <p:cNvPr id="3" name="Picture 2" descr="A chart with numbers and numbers&#10;&#10;AI-generated content may be incorrect.">
            <a:extLst>
              <a:ext uri="{FF2B5EF4-FFF2-40B4-BE49-F238E27FC236}">
                <a16:creationId xmlns:a16="http://schemas.microsoft.com/office/drawing/2014/main" id="{3DE8256A-2C10-90D6-6A96-61841AFE81DE}"/>
              </a:ext>
            </a:extLst>
          </p:cNvPr>
          <p:cNvPicPr>
            <a:picLocks noChangeAspect="1"/>
          </p:cNvPicPr>
          <p:nvPr/>
        </p:nvPicPr>
        <p:blipFill>
          <a:blip r:embed="rId2"/>
          <a:stretch>
            <a:fillRect/>
          </a:stretch>
        </p:blipFill>
        <p:spPr>
          <a:xfrm>
            <a:off x="643467" y="1247986"/>
            <a:ext cx="10905066" cy="4362026"/>
          </a:xfrm>
          <a:prstGeom prst="rect">
            <a:avLst/>
          </a:prstGeom>
        </p:spPr>
      </p:pic>
    </p:spTree>
    <p:extLst>
      <p:ext uri="{BB962C8B-B14F-4D97-AF65-F5344CB8AC3E}">
        <p14:creationId xmlns:p14="http://schemas.microsoft.com/office/powerpoint/2010/main" val="265569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37207-9822-7EAA-7328-65EADAF9357B}"/>
            </a:ext>
          </a:extLst>
        </p:cNvPr>
        <p:cNvGrpSpPr/>
        <p:nvPr/>
      </p:nvGrpSpPr>
      <p:grpSpPr>
        <a:xfrm>
          <a:off x="0" y="0"/>
          <a:ext cx="0" cy="0"/>
          <a:chOff x="0" y="0"/>
          <a:chExt cx="0" cy="0"/>
        </a:xfrm>
      </p:grpSpPr>
      <p:pic>
        <p:nvPicPr>
          <p:cNvPr id="4" name="Picture 3" descr="A chart with numbers and percentages&#10;&#10;AI-generated content may be incorrect.">
            <a:extLst>
              <a:ext uri="{FF2B5EF4-FFF2-40B4-BE49-F238E27FC236}">
                <a16:creationId xmlns:a16="http://schemas.microsoft.com/office/drawing/2014/main" id="{7F208A71-AE0A-5590-C3F8-8C154443D822}"/>
              </a:ext>
            </a:extLst>
          </p:cNvPr>
          <p:cNvPicPr>
            <a:picLocks noChangeAspect="1"/>
          </p:cNvPicPr>
          <p:nvPr/>
        </p:nvPicPr>
        <p:blipFill>
          <a:blip r:embed="rId2"/>
          <a:stretch>
            <a:fillRect/>
          </a:stretch>
        </p:blipFill>
        <p:spPr>
          <a:xfrm>
            <a:off x="643467" y="839046"/>
            <a:ext cx="10905066" cy="5179907"/>
          </a:xfrm>
          <a:prstGeom prst="rect">
            <a:avLst/>
          </a:prstGeom>
        </p:spPr>
      </p:pic>
    </p:spTree>
    <p:extLst>
      <p:ext uri="{BB962C8B-B14F-4D97-AF65-F5344CB8AC3E}">
        <p14:creationId xmlns:p14="http://schemas.microsoft.com/office/powerpoint/2010/main" val="59449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51C15-FF13-433F-9EAA-C9B405390B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8983E3-DAF8-115F-AD26-90EBCF1521EF}"/>
              </a:ext>
            </a:extLst>
          </p:cNvPr>
          <p:cNvPicPr>
            <a:picLocks noChangeAspect="1"/>
          </p:cNvPicPr>
          <p:nvPr/>
        </p:nvPicPr>
        <p:blipFill>
          <a:blip r:embed="rId2"/>
          <a:stretch>
            <a:fillRect/>
          </a:stretch>
        </p:blipFill>
        <p:spPr>
          <a:xfrm>
            <a:off x="2866360" y="642937"/>
            <a:ext cx="7543800" cy="5572125"/>
          </a:xfrm>
          <a:prstGeom prst="rect">
            <a:avLst/>
          </a:prstGeom>
        </p:spPr>
      </p:pic>
      <p:sp>
        <p:nvSpPr>
          <p:cNvPr id="2" name="Rectangle 1">
            <a:extLst>
              <a:ext uri="{FF2B5EF4-FFF2-40B4-BE49-F238E27FC236}">
                <a16:creationId xmlns:a16="http://schemas.microsoft.com/office/drawing/2014/main" id="{2DC6659F-070C-F7D1-F691-922966808DCF}"/>
              </a:ext>
            </a:extLst>
          </p:cNvPr>
          <p:cNvSpPr/>
          <p:nvPr/>
        </p:nvSpPr>
        <p:spPr>
          <a:xfrm>
            <a:off x="1297135" y="2882275"/>
            <a:ext cx="1665841"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2017</a:t>
            </a:r>
          </a:p>
        </p:txBody>
      </p:sp>
    </p:spTree>
    <p:extLst>
      <p:ext uri="{BB962C8B-B14F-4D97-AF65-F5344CB8AC3E}">
        <p14:creationId xmlns:p14="http://schemas.microsoft.com/office/powerpoint/2010/main" val="4052067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23675-6C6C-3F46-1A2A-AC3E536C16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B120D10-BF76-BF32-D741-B585434434BA}"/>
              </a:ext>
            </a:extLst>
          </p:cNvPr>
          <p:cNvPicPr>
            <a:picLocks noChangeAspect="1"/>
          </p:cNvPicPr>
          <p:nvPr/>
        </p:nvPicPr>
        <p:blipFill>
          <a:blip r:embed="rId2"/>
          <a:stretch>
            <a:fillRect/>
          </a:stretch>
        </p:blipFill>
        <p:spPr>
          <a:xfrm>
            <a:off x="3643312" y="1147762"/>
            <a:ext cx="4905375" cy="4562475"/>
          </a:xfrm>
          <a:prstGeom prst="rect">
            <a:avLst/>
          </a:prstGeom>
        </p:spPr>
      </p:pic>
    </p:spTree>
    <p:extLst>
      <p:ext uri="{BB962C8B-B14F-4D97-AF65-F5344CB8AC3E}">
        <p14:creationId xmlns:p14="http://schemas.microsoft.com/office/powerpoint/2010/main" val="117403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AD03D-ED20-2427-64C5-B95177BA1480}"/>
            </a:ext>
          </a:extLst>
        </p:cNvPr>
        <p:cNvGrpSpPr/>
        <p:nvPr/>
      </p:nvGrpSpPr>
      <p:grpSpPr>
        <a:xfrm>
          <a:off x="0" y="0"/>
          <a:ext cx="0" cy="0"/>
          <a:chOff x="0" y="0"/>
          <a:chExt cx="0" cy="0"/>
        </a:xfrm>
      </p:grpSpPr>
      <p:pic>
        <p:nvPicPr>
          <p:cNvPr id="4" name="Picture 3" descr="A chart with different colored numbers&#10;&#10;AI-generated content may be incorrect.">
            <a:extLst>
              <a:ext uri="{FF2B5EF4-FFF2-40B4-BE49-F238E27FC236}">
                <a16:creationId xmlns:a16="http://schemas.microsoft.com/office/drawing/2014/main" id="{2FAB1309-DAC4-CFBE-0783-24EEB3529C8D}"/>
              </a:ext>
            </a:extLst>
          </p:cNvPr>
          <p:cNvPicPr>
            <a:picLocks noChangeAspect="1"/>
          </p:cNvPicPr>
          <p:nvPr/>
        </p:nvPicPr>
        <p:blipFill>
          <a:blip r:embed="rId2"/>
          <a:stretch>
            <a:fillRect/>
          </a:stretch>
        </p:blipFill>
        <p:spPr>
          <a:xfrm>
            <a:off x="2709333" y="643466"/>
            <a:ext cx="6773334" cy="5571067"/>
          </a:xfrm>
          <a:prstGeom prst="rect">
            <a:avLst/>
          </a:prstGeom>
        </p:spPr>
      </p:pic>
    </p:spTree>
    <p:extLst>
      <p:ext uri="{BB962C8B-B14F-4D97-AF65-F5344CB8AC3E}">
        <p14:creationId xmlns:p14="http://schemas.microsoft.com/office/powerpoint/2010/main" val="3002176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A32C2-F7FC-81C2-01AD-FFF08865BB6F}"/>
            </a:ext>
          </a:extLst>
        </p:cNvPr>
        <p:cNvGrpSpPr/>
        <p:nvPr/>
      </p:nvGrpSpPr>
      <p:grpSpPr>
        <a:xfrm>
          <a:off x="0" y="0"/>
          <a:ext cx="0" cy="0"/>
          <a:chOff x="0" y="0"/>
          <a:chExt cx="0" cy="0"/>
        </a:xfrm>
      </p:grpSpPr>
      <p:pic>
        <p:nvPicPr>
          <p:cNvPr id="3" name="Picture 2" descr="A colorful rectangular box with text&#10;&#10;AI-generated content may be incorrect.">
            <a:extLst>
              <a:ext uri="{FF2B5EF4-FFF2-40B4-BE49-F238E27FC236}">
                <a16:creationId xmlns:a16="http://schemas.microsoft.com/office/drawing/2014/main" id="{644B124B-38A1-FB63-DAB7-CEF57924E226}"/>
              </a:ext>
            </a:extLst>
          </p:cNvPr>
          <p:cNvPicPr>
            <a:picLocks noChangeAspect="1"/>
          </p:cNvPicPr>
          <p:nvPr/>
        </p:nvPicPr>
        <p:blipFill>
          <a:blip r:embed="rId2"/>
          <a:stretch>
            <a:fillRect/>
          </a:stretch>
        </p:blipFill>
        <p:spPr>
          <a:xfrm>
            <a:off x="643467" y="757258"/>
            <a:ext cx="10905066" cy="5343483"/>
          </a:xfrm>
          <a:prstGeom prst="rect">
            <a:avLst/>
          </a:prstGeom>
        </p:spPr>
      </p:pic>
    </p:spTree>
    <p:extLst>
      <p:ext uri="{BB962C8B-B14F-4D97-AF65-F5344CB8AC3E}">
        <p14:creationId xmlns:p14="http://schemas.microsoft.com/office/powerpoint/2010/main" val="3729263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934340-2385-9628-5C12-CFEDE87AAF9C}"/>
            </a:ext>
          </a:extLst>
        </p:cNvPr>
        <p:cNvGrpSpPr/>
        <p:nvPr/>
      </p:nvGrpSpPr>
      <p:grpSpPr>
        <a:xfrm>
          <a:off x="0" y="0"/>
          <a:ext cx="0" cy="0"/>
          <a:chOff x="0" y="0"/>
          <a:chExt cx="0" cy="0"/>
        </a:xfrm>
      </p:grpSpPr>
      <p:pic>
        <p:nvPicPr>
          <p:cNvPr id="4" name="Picture 3" descr="A screen shot of a chart&#10;&#10;AI-generated content may be incorrect.">
            <a:extLst>
              <a:ext uri="{FF2B5EF4-FFF2-40B4-BE49-F238E27FC236}">
                <a16:creationId xmlns:a16="http://schemas.microsoft.com/office/drawing/2014/main" id="{E4DB001A-69E5-D315-D620-6A023BAD9FA1}"/>
              </a:ext>
            </a:extLst>
          </p:cNvPr>
          <p:cNvPicPr>
            <a:picLocks noChangeAspect="1"/>
          </p:cNvPicPr>
          <p:nvPr/>
        </p:nvPicPr>
        <p:blipFill>
          <a:blip r:embed="rId2"/>
          <a:stretch>
            <a:fillRect/>
          </a:stretch>
        </p:blipFill>
        <p:spPr>
          <a:xfrm>
            <a:off x="1453444" y="643466"/>
            <a:ext cx="9285112" cy="5571067"/>
          </a:xfrm>
          <a:prstGeom prst="rect">
            <a:avLst/>
          </a:prstGeom>
        </p:spPr>
      </p:pic>
    </p:spTree>
    <p:extLst>
      <p:ext uri="{BB962C8B-B14F-4D97-AF65-F5344CB8AC3E}">
        <p14:creationId xmlns:p14="http://schemas.microsoft.com/office/powerpoint/2010/main" val="3178411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1A430-42BB-1241-A67D-F31F6C456ECB}"/>
            </a:ext>
          </a:extLst>
        </p:cNvPr>
        <p:cNvGrpSpPr/>
        <p:nvPr/>
      </p:nvGrpSpPr>
      <p:grpSpPr>
        <a:xfrm>
          <a:off x="0" y="0"/>
          <a:ext cx="0" cy="0"/>
          <a:chOff x="0" y="0"/>
          <a:chExt cx="0" cy="0"/>
        </a:xfrm>
      </p:grpSpPr>
      <p:pic>
        <p:nvPicPr>
          <p:cNvPr id="3" name="Picture 2" descr="A chart with different colored squares&#10;&#10;AI-generated content may be incorrect.">
            <a:extLst>
              <a:ext uri="{FF2B5EF4-FFF2-40B4-BE49-F238E27FC236}">
                <a16:creationId xmlns:a16="http://schemas.microsoft.com/office/drawing/2014/main" id="{E2B9AB5D-742C-36CE-7EFD-C90AABDEFFA0}"/>
              </a:ext>
            </a:extLst>
          </p:cNvPr>
          <p:cNvPicPr>
            <a:picLocks noChangeAspect="1"/>
          </p:cNvPicPr>
          <p:nvPr/>
        </p:nvPicPr>
        <p:blipFill>
          <a:blip r:embed="rId2"/>
          <a:stretch>
            <a:fillRect/>
          </a:stretch>
        </p:blipFill>
        <p:spPr>
          <a:xfrm>
            <a:off x="2267088" y="643466"/>
            <a:ext cx="7657824" cy="5571067"/>
          </a:xfrm>
          <a:prstGeom prst="rect">
            <a:avLst/>
          </a:prstGeom>
        </p:spPr>
      </p:pic>
    </p:spTree>
    <p:extLst>
      <p:ext uri="{BB962C8B-B14F-4D97-AF65-F5344CB8AC3E}">
        <p14:creationId xmlns:p14="http://schemas.microsoft.com/office/powerpoint/2010/main" val="4286892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2FC1D4-633E-74C8-B554-60215411723E}"/>
            </a:ext>
          </a:extLst>
        </p:cNvPr>
        <p:cNvGrpSpPr/>
        <p:nvPr/>
      </p:nvGrpSpPr>
      <p:grpSpPr>
        <a:xfrm>
          <a:off x="0" y="0"/>
          <a:ext cx="0" cy="0"/>
          <a:chOff x="0" y="0"/>
          <a:chExt cx="0" cy="0"/>
        </a:xfrm>
      </p:grpSpPr>
      <p:pic>
        <p:nvPicPr>
          <p:cNvPr id="4" name="Picture 3" descr="A colorful rectangular box with text&#10;&#10;AI-generated content may be incorrect.">
            <a:extLst>
              <a:ext uri="{FF2B5EF4-FFF2-40B4-BE49-F238E27FC236}">
                <a16:creationId xmlns:a16="http://schemas.microsoft.com/office/drawing/2014/main" id="{3FE2304B-15E4-0EE3-83D1-0B336B12BDBC}"/>
              </a:ext>
            </a:extLst>
          </p:cNvPr>
          <p:cNvPicPr>
            <a:picLocks noChangeAspect="1"/>
          </p:cNvPicPr>
          <p:nvPr/>
        </p:nvPicPr>
        <p:blipFill>
          <a:blip r:embed="rId2"/>
          <a:stretch>
            <a:fillRect/>
          </a:stretch>
        </p:blipFill>
        <p:spPr>
          <a:xfrm>
            <a:off x="1639145" y="643466"/>
            <a:ext cx="8913709" cy="5571067"/>
          </a:xfrm>
          <a:prstGeom prst="rect">
            <a:avLst/>
          </a:prstGeom>
        </p:spPr>
      </p:pic>
    </p:spTree>
    <p:extLst>
      <p:ext uri="{BB962C8B-B14F-4D97-AF65-F5344CB8AC3E}">
        <p14:creationId xmlns:p14="http://schemas.microsoft.com/office/powerpoint/2010/main" val="4058665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AB72DF-DD71-ED99-A676-C2EB435BBD8F}"/>
            </a:ext>
          </a:extLst>
        </p:cNvPr>
        <p:cNvGrpSpPr/>
        <p:nvPr/>
      </p:nvGrpSpPr>
      <p:grpSpPr>
        <a:xfrm>
          <a:off x="0" y="0"/>
          <a:ext cx="0" cy="0"/>
          <a:chOff x="0" y="0"/>
          <a:chExt cx="0" cy="0"/>
        </a:xfrm>
      </p:grpSpPr>
      <p:pic>
        <p:nvPicPr>
          <p:cNvPr id="3" name="Picture 2" descr="A table with numbers and text&#10;&#10;AI-generated content may be incorrect.">
            <a:extLst>
              <a:ext uri="{FF2B5EF4-FFF2-40B4-BE49-F238E27FC236}">
                <a16:creationId xmlns:a16="http://schemas.microsoft.com/office/drawing/2014/main" id="{18E04490-BE97-0B36-6DDD-1B15F52CF219}"/>
              </a:ext>
            </a:extLst>
          </p:cNvPr>
          <p:cNvPicPr>
            <a:picLocks noChangeAspect="1"/>
          </p:cNvPicPr>
          <p:nvPr/>
        </p:nvPicPr>
        <p:blipFill>
          <a:blip r:embed="rId2"/>
          <a:stretch>
            <a:fillRect/>
          </a:stretch>
        </p:blipFill>
        <p:spPr>
          <a:xfrm>
            <a:off x="2809235" y="643466"/>
            <a:ext cx="6573530" cy="5571067"/>
          </a:xfrm>
          <a:prstGeom prst="rect">
            <a:avLst/>
          </a:prstGeom>
        </p:spPr>
      </p:pic>
    </p:spTree>
    <p:extLst>
      <p:ext uri="{BB962C8B-B14F-4D97-AF65-F5344CB8AC3E}">
        <p14:creationId xmlns:p14="http://schemas.microsoft.com/office/powerpoint/2010/main" val="295926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9D22-0F67-B885-9245-993313E984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0E0D66-8D19-0063-C7D7-36AC00520E0A}"/>
              </a:ext>
            </a:extLst>
          </p:cNvPr>
          <p:cNvPicPr>
            <a:picLocks noChangeAspect="1"/>
          </p:cNvPicPr>
          <p:nvPr/>
        </p:nvPicPr>
        <p:blipFill>
          <a:blip r:embed="rId2"/>
          <a:stretch>
            <a:fillRect/>
          </a:stretch>
        </p:blipFill>
        <p:spPr>
          <a:xfrm>
            <a:off x="6489405" y="705293"/>
            <a:ext cx="3543300" cy="5638800"/>
          </a:xfrm>
          <a:prstGeom prst="rect">
            <a:avLst/>
          </a:prstGeom>
        </p:spPr>
      </p:pic>
      <p:sp>
        <p:nvSpPr>
          <p:cNvPr id="6" name="Rectangle: Rounded Corners 5">
            <a:extLst>
              <a:ext uri="{FF2B5EF4-FFF2-40B4-BE49-F238E27FC236}">
                <a16:creationId xmlns:a16="http://schemas.microsoft.com/office/drawing/2014/main" id="{BF65151E-C908-2DD6-5370-163AEA10D397}"/>
              </a:ext>
            </a:extLst>
          </p:cNvPr>
          <p:cNvSpPr/>
          <p:nvPr/>
        </p:nvSpPr>
        <p:spPr>
          <a:xfrm>
            <a:off x="5135526" y="5975498"/>
            <a:ext cx="63795" cy="1275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0DD2ED-90CA-6CEE-B53B-E6551F7221F8}"/>
              </a:ext>
            </a:extLst>
          </p:cNvPr>
          <p:cNvSpPr/>
          <p:nvPr/>
        </p:nvSpPr>
        <p:spPr>
          <a:xfrm>
            <a:off x="1594256" y="2105561"/>
            <a:ext cx="3857338" cy="1323439"/>
          </a:xfrm>
          <a:prstGeom prst="rect">
            <a:avLst/>
          </a:prstGeom>
          <a:noFill/>
        </p:spPr>
        <p:txBody>
          <a:bodyPr wrap="none" lIns="91440" tIns="45720" rIns="91440" bIns="45720">
            <a:spAutoFit/>
          </a:bodyPr>
          <a:lstStyle/>
          <a:p>
            <a:pPr algn="ctr"/>
            <a:r>
              <a:rPr lang="en-US" sz="4000" b="0" cap="none" spc="0" dirty="0">
                <a:ln w="0"/>
                <a:solidFill>
                  <a:schemeClr val="accent1"/>
                </a:solidFill>
                <a:effectLst>
                  <a:outerShdw blurRad="38100" dist="25400" dir="5400000" algn="ctr" rotWithShape="0">
                    <a:srgbClr val="6E747A">
                      <a:alpha val="43000"/>
                    </a:srgbClr>
                  </a:outerShdw>
                </a:effectLst>
              </a:rPr>
              <a:t>Industria Tijuana</a:t>
            </a:r>
          </a:p>
          <a:p>
            <a:pPr algn="ctr"/>
            <a:r>
              <a:rPr lang="en-US" sz="4000" dirty="0">
                <a:ln w="0"/>
                <a:solidFill>
                  <a:schemeClr val="accent1"/>
                </a:solidFill>
                <a:effectLst>
                  <a:outerShdw blurRad="38100" dist="25400" dir="5400000" algn="ctr" rotWithShape="0">
                    <a:srgbClr val="6E747A">
                      <a:alpha val="43000"/>
                    </a:srgbClr>
                  </a:outerShdw>
                </a:effectLst>
              </a:rPr>
              <a:t>13 </a:t>
            </a:r>
            <a:r>
              <a:rPr lang="en-US" sz="4000" dirty="0" err="1">
                <a:ln w="0"/>
                <a:solidFill>
                  <a:schemeClr val="accent1"/>
                </a:solidFill>
                <a:effectLst>
                  <a:outerShdw blurRad="38100" dist="25400" dir="5400000" algn="ctr" rotWithShape="0">
                    <a:srgbClr val="6E747A">
                      <a:alpha val="43000"/>
                    </a:srgbClr>
                  </a:outerShdw>
                </a:effectLst>
              </a:rPr>
              <a:t>Febrero</a:t>
            </a:r>
            <a:r>
              <a:rPr lang="en-US" sz="4000" dirty="0">
                <a:ln w="0"/>
                <a:solidFill>
                  <a:schemeClr val="accent1"/>
                </a:solidFill>
                <a:effectLst>
                  <a:outerShdw blurRad="38100" dist="25400" dir="5400000" algn="ctr" rotWithShape="0">
                    <a:srgbClr val="6E747A">
                      <a:alpha val="43000"/>
                    </a:srgbClr>
                  </a:outerShdw>
                </a:effectLst>
              </a:rPr>
              <a:t>, 2025</a:t>
            </a:r>
            <a:endParaRPr lang="en-US" sz="40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401284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624C-C52C-A8B1-C102-0884C4D397C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906E78E-E89A-1662-2547-C3D2A9CBF2F6}"/>
              </a:ext>
            </a:extLst>
          </p:cNvPr>
          <p:cNvSpPr/>
          <p:nvPr/>
        </p:nvSpPr>
        <p:spPr>
          <a:xfrm>
            <a:off x="5135526" y="5975498"/>
            <a:ext cx="63795" cy="1275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370086D-9DC7-5685-4EFA-16F525252659}"/>
              </a:ext>
            </a:extLst>
          </p:cNvPr>
          <p:cNvSpPr/>
          <p:nvPr/>
        </p:nvSpPr>
        <p:spPr>
          <a:xfrm>
            <a:off x="1984815" y="1861549"/>
            <a:ext cx="2980589" cy="2677656"/>
          </a:xfrm>
          <a:prstGeom prst="rect">
            <a:avLst/>
          </a:prstGeom>
          <a:noFill/>
        </p:spPr>
        <p:txBody>
          <a:bodyPr wrap="square" lIns="91440" tIns="45720" rIns="91440" bIns="45720">
            <a:spAutoFit/>
          </a:bodyPr>
          <a:lstStyle/>
          <a:p>
            <a:pPr algn="ctr"/>
            <a:r>
              <a:rPr lang="en-US" sz="2400" b="0" cap="none" spc="0" dirty="0">
                <a:ln w="0"/>
                <a:solidFill>
                  <a:srgbClr val="0070C0"/>
                </a:solidFill>
                <a:effectLst>
                  <a:outerShdw blurRad="38100" dist="19050" dir="2700000" algn="tl" rotWithShape="0">
                    <a:schemeClr val="dk1">
                      <a:alpha val="40000"/>
                    </a:schemeClr>
                  </a:outerShdw>
                </a:effectLst>
              </a:rPr>
              <a:t>NO HAY TIEMPO PARA HACER INGENIERIA, NO HAY TIEMPO PARA PLANEAR</a:t>
            </a:r>
            <a:r>
              <a:rPr lang="en-US" sz="2400" b="0" cap="none" spc="0" dirty="0">
                <a:ln w="0"/>
                <a:solidFill>
                  <a:srgbClr val="FF0000"/>
                </a:solidFill>
                <a:effectLst>
                  <a:outerShdw blurRad="38100" dist="19050" dir="2700000" algn="tl" rotWithShape="0">
                    <a:schemeClr val="dk1">
                      <a:alpha val="40000"/>
                    </a:schemeClr>
                  </a:outerShdw>
                </a:effectLst>
              </a:rPr>
              <a:t>, PERO SI HAY TIEMPO PARA “FALLAR”</a:t>
            </a:r>
          </a:p>
        </p:txBody>
      </p:sp>
      <p:sp>
        <p:nvSpPr>
          <p:cNvPr id="3" name="Rectangle 2">
            <a:extLst>
              <a:ext uri="{FF2B5EF4-FFF2-40B4-BE49-F238E27FC236}">
                <a16:creationId xmlns:a16="http://schemas.microsoft.com/office/drawing/2014/main" id="{23F27E21-0DD6-6AF7-9B86-D51828A0422D}"/>
              </a:ext>
            </a:extLst>
          </p:cNvPr>
          <p:cNvSpPr/>
          <p:nvPr/>
        </p:nvSpPr>
        <p:spPr>
          <a:xfrm>
            <a:off x="7028191" y="1923104"/>
            <a:ext cx="2980589" cy="2554545"/>
          </a:xfrm>
          <a:prstGeom prst="rect">
            <a:avLst/>
          </a:prstGeom>
          <a:noFill/>
        </p:spPr>
        <p:txBody>
          <a:bodyPr wrap="square" lIns="91440" tIns="45720" rIns="91440" bIns="45720">
            <a:spAutoFit/>
          </a:bodyPr>
          <a:lstStyle/>
          <a:p>
            <a:pPr algn="ctr"/>
            <a:r>
              <a:rPr lang="en-US" sz="4000" b="0" cap="none" spc="0" dirty="0">
                <a:ln w="0"/>
                <a:solidFill>
                  <a:srgbClr val="FF0000"/>
                </a:solidFill>
                <a:effectLst>
                  <a:outerShdw blurRad="38100" dist="19050" dir="2700000" algn="tl" rotWithShape="0">
                    <a:schemeClr val="dk1">
                      <a:alpha val="40000"/>
                    </a:schemeClr>
                  </a:outerShdw>
                </a:effectLst>
              </a:rPr>
              <a:t>A PEGAR LADRILLOS, SIN INGENIERIA</a:t>
            </a:r>
          </a:p>
        </p:txBody>
      </p:sp>
    </p:spTree>
    <p:extLst>
      <p:ext uri="{BB962C8B-B14F-4D97-AF65-F5344CB8AC3E}">
        <p14:creationId xmlns:p14="http://schemas.microsoft.com/office/powerpoint/2010/main" val="369524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856F-2617-A627-158B-0E2756DE4E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59E21B-0FB4-FDB6-F5EB-190979775D32}"/>
              </a:ext>
            </a:extLst>
          </p:cNvPr>
          <p:cNvSpPr txBox="1"/>
          <p:nvPr/>
        </p:nvSpPr>
        <p:spPr>
          <a:xfrm>
            <a:off x="1236920" y="1529178"/>
            <a:ext cx="10235609" cy="4524315"/>
          </a:xfrm>
          <a:prstGeom prst="rect">
            <a:avLst/>
          </a:prstGeom>
          <a:noFill/>
        </p:spPr>
        <p:txBody>
          <a:bodyPr wrap="square">
            <a:spAutoFit/>
          </a:bodyPr>
          <a:lstStyle/>
          <a:p>
            <a:r>
              <a:rPr lang="es-ES" dirty="0"/>
              <a:t>Según </a:t>
            </a:r>
            <a:r>
              <a:rPr lang="es-ES" dirty="0" err="1"/>
              <a:t>Marinho</a:t>
            </a:r>
            <a:r>
              <a:rPr lang="es-ES" dirty="0"/>
              <a:t> los proyectos de desarrollo de software son notoriamente víctimas de desastres, debido al alto grado de incertidumbres que manejan [10].</a:t>
            </a:r>
          </a:p>
          <a:p>
            <a:endParaRPr lang="es-ES" dirty="0"/>
          </a:p>
          <a:p>
            <a:r>
              <a:rPr lang="es-ES" dirty="0"/>
              <a:t>Las causas de los fracasos de los proyectos son varias podemos citar:</a:t>
            </a:r>
          </a:p>
          <a:p>
            <a:endParaRPr lang="es-ES" dirty="0"/>
          </a:p>
          <a:p>
            <a:pPr marL="285750" indent="-285750">
              <a:buFont typeface="Arial" panose="020B0604020202020204" pitchFamily="34" charset="0"/>
              <a:buChar char="•"/>
            </a:pPr>
            <a:r>
              <a:rPr lang="es-ES" b="1" dirty="0">
                <a:solidFill>
                  <a:srgbClr val="FF0000"/>
                </a:solidFill>
              </a:rPr>
              <a:t>Requerimiento “pobres”.</a:t>
            </a:r>
          </a:p>
          <a:p>
            <a:pPr marL="285750" indent="-285750">
              <a:buFont typeface="Arial" panose="020B0604020202020204" pitchFamily="34" charset="0"/>
              <a:buChar char="•"/>
            </a:pPr>
            <a:endParaRPr lang="es-ES" b="1" dirty="0">
              <a:solidFill>
                <a:srgbClr val="FF0000"/>
              </a:solidFill>
            </a:endParaRPr>
          </a:p>
          <a:p>
            <a:pPr marL="285750" indent="-285750">
              <a:buFont typeface="Arial" panose="020B0604020202020204" pitchFamily="34" charset="0"/>
              <a:buChar char="•"/>
            </a:pPr>
            <a:r>
              <a:rPr lang="es-ES" b="1" dirty="0">
                <a:solidFill>
                  <a:srgbClr val="FF0000"/>
                </a:solidFill>
              </a:rPr>
              <a:t>El alto grado de incertidumbre [10].</a:t>
            </a:r>
          </a:p>
          <a:p>
            <a:pPr marL="285750" indent="-285750">
              <a:buFont typeface="Arial" panose="020B0604020202020204" pitchFamily="34" charset="0"/>
              <a:buChar char="•"/>
            </a:pPr>
            <a:endParaRPr lang="es-ES" b="1" dirty="0">
              <a:solidFill>
                <a:srgbClr val="FF0000"/>
              </a:solidFill>
            </a:endParaRPr>
          </a:p>
          <a:p>
            <a:pPr marL="285750" indent="-285750">
              <a:buFont typeface="Arial" panose="020B0604020202020204" pitchFamily="34" charset="0"/>
              <a:buChar char="•"/>
            </a:pPr>
            <a:r>
              <a:rPr lang="es-ES" b="1" dirty="0">
                <a:solidFill>
                  <a:srgbClr val="FF0000"/>
                </a:solidFill>
              </a:rPr>
              <a:t>El tamaño de los proyectos [13]</a:t>
            </a:r>
          </a:p>
          <a:p>
            <a:pPr marL="285750" indent="-285750">
              <a:buFont typeface="Arial" panose="020B0604020202020204" pitchFamily="34" charset="0"/>
              <a:buChar char="•"/>
            </a:pPr>
            <a:endParaRPr lang="es-ES" b="1" dirty="0">
              <a:solidFill>
                <a:srgbClr val="FF0000"/>
              </a:solidFill>
            </a:endParaRPr>
          </a:p>
          <a:p>
            <a:pPr marL="285750" indent="-285750">
              <a:buFont typeface="Arial" panose="020B0604020202020204" pitchFamily="34" charset="0"/>
              <a:buChar char="•"/>
            </a:pPr>
            <a:r>
              <a:rPr lang="es-ES" b="1" dirty="0">
                <a:solidFill>
                  <a:srgbClr val="FF0000"/>
                </a:solidFill>
              </a:rPr>
              <a:t>El nivel de experiencia de los miembros del equipo.</a:t>
            </a:r>
          </a:p>
          <a:p>
            <a:pPr marL="285750" indent="-285750">
              <a:buFont typeface="Arial" panose="020B0604020202020204" pitchFamily="34" charset="0"/>
              <a:buChar char="•"/>
            </a:pPr>
            <a:endParaRPr lang="es-ES" b="1" dirty="0">
              <a:solidFill>
                <a:srgbClr val="FF0000"/>
              </a:solidFill>
            </a:endParaRPr>
          </a:p>
          <a:p>
            <a:pPr marL="285750" indent="-285750">
              <a:buFont typeface="Arial" panose="020B0604020202020204" pitchFamily="34" charset="0"/>
              <a:buChar char="•"/>
            </a:pPr>
            <a:r>
              <a:rPr lang="es-ES" b="1" dirty="0">
                <a:solidFill>
                  <a:srgbClr val="FF0000"/>
                </a:solidFill>
              </a:rPr>
              <a:t>Falta de apoyo de la gerencia.</a:t>
            </a:r>
          </a:p>
          <a:p>
            <a:pPr marL="285750" indent="-285750">
              <a:buFont typeface="Arial" panose="020B0604020202020204" pitchFamily="34" charset="0"/>
              <a:buChar char="•"/>
            </a:pPr>
            <a:endParaRPr lang="es-ES" b="1" dirty="0">
              <a:solidFill>
                <a:srgbClr val="FF0000"/>
              </a:solidFill>
            </a:endParaRPr>
          </a:p>
          <a:p>
            <a:pPr marL="285750" indent="-285750">
              <a:buFont typeface="Arial" panose="020B0604020202020204" pitchFamily="34" charset="0"/>
              <a:buChar char="•"/>
            </a:pPr>
            <a:r>
              <a:rPr lang="es-ES" b="1" dirty="0">
                <a:solidFill>
                  <a:srgbClr val="FF0000"/>
                </a:solidFill>
              </a:rPr>
              <a:t>Falta de involucramiento de los usuarios.</a:t>
            </a:r>
            <a:endParaRPr lang="en-US" b="1" dirty="0">
              <a:solidFill>
                <a:srgbClr val="FF0000"/>
              </a:solidFill>
            </a:endParaRPr>
          </a:p>
        </p:txBody>
      </p:sp>
      <p:sp>
        <p:nvSpPr>
          <p:cNvPr id="5" name="Rectangle 4">
            <a:extLst>
              <a:ext uri="{FF2B5EF4-FFF2-40B4-BE49-F238E27FC236}">
                <a16:creationId xmlns:a16="http://schemas.microsoft.com/office/drawing/2014/main" id="{1A0961DF-173A-90FD-6709-F51D432A26B6}"/>
              </a:ext>
            </a:extLst>
          </p:cNvPr>
          <p:cNvSpPr/>
          <p:nvPr/>
        </p:nvSpPr>
        <p:spPr>
          <a:xfrm>
            <a:off x="2396750" y="511214"/>
            <a:ext cx="5909952" cy="923330"/>
          </a:xfrm>
          <a:prstGeom prst="rect">
            <a:avLst/>
          </a:prstGeom>
          <a:noFill/>
        </p:spPr>
        <p:txBody>
          <a:bodyPr wrap="none" lIns="91440" tIns="45720" rIns="91440" bIns="45720">
            <a:spAutoFit/>
          </a:bodyPr>
          <a:lstStyle/>
          <a:p>
            <a:pPr algn="ctr"/>
            <a:r>
              <a:rPr lang="en-US" sz="5400" b="0" cap="none" spc="0" dirty="0" err="1">
                <a:ln w="0"/>
                <a:solidFill>
                  <a:schemeClr val="accent1"/>
                </a:solidFill>
                <a:effectLst>
                  <a:outerShdw blurRad="38100" dist="25400" dir="5400000" algn="ctr" rotWithShape="0">
                    <a:srgbClr val="6E747A">
                      <a:alpha val="43000"/>
                    </a:srgbClr>
                  </a:outerShdw>
                </a:effectLst>
              </a:rPr>
              <a:t>Causas</a:t>
            </a:r>
            <a:r>
              <a:rPr lang="en-US" sz="5400" b="0" cap="none" spc="0" dirty="0">
                <a:ln w="0"/>
                <a:solidFill>
                  <a:schemeClr val="accent1"/>
                </a:solidFill>
                <a:effectLst>
                  <a:outerShdw blurRad="38100" dist="25400" dir="5400000" algn="ctr" rotWithShape="0">
                    <a:srgbClr val="6E747A">
                      <a:alpha val="43000"/>
                    </a:srgbClr>
                  </a:outerShdw>
                </a:effectLst>
              </a:rPr>
              <a:t> del </a:t>
            </a:r>
            <a:r>
              <a:rPr lang="en-US" sz="5400" b="0" cap="none" spc="0" dirty="0" err="1">
                <a:ln w="0"/>
                <a:solidFill>
                  <a:schemeClr val="accent1"/>
                </a:solidFill>
                <a:effectLst>
                  <a:outerShdw blurRad="38100" dist="25400" dir="5400000" algn="ctr" rotWithShape="0">
                    <a:srgbClr val="6E747A">
                      <a:alpha val="43000"/>
                    </a:srgbClr>
                  </a:outerShdw>
                </a:effectLst>
              </a:rPr>
              <a:t>fracaso</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033617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D6E61-38CB-3CA0-A06F-690BF6C4E2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5B9CC4-2789-7466-3CEA-8D527B2A73EF}"/>
              </a:ext>
            </a:extLst>
          </p:cNvPr>
          <p:cNvSpPr/>
          <p:nvPr/>
        </p:nvSpPr>
        <p:spPr>
          <a:xfrm>
            <a:off x="1678228" y="2967335"/>
            <a:ext cx="8835560"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QUALITY OF REQUIREMENTS</a:t>
            </a:r>
          </a:p>
        </p:txBody>
      </p:sp>
    </p:spTree>
    <p:extLst>
      <p:ext uri="{BB962C8B-B14F-4D97-AF65-F5344CB8AC3E}">
        <p14:creationId xmlns:p14="http://schemas.microsoft.com/office/powerpoint/2010/main" val="483159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6B2244-3267-620A-055B-5CD11F651F4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A08672-A3D6-DAAF-E271-1E940DCA7376}"/>
              </a:ext>
            </a:extLst>
          </p:cNvPr>
          <p:cNvGraphicFramePr>
            <a:graphicFrameLocks noGrp="1"/>
          </p:cNvGraphicFramePr>
          <p:nvPr>
            <p:extLst>
              <p:ext uri="{D42A27DB-BD31-4B8C-83A1-F6EECF244321}">
                <p14:modId xmlns:p14="http://schemas.microsoft.com/office/powerpoint/2010/main" val="516067528"/>
              </p:ext>
            </p:extLst>
          </p:nvPr>
        </p:nvGraphicFramePr>
        <p:xfrm>
          <a:off x="1445243" y="643466"/>
          <a:ext cx="9301514" cy="5991139"/>
        </p:xfrm>
        <a:graphic>
          <a:graphicData uri="http://schemas.openxmlformats.org/drawingml/2006/table">
            <a:tbl>
              <a:tblPr firstRow="1" bandRow="1">
                <a:solidFill>
                  <a:schemeClr val="bg1"/>
                </a:solidFill>
              </a:tblPr>
              <a:tblGrid>
                <a:gridCol w="2931046">
                  <a:extLst>
                    <a:ext uri="{9D8B030D-6E8A-4147-A177-3AD203B41FA5}">
                      <a16:colId xmlns:a16="http://schemas.microsoft.com/office/drawing/2014/main" val="53061828"/>
                    </a:ext>
                  </a:extLst>
                </a:gridCol>
                <a:gridCol w="6370468">
                  <a:extLst>
                    <a:ext uri="{9D8B030D-6E8A-4147-A177-3AD203B41FA5}">
                      <a16:colId xmlns:a16="http://schemas.microsoft.com/office/drawing/2014/main" val="2634263252"/>
                    </a:ext>
                  </a:extLst>
                </a:gridCol>
              </a:tblGrid>
              <a:tr h="339525">
                <a:tc>
                  <a:txBody>
                    <a:bodyPr/>
                    <a:lstStyle/>
                    <a:p>
                      <a:pPr algn="ctr"/>
                      <a:r>
                        <a:rPr lang="en-US" sz="1100" b="0" cap="none" spc="0">
                          <a:solidFill>
                            <a:schemeClr val="bg1"/>
                          </a:solidFill>
                          <a:effectLst/>
                        </a:rPr>
                        <a:t>Characteristic</a:t>
                      </a:r>
                    </a:p>
                  </a:txBody>
                  <a:tcPr marL="93250" marR="26878" marT="71730" marB="7173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100" b="0" cap="none" spc="0">
                          <a:solidFill>
                            <a:schemeClr val="bg1"/>
                          </a:solidFill>
                          <a:effectLst/>
                        </a:rPr>
                        <a:t>Explanation</a:t>
                      </a:r>
                    </a:p>
                  </a:txBody>
                  <a:tcPr marL="93250" marR="26878" marT="71730" marB="71730"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436524928"/>
                  </a:ext>
                </a:extLst>
              </a:tr>
              <a:tr h="339525">
                <a:tc>
                  <a:txBody>
                    <a:bodyPr/>
                    <a:lstStyle/>
                    <a:p>
                      <a:r>
                        <a:rPr lang="en-US" sz="1100" cap="none" spc="0">
                          <a:solidFill>
                            <a:schemeClr val="tx1"/>
                          </a:solidFill>
                          <a:effectLst/>
                        </a:rPr>
                        <a:t>Unitary (Cohesive)</a:t>
                      </a:r>
                    </a:p>
                  </a:txBody>
                  <a:tcPr marL="93250" marR="26878" marT="71730" marB="71730"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r>
                        <a:rPr lang="en-US" sz="1100" cap="none" spc="0">
                          <a:solidFill>
                            <a:schemeClr val="tx1"/>
                          </a:solidFill>
                          <a:effectLst/>
                        </a:rPr>
                        <a:t>The requirement addresses one and only one thing.</a:t>
                      </a:r>
                    </a:p>
                  </a:txBody>
                  <a:tcPr marL="93250" marR="26878" marT="71730" marB="71730"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037704183"/>
                  </a:ext>
                </a:extLst>
              </a:tr>
              <a:tr h="339525">
                <a:tc>
                  <a:txBody>
                    <a:bodyPr/>
                    <a:lstStyle/>
                    <a:p>
                      <a:r>
                        <a:rPr lang="en-US" sz="1100" cap="none" spc="0">
                          <a:solidFill>
                            <a:schemeClr val="tx1"/>
                          </a:solidFill>
                          <a:effectLst/>
                        </a:rPr>
                        <a:t>Complete</a:t>
                      </a:r>
                    </a:p>
                  </a:txBody>
                  <a:tcPr marL="93250" marR="26878" marT="71730" marB="717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100" cap="none" spc="0">
                          <a:solidFill>
                            <a:schemeClr val="tx1"/>
                          </a:solidFill>
                          <a:effectLst/>
                        </a:rPr>
                        <a:t>The requirement is fully stated in one place with no missing information.</a:t>
                      </a:r>
                    </a:p>
                  </a:txBody>
                  <a:tcPr marL="93250" marR="26878" marT="71730" marB="7173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77976588"/>
                  </a:ext>
                </a:extLst>
              </a:tr>
              <a:tr h="506896">
                <a:tc>
                  <a:txBody>
                    <a:bodyPr/>
                    <a:lstStyle/>
                    <a:p>
                      <a:r>
                        <a:rPr lang="en-US" sz="1100" u="none" strike="noStrike" cap="none" spc="0">
                          <a:solidFill>
                            <a:schemeClr val="tx1"/>
                          </a:solidFill>
                          <a:effectLst/>
                          <a:hlinkClick r:id="rId2" tooltip="Consistency">
                            <a:extLst>
                              <a:ext uri="{A12FA001-AC4F-418D-AE19-62706E023703}">
                                <ahyp:hlinkClr xmlns:ahyp="http://schemas.microsoft.com/office/drawing/2018/hyperlinkcolor" val="tx"/>
                              </a:ext>
                            </a:extLst>
                          </a:hlinkClick>
                        </a:rPr>
                        <a:t>Consistent</a:t>
                      </a:r>
                      <a:endParaRPr lang="en-US" sz="1100" cap="none" spc="0">
                        <a:solidFill>
                          <a:schemeClr val="tx1"/>
                        </a:solidFill>
                        <a:effectLst/>
                      </a:endParaRPr>
                    </a:p>
                  </a:txBody>
                  <a:tcPr marL="93250" marR="26878" marT="71730" marB="717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100" cap="none" spc="0">
                          <a:solidFill>
                            <a:schemeClr val="tx1"/>
                          </a:solidFill>
                          <a:effectLst/>
                        </a:rPr>
                        <a:t>The requirement does not contradict any other requirement and is fully consistent with all authoritative external documentation.</a:t>
                      </a:r>
                    </a:p>
                  </a:txBody>
                  <a:tcPr marL="93250" marR="26878" marT="71730" marB="7173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56808684"/>
                  </a:ext>
                </a:extLst>
              </a:tr>
              <a:tr h="841638">
                <a:tc>
                  <a:txBody>
                    <a:bodyPr/>
                    <a:lstStyle/>
                    <a:p>
                      <a:r>
                        <a:rPr lang="en-US" sz="1100" cap="none" spc="0">
                          <a:solidFill>
                            <a:schemeClr val="tx1"/>
                          </a:solidFill>
                          <a:effectLst/>
                        </a:rPr>
                        <a:t>Non-Conjugated (</a:t>
                      </a:r>
                      <a:r>
                        <a:rPr lang="en-US" sz="1100" u="none" strike="noStrike" cap="none" spc="0">
                          <a:solidFill>
                            <a:schemeClr val="tx1"/>
                          </a:solidFill>
                          <a:effectLst/>
                          <a:hlinkClick r:id="rId3" tooltip="Atomicity (database systems)">
                            <a:extLst>
                              <a:ext uri="{A12FA001-AC4F-418D-AE19-62706E023703}">
                                <ahyp:hlinkClr xmlns:ahyp="http://schemas.microsoft.com/office/drawing/2018/hyperlinkcolor" val="tx"/>
                              </a:ext>
                            </a:extLst>
                          </a:hlinkClick>
                        </a:rPr>
                        <a:t>Atomic</a:t>
                      </a:r>
                      <a:r>
                        <a:rPr lang="en-US" sz="1100" cap="none" spc="0">
                          <a:solidFill>
                            <a:schemeClr val="tx1"/>
                          </a:solidFill>
                          <a:effectLst/>
                        </a:rPr>
                        <a:t>)</a:t>
                      </a:r>
                    </a:p>
                  </a:txBody>
                  <a:tcPr marL="93250" marR="26878" marT="71730" marB="717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100" cap="none" spc="0">
                          <a:solidFill>
                            <a:schemeClr val="tx1"/>
                          </a:solidFill>
                          <a:effectLst/>
                        </a:rPr>
                        <a:t>The requirement is </a:t>
                      </a:r>
                      <a:r>
                        <a:rPr lang="en-US" sz="1100" i="1" cap="none" spc="0">
                          <a:solidFill>
                            <a:schemeClr val="tx1"/>
                          </a:solidFill>
                          <a:effectLst/>
                        </a:rPr>
                        <a:t>atomic</a:t>
                      </a:r>
                      <a:r>
                        <a:rPr lang="en-US" sz="1100" cap="none" spc="0">
                          <a:solidFill>
                            <a:schemeClr val="tx1"/>
                          </a:solidFill>
                          <a:effectLst/>
                        </a:rPr>
                        <a:t>, i.e., it does not contain conjunctions. E.g., "The postal code field must validate American </a:t>
                      </a:r>
                      <a:r>
                        <a:rPr lang="en-US" sz="1100" i="1" cap="none" spc="0">
                          <a:solidFill>
                            <a:schemeClr val="tx1"/>
                          </a:solidFill>
                          <a:effectLst/>
                        </a:rPr>
                        <a:t>and</a:t>
                      </a:r>
                      <a:r>
                        <a:rPr lang="en-US" sz="1100" cap="none" spc="0">
                          <a:solidFill>
                            <a:schemeClr val="tx1"/>
                          </a:solidFill>
                          <a:effectLst/>
                        </a:rPr>
                        <a:t> Canadian postal codes" should be written as two separate requirements: (1) "The postal code field must validate American postal codes" and (2) "The postal code field must validate Canadian postal codes".</a:t>
                      </a:r>
                    </a:p>
                  </a:txBody>
                  <a:tcPr marL="93250" marR="26878" marT="71730" marB="7173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995992678"/>
                  </a:ext>
                </a:extLst>
              </a:tr>
              <a:tr h="506896">
                <a:tc>
                  <a:txBody>
                    <a:bodyPr/>
                    <a:lstStyle/>
                    <a:p>
                      <a:r>
                        <a:rPr lang="en-US" sz="1100" u="none" strike="noStrike" cap="none" spc="0">
                          <a:solidFill>
                            <a:schemeClr val="tx1"/>
                          </a:solidFill>
                          <a:effectLst/>
                          <a:hlinkClick r:id="rId4" tooltip="Traceability">
                            <a:extLst>
                              <a:ext uri="{A12FA001-AC4F-418D-AE19-62706E023703}">
                                <ahyp:hlinkClr xmlns:ahyp="http://schemas.microsoft.com/office/drawing/2018/hyperlinkcolor" val="tx"/>
                              </a:ext>
                            </a:extLst>
                          </a:hlinkClick>
                        </a:rPr>
                        <a:t>Traceable</a:t>
                      </a:r>
                      <a:endParaRPr lang="en-US" sz="1100" cap="none" spc="0">
                        <a:solidFill>
                          <a:schemeClr val="tx1"/>
                        </a:solidFill>
                        <a:effectLst/>
                      </a:endParaRPr>
                    </a:p>
                  </a:txBody>
                  <a:tcPr marL="93250" marR="26878" marT="71730" marB="717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100" cap="none" spc="0">
                          <a:solidFill>
                            <a:schemeClr val="tx1"/>
                          </a:solidFill>
                          <a:effectLst/>
                        </a:rPr>
                        <a:t>The requirement meets all or part of a business need as stated by stakeholders and authoritatively documented.</a:t>
                      </a:r>
                    </a:p>
                  </a:txBody>
                  <a:tcPr marL="93250" marR="26878" marT="71730" marB="7173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48514078"/>
                  </a:ext>
                </a:extLst>
              </a:tr>
              <a:tr h="339525">
                <a:tc>
                  <a:txBody>
                    <a:bodyPr/>
                    <a:lstStyle/>
                    <a:p>
                      <a:r>
                        <a:rPr lang="en-US" sz="1100" cap="none" spc="0">
                          <a:solidFill>
                            <a:schemeClr val="tx1"/>
                          </a:solidFill>
                          <a:effectLst/>
                        </a:rPr>
                        <a:t>Current</a:t>
                      </a:r>
                    </a:p>
                  </a:txBody>
                  <a:tcPr marL="93250" marR="26878" marT="71730" marB="717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100" cap="none" spc="0">
                          <a:solidFill>
                            <a:schemeClr val="tx1"/>
                          </a:solidFill>
                          <a:effectLst/>
                        </a:rPr>
                        <a:t>The requirement has not been made obsolete by the passage of time.</a:t>
                      </a:r>
                    </a:p>
                  </a:txBody>
                  <a:tcPr marL="93250" marR="26878" marT="71730" marB="7173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236761497"/>
                  </a:ext>
                </a:extLst>
              </a:tr>
              <a:tr h="1009009">
                <a:tc>
                  <a:txBody>
                    <a:bodyPr/>
                    <a:lstStyle/>
                    <a:p>
                      <a:r>
                        <a:rPr lang="en-US" sz="1100" u="none" strike="noStrike" cap="none" spc="0">
                          <a:solidFill>
                            <a:schemeClr val="tx1"/>
                          </a:solidFill>
                          <a:effectLst/>
                          <a:hlinkClick r:id="rId5" tooltip="Unambiguous">
                            <a:extLst>
                              <a:ext uri="{A12FA001-AC4F-418D-AE19-62706E023703}">
                                <ahyp:hlinkClr xmlns:ahyp="http://schemas.microsoft.com/office/drawing/2018/hyperlinkcolor" val="tx"/>
                              </a:ext>
                            </a:extLst>
                          </a:hlinkClick>
                        </a:rPr>
                        <a:t>Unambiguous</a:t>
                      </a:r>
                      <a:endParaRPr lang="en-US" sz="1100" cap="none" spc="0">
                        <a:solidFill>
                          <a:schemeClr val="tx1"/>
                        </a:solidFill>
                        <a:effectLst/>
                      </a:endParaRPr>
                    </a:p>
                  </a:txBody>
                  <a:tcPr marL="93250" marR="26878" marT="71730" marB="717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100" cap="none" spc="0">
                          <a:solidFill>
                            <a:schemeClr val="tx1"/>
                          </a:solidFill>
                          <a:effectLst/>
                        </a:rPr>
                        <a:t>The requirement is concisely stated without recourse to </a:t>
                      </a:r>
                      <a:r>
                        <a:rPr lang="en-US" sz="1100" u="none" strike="noStrike" cap="none" spc="0">
                          <a:solidFill>
                            <a:schemeClr val="tx1"/>
                          </a:solidFill>
                          <a:effectLst/>
                          <a:hlinkClick r:id="rId6" tooltip="Technical jargon">
                            <a:extLst>
                              <a:ext uri="{A12FA001-AC4F-418D-AE19-62706E023703}">
                                <ahyp:hlinkClr xmlns:ahyp="http://schemas.microsoft.com/office/drawing/2018/hyperlinkcolor" val="tx"/>
                              </a:ext>
                            </a:extLst>
                          </a:hlinkClick>
                        </a:rPr>
                        <a:t>technical jargon</a:t>
                      </a:r>
                      <a:r>
                        <a:rPr lang="en-US" sz="1100" cap="none" spc="0">
                          <a:solidFill>
                            <a:schemeClr val="tx1"/>
                          </a:solidFill>
                          <a:effectLst/>
                        </a:rPr>
                        <a:t>, </a:t>
                      </a:r>
                      <a:r>
                        <a:rPr lang="en-US" sz="1100" u="none" strike="noStrike" cap="none" spc="0">
                          <a:solidFill>
                            <a:schemeClr val="tx1"/>
                          </a:solidFill>
                          <a:effectLst/>
                          <a:hlinkClick r:id="rId7" tooltip="Acronym">
                            <a:extLst>
                              <a:ext uri="{A12FA001-AC4F-418D-AE19-62706E023703}">
                                <ahyp:hlinkClr xmlns:ahyp="http://schemas.microsoft.com/office/drawing/2018/hyperlinkcolor" val="tx"/>
                              </a:ext>
                            </a:extLst>
                          </a:hlinkClick>
                        </a:rPr>
                        <a:t>acronyms</a:t>
                      </a:r>
                      <a:r>
                        <a:rPr lang="en-US" sz="1100" cap="none" spc="0">
                          <a:solidFill>
                            <a:schemeClr val="tx1"/>
                          </a:solidFill>
                          <a:effectLst/>
                        </a:rPr>
                        <a:t> (unless defined elsewhere in the Requirements document), or other esoteric verbiage. It expresses objective facts, not subjective opinions. It is subject to one and only one interpretation. Vague subjects, adjectives, prepositions, verbs and subjective phrases are avoided. Negative statements and compound statements are avoided.</a:t>
                      </a:r>
                    </a:p>
                  </a:txBody>
                  <a:tcPr marL="93250" marR="26878" marT="71730" marB="7173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936578"/>
                  </a:ext>
                </a:extLst>
              </a:tr>
              <a:tr h="674267">
                <a:tc>
                  <a:txBody>
                    <a:bodyPr/>
                    <a:lstStyle/>
                    <a:p>
                      <a:r>
                        <a:rPr lang="en-US" sz="1100" cap="none" spc="0" dirty="0">
                          <a:solidFill>
                            <a:schemeClr val="tx1"/>
                          </a:solidFill>
                          <a:effectLst/>
                        </a:rPr>
                        <a:t>Specify Importance</a:t>
                      </a:r>
                    </a:p>
                  </a:txBody>
                  <a:tcPr marL="93250" marR="26878" marT="71730" marB="717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100" cap="none" spc="0">
                          <a:solidFill>
                            <a:schemeClr val="tx1"/>
                          </a:solidFill>
                          <a:effectLst/>
                        </a:rPr>
                        <a:t>Many requirements represent a stakeholder-defined characteristic the absence of which will result in a major or even fatal deficiency. Others represent features that may be implemented if time and budget permits. The requirement must specify a level of importance.</a:t>
                      </a:r>
                    </a:p>
                  </a:txBody>
                  <a:tcPr marL="93250" marR="26878" marT="71730" marB="7173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896376692"/>
                  </a:ext>
                </a:extLst>
              </a:tr>
              <a:tr h="674267">
                <a:tc>
                  <a:txBody>
                    <a:bodyPr/>
                    <a:lstStyle/>
                    <a:p>
                      <a:r>
                        <a:rPr lang="en-US" sz="1100" u="none" strike="noStrike" cap="none" spc="0">
                          <a:solidFill>
                            <a:schemeClr val="tx1"/>
                          </a:solidFill>
                          <a:effectLst/>
                          <a:hlinkClick r:id="rId8" tooltip="Verification and validation">
                            <a:extLst>
                              <a:ext uri="{A12FA001-AC4F-418D-AE19-62706E023703}">
                                <ahyp:hlinkClr xmlns:ahyp="http://schemas.microsoft.com/office/drawing/2018/hyperlinkcolor" val="tx"/>
                              </a:ext>
                            </a:extLst>
                          </a:hlinkClick>
                        </a:rPr>
                        <a:t>Verifiable</a:t>
                      </a:r>
                      <a:endParaRPr lang="en-US" sz="1100" cap="none" spc="0">
                        <a:solidFill>
                          <a:schemeClr val="tx1"/>
                        </a:solidFill>
                        <a:effectLst/>
                      </a:endParaRPr>
                    </a:p>
                  </a:txBody>
                  <a:tcPr marL="93250" marR="26878" marT="71730" marB="717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US" sz="1100" cap="none" spc="0" dirty="0">
                          <a:solidFill>
                            <a:schemeClr val="tx1"/>
                          </a:solidFill>
                          <a:effectLst/>
                        </a:rPr>
                        <a:t>The implementation of the requirement can be determined through basic possible methods: inspection, demonstration, test (instrumented) or analysis (to include validated modeling &amp; simulation).</a:t>
                      </a:r>
                    </a:p>
                  </a:txBody>
                  <a:tcPr marL="93250" marR="26878" marT="71730" marB="7173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926432663"/>
                  </a:ext>
                </a:extLst>
              </a:tr>
            </a:tbl>
          </a:graphicData>
        </a:graphic>
      </p:graphicFrame>
      <p:sp>
        <p:nvSpPr>
          <p:cNvPr id="6" name="TextBox 5">
            <a:extLst>
              <a:ext uri="{FF2B5EF4-FFF2-40B4-BE49-F238E27FC236}">
                <a16:creationId xmlns:a16="http://schemas.microsoft.com/office/drawing/2014/main" id="{ACB2CBAE-A1EB-E251-9CDE-166F0BC7DA77}"/>
              </a:ext>
            </a:extLst>
          </p:cNvPr>
          <p:cNvSpPr txBox="1"/>
          <p:nvPr/>
        </p:nvSpPr>
        <p:spPr>
          <a:xfrm>
            <a:off x="1368941" y="6211669"/>
            <a:ext cx="9540063" cy="307777"/>
          </a:xfrm>
          <a:prstGeom prst="rect">
            <a:avLst/>
          </a:prstGeom>
          <a:noFill/>
        </p:spPr>
        <p:txBody>
          <a:bodyPr wrap="square">
            <a:spAutoFit/>
          </a:bodyPr>
          <a:lstStyle/>
          <a:p>
            <a:r>
              <a:rPr lang="en-US" sz="1400" dirty="0">
                <a:solidFill>
                  <a:srgbClr val="0070C0"/>
                </a:solidFill>
              </a:rPr>
              <a:t>https://en.wikipedia.org/wiki/Requirement#Types_of_requirements</a:t>
            </a:r>
          </a:p>
        </p:txBody>
      </p:sp>
    </p:spTree>
    <p:extLst>
      <p:ext uri="{BB962C8B-B14F-4D97-AF65-F5344CB8AC3E}">
        <p14:creationId xmlns:p14="http://schemas.microsoft.com/office/powerpoint/2010/main" val="1845703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9C844-4E98-5B8C-9F4D-5BA975B6E5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2AAC59-0450-3152-3A36-7C02F33850D7}"/>
              </a:ext>
            </a:extLst>
          </p:cNvPr>
          <p:cNvSpPr txBox="1"/>
          <p:nvPr/>
        </p:nvSpPr>
        <p:spPr>
          <a:xfrm>
            <a:off x="999461" y="751344"/>
            <a:ext cx="10600660" cy="5355312"/>
          </a:xfrm>
          <a:prstGeom prst="rect">
            <a:avLst/>
          </a:prstGeom>
          <a:noFill/>
        </p:spPr>
        <p:txBody>
          <a:bodyPr wrap="square">
            <a:spAutoFit/>
          </a:bodyPr>
          <a:lstStyle/>
          <a:p>
            <a:r>
              <a:rPr lang="es-ES" b="1" dirty="0">
                <a:latin typeface="Arial Narrow" panose="020B0606020202030204" pitchFamily="34" charset="0"/>
              </a:rPr>
              <a:t>Necesario. </a:t>
            </a:r>
            <a:r>
              <a:rPr lang="es-ES" dirty="0">
                <a:latin typeface="Arial Narrow" panose="020B0606020202030204" pitchFamily="34" charset="0"/>
              </a:rPr>
              <a:t>Si se tiene alguna duda acerca de la necesidad del requerimiento, se pueden preguntar “¿Qué sería lo peor de no incluirlo?” Si no se encuentra una respuesta o cualquier consecuencia, entonces es probable que no sea un requerimiento necesario.</a:t>
            </a:r>
          </a:p>
          <a:p>
            <a:endParaRPr lang="es-ES" dirty="0">
              <a:latin typeface="Arial Narrow" panose="020B0606020202030204" pitchFamily="34" charset="0"/>
            </a:endParaRPr>
          </a:p>
          <a:p>
            <a:r>
              <a:rPr lang="es-ES" b="1" dirty="0">
                <a:latin typeface="Arial Narrow" panose="020B0606020202030204" pitchFamily="34" charset="0"/>
              </a:rPr>
              <a:t>Completo. </a:t>
            </a:r>
            <a:r>
              <a:rPr lang="es-ES" dirty="0">
                <a:latin typeface="Arial Narrow" panose="020B0606020202030204" pitchFamily="34" charset="0"/>
              </a:rPr>
              <a:t>Un requerimiento esta completo si no necesita ampliar detalles en su redacción, es decir, si se proporciona la información suficiente para su comprensión.</a:t>
            </a:r>
          </a:p>
          <a:p>
            <a:endParaRPr lang="es-ES" dirty="0">
              <a:latin typeface="Arial Narrow" panose="020B0606020202030204" pitchFamily="34" charset="0"/>
            </a:endParaRPr>
          </a:p>
          <a:p>
            <a:r>
              <a:rPr lang="es-ES" b="1" dirty="0">
                <a:latin typeface="Arial Narrow" panose="020B0606020202030204" pitchFamily="34" charset="0"/>
              </a:rPr>
              <a:t>Consistente. </a:t>
            </a:r>
            <a:r>
              <a:rPr lang="es-ES" dirty="0">
                <a:latin typeface="Arial Narrow" panose="020B0606020202030204" pitchFamily="34" charset="0"/>
              </a:rPr>
              <a:t>Un requerimiento es consistente si no es contradictorio con otro requerimiento.</a:t>
            </a:r>
          </a:p>
          <a:p>
            <a:endParaRPr lang="es-ES" dirty="0">
              <a:latin typeface="Arial Narrow" panose="020B0606020202030204" pitchFamily="34" charset="0"/>
            </a:endParaRPr>
          </a:p>
          <a:p>
            <a:r>
              <a:rPr lang="es-ES" b="1" dirty="0">
                <a:latin typeface="Arial Narrow" panose="020B0606020202030204" pitchFamily="34" charset="0"/>
              </a:rPr>
              <a:t>Correcto. A</a:t>
            </a:r>
            <a:r>
              <a:rPr lang="es-ES" dirty="0">
                <a:latin typeface="Arial Narrow" panose="020B0606020202030204" pitchFamily="34" charset="0"/>
              </a:rPr>
              <a:t>cuerdo entre dos partes. Contiene una sola idea.</a:t>
            </a:r>
          </a:p>
          <a:p>
            <a:endParaRPr lang="es-ES" dirty="0">
              <a:latin typeface="Arial Narrow" panose="020B0606020202030204" pitchFamily="34" charset="0"/>
            </a:endParaRPr>
          </a:p>
          <a:p>
            <a:r>
              <a:rPr lang="es-ES" b="1" dirty="0">
                <a:latin typeface="Arial Narrow" panose="020B0606020202030204" pitchFamily="34" charset="0"/>
              </a:rPr>
              <a:t>Factible. </a:t>
            </a:r>
            <a:r>
              <a:rPr lang="es-ES" dirty="0">
                <a:latin typeface="Arial Narrow" panose="020B0606020202030204" pitchFamily="34" charset="0"/>
              </a:rPr>
              <a:t>El requerimiento deberá de ser totalmente factible y dentro de presupuesto, calendario y otras restricciones, si se tiene alguna duda de su factibilidad, hay que investigar, generar pruebas de concepto para saber su complejidad y factibilidad, si aun así el requerimiento es no factible hay que revisar la visión del sistema y replantear el requerimiento.</a:t>
            </a:r>
          </a:p>
          <a:p>
            <a:endParaRPr lang="es-ES" dirty="0">
              <a:latin typeface="Arial Narrow" panose="020B0606020202030204" pitchFamily="34" charset="0"/>
            </a:endParaRPr>
          </a:p>
          <a:p>
            <a:r>
              <a:rPr lang="es-ES" b="1" dirty="0">
                <a:latin typeface="Arial Narrow" panose="020B0606020202030204" pitchFamily="34" charset="0"/>
              </a:rPr>
              <a:t>Modificable. </a:t>
            </a:r>
            <a:r>
              <a:rPr lang="es-ES" dirty="0">
                <a:latin typeface="Arial Narrow" panose="020B0606020202030204" pitchFamily="34" charset="0"/>
              </a:rPr>
              <a:t>Que se pueda realizar alguna modificación sobre el requerimiento y esta sea sencilla, consistente y completa.</a:t>
            </a:r>
          </a:p>
          <a:p>
            <a:endParaRPr lang="es-ES" dirty="0">
              <a:latin typeface="Arial Narrow" panose="020B0606020202030204" pitchFamily="34" charset="0"/>
            </a:endParaRPr>
          </a:p>
          <a:p>
            <a:r>
              <a:rPr lang="es-ES" b="1" dirty="0">
                <a:latin typeface="Arial Narrow" panose="020B0606020202030204" pitchFamily="34" charset="0"/>
              </a:rPr>
              <a:t>Priorizado</a:t>
            </a:r>
            <a:r>
              <a:rPr lang="es-ES" dirty="0">
                <a:latin typeface="Arial Narrow" panose="020B0606020202030204" pitchFamily="34" charset="0"/>
              </a:rPr>
              <a:t>. Categorizar el requerimiento nos ayuda a saber el grado de necesidad del mismo Esencial/Critico, Deseado, Opcional Verificable</a:t>
            </a:r>
            <a:endParaRPr lang="en-US" dirty="0">
              <a:latin typeface="Arial Narrow" panose="020B0606020202030204" pitchFamily="34" charset="0"/>
            </a:endParaRPr>
          </a:p>
        </p:txBody>
      </p:sp>
    </p:spTree>
    <p:extLst>
      <p:ext uri="{BB962C8B-B14F-4D97-AF65-F5344CB8AC3E}">
        <p14:creationId xmlns:p14="http://schemas.microsoft.com/office/powerpoint/2010/main" val="1364116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7ACE9-1A95-C8AC-418C-1C6E74F942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663DE7-8855-29A9-207B-5F7C9D8BC62C}"/>
              </a:ext>
            </a:extLst>
          </p:cNvPr>
          <p:cNvSpPr txBox="1"/>
          <p:nvPr/>
        </p:nvSpPr>
        <p:spPr>
          <a:xfrm>
            <a:off x="2432197" y="915804"/>
            <a:ext cx="5201980" cy="46166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gn="l"/>
            <a:r>
              <a:rPr lang="es-ES" sz="2400" b="1" i="0" dirty="0">
                <a:effectLst/>
                <a:latin typeface="Arial Narrow" panose="020B0606020202030204" pitchFamily="34" charset="0"/>
              </a:rPr>
              <a:t>¿Qué es la recopilación de requisitos?</a:t>
            </a:r>
          </a:p>
        </p:txBody>
      </p:sp>
      <p:sp>
        <p:nvSpPr>
          <p:cNvPr id="5" name="TextBox 4">
            <a:extLst>
              <a:ext uri="{FF2B5EF4-FFF2-40B4-BE49-F238E27FC236}">
                <a16:creationId xmlns:a16="http://schemas.microsoft.com/office/drawing/2014/main" id="{6B8894AA-5AA7-A818-3A4F-9EDD75003715}"/>
              </a:ext>
            </a:extLst>
          </p:cNvPr>
          <p:cNvSpPr txBox="1"/>
          <p:nvPr/>
        </p:nvSpPr>
        <p:spPr>
          <a:xfrm>
            <a:off x="1900569" y="2167960"/>
            <a:ext cx="8668194" cy="2585323"/>
          </a:xfrm>
          <a:prstGeom prst="rect">
            <a:avLst/>
          </a:prstGeom>
          <a:noFill/>
        </p:spPr>
        <p:txBody>
          <a:bodyPr wrap="square">
            <a:spAutoFit/>
          </a:bodyPr>
          <a:lstStyle/>
          <a:p>
            <a:pPr marL="285750" indent="-285750">
              <a:buFont typeface="Arial" panose="020B0604020202020204" pitchFamily="34" charset="0"/>
              <a:buChar char="•"/>
            </a:pPr>
            <a:r>
              <a:rPr lang="es-ES" dirty="0"/>
              <a:t>¿Qué es la recopilación de requisitos?</a:t>
            </a:r>
          </a:p>
          <a:p>
            <a:pPr marL="285750" indent="-285750">
              <a:buFont typeface="Arial" panose="020B0604020202020204" pitchFamily="34" charset="0"/>
              <a:buChar char="•"/>
            </a:pPr>
            <a:r>
              <a:rPr lang="es-ES" dirty="0"/>
              <a:t>¿Por qué es importante la recopilación de requisitos?</a:t>
            </a:r>
          </a:p>
          <a:p>
            <a:pPr marL="285750" indent="-285750">
              <a:buFont typeface="Arial" panose="020B0604020202020204" pitchFamily="34" charset="0"/>
              <a:buChar char="•"/>
            </a:pPr>
            <a:r>
              <a:rPr lang="es-ES" dirty="0"/>
              <a:t>¿Qué es el proceso de recopilación de requisitos?</a:t>
            </a:r>
          </a:p>
          <a:p>
            <a:pPr marL="285750" indent="-285750">
              <a:buFont typeface="Arial" panose="020B0604020202020204" pitchFamily="34" charset="0"/>
              <a:buChar char="•"/>
            </a:pPr>
            <a:r>
              <a:rPr lang="es-ES" dirty="0"/>
              <a:t>Técnicas de recopilación de requisitos</a:t>
            </a:r>
          </a:p>
          <a:p>
            <a:pPr marL="285750" indent="-285750">
              <a:buFont typeface="Arial" panose="020B0604020202020204" pitchFamily="34" charset="0"/>
              <a:buChar char="•"/>
            </a:pPr>
            <a:r>
              <a:rPr lang="es-ES" dirty="0"/>
              <a:t>Mejores prácticas para la recopilación de requisitos</a:t>
            </a:r>
          </a:p>
          <a:p>
            <a:pPr marL="285750" indent="-285750">
              <a:buFont typeface="Arial" panose="020B0604020202020204" pitchFamily="34" charset="0"/>
              <a:buChar char="•"/>
            </a:pPr>
            <a:r>
              <a:rPr lang="es-ES" dirty="0"/>
              <a:t>¿Cuáles son los desafíos al recopilar requisitos? ¿Cómo evitarlos?</a:t>
            </a:r>
          </a:p>
          <a:p>
            <a:pPr marL="285750" indent="-285750">
              <a:buFont typeface="Arial" panose="020B0604020202020204" pitchFamily="34" charset="0"/>
              <a:buChar char="•"/>
            </a:pPr>
            <a:r>
              <a:rPr lang="es-ES" dirty="0"/>
              <a:t>El papel de la tecnología en la recopilación de requisitos</a:t>
            </a:r>
          </a:p>
          <a:p>
            <a:pPr marL="285750" indent="-285750">
              <a:buFont typeface="Arial" panose="020B0604020202020204" pitchFamily="34" charset="0"/>
              <a:buChar char="•"/>
            </a:pPr>
            <a:r>
              <a:rPr lang="es-ES" dirty="0"/>
              <a:t>El concepto de recopilación de requisitos ágil</a:t>
            </a:r>
          </a:p>
          <a:p>
            <a:pPr marL="285750" indent="-285750">
              <a:buFont typeface="Arial" panose="020B0604020202020204" pitchFamily="34" charset="0"/>
              <a:buChar char="•"/>
            </a:pPr>
            <a:r>
              <a:rPr lang="es-ES" dirty="0"/>
              <a:t>Conclusión</a:t>
            </a:r>
          </a:p>
        </p:txBody>
      </p:sp>
      <p:sp>
        <p:nvSpPr>
          <p:cNvPr id="7" name="TextBox 6">
            <a:extLst>
              <a:ext uri="{FF2B5EF4-FFF2-40B4-BE49-F238E27FC236}">
                <a16:creationId xmlns:a16="http://schemas.microsoft.com/office/drawing/2014/main" id="{B4C6011C-D83F-8174-E1A3-B729689874CB}"/>
              </a:ext>
            </a:extLst>
          </p:cNvPr>
          <p:cNvSpPr txBox="1"/>
          <p:nvPr/>
        </p:nvSpPr>
        <p:spPr>
          <a:xfrm>
            <a:off x="1632097" y="5606165"/>
            <a:ext cx="9851065" cy="523220"/>
          </a:xfrm>
          <a:prstGeom prst="rect">
            <a:avLst/>
          </a:prstGeom>
          <a:noFill/>
        </p:spPr>
        <p:txBody>
          <a:bodyPr wrap="square">
            <a:spAutoFit/>
          </a:bodyPr>
          <a:lstStyle/>
          <a:p>
            <a:r>
              <a:rPr lang="en-US" sz="1400" dirty="0">
                <a:solidFill>
                  <a:srgbClr val="0070C0"/>
                </a:solidFill>
              </a:rPr>
              <a:t>https://visuresolutions.com/es/gu%C3%ADa-de-trazabilidad-de-gesti%C3%B3n-de-requisitos/recopilaci%C3%B3n-de-requisitos/</a:t>
            </a:r>
          </a:p>
        </p:txBody>
      </p:sp>
    </p:spTree>
    <p:extLst>
      <p:ext uri="{BB962C8B-B14F-4D97-AF65-F5344CB8AC3E}">
        <p14:creationId xmlns:p14="http://schemas.microsoft.com/office/powerpoint/2010/main" val="232282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C1A783-3759-2C3F-4B54-E06A492D555E}"/>
            </a:ext>
          </a:extLst>
        </p:cNvPr>
        <p:cNvGrpSpPr/>
        <p:nvPr/>
      </p:nvGrpSpPr>
      <p:grpSpPr>
        <a:xfrm>
          <a:off x="0" y="0"/>
          <a:ext cx="0" cy="0"/>
          <a:chOff x="0" y="0"/>
          <a:chExt cx="0" cy="0"/>
        </a:xfrm>
      </p:grpSpPr>
      <p:pic>
        <p:nvPicPr>
          <p:cNvPr id="4" name="Picture 3" descr="A screenshot of a cell phone&#10;&#10;AI-generated content may be incorrect.">
            <a:extLst>
              <a:ext uri="{FF2B5EF4-FFF2-40B4-BE49-F238E27FC236}">
                <a16:creationId xmlns:a16="http://schemas.microsoft.com/office/drawing/2014/main" id="{302818D8-F442-7855-4507-36A73322DD3E}"/>
              </a:ext>
            </a:extLst>
          </p:cNvPr>
          <p:cNvPicPr>
            <a:picLocks noChangeAspect="1"/>
          </p:cNvPicPr>
          <p:nvPr/>
        </p:nvPicPr>
        <p:blipFill>
          <a:blip r:embed="rId2"/>
          <a:stretch>
            <a:fillRect/>
          </a:stretch>
        </p:blipFill>
        <p:spPr>
          <a:xfrm>
            <a:off x="5994391" y="643466"/>
            <a:ext cx="4094734" cy="5571067"/>
          </a:xfrm>
          <a:prstGeom prst="rect">
            <a:avLst/>
          </a:prstGeom>
        </p:spPr>
      </p:pic>
      <p:sp>
        <p:nvSpPr>
          <p:cNvPr id="6" name="TextBox 5">
            <a:extLst>
              <a:ext uri="{FF2B5EF4-FFF2-40B4-BE49-F238E27FC236}">
                <a16:creationId xmlns:a16="http://schemas.microsoft.com/office/drawing/2014/main" id="{D9ABB033-823B-42E5-E646-F96347EF72DC}"/>
              </a:ext>
            </a:extLst>
          </p:cNvPr>
          <p:cNvSpPr txBox="1"/>
          <p:nvPr/>
        </p:nvSpPr>
        <p:spPr>
          <a:xfrm>
            <a:off x="1485900" y="6273011"/>
            <a:ext cx="6097772" cy="369332"/>
          </a:xfrm>
          <a:prstGeom prst="rect">
            <a:avLst/>
          </a:prstGeom>
          <a:noFill/>
        </p:spPr>
        <p:txBody>
          <a:bodyPr wrap="square">
            <a:spAutoFit/>
          </a:bodyPr>
          <a:lstStyle/>
          <a:p>
            <a:r>
              <a:rPr lang="en-US" dirty="0">
                <a:solidFill>
                  <a:srgbClr val="0070C0"/>
                </a:solidFill>
              </a:rPr>
              <a:t>https://asana.com/es/resources/requirements-gathering</a:t>
            </a:r>
          </a:p>
        </p:txBody>
      </p:sp>
      <p:sp>
        <p:nvSpPr>
          <p:cNvPr id="8" name="TextBox 7">
            <a:extLst>
              <a:ext uri="{FF2B5EF4-FFF2-40B4-BE49-F238E27FC236}">
                <a16:creationId xmlns:a16="http://schemas.microsoft.com/office/drawing/2014/main" id="{9A53E5B0-0214-30CA-6D5D-8915EE72ECD3}"/>
              </a:ext>
            </a:extLst>
          </p:cNvPr>
          <p:cNvSpPr txBox="1"/>
          <p:nvPr/>
        </p:nvSpPr>
        <p:spPr>
          <a:xfrm>
            <a:off x="2219833" y="2265860"/>
            <a:ext cx="2915692" cy="1163139"/>
          </a:xfrm>
          <a:prstGeom prst="rect">
            <a:avLst/>
          </a:prstGeom>
          <a:noFill/>
        </p:spPr>
        <p:txBody>
          <a:bodyPr wrap="square">
            <a:spAutoFit/>
          </a:bodyPr>
          <a:lstStyle/>
          <a:p>
            <a:pPr algn="ctr" fontAlgn="auto">
              <a:lnSpc>
                <a:spcPts val="4500"/>
              </a:lnSpc>
            </a:pPr>
            <a:r>
              <a:rPr lang="es-ES" b="1" i="0" dirty="0">
                <a:effectLst/>
                <a:latin typeface="Arial Narrow" panose="020B0606020202030204" pitchFamily="34" charset="0"/>
              </a:rPr>
              <a:t>El proceso de 6 pasos para la recopilación de requisitos</a:t>
            </a:r>
          </a:p>
        </p:txBody>
      </p:sp>
    </p:spTree>
    <p:extLst>
      <p:ext uri="{BB962C8B-B14F-4D97-AF65-F5344CB8AC3E}">
        <p14:creationId xmlns:p14="http://schemas.microsoft.com/office/powerpoint/2010/main" val="843210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FFFA1-9A35-79C5-AFDA-9E4F69542E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3D590C2-8350-4C90-ADE4-DCDCCA8B321E}"/>
              </a:ext>
            </a:extLst>
          </p:cNvPr>
          <p:cNvSpPr txBox="1"/>
          <p:nvPr/>
        </p:nvSpPr>
        <p:spPr>
          <a:xfrm>
            <a:off x="3835695" y="862641"/>
            <a:ext cx="6097772" cy="400110"/>
          </a:xfrm>
          <a:prstGeom prst="rect">
            <a:avLst/>
          </a:prstGeom>
          <a:noFill/>
        </p:spPr>
        <p:txBody>
          <a:bodyPr wrap="square">
            <a:spAutoFit/>
          </a:bodyPr>
          <a:lstStyle/>
          <a:p>
            <a:r>
              <a:rPr lang="en-US" sz="2000" b="1" dirty="0" err="1">
                <a:latin typeface="Arial Narrow" panose="020B0606020202030204" pitchFamily="34" charset="0"/>
              </a:rPr>
              <a:t>Técnicas</a:t>
            </a:r>
            <a:r>
              <a:rPr lang="en-US" sz="2000" b="1" dirty="0">
                <a:latin typeface="Arial Narrow" panose="020B0606020202030204" pitchFamily="34" charset="0"/>
              </a:rPr>
              <a:t> de </a:t>
            </a:r>
            <a:r>
              <a:rPr lang="en-US" sz="2000" b="1" dirty="0" err="1">
                <a:latin typeface="Arial Narrow" panose="020B0606020202030204" pitchFamily="34" charset="0"/>
              </a:rPr>
              <a:t>levantamiento</a:t>
            </a:r>
            <a:r>
              <a:rPr lang="en-US" sz="2000" b="1" dirty="0">
                <a:latin typeface="Arial Narrow" panose="020B0606020202030204" pitchFamily="34" charset="0"/>
              </a:rPr>
              <a:t> de </a:t>
            </a:r>
            <a:r>
              <a:rPr lang="en-US" sz="2000" b="1" dirty="0" err="1">
                <a:latin typeface="Arial Narrow" panose="020B0606020202030204" pitchFamily="34" charset="0"/>
              </a:rPr>
              <a:t>requerimientos</a:t>
            </a:r>
            <a:r>
              <a:rPr lang="en-US" sz="2000" b="1" dirty="0">
                <a:latin typeface="Arial Narrow" panose="020B0606020202030204" pitchFamily="34" charset="0"/>
              </a:rPr>
              <a:t> software</a:t>
            </a:r>
          </a:p>
        </p:txBody>
      </p:sp>
      <p:sp>
        <p:nvSpPr>
          <p:cNvPr id="6" name="TextBox 5">
            <a:extLst>
              <a:ext uri="{FF2B5EF4-FFF2-40B4-BE49-F238E27FC236}">
                <a16:creationId xmlns:a16="http://schemas.microsoft.com/office/drawing/2014/main" id="{69F38411-AF6C-C04B-AE7B-372EBDBA775D}"/>
              </a:ext>
            </a:extLst>
          </p:cNvPr>
          <p:cNvSpPr txBox="1"/>
          <p:nvPr/>
        </p:nvSpPr>
        <p:spPr>
          <a:xfrm>
            <a:off x="3995184" y="3244334"/>
            <a:ext cx="6097772" cy="369332"/>
          </a:xfrm>
          <a:prstGeom prst="rect">
            <a:avLst/>
          </a:prstGeom>
          <a:noFill/>
        </p:spPr>
        <p:txBody>
          <a:bodyPr wrap="square">
            <a:spAutoFit/>
          </a:bodyPr>
          <a:lstStyle/>
          <a:p>
            <a:r>
              <a:rPr lang="es-ES" b="1" dirty="0"/>
              <a:t>Obtención de Requerimientos. Técnicas y Estrategia</a:t>
            </a:r>
            <a:endParaRPr lang="en-US" b="1" dirty="0"/>
          </a:p>
        </p:txBody>
      </p:sp>
      <p:sp>
        <p:nvSpPr>
          <p:cNvPr id="8" name="TextBox 7">
            <a:extLst>
              <a:ext uri="{FF2B5EF4-FFF2-40B4-BE49-F238E27FC236}">
                <a16:creationId xmlns:a16="http://schemas.microsoft.com/office/drawing/2014/main" id="{45D949EA-DEB9-64EA-874B-C07E758BDEF9}"/>
              </a:ext>
            </a:extLst>
          </p:cNvPr>
          <p:cNvSpPr txBox="1"/>
          <p:nvPr/>
        </p:nvSpPr>
        <p:spPr>
          <a:xfrm>
            <a:off x="2708644" y="4286049"/>
            <a:ext cx="8678826" cy="369332"/>
          </a:xfrm>
          <a:prstGeom prst="rect">
            <a:avLst/>
          </a:prstGeom>
          <a:noFill/>
        </p:spPr>
        <p:txBody>
          <a:bodyPr wrap="square">
            <a:spAutoFit/>
          </a:bodyPr>
          <a:lstStyle/>
          <a:p>
            <a:r>
              <a:rPr lang="en-US" dirty="0">
                <a:solidFill>
                  <a:srgbClr val="0070C0"/>
                </a:solidFill>
              </a:rPr>
              <a:t>https://sg.com.mx/revista/17/obtencion-requerimientos-tecnicas-y-estrategia</a:t>
            </a:r>
          </a:p>
        </p:txBody>
      </p:sp>
      <p:sp>
        <p:nvSpPr>
          <p:cNvPr id="10" name="TextBox 9">
            <a:extLst>
              <a:ext uri="{FF2B5EF4-FFF2-40B4-BE49-F238E27FC236}">
                <a16:creationId xmlns:a16="http://schemas.microsoft.com/office/drawing/2014/main" id="{D477ED19-B746-335B-7D8C-AB91FCB88FF2}"/>
              </a:ext>
            </a:extLst>
          </p:cNvPr>
          <p:cNvSpPr txBox="1"/>
          <p:nvPr/>
        </p:nvSpPr>
        <p:spPr>
          <a:xfrm>
            <a:off x="1879305" y="1884210"/>
            <a:ext cx="9093496" cy="369332"/>
          </a:xfrm>
          <a:prstGeom prst="rect">
            <a:avLst/>
          </a:prstGeom>
          <a:noFill/>
        </p:spPr>
        <p:txBody>
          <a:bodyPr wrap="square">
            <a:spAutoFit/>
          </a:bodyPr>
          <a:lstStyle/>
          <a:p>
            <a:r>
              <a:rPr lang="en-US" dirty="0">
                <a:solidFill>
                  <a:srgbClr val="0070C0"/>
                </a:solidFill>
              </a:rPr>
              <a:t>https://www.pmoinformatica.com/2016/08/tecnicas-levantamiento-requerimientos.html</a:t>
            </a:r>
          </a:p>
        </p:txBody>
      </p:sp>
    </p:spTree>
    <p:extLst>
      <p:ext uri="{BB962C8B-B14F-4D97-AF65-F5344CB8AC3E}">
        <p14:creationId xmlns:p14="http://schemas.microsoft.com/office/powerpoint/2010/main" val="1452596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3D183E-9D2E-9B4F-73FA-8000567D5381}"/>
            </a:ext>
          </a:extLst>
        </p:cNvPr>
        <p:cNvGrpSpPr/>
        <p:nvPr/>
      </p:nvGrpSpPr>
      <p:grpSpPr>
        <a:xfrm>
          <a:off x="0" y="0"/>
          <a:ext cx="0" cy="0"/>
          <a:chOff x="0" y="0"/>
          <a:chExt cx="0" cy="0"/>
        </a:xfrm>
      </p:grpSpPr>
      <p:pic>
        <p:nvPicPr>
          <p:cNvPr id="3" name="Picture 2" descr="A graph of a number of different colored bars&#10;&#10;AI-generated content may be incorrect.">
            <a:extLst>
              <a:ext uri="{FF2B5EF4-FFF2-40B4-BE49-F238E27FC236}">
                <a16:creationId xmlns:a16="http://schemas.microsoft.com/office/drawing/2014/main" id="{42B73D31-BFB6-194E-A3B9-049397A74C2B}"/>
              </a:ext>
            </a:extLst>
          </p:cNvPr>
          <p:cNvPicPr>
            <a:picLocks noChangeAspect="1"/>
          </p:cNvPicPr>
          <p:nvPr/>
        </p:nvPicPr>
        <p:blipFill>
          <a:blip r:embed="rId2"/>
          <a:stretch>
            <a:fillRect/>
          </a:stretch>
        </p:blipFill>
        <p:spPr>
          <a:xfrm>
            <a:off x="3400997" y="643466"/>
            <a:ext cx="5390006" cy="5571067"/>
          </a:xfrm>
          <a:prstGeom prst="rect">
            <a:avLst/>
          </a:prstGeom>
        </p:spPr>
      </p:pic>
    </p:spTree>
    <p:extLst>
      <p:ext uri="{BB962C8B-B14F-4D97-AF65-F5344CB8AC3E}">
        <p14:creationId xmlns:p14="http://schemas.microsoft.com/office/powerpoint/2010/main" val="2305601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CF69AB-486B-E3B4-5F35-D34C38C2220A}"/>
            </a:ext>
          </a:extLst>
        </p:cNvPr>
        <p:cNvGrpSpPr/>
        <p:nvPr/>
      </p:nvGrpSpPr>
      <p:grpSpPr>
        <a:xfrm>
          <a:off x="0" y="0"/>
          <a:ext cx="0" cy="0"/>
          <a:chOff x="0" y="0"/>
          <a:chExt cx="0" cy="0"/>
        </a:xfrm>
      </p:grpSpPr>
      <p:pic>
        <p:nvPicPr>
          <p:cNvPr id="3" name="Picture 2" descr="A screenshot of a web page&#10;&#10;AI-generated content may be incorrect.">
            <a:extLst>
              <a:ext uri="{FF2B5EF4-FFF2-40B4-BE49-F238E27FC236}">
                <a16:creationId xmlns:a16="http://schemas.microsoft.com/office/drawing/2014/main" id="{3E9222AC-0720-1A01-9F93-B5579C31084A}"/>
              </a:ext>
            </a:extLst>
          </p:cNvPr>
          <p:cNvPicPr>
            <a:picLocks noChangeAspect="1"/>
          </p:cNvPicPr>
          <p:nvPr/>
        </p:nvPicPr>
        <p:blipFill>
          <a:blip r:embed="rId2"/>
          <a:stretch>
            <a:fillRect/>
          </a:stretch>
        </p:blipFill>
        <p:spPr>
          <a:xfrm>
            <a:off x="3194403" y="643466"/>
            <a:ext cx="5803194" cy="5571067"/>
          </a:xfrm>
          <a:prstGeom prst="rect">
            <a:avLst/>
          </a:prstGeom>
        </p:spPr>
      </p:pic>
    </p:spTree>
    <p:extLst>
      <p:ext uri="{BB962C8B-B14F-4D97-AF65-F5344CB8AC3E}">
        <p14:creationId xmlns:p14="http://schemas.microsoft.com/office/powerpoint/2010/main" val="2676107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1539</Words>
  <Application>Microsoft Office PowerPoint</Application>
  <PresentationFormat>Widescreen</PresentationFormat>
  <Paragraphs>124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 REYES JUAREZ RAMIREZ</dc:creator>
  <cp:lastModifiedBy>reyesjua</cp:lastModifiedBy>
  <cp:revision>11</cp:revision>
  <dcterms:created xsi:type="dcterms:W3CDTF">2025-02-14T20:18:40Z</dcterms:created>
  <dcterms:modified xsi:type="dcterms:W3CDTF">2025-08-24T18:59:41Z</dcterms:modified>
</cp:coreProperties>
</file>